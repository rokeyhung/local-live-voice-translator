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3.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4.xml" ContentType="application/vnd.openxmlformats-officedocument.drawingml.chart+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300" r:id="rId2"/>
    <p:sldId id="256" r:id="rId3"/>
    <p:sldId id="257" r:id="rId4"/>
    <p:sldId id="258" r:id="rId5"/>
    <p:sldId id="259" r:id="rId6"/>
    <p:sldId id="260" r:id="rId7"/>
    <p:sldId id="261" r:id="rId8"/>
    <p:sldId id="262" r:id="rId9"/>
    <p:sldId id="264" r:id="rId10"/>
    <p:sldId id="265" r:id="rId11"/>
    <p:sldId id="266" r:id="rId12"/>
    <p:sldId id="267" r:id="rId13"/>
    <p:sldId id="269" r:id="rId14"/>
    <p:sldId id="270" r:id="rId15"/>
    <p:sldId id="271" r:id="rId16"/>
    <p:sldId id="272" r:id="rId17"/>
    <p:sldId id="273" r:id="rId18"/>
    <p:sldId id="274" r:id="rId19"/>
    <p:sldId id="275" r:id="rId20"/>
    <p:sldId id="279" r:id="rId21"/>
    <p:sldId id="280" r:id="rId22"/>
    <p:sldId id="281" r:id="rId23"/>
    <p:sldId id="282" r:id="rId24"/>
    <p:sldId id="284" r:id="rId25"/>
    <p:sldId id="286" r:id="rId26"/>
    <p:sldId id="285"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263" r:id="rId41"/>
    <p:sldId id="268" r:id="rId42"/>
    <p:sldId id="276" r:id="rId43"/>
    <p:sldId id="277" r:id="rId44"/>
    <p:sldId id="278" r:id="rId45"/>
    <p:sldId id="283"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2451" autoAdjust="0"/>
  </p:normalViewPr>
  <p:slideViewPr>
    <p:cSldViewPr snapToGrid="0" snapToObjects="1">
      <p:cViewPr varScale="1">
        <p:scale>
          <a:sx n="80" d="100"/>
          <a:sy n="80" d="100"/>
        </p:scale>
        <p:origin x="175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whisper.cpp q5_0 (Windows)</c:v>
                </c:pt>
              </c:strCache>
            </c:strRef>
          </c:tx>
          <c:spPr>
            <a:solidFill>
              <a:srgbClr val="1B517B"/>
            </a:solidFill>
            <a:effectLst/>
          </c:spPr>
          <c:invertIfNegative val="0"/>
          <c:dLbls>
            <c:numFmt formatCode="0.0"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vi (WER)</c:v>
                </c:pt>
                <c:pt idx="1">
                  <c:v>en (WER)</c:v>
                </c:pt>
                <c:pt idx="2">
                  <c:v>zh (CER)</c:v>
                </c:pt>
                <c:pt idx="3">
                  <c:v>ja (CER)</c:v>
                </c:pt>
              </c:strCache>
            </c:strRef>
          </c:cat>
          <c:val>
            <c:numRef>
              <c:f>Sheet1!$B$2:$B$5</c:f>
              <c:numCache>
                <c:formatCode>General</c:formatCode>
                <c:ptCount val="4"/>
                <c:pt idx="0">
                  <c:v>10.4</c:v>
                </c:pt>
                <c:pt idx="1">
                  <c:v>5</c:v>
                </c:pt>
                <c:pt idx="2">
                  <c:v>8.6</c:v>
                </c:pt>
                <c:pt idx="3">
                  <c:v>4.9000000000000004</c:v>
                </c:pt>
              </c:numCache>
            </c:numRef>
          </c:val>
          <c:extLst>
            <c:ext xmlns:c16="http://schemas.microsoft.com/office/drawing/2014/chart" uri="{C3380CC4-5D6E-409C-BE32-E72D297353CC}">
              <c16:uniqueId val="{00000000-0ECA-44E7-A65C-C1D4E8B88660}"/>
            </c:ext>
          </c:extLst>
        </c:ser>
        <c:ser>
          <c:idx val="1"/>
          <c:order val="1"/>
          <c:tx>
            <c:strRef>
              <c:f>Sheet1!$C$1</c:f>
              <c:strCache>
                <c:ptCount val="1"/>
                <c:pt idx="0">
                  <c:v>faster-whisper fp16 (Windows)</c:v>
                </c:pt>
              </c:strCache>
            </c:strRef>
          </c:tx>
          <c:spPr>
            <a:solidFill>
              <a:srgbClr val="7FA6C8"/>
            </a:solidFill>
            <a:effectLst/>
          </c:spPr>
          <c:invertIfNegative val="0"/>
          <c:dLbls>
            <c:numFmt formatCode="0.0"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vi (WER)</c:v>
                </c:pt>
                <c:pt idx="1">
                  <c:v>en (WER)</c:v>
                </c:pt>
                <c:pt idx="2">
                  <c:v>zh (CER)</c:v>
                </c:pt>
                <c:pt idx="3">
                  <c:v>ja (CER)</c:v>
                </c:pt>
              </c:strCache>
            </c:strRef>
          </c:cat>
          <c:val>
            <c:numRef>
              <c:f>Sheet1!$C$2:$C$5</c:f>
              <c:numCache>
                <c:formatCode>General</c:formatCode>
                <c:ptCount val="4"/>
                <c:pt idx="0">
                  <c:v>9.1999999999999993</c:v>
                </c:pt>
                <c:pt idx="1">
                  <c:v>5</c:v>
                </c:pt>
                <c:pt idx="2">
                  <c:v>8.3000000000000007</c:v>
                </c:pt>
                <c:pt idx="3">
                  <c:v>4.7</c:v>
                </c:pt>
              </c:numCache>
            </c:numRef>
          </c:val>
          <c:extLst>
            <c:ext xmlns:c16="http://schemas.microsoft.com/office/drawing/2014/chart" uri="{C3380CC4-5D6E-409C-BE32-E72D297353CC}">
              <c16:uniqueId val="{00000001-0ECA-44E7-A65C-C1D4E8B88660}"/>
            </c:ext>
          </c:extLst>
        </c:ser>
        <c:ser>
          <c:idx val="2"/>
          <c:order val="2"/>
          <c:tx>
            <c:strRef>
              <c:f>Sheet1!$D$1</c:f>
              <c:strCache>
                <c:ptCount val="1"/>
                <c:pt idx="0">
                  <c:v>MLX large-v3 8-bit (macOS)</c:v>
                </c:pt>
              </c:strCache>
            </c:strRef>
          </c:tx>
          <c:spPr>
            <a:solidFill>
              <a:srgbClr val="E3A33B"/>
            </a:solidFill>
            <a:effectLst/>
          </c:spPr>
          <c:invertIfNegative val="0"/>
          <c:dLbls>
            <c:numFmt formatCode="0.0"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vi (WER)</c:v>
                </c:pt>
                <c:pt idx="1">
                  <c:v>en (WER)</c:v>
                </c:pt>
                <c:pt idx="2">
                  <c:v>zh (CER)</c:v>
                </c:pt>
                <c:pt idx="3">
                  <c:v>ja (CER)</c:v>
                </c:pt>
              </c:strCache>
            </c:strRef>
          </c:cat>
          <c:val>
            <c:numRef>
              <c:f>Sheet1!$D$2:$D$5</c:f>
              <c:numCache>
                <c:formatCode>General</c:formatCode>
                <c:ptCount val="4"/>
                <c:pt idx="0">
                  <c:v>8.8000000000000007</c:v>
                </c:pt>
                <c:pt idx="1">
                  <c:v>4.8</c:v>
                </c:pt>
                <c:pt idx="2">
                  <c:v>8.1</c:v>
                </c:pt>
                <c:pt idx="3">
                  <c:v>4.7</c:v>
                </c:pt>
              </c:numCache>
            </c:numRef>
          </c:val>
          <c:extLst>
            <c:ext xmlns:c16="http://schemas.microsoft.com/office/drawing/2014/chart" uri="{C3380CC4-5D6E-409C-BE32-E72D297353CC}">
              <c16:uniqueId val="{00000002-0ECA-44E7-A65C-C1D4E8B8866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6350" cap="flat">
              <a:solidFill>
                <a:srgbClr val="E5E5E5"/>
              </a:solidFill>
              <a:prstDash val="solid"/>
              <a:round/>
            </a:ln>
          </c:spPr>
        </c:majorGridlines>
        <c:title>
          <c:tx>
            <c:rich>
              <a:bodyPr/>
              <a:lstStyle/>
              <a:p>
                <a:pPr>
                  <a:defRPr sz="1100" b="0" i="0" u="none" strike="noStrike">
                    <a:solidFill>
                      <a:srgbClr val="5F6B76"/>
                    </a:solidFill>
                    <a:latin typeface="Arial"/>
                  </a:defRPr>
                </a:pPr>
                <a:r>
                  <a:rPr lang="en-US" sz="1100" b="0" i="0" u="none" strike="noStrike">
                    <a:solidFill>
                      <a:srgbClr val="5F6B76"/>
                    </a:solidFill>
                    <a:latin typeface="Arial"/>
                  </a:rPr>
                  <a:t>Tỷ lệ lỗi (%), càng thấp càng tốt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6"/>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macOS (MLX + MPS)</c:v>
                </c:pt>
              </c:strCache>
            </c:strRef>
          </c:tx>
          <c:spPr>
            <a:solidFill>
              <a:srgbClr val="7FA6C8"/>
            </a:solidFill>
            <a:effectLst/>
          </c:spPr>
          <c:invertIfNegative val="0"/>
          <c:dLbls>
            <c:numFmt formatCode="0.000" sourceLinked="0"/>
            <c:spPr>
              <a:noFill/>
              <a:ln>
                <a:noFill/>
              </a:ln>
              <a:effectLst/>
            </c:spPr>
            <c:txPr>
              <a:bodyPr/>
              <a:lstStyle/>
              <a:p>
                <a:pPr>
                  <a:defRPr sz="850" b="0" i="0" u="none" strike="noStrike">
                    <a:solidFill>
                      <a:srgbClr val="222222"/>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vi→en</c:v>
                </c:pt>
                <c:pt idx="1">
                  <c:v>en→vi</c:v>
                </c:pt>
                <c:pt idx="2">
                  <c:v>vi→zh</c:v>
                </c:pt>
                <c:pt idx="3">
                  <c:v>zh→vi</c:v>
                </c:pt>
                <c:pt idx="4">
                  <c:v>vi→ja</c:v>
                </c:pt>
                <c:pt idx="5">
                  <c:v>ja→vi</c:v>
                </c:pt>
              </c:strCache>
            </c:strRef>
          </c:cat>
          <c:val>
            <c:numRef>
              <c:f>Sheet1!$B$2:$B$7</c:f>
              <c:numCache>
                <c:formatCode>General</c:formatCode>
                <c:ptCount val="6"/>
                <c:pt idx="0">
                  <c:v>0.57999999999999996</c:v>
                </c:pt>
                <c:pt idx="1">
                  <c:v>0.496</c:v>
                </c:pt>
                <c:pt idx="2">
                  <c:v>0.72699999999999998</c:v>
                </c:pt>
                <c:pt idx="3">
                  <c:v>0.50900000000000001</c:v>
                </c:pt>
                <c:pt idx="4">
                  <c:v>0.78600000000000003</c:v>
                </c:pt>
                <c:pt idx="5">
                  <c:v>0.39500000000000002</c:v>
                </c:pt>
              </c:numCache>
            </c:numRef>
          </c:val>
          <c:extLst>
            <c:ext xmlns:c16="http://schemas.microsoft.com/office/drawing/2014/chart" uri="{C3380CC4-5D6E-409C-BE32-E72D297353CC}">
              <c16:uniqueId val="{00000000-C0D1-4121-B774-7DC2D40D5680}"/>
            </c:ext>
          </c:extLst>
        </c:ser>
        <c:ser>
          <c:idx val="1"/>
          <c:order val="1"/>
          <c:tx>
            <c:strRef>
              <c:f>Sheet1!$C$1</c:f>
              <c:strCache>
                <c:ptCount val="1"/>
                <c:pt idx="0">
                  <c:v>Windows (Vulkan + CUDA)</c:v>
                </c:pt>
              </c:strCache>
            </c:strRef>
          </c:tx>
          <c:spPr>
            <a:solidFill>
              <a:srgbClr val="1B517B"/>
            </a:solidFill>
            <a:effectLst/>
          </c:spPr>
          <c:invertIfNegative val="0"/>
          <c:dLbls>
            <c:numFmt formatCode="0.000" sourceLinked="0"/>
            <c:spPr>
              <a:noFill/>
              <a:ln>
                <a:noFill/>
              </a:ln>
              <a:effectLst/>
            </c:spPr>
            <c:txPr>
              <a:bodyPr/>
              <a:lstStyle/>
              <a:p>
                <a:pPr>
                  <a:defRPr sz="850" b="0" i="0" u="none" strike="noStrike">
                    <a:solidFill>
                      <a:srgbClr val="222222"/>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vi→en</c:v>
                </c:pt>
                <c:pt idx="1">
                  <c:v>en→vi</c:v>
                </c:pt>
                <c:pt idx="2">
                  <c:v>vi→zh</c:v>
                </c:pt>
                <c:pt idx="3">
                  <c:v>zh→vi</c:v>
                </c:pt>
                <c:pt idx="4">
                  <c:v>vi→ja</c:v>
                </c:pt>
                <c:pt idx="5">
                  <c:v>ja→vi</c:v>
                </c:pt>
              </c:strCache>
            </c:strRef>
          </c:cat>
          <c:val>
            <c:numRef>
              <c:f>Sheet1!$C$2:$C$7</c:f>
              <c:numCache>
                <c:formatCode>General</c:formatCode>
                <c:ptCount val="6"/>
                <c:pt idx="0">
                  <c:v>0.14599999999999999</c:v>
                </c:pt>
                <c:pt idx="1">
                  <c:v>0.14799999999999999</c:v>
                </c:pt>
                <c:pt idx="2">
                  <c:v>0.27300000000000002</c:v>
                </c:pt>
                <c:pt idx="3">
                  <c:v>0.14699999999999999</c:v>
                </c:pt>
                <c:pt idx="4">
                  <c:v>0.38300000000000001</c:v>
                </c:pt>
                <c:pt idx="5">
                  <c:v>0.114</c:v>
                </c:pt>
              </c:numCache>
            </c:numRef>
          </c:val>
          <c:extLst>
            <c:ext xmlns:c16="http://schemas.microsoft.com/office/drawing/2014/chart" uri="{C3380CC4-5D6E-409C-BE32-E72D297353CC}">
              <c16:uniqueId val="{00000001-C0D1-4121-B774-7DC2D40D5680}"/>
            </c:ext>
          </c:extLst>
        </c:ser>
        <c:dLbls>
          <c:dLblPos val="outEnd"/>
          <c:showLegendKey val="0"/>
          <c:showVal val="1"/>
          <c:showCatName val="0"/>
          <c:showSerName val="0"/>
          <c:showPercent val="0"/>
          <c:showBubbleSize val="0"/>
        </c:dLbls>
        <c:gapWidth val="55"/>
        <c:axId val="2094734554"/>
        <c:axId val="2094734552"/>
      </c:barChart>
      <c:lineChart>
        <c:grouping val="standard"/>
        <c:varyColors val="0"/>
        <c:ser>
          <c:idx val="2"/>
          <c:order val="2"/>
          <c:tx>
            <c:strRef>
              <c:f>Sheet1!$D$1</c:f>
              <c:strCache>
                <c:ptCount val="1"/>
                <c:pt idx="0">
                  <c:v>Mục tiêu đề xuất (0,5)</c:v>
                </c:pt>
              </c:strCache>
            </c:strRef>
          </c:tx>
          <c:spPr>
            <a:ln w="25400" cap="flat">
              <a:solidFill>
                <a:srgbClr val="B8262B"/>
              </a:solidFill>
              <a:prstDash val="dash"/>
              <a:round/>
            </a:ln>
            <a:effectLst/>
          </c:spPr>
          <c:marker>
            <c:symbol val="none"/>
          </c:marker>
          <c:cat>
            <c:strRef>
              <c:f>Sheet1!$A$2:$A$7</c:f>
              <c:strCache>
                <c:ptCount val="6"/>
                <c:pt idx="0">
                  <c:v>vi→en</c:v>
                </c:pt>
                <c:pt idx="1">
                  <c:v>en→vi</c:v>
                </c:pt>
                <c:pt idx="2">
                  <c:v>vi→zh</c:v>
                </c:pt>
                <c:pt idx="3">
                  <c:v>zh→vi</c:v>
                </c:pt>
                <c:pt idx="4">
                  <c:v>vi→ja</c:v>
                </c:pt>
                <c:pt idx="5">
                  <c:v>ja→vi</c:v>
                </c:pt>
              </c:strCache>
            </c:strRef>
          </c:cat>
          <c:val>
            <c:numRef>
              <c:f>Sheet1!$D$2:$D$7</c:f>
              <c:numCache>
                <c:formatCode>General</c:formatCode>
                <c:ptCount val="6"/>
                <c:pt idx="0">
                  <c:v>0.5</c:v>
                </c:pt>
                <c:pt idx="1">
                  <c:v>0.5</c:v>
                </c:pt>
                <c:pt idx="2">
                  <c:v>0.5</c:v>
                </c:pt>
                <c:pt idx="3">
                  <c:v>0.5</c:v>
                </c:pt>
                <c:pt idx="4">
                  <c:v>0.5</c:v>
                </c:pt>
                <c:pt idx="5">
                  <c:v>0.5</c:v>
                </c:pt>
              </c:numCache>
            </c:numRef>
          </c:val>
          <c:smooth val="0"/>
          <c:extLst>
            <c:ext xmlns:c16="http://schemas.microsoft.com/office/drawing/2014/chart" uri="{C3380CC4-5D6E-409C-BE32-E72D297353CC}">
              <c16:uniqueId val="{00000002-C0D1-4121-B774-7DC2D40D568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5E5E5"/>
              </a:solidFill>
              <a:prstDash val="solid"/>
              <a:round/>
            </a:ln>
          </c:spPr>
        </c:majorGridlines>
        <c:title>
          <c:tx>
            <c:rich>
              <a:bodyPr/>
              <a:lstStyle/>
              <a:p>
                <a:pPr>
                  <a:defRPr sz="1100" b="0" i="0" u="none" strike="noStrike">
                    <a:solidFill>
                      <a:srgbClr val="5F6B76"/>
                    </a:solidFill>
                    <a:latin typeface="Arial"/>
                  </a:defRPr>
                </a:pPr>
                <a:r>
                  <a:rPr lang="en-US" sz="1100" b="0" i="0" u="none" strike="noStrike">
                    <a:solidFill>
                      <a:srgbClr val="5F6B76"/>
                    </a:solidFill>
                    <a:latin typeface="Arial"/>
                  </a:rPr>
                  <a:t>RTF p90, càng thấp càng tốt</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6"/>
                </a:solidFill>
                <a:latin typeface="Arial"/>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VAD + khác</c:v>
                </c:pt>
              </c:strCache>
            </c:strRef>
          </c:tx>
          <c:spPr>
            <a:solidFill>
              <a:srgbClr val="B8C4CE"/>
            </a:solidFill>
            <a:effectLst/>
          </c:spPr>
          <c:invertIfNegative val="0"/>
          <c:cat>
            <c:strRef>
              <c:f>Sheet1!$A$2:$A$7</c:f>
              <c:strCache>
                <c:ptCount val="6"/>
                <c:pt idx="0">
                  <c:v>ja→vi  1.288 ms · TTS 27%</c:v>
                </c:pt>
                <c:pt idx="1">
                  <c:v>vi→ja  3.833 ms · TTS 65%</c:v>
                </c:pt>
                <c:pt idx="2">
                  <c:v>zh→vi  1.177 ms · TTS 29%</c:v>
                </c:pt>
                <c:pt idx="3">
                  <c:v>vi→zh  3.133 ms · TTS 63%</c:v>
                </c:pt>
                <c:pt idx="4">
                  <c:v>en→vi  1.137 ms · TTS 29%</c:v>
                </c:pt>
                <c:pt idx="5">
                  <c:v>vi→en  1.531 ms · TTS 24%</c:v>
                </c:pt>
              </c:strCache>
            </c:strRef>
          </c:cat>
          <c:val>
            <c:numRef>
              <c:f>Sheet1!$B$2:$B$7</c:f>
              <c:numCache>
                <c:formatCode>General</c:formatCode>
                <c:ptCount val="6"/>
                <c:pt idx="0">
                  <c:v>136</c:v>
                </c:pt>
                <c:pt idx="1">
                  <c:v>204</c:v>
                </c:pt>
                <c:pt idx="2">
                  <c:v>119</c:v>
                </c:pt>
                <c:pt idx="3">
                  <c:v>129</c:v>
                </c:pt>
                <c:pt idx="4">
                  <c:v>112</c:v>
                </c:pt>
                <c:pt idx="5">
                  <c:v>129</c:v>
                </c:pt>
              </c:numCache>
            </c:numRef>
          </c:val>
          <c:extLst>
            <c:ext xmlns:c16="http://schemas.microsoft.com/office/drawing/2014/chart" uri="{C3380CC4-5D6E-409C-BE32-E72D297353CC}">
              <c16:uniqueId val="{00000000-9D29-4BA7-AFD5-4B7FE74E0B3D}"/>
            </c:ext>
          </c:extLst>
        </c:ser>
        <c:ser>
          <c:idx val="1"/>
          <c:order val="1"/>
          <c:tx>
            <c:strRef>
              <c:f>Sheet1!$C$1</c:f>
              <c:strCache>
                <c:ptCount val="1"/>
                <c:pt idx="0">
                  <c:v>ASR</c:v>
                </c:pt>
              </c:strCache>
            </c:strRef>
          </c:tx>
          <c:spPr>
            <a:solidFill>
              <a:srgbClr val="1B517B"/>
            </a:solidFill>
            <a:effectLst/>
          </c:spPr>
          <c:invertIfNegative val="0"/>
          <c:cat>
            <c:strRef>
              <c:f>Sheet1!$A$2:$A$7</c:f>
              <c:strCache>
                <c:ptCount val="6"/>
                <c:pt idx="0">
                  <c:v>ja→vi  1.288 ms · TTS 27%</c:v>
                </c:pt>
                <c:pt idx="1">
                  <c:v>vi→ja  3.833 ms · TTS 65%</c:v>
                </c:pt>
                <c:pt idx="2">
                  <c:v>zh→vi  1.177 ms · TTS 29%</c:v>
                </c:pt>
                <c:pt idx="3">
                  <c:v>vi→zh  3.133 ms · TTS 63%</c:v>
                </c:pt>
                <c:pt idx="4">
                  <c:v>en→vi  1.137 ms · TTS 29%</c:v>
                </c:pt>
                <c:pt idx="5">
                  <c:v>vi→en  1.531 ms · TTS 24%</c:v>
                </c:pt>
              </c:strCache>
            </c:strRef>
          </c:cat>
          <c:val>
            <c:numRef>
              <c:f>Sheet1!$C$2:$C$7</c:f>
              <c:numCache>
                <c:formatCode>General</c:formatCode>
                <c:ptCount val="6"/>
                <c:pt idx="0">
                  <c:v>360</c:v>
                </c:pt>
                <c:pt idx="1">
                  <c:v>612</c:v>
                </c:pt>
                <c:pt idx="2">
                  <c:v>330</c:v>
                </c:pt>
                <c:pt idx="3">
                  <c:v>577</c:v>
                </c:pt>
                <c:pt idx="4">
                  <c:v>308</c:v>
                </c:pt>
                <c:pt idx="5">
                  <c:v>570</c:v>
                </c:pt>
              </c:numCache>
            </c:numRef>
          </c:val>
          <c:extLst>
            <c:ext xmlns:c16="http://schemas.microsoft.com/office/drawing/2014/chart" uri="{C3380CC4-5D6E-409C-BE32-E72D297353CC}">
              <c16:uniqueId val="{00000001-9D29-4BA7-AFD5-4B7FE74E0B3D}"/>
            </c:ext>
          </c:extLst>
        </c:ser>
        <c:ser>
          <c:idx val="2"/>
          <c:order val="2"/>
          <c:tx>
            <c:strRef>
              <c:f>Sheet1!$D$1</c:f>
              <c:strCache>
                <c:ptCount val="1"/>
                <c:pt idx="0">
                  <c:v>MT</c:v>
                </c:pt>
              </c:strCache>
            </c:strRef>
          </c:tx>
          <c:spPr>
            <a:solidFill>
              <a:srgbClr val="7FA6C8"/>
            </a:solidFill>
            <a:effectLst/>
          </c:spPr>
          <c:invertIfNegative val="0"/>
          <c:cat>
            <c:strRef>
              <c:f>Sheet1!$A$2:$A$7</c:f>
              <c:strCache>
                <c:ptCount val="6"/>
                <c:pt idx="0">
                  <c:v>ja→vi  1.288 ms · TTS 27%</c:v>
                </c:pt>
                <c:pt idx="1">
                  <c:v>vi→ja  3.833 ms · TTS 65%</c:v>
                </c:pt>
                <c:pt idx="2">
                  <c:v>zh→vi  1.177 ms · TTS 29%</c:v>
                </c:pt>
                <c:pt idx="3">
                  <c:v>vi→zh  3.133 ms · TTS 63%</c:v>
                </c:pt>
                <c:pt idx="4">
                  <c:v>en→vi  1.137 ms · TTS 29%</c:v>
                </c:pt>
                <c:pt idx="5">
                  <c:v>vi→en  1.531 ms · TTS 24%</c:v>
                </c:pt>
              </c:strCache>
            </c:strRef>
          </c:cat>
          <c:val>
            <c:numRef>
              <c:f>Sheet1!$D$2:$D$7</c:f>
              <c:numCache>
                <c:formatCode>General</c:formatCode>
                <c:ptCount val="6"/>
                <c:pt idx="0">
                  <c:v>440</c:v>
                </c:pt>
                <c:pt idx="1">
                  <c:v>507</c:v>
                </c:pt>
                <c:pt idx="2">
                  <c:v>392</c:v>
                </c:pt>
                <c:pt idx="3">
                  <c:v>458</c:v>
                </c:pt>
                <c:pt idx="4">
                  <c:v>390</c:v>
                </c:pt>
                <c:pt idx="5">
                  <c:v>459</c:v>
                </c:pt>
              </c:numCache>
            </c:numRef>
          </c:val>
          <c:extLst>
            <c:ext xmlns:c16="http://schemas.microsoft.com/office/drawing/2014/chart" uri="{C3380CC4-5D6E-409C-BE32-E72D297353CC}">
              <c16:uniqueId val="{00000002-9D29-4BA7-AFD5-4B7FE74E0B3D}"/>
            </c:ext>
          </c:extLst>
        </c:ser>
        <c:ser>
          <c:idx val="3"/>
          <c:order val="3"/>
          <c:tx>
            <c:strRef>
              <c:f>Sheet1!$E$1</c:f>
              <c:strCache>
                <c:ptCount val="1"/>
                <c:pt idx="0">
                  <c:v>TTS</c:v>
                </c:pt>
              </c:strCache>
            </c:strRef>
          </c:tx>
          <c:spPr>
            <a:solidFill>
              <a:srgbClr val="E3A33B"/>
            </a:solidFill>
            <a:effectLst/>
          </c:spPr>
          <c:invertIfNegative val="0"/>
          <c:cat>
            <c:strRef>
              <c:f>Sheet1!$A$2:$A$7</c:f>
              <c:strCache>
                <c:ptCount val="6"/>
                <c:pt idx="0">
                  <c:v>ja→vi  1.288 ms · TTS 27%</c:v>
                </c:pt>
                <c:pt idx="1">
                  <c:v>vi→ja  3.833 ms · TTS 65%</c:v>
                </c:pt>
                <c:pt idx="2">
                  <c:v>zh→vi  1.177 ms · TTS 29%</c:v>
                </c:pt>
                <c:pt idx="3">
                  <c:v>vi→zh  3.133 ms · TTS 63%</c:v>
                </c:pt>
                <c:pt idx="4">
                  <c:v>en→vi  1.137 ms · TTS 29%</c:v>
                </c:pt>
                <c:pt idx="5">
                  <c:v>vi→en  1.531 ms · TTS 24%</c:v>
                </c:pt>
              </c:strCache>
            </c:strRef>
          </c:cat>
          <c:val>
            <c:numRef>
              <c:f>Sheet1!$E$2:$E$7</c:f>
              <c:numCache>
                <c:formatCode>General</c:formatCode>
                <c:ptCount val="6"/>
                <c:pt idx="0">
                  <c:v>352</c:v>
                </c:pt>
                <c:pt idx="1">
                  <c:v>2510</c:v>
                </c:pt>
                <c:pt idx="2">
                  <c:v>336</c:v>
                </c:pt>
                <c:pt idx="3">
                  <c:v>1969</c:v>
                </c:pt>
                <c:pt idx="4">
                  <c:v>327</c:v>
                </c:pt>
                <c:pt idx="5">
                  <c:v>373</c:v>
                </c:pt>
              </c:numCache>
            </c:numRef>
          </c:val>
          <c:extLst>
            <c:ext xmlns:c16="http://schemas.microsoft.com/office/drawing/2014/chart" uri="{C3380CC4-5D6E-409C-BE32-E72D297353CC}">
              <c16:uniqueId val="{00000003-9D29-4BA7-AFD5-4B7FE74E0B3D}"/>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max val="4000"/>
        </c:scaling>
        <c:delete val="0"/>
        <c:axPos val="b"/>
        <c:majorGridlines>
          <c:spPr>
            <a:ln w="6350" cap="flat">
              <a:solidFill>
                <a:srgbClr val="E5E5E5"/>
              </a:solidFill>
              <a:prstDash val="solid"/>
              <a:round/>
            </a:ln>
          </c:spPr>
        </c:majorGridlines>
        <c:title>
          <c:tx>
            <c:rich>
              <a:bodyPr/>
              <a:lstStyle/>
              <a:p>
                <a:pPr>
                  <a:defRPr sz="1100" b="0" i="0" u="none" strike="noStrike">
                    <a:solidFill>
                      <a:srgbClr val="5F6B76"/>
                    </a:solidFill>
                    <a:latin typeface="Arial"/>
                  </a:defRPr>
                </a:pPr>
                <a:r>
                  <a:rPr lang="en-US" sz="1100" b="0" i="0" u="none" strike="noStrike">
                    <a:solidFill>
                      <a:srgbClr val="5F6B76"/>
                    </a:solidFill>
                    <a:latin typeface="Arial"/>
                  </a:rPr>
                  <a:t>Thời gian trung bình mỗi mẫu FLEURS (ms), máy Windows</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6"/>
                </a:solidFill>
                <a:latin typeface="Arial"/>
              </a:defRPr>
            </a:pPr>
            <a:endParaRPr lang="en-US"/>
          </a:p>
        </c:txPr>
        <c:crossAx val="2094734554"/>
        <c:crosses val="autoZero"/>
        <c:crossBetween val="between"/>
        <c:majorUnit val="1000"/>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Cũ (trần 20 s)</c:v>
                </c:pt>
              </c:strCache>
            </c:strRef>
          </c:tx>
          <c:spPr>
            <a:solidFill>
              <a:srgbClr val="B8C4CE"/>
            </a:solidFill>
            <a:effectLst/>
          </c:spPr>
          <c:invertIfNegative val="0"/>
          <c:dLbls>
            <c:numFmt formatCode="0.0"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Bản tin (đọc kịch bản)</c:v>
                </c:pt>
                <c:pt idx="1">
                  <c:v>Phỏng vấn (tự phát)</c:v>
                </c:pt>
                <c:pt idx="2">
                  <c:v>TEDx (thuyết trình)</c:v>
                </c:pt>
              </c:strCache>
            </c:strRef>
          </c:cat>
          <c:val>
            <c:numRef>
              <c:f>Sheet1!$B$2:$B$4</c:f>
              <c:numCache>
                <c:formatCode>General</c:formatCode>
                <c:ptCount val="3"/>
                <c:pt idx="0">
                  <c:v>12.53</c:v>
                </c:pt>
                <c:pt idx="1">
                  <c:v>6.77</c:v>
                </c:pt>
                <c:pt idx="2">
                  <c:v>2.61</c:v>
                </c:pt>
              </c:numCache>
            </c:numRef>
          </c:val>
          <c:extLst>
            <c:ext xmlns:c16="http://schemas.microsoft.com/office/drawing/2014/chart" uri="{C3380CC4-5D6E-409C-BE32-E72D297353CC}">
              <c16:uniqueId val="{00000000-7815-40FA-9055-F30797CEDF05}"/>
            </c:ext>
          </c:extLst>
        </c:ser>
        <c:ser>
          <c:idx val="1"/>
          <c:order val="1"/>
          <c:tx>
            <c:strRef>
              <c:f>Sheet1!$C$1</c:f>
              <c:strCache>
                <c:ptCount val="1"/>
                <c:pt idx="0">
                  <c:v>Nhanh (4,5 s)</c:v>
                </c:pt>
              </c:strCache>
            </c:strRef>
          </c:tx>
          <c:spPr>
            <a:solidFill>
              <a:srgbClr val="7FA6C8"/>
            </a:solidFill>
            <a:effectLst/>
          </c:spPr>
          <c:invertIfNegative val="0"/>
          <c:dLbls>
            <c:numFmt formatCode="0.0"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Bản tin (đọc kịch bản)</c:v>
                </c:pt>
                <c:pt idx="1">
                  <c:v>Phỏng vấn (tự phát)</c:v>
                </c:pt>
                <c:pt idx="2">
                  <c:v>TEDx (thuyết trình)</c:v>
                </c:pt>
              </c:strCache>
            </c:strRef>
          </c:cat>
          <c:val>
            <c:numRef>
              <c:f>Sheet1!$C$2:$C$4</c:f>
              <c:numCache>
                <c:formatCode>General</c:formatCode>
                <c:ptCount val="3"/>
                <c:pt idx="0">
                  <c:v>4.3899999999999997</c:v>
                </c:pt>
                <c:pt idx="1">
                  <c:v>4.32</c:v>
                </c:pt>
                <c:pt idx="2">
                  <c:v>2.42</c:v>
                </c:pt>
              </c:numCache>
            </c:numRef>
          </c:val>
          <c:extLst>
            <c:ext xmlns:c16="http://schemas.microsoft.com/office/drawing/2014/chart" uri="{C3380CC4-5D6E-409C-BE32-E72D297353CC}">
              <c16:uniqueId val="{00000001-7815-40FA-9055-F30797CEDF05}"/>
            </c:ext>
          </c:extLst>
        </c:ser>
        <c:ser>
          <c:idx val="2"/>
          <c:order val="2"/>
          <c:tx>
            <c:strRef>
              <c:f>Sheet1!$D$1</c:f>
              <c:strCache>
                <c:ptCount val="1"/>
                <c:pt idx="0">
                  <c:v>Cân bằng (6 s)</c:v>
                </c:pt>
              </c:strCache>
            </c:strRef>
          </c:tx>
          <c:spPr>
            <a:solidFill>
              <a:srgbClr val="1B517B"/>
            </a:solidFill>
            <a:effectLst/>
          </c:spPr>
          <c:invertIfNegative val="0"/>
          <c:dLbls>
            <c:numFmt formatCode="0.0"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Bản tin (đọc kịch bản)</c:v>
                </c:pt>
                <c:pt idx="1">
                  <c:v>Phỏng vấn (tự phát)</c:v>
                </c:pt>
                <c:pt idx="2">
                  <c:v>TEDx (thuyết trình)</c:v>
                </c:pt>
              </c:strCache>
            </c:strRef>
          </c:cat>
          <c:val>
            <c:numRef>
              <c:f>Sheet1!$D$2:$D$4</c:f>
              <c:numCache>
                <c:formatCode>General</c:formatCode>
                <c:ptCount val="3"/>
                <c:pt idx="0">
                  <c:v>5.87</c:v>
                </c:pt>
                <c:pt idx="1">
                  <c:v>5.66</c:v>
                </c:pt>
                <c:pt idx="2">
                  <c:v>2.86</c:v>
                </c:pt>
              </c:numCache>
            </c:numRef>
          </c:val>
          <c:extLst>
            <c:ext xmlns:c16="http://schemas.microsoft.com/office/drawing/2014/chart" uri="{C3380CC4-5D6E-409C-BE32-E72D297353CC}">
              <c16:uniqueId val="{00000002-7815-40FA-9055-F30797CEDF05}"/>
            </c:ext>
          </c:extLst>
        </c:ser>
        <c:ser>
          <c:idx val="3"/>
          <c:order val="3"/>
          <c:tx>
            <c:strRef>
              <c:f>Sheet1!$E$1</c:f>
              <c:strCache>
                <c:ptCount val="1"/>
                <c:pt idx="0">
                  <c:v>Chất lượng (8 s)</c:v>
                </c:pt>
              </c:strCache>
            </c:strRef>
          </c:tx>
          <c:spPr>
            <a:solidFill>
              <a:srgbClr val="E3A33B"/>
            </a:solidFill>
            <a:effectLst/>
          </c:spPr>
          <c:invertIfNegative val="0"/>
          <c:dLbls>
            <c:numFmt formatCode="0.0"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Bản tin (đọc kịch bản)</c:v>
                </c:pt>
                <c:pt idx="1">
                  <c:v>Phỏng vấn (tự phát)</c:v>
                </c:pt>
                <c:pt idx="2">
                  <c:v>TEDx (thuyết trình)</c:v>
                </c:pt>
              </c:strCache>
            </c:strRef>
          </c:cat>
          <c:val>
            <c:numRef>
              <c:f>Sheet1!$E$2:$E$4</c:f>
              <c:numCache>
                <c:formatCode>General</c:formatCode>
                <c:ptCount val="3"/>
                <c:pt idx="0">
                  <c:v>7.88</c:v>
                </c:pt>
                <c:pt idx="1">
                  <c:v>6.7</c:v>
                </c:pt>
                <c:pt idx="2">
                  <c:v>3.79</c:v>
                </c:pt>
              </c:numCache>
            </c:numRef>
          </c:val>
          <c:extLst>
            <c:ext xmlns:c16="http://schemas.microsoft.com/office/drawing/2014/chart" uri="{C3380CC4-5D6E-409C-BE32-E72D297353CC}">
              <c16:uniqueId val="{00000003-7815-40FA-9055-F30797CEDF0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max val="14"/>
          <c:min val="0"/>
        </c:scaling>
        <c:delete val="0"/>
        <c:axPos val="l"/>
        <c:majorGridlines>
          <c:spPr>
            <a:ln w="6350" cap="flat">
              <a:solidFill>
                <a:srgbClr val="E5E5E5"/>
              </a:solidFill>
              <a:prstDash val="solid"/>
              <a:round/>
            </a:ln>
          </c:spPr>
        </c:majorGridlines>
        <c:title>
          <c:tx>
            <c:rich>
              <a:bodyPr/>
              <a:lstStyle/>
              <a:p>
                <a:pPr>
                  <a:defRPr sz="1100" b="0" i="0" u="none" strike="noStrike">
                    <a:solidFill>
                      <a:srgbClr val="5F6B76"/>
                    </a:solidFill>
                    <a:latin typeface="Arial"/>
                  </a:defRPr>
                </a:pPr>
                <a:r>
                  <a:rPr lang="en-US" sz="1100" b="0" i="0" u="none" strike="noStrike">
                    <a:solidFill>
                      <a:srgbClr val="5F6B76"/>
                    </a:solidFill>
                    <a:latin typeface="Arial"/>
                  </a:rPr>
                  <a:t>Độ dài đoạn p90 (giây)</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6"/>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45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Em </a:t>
            </a:r>
            <a:r>
              <a:rPr lang="en-US" sz="1200" b="0" i="0" kern="1200" dirty="0" err="1">
                <a:solidFill>
                  <a:schemeClr val="tx1"/>
                </a:solidFill>
                <a:effectLst/>
                <a:latin typeface="+mn-lt"/>
                <a:ea typeface="+mn-ea"/>
                <a:cs typeface="+mn-cs"/>
              </a:rPr>
              <a:t>kính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chào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thầy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Chủ</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tịch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đồng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thầy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cô</a:t>
            </a:r>
            <a:r>
              <a:rPr lang="en-US" sz="1200" b="0" i="0" kern="1200" dirty="0">
                <a:solidFill>
                  <a:schemeClr val="tx1"/>
                </a:solidFill>
                <a:effectLst/>
                <a:latin typeface="+mn-lt"/>
                <a:ea typeface="+mn-ea"/>
                <a:cs typeface="+mn-cs"/>
              </a:rPr>
              <a:t>. Em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Ngô Mạnh Hùng, </a:t>
            </a:r>
            <a:r>
              <a:rPr lang="en-US" sz="1200" b="0" i="0" kern="1200" dirty="0" err="1">
                <a:solidFill>
                  <a:schemeClr val="tx1"/>
                </a:solidFill>
                <a:effectLst/>
                <a:latin typeface="+mn-lt"/>
                <a:ea typeface="+mn-ea"/>
                <a:cs typeface="+mn-cs"/>
              </a:rPr>
              <a:t>mã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viên</a:t>
            </a:r>
            <a:r>
              <a:rPr lang="en-US" sz="1200" b="0" i="0" kern="1200" dirty="0">
                <a:solidFill>
                  <a:schemeClr val="tx1"/>
                </a:solidFill>
                <a:effectLst/>
                <a:latin typeface="+mn-lt"/>
                <a:ea typeface="+mn-ea"/>
                <a:cs typeface="+mn-cs"/>
              </a:rPr>
              <a:t> 24410300. </a:t>
            </a:r>
            <a:r>
              <a:rPr lang="en-US" sz="1200" b="0" i="0" kern="1200" dirty="0" err="1">
                <a:solidFill>
                  <a:schemeClr val="tx1"/>
                </a:solidFill>
                <a:effectLst/>
                <a:latin typeface="+mn-lt"/>
                <a:ea typeface="+mn-ea"/>
                <a:cs typeface="+mn-cs"/>
              </a:rPr>
              <a:t>Hôm</a:t>
            </a:r>
            <a:r>
              <a:rPr lang="en-US" sz="1200" b="0" i="0" kern="1200" dirty="0">
                <a:solidFill>
                  <a:schemeClr val="tx1"/>
                </a:solidFill>
                <a:effectLst/>
                <a:latin typeface="+mn-lt"/>
                <a:ea typeface="+mn-ea"/>
                <a:cs typeface="+mn-cs"/>
              </a:rPr>
              <a:t> nay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đồ</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tốt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nghiệp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dịch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giọng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nói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ngôn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ngữ</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thời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mô</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hình</a:t>
            </a:r>
            <a:r>
              <a:rPr lang="en-US" sz="1200" b="0" i="0" kern="1200" dirty="0">
                <a:solidFill>
                  <a:schemeClr val="tx1"/>
                </a:solidFill>
                <a:effectLst/>
                <a:latin typeface="+mn-lt"/>
                <a:ea typeface="+mn-ea"/>
                <a:cs typeface="+mn-cs"/>
              </a:rPr>
              <a:t> AI </a:t>
            </a:r>
            <a:r>
              <a:rPr lang="en-US" sz="1200" b="0" i="0" kern="1200" dirty="0" err="1">
                <a:solidFill>
                  <a:schemeClr val="tx1"/>
                </a:solidFill>
                <a:effectLst/>
                <a:latin typeface="+mn-lt"/>
                <a:ea typeface="+mn-ea"/>
                <a:cs typeface="+mn-cs"/>
              </a:rPr>
              <a:t>chạy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cục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dưới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sự</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hướng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dẫn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thầy</a:t>
            </a:r>
            <a:r>
              <a:rPr lang="en-US" sz="1200" b="0" i="0" kern="1200" dirty="0">
                <a:solidFill>
                  <a:schemeClr val="tx1"/>
                </a:solidFill>
                <a:effectLst/>
                <a:latin typeface="+mn-lt"/>
                <a:ea typeface="+mn-ea"/>
                <a:cs typeface="+mn-cs"/>
              </a:rPr>
              <a:t> Nguyễn Thành Luân.</a:t>
            </a:r>
          </a:p>
          <a:p>
            <a:r>
              <a:rPr lang="en-US" sz="1200" b="1" i="0" kern="1200" dirty="0">
                <a:solidFill>
                  <a:schemeClr val="tx1"/>
                </a:solidFill>
                <a:effectLst/>
                <a:latin typeface="+mn-lt"/>
                <a:ea typeface="+mn-ea"/>
                <a:cs typeface="+mn-cs"/>
              </a:rPr>
              <a:t>Lưu 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nhìn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đồng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rõ</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đề</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tài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GVHD;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đọc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lại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tin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bìa</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Bài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gồm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bốn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tổng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bài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phương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pháp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xây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dựng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nghiệm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luận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hướng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triển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Cuối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xin</a:t>
            </a:r>
            <a:r>
              <a:rPr lang="en-US" sz="1200" b="0" i="0" kern="1200" dirty="0">
                <a:solidFill>
                  <a:schemeClr val="tx1"/>
                </a:solidFill>
                <a:effectLst/>
                <a:latin typeface="+mn-lt"/>
                <a:ea typeface="+mn-ea"/>
                <a:cs typeface="+mn-cs"/>
              </a:rPr>
              <a:t> demo </a:t>
            </a:r>
            <a:r>
              <a:rPr lang="en-US" sz="1200" b="0" i="0" kern="1200" dirty="0" err="1">
                <a:solidFill>
                  <a:schemeClr val="tx1"/>
                </a:solidFill>
                <a:effectLst/>
                <a:latin typeface="+mn-lt"/>
                <a:ea typeface="+mn-ea"/>
                <a:cs typeface="+mn-cs"/>
              </a:rPr>
              <a:t>ngắn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ứng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Sau </a:t>
            </a:r>
            <a:r>
              <a:rPr lang="en-US" sz="1200" b="0" i="0" kern="1200" dirty="0" err="1">
                <a:solidFill>
                  <a:schemeClr val="tx1"/>
                </a:solidFill>
                <a:effectLst/>
                <a:latin typeface="+mn-lt"/>
                <a:ea typeface="+mn-ea"/>
                <a:cs typeface="+mn-cs"/>
              </a:rPr>
              <a:t>đó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lắng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câu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hỏi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góp</a:t>
            </a:r>
            <a:r>
              <a:rPr lang="en-US" sz="1200" b="0" i="0" kern="1200" dirty="0">
                <a:solidFill>
                  <a:schemeClr val="tx1"/>
                </a:solidFill>
                <a:effectLst/>
                <a:latin typeface="+mn-lt"/>
                <a:ea typeface="+mn-ea"/>
                <a:cs typeface="+mn-cs"/>
              </a:rPr>
              <a:t> ý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đồng</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rPr>
              <a:t>Chuyển</a:t>
            </a:r>
            <a:r>
              <a:rPr lang="en-US" sz="1200" b="1" i="0" kern="1200" dirty="0">
                <a:solidFill>
                  <a:schemeClr val="tx1"/>
                </a:solidFill>
                <a:effectLst/>
                <a:latin typeface="+mn-lt"/>
                <a:ea typeface="+mn-ea"/>
                <a:cs typeface="+mn-cs"/>
              </a:rPr>
              <a:t> 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Trước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thiệu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bài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phạm</a:t>
            </a:r>
            <a:r>
              <a:rPr lang="en-US" sz="1200" b="0" i="0" kern="1200" dirty="0">
                <a:solidFill>
                  <a:schemeClr val="tx1"/>
                </a:solidFill>
                <a:effectLst/>
                <a:latin typeface="+mn-lt"/>
                <a:ea typeface="+mn-ea"/>
                <a:cs typeface="+mn-cs"/>
              </a:rPr>
              <a:t> vi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chọn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quyết</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Hiện nay việc họp hay học trực tuyến với người nước ngoài khá phổ biến, và lúc đó mình cần hiểu người kia nói gì gần như ngay lập tức. Các công cụ dịch giọng nói hiện có gần như đều chạy trên đám mây. Điều này kéo theo ba vấn đề. Mạng yếu là bản dịch chậm hoặc mất. Phải trả phí theo thời gian dùng. Và toàn bộ âm thanh cuộc họp bị gửi ra máy chủ bên ngoài.</a:t>
            </a:r>
          </a:p>
          <a:p>
            <a:r>
              <a:t>Trong khi đó, các mô hình mã nguồn mở như Whisper, NLLB hay sherpa-onnx đã đủ nhỏ để chạy trên máy cá nhân. Em không tạo ra mô hình AI mới. Việc của đề tài là ghép các mô hình này lại và đo xem chúng chạy trên máy thật được tới đâu.</a:t>
            </a:r>
          </a:p>
          <a:p>
            <a:r>
              <a:t>Tóm lại, câu hỏi em đặt ra là một chiếc laptop cá nhân có tự chạy trọn chuỗi dịch giọng nói và theo kịp người nói hay không.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có so sánh với bốn giải pháp gần nhất. Các ô trong bảng em lấy từ trang trợ giúp của Google và README của từng dự án.</a:t>
            </a:r>
          </a:p>
          <a:p>
            <a:r>
              <a:t>Google Meet có phụ đề dịch sang tiếng Việt, nhưng chạy trên đám mây và phải dùng gói trả phí. Phần dịch bằng giọng nói của Meet hiện chỉ có tiếng Anh với sáu thứ tiếng, chưa có tiếng Việt. SeamlessM4T của Meta chạy được trên máy, nghe và đọc được tiếng Việt, nhưng nó là một mô hình chạy bằng dòng lệnh, không thu được âm thanh trên máy. TranscriptionSuite là ứng dụng chép lời chạy trên máy, thu được cả micro lẫn âm thanh hệ thống, nhưng chỉ dịch được sang tiếng Anh và không đọc. LocalVocal là plugin của OBS, dịch được tiếng Việt ngay trên máy, còn dùng cùng mô hình NLLB với em, nhưng không đọc bản dịch và phải chạy trong OBS.</a:t>
            </a:r>
          </a:p>
          <a:p>
            <a:r>
              <a:t>Tóm lại, chưa công cụ nào có đủ các hàng trong bảng. SeamlessM4T gần đề tài nhất về mô hình, còn LocalVocal gần nhất về ứng dụng.</a:t>
            </a:r>
          </a:p>
          <a:p>
            <a:r>
              <a:t>Nếu bị hỏi đề tài khác LocalVocal ở đâu: đề tài đọc bản dịch thành tiếng, chạy hai chiều cùng lúc trong một ứng dụng riêng có chống vòng lặp, và có bộ đo cho từng khâu.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Về mục tiêu, ứng dụng nhận âm thanh từ hai nguồn. Một là giọng của chính người dùng qua micro. Hai là âm thanh đang phát trên máy, ví dụ giọng người bên kia cuộc gọi hoặc một video.</a:t>
            </a:r>
          </a:p>
          <a:p>
            <a:r>
              <a:t>Khi người dùng nói, ứng dụng hiện phụ đề song ngữ và đọc bản dịch ra loa để người đối diện nghe. Còn với âm thanh trên máy thì ứng dụng chỉ hiện phụ đề, không đọc, để ứng dụng không tự thu lại giọng đọc của chính nó.</a:t>
            </a:r>
          </a:p>
          <a:p>
            <a:r>
              <a:t>Hệ thống dịch được sáu chiều giữa tiếng Việt với tiếng Anh, Nhật và Trung, chạy trên Windows 11 và macOS. Mô hình chỉ cần tải về một lần, sau đó dịch hoàn toàn không cần Internet.</a:t>
            </a:r>
          </a:p>
          <a:p>
            <a:r>
              <a:t>Phạm vi em giới hạn như trong khung màu đỏ. Em không làm mô hình mới. Em dịch từng câu sau khi người nói ngừng, không dịch đồng thời từng từ. Và bản dịch không được đưa ngược vào phần mềm họp.</a:t>
            </a:r>
          </a:p>
          <a:p>
            <a:r>
              <a:t>Tóm lại, mục tiêu là dịch sáu chiều ngay trên laptop, mỗi lần một câu, và âm thanh không rời khỏi máy.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phần phương pháp. Em sẽ trình bày bốn ý: chuỗi xử lý, kiến trúc hệ thống, một số kỹ thuật chính, và cuối cùng là ứng dụng, đóng gói, kiểm thử.</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chuỗi xử lý của hệ thống. Âm thanh từ micro hoặc từ máy được đưa về cùng một định dạng, rồi đi qua bốn khâu.</a:t>
            </a:r>
          </a:p>
          <a:p>
            <a:r>
              <a:t>Khâu đầu là VAD, dùng mô hình Silero, có nhiệm vụ cắt dòng âm thanh thành từng câu. Tiếp theo là ASR, dùng Whisper, chuyển giọng nói thành chữ. Sau đó là MT, dùng NLLB-200, dịch đoạn chữ đó sang ngôn ngữ kia. Cuối cùng là TTS, đọc bản dịch ra loa. Khâu này chỉ chạy khi người dùng nói qua micro. Câu gốc và bản dịch hiện ngay lên màn hình thành phụ đề.</a:t>
            </a:r>
          </a:p>
          <a:p>
            <a:r>
              <a:t>Em chọn cách ghép từng khâu như vậy vì hai lý do. Thứ nhất, khi kết quả sai thì em biết sai ở khâu nghe hay khâu dịch. Thứ hai, em thay được từng mô hình cho hợp với phần cứng mà không ảnh hưởng khâu khác. Cái giá là lỗi và độ trễ cộng dồn qua các khâu. Ví dụ Whisper nghe nhầm một từ thì NLLB cũng dịch luôn từ sai đó. Vì vậy ở phần kết quả, em đo riêng từng khâu và đo cả chuỗi.</a:t>
            </a:r>
          </a:p>
          <a:p>
            <a:r>
              <a:t>Tóm lại, tách thành bốn khâu giúp em đo và thay được từng khâu, đổi lại lỗi và độ trễ cộng dồn, và em đã đo cả hai.</a:t>
            </a:r>
          </a:p>
          <a:p>
            <a:r>
              <a:t>Khi chỉ sơ đồ: đi từ nguồn âm thanh, qua bốn khâu, tới loa và phụ đề. Nếu hội đồng hỏi VAD, ASR, MT, TTS là gì thì mở slide dự phòng 28 đến 31.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Về kiến trúc, ứng dụng gồm hai chương trình chạy song song trên cùng một máy. Bên trái là ứng dụng desktop, viết bằng Electron, React và TypeScript. Phần này lo giao diện, thu âm thanh và phát giọng đọc. Bên phải là dịch vụ AI viết bằng Python, chạy bốn mô hình, quản lý mô hình và lưu lịch sử.</a:t>
            </a:r>
          </a:p>
          <a:p>
            <a:r>
              <a:t>Hai bên trao đổi qua REST và WebSocket, nhưng chỉ trong nội bộ máy, tức địa chỉ 127.0.0.1. Nên dịch vụ không mở ra mạng bên ngoài.</a:t>
            </a:r>
          </a:p>
          <a:p>
            <a:r>
              <a:t>Em tách làm hai vì các thư viện mô hình đều nằm bên Python, còn việc thu âm thanh hệ thống thì Electron đã làm sẵn. Ngoài ra mô hình chiếm khoảng 2 GB RAM và mỗi lần chạy có thể giữ CPU vài giây. Nếu để chung một chương trình thì cứ mỗi câu giao diện lại bị đơ.</a:t>
            </a:r>
          </a:p>
          <a:p>
            <a:r>
              <a:t>Tóm lại, em tách hai tiến trình để mô hình nặng không làm đơ giao diện, và hai bên chỉ trao đổi bên trong máy.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Bên trong dịch vụ AI, em tổ chức code theo kiến trúc Ports and Adapters, còn gọi là kiến trúc lục giác. Ý chính chỉ có một: phụ thuộc luôn hướng vào trong. Chuỗi xử lý ở giữa chỉ làm việc với các giao diện trừu tượng, gọi là port. Nó không biết phía sau là Whisper hay mô hình nào khác.</a:t>
            </a:r>
          </a:p>
          <a:p>
            <a:r>
              <a:t>Thiết kế này đã giúp em ở ba chỗ. Khi thêm hai runtime nhận dạng là MLX và faster-whisper, mỗi runtime em chỉ viết một adapter, thêm một dòng đăng ký và một dòng cấu hình. Khi phát hiện sherpa-onnx không đọc được tiếng Nhật, em thêm Kokoro và một lớp chọn engine theo ngôn ngữ, chuỗi xử lý vẫn chỉ thấy một TTS. Còn khi kiểm thử, em thay mô hình thật bằng mô hình giả, nên 327 bài kiểm thử chạy xong trong vài giây.</a:t>
            </a:r>
          </a:p>
          <a:p>
            <a:r>
              <a:t>Tóm lại, vì chuỗi xử lý chỉ biết port, em thêm được hai runtime nhận dạng và một engine đọc mà không sửa dòng nào của chuỗi xử lý.</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phần em phải tự làm, đó là bộ tách câu. Khi nói thì không có dấu chấm câu, nên hệ thống phải tự đoán lúc nào một câu kết thúc để gửi đi dịch. Bản đầu tiên của em chờ im lặng 300 mili giây và cho câu dài tới 20 giây. Kết quả là nếu người nói nói liền một mạch thì phải chờ tới 20 giây mới có bản dịch. Đây cũng là chỗ thầy hướng dẫn góp ý hồi tháng 8.</a:t>
            </a:r>
          </a:p>
          <a:p>
            <a:r>
              <a:t>Bộ tách câu hiện tại đổi ngưỡng theo độ dài câu. Khi câu còn ngắn, hệ thống chờ im lặng 320 mili giây, để người nói chậm hay ngập ngừng không bị cắt vụn câu. Khi câu đã dài hơn 3,5 giây thì chỉ cần một chỗ ngừng ngắn 140 mili giây là chốt câu. Nếu câu chạm 6 giây thì hệ thống cắt luôn, nhưng lùi lại tối đa 400 mili giây để cắt ở chỗ yên nhất.</a:t>
            </a:r>
          </a:p>
          <a:p>
            <a:r>
              <a:t>Đổi lại, có một số câu bị cắt giữa chừng: 30% số đoạn ở bản tin, 10% ở phỏng vấn, và không có đoạn nào ở bài nói TEDx.</a:t>
            </a:r>
          </a:p>
          <a:p>
            <a:r>
              <a:t>Tóm lại, câu dài nhất giờ chỉ còn 6 giây thay vì 20 giây, và với bản tin đọc liền mạch thì 90% số câu ngắn hơn 5,9 giây.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Ứng dụng chạy hai chiều cùng lúc. Chiều đi là khi người dùng giữ phím để nói. Câu nói được nhận dạng, dịch, rồi đọc ra loa. Chiều về là âm thanh đang phát trên máy, ví dụ người bên kia cuộc gọi. Phần này được thu liên tục và chỉ hiện phụ đề.</a:t>
            </a:r>
          </a:p>
          <a:p>
            <a:r>
              <a:t>Chạy hai chiều cùng lúc thì có một vấn đề. Giọng đọc bản dịch phát ra cũng là âm thanh của máy. Nếu không chặn thì chiều về sẽ thu lại giọng đọc đó rồi dịch tiếp, thành một vòng lặp. Em xử lý bằng cách trong lúc đang đọc bản dịch, ứng dụng bỏ qua âm thanh hệ thống và hiện chữ "Tạm ngưng thu".</a:t>
            </a:r>
          </a:p>
          <a:p>
            <a:r>
              <a:t>Một chi tiết nữa là khi người dùng nhả phím thì ứng dụng ngừng gửi âm thanh. Lúc đó VAD không nhận được khoảng lặng nào nên không biết câu đã hết. Em thêm hàm flush vào VAD để chốt câu ngay lúc nhả phím. Ngoài ra, dịch vụ cũng tự bỏ âm thanh micro gửi đến ngoài lúc giữ phím, để nếu một phía có lỗi thì phía kia vẫn chặn được.</a:t>
            </a:r>
          </a:p>
          <a:p>
            <a:r>
              <a:t>Tóm lại, hai chiều chạy cùng lúc mà bản dịch đang đọc không bị thu lại rồi dịch tiếp.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ứng dụng desktop, gồm tám màn hình. Ngoài màn phiên dịch trực tiếp, người dùng còn nhập được tệp âm thanh hoặc video để dịch cả tệp, xem lại lịch sử có tìm kiếm, xem và sửa bản dịch trước khi đọc, chấm điểm ngay trong ứng dụng, và quản lý mô hình. Ảnh bên trái là màn lịch sử với bản gốc và bản dịch của cả hai chiều. Bên phải là màn thiết bị, cho thấy GPU mà dịch vụ nhìn thấy, và màn quản lý mô hình với tiến độ nạp từng khâu.</a:t>
            </a:r>
          </a:p>
          <a:p>
            <a:r>
              <a:t>Nhập tệp, chấm điểm và tách người nói là phần em làm thêm ngoài đề cương. Riêng tách người nói thì em chưa đánh giá độ chính xác trên cuộc họp nhiều người.</a:t>
            </a:r>
          </a:p>
          <a:p>
            <a:r>
              <a:t>Tóm lại, ngoài phiên dịch trực tiếp, ứng dụng còn nhập tệp, lưu lịch sử, chấm điểm và quản lý mô hình.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Về đóng gói, bộ cài mang theo sẵn một bản Python riêng, nên người dùng không phải cài Python hay Node. Bộ cài Windows nặng 371 MB, bản macOS 592 MB. Em kiểm tra bộ cài Windows qua bốn bước trong bảng, từ bản Python đóng gói tới tốc độ chạy thật sau khi cài.</a:t>
            </a:r>
          </a:p>
          <a:p>
            <a:r>
              <a:t>Về kiểm thử, em có ba lớp chạy tự động. 327 bài pytest cho dịch vụ, 69 bài vitest cho giao diện chạy trên dịch vụ giả, và 11 kịch bản Playwright chạy ứng dụng thật với dịch vụ thật và mô hình thật. Hai lớp đầu dùng mô hình giả nên chạy xong trong vài giây.</a:t>
            </a:r>
          </a:p>
          <a:p>
            <a:r>
              <a:t>Tóm lại, người dùng chỉ cần một bộ cài là chạy được, và hệ thống có 407 bài kiểm thử tự động ở ba lớp.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phần kết quả. Em muốn trả lời bốn câu hỏi. Từng khâu chính xác tới đâu. Cả chuỗi có theo kịp người nói không. Có chạy ổn định lâu dài không. Và con số đo trên dữ liệu chuẩn có lạc quan hơn thực tế không. Đầu tiên là môi trường và dữ liệu đo.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Trước khi vào kết quả, em nói qua về môi trường đo. Em đo trên hai máy: một máy Mac M4 và một laptop Windows 11 có card RTX 4060. Dữ liệu chính là bộ FLEURS: 3.099 bản thu cho nhận dạng, 2.022 cặp câu cho dịch, và 50 câu mỗi chiều cho độ trễ. Ngoài ra em có bài chạy liên tục 60 phút, ba bản ghi YouTube để thử bộ tách câu, và 25 đoạn phỏng vấn thật.</a:t>
            </a:r>
          </a:p>
          <a:p>
            <a:r>
              <a:t>Khâu dịch em đo trên câu văn bản chuẩn để lỗi nhận dạng không bị tính vào. Mọi phép đo chạy sau khi đã nạp xong mô hình, chạy lại ra đúng số cũ, và tệp kết quả gốc em đều lưu lại.</a:t>
            </a:r>
          </a:p>
          <a:p>
            <a:r>
              <a:t>Tóm lại, em đo trên hai máy với FLEURS là dữ liệu chính, và mọi số liệu đều chạy lại được từ tệp kết quả gốc.</a:t>
            </a:r>
          </a:p>
          <a:p>
            <a:r>
              <a:t>Nếu hỏi FLEURS có gì: mở slide dự phòng 33.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Đầu tiên là khâu nhận dạng giọng nói, đo trên 3.099 bản thu của bộ FLEURS. Chỉ số ở đây là WER, tức tỉ lệ từ bị nhận sai, càng thấp càng tốt.</a:t>
            </a:r>
          </a:p>
          <a:p>
            <a:r>
              <a:t>Tiếng Việt có WER từ 8,8 đến 10,4%, tiếng Anh khoảng 5%, nghĩa là tiếng Việt sai nhiều gần gấp đôi tiếng Anh. Tiếng Trung và tiếng Nhật viết liền, không có khoảng trắng giữa các từ, nên em dùng CER, tức tỉ lệ ký tự sai, giống bài báo gốc của FLEURS.</a:t>
            </a:r>
          </a:p>
          <a:p>
            <a:r>
              <a:t>Cần lưu ý FLEURS là giọng đọc rõ ràng, nên đây là mức lỗi thấp nhất mình có thể kỳ vọng. Phần sau em sẽ cho thấy giọng nói tự nhiên sai nhiều hơn bao nhiêu. Ba cột màu là ba cấu hình khác nhau, vì mỗi runtime dùng một tệp mô hình riêng.</a:t>
            </a:r>
          </a:p>
          <a:p>
            <a:r>
              <a:t>Tóm lại, trên giọng đọc, tiếng Việt sai khoảng một từ trong mười từ, gấp đôi tiếng Anh.</a:t>
            </a:r>
          </a:p>
          <a:p>
            <a:r>
              <a:t>Nếu hỏi về lượng tử hóa: cùng mô hình large-v3-turbo, bản nén 5 bit sai nhiều hơn bản đầy đủ khoảng 1,2 điểm WER tiếng Việt, nhưng chạy nhanh gấp đôi. Nếu hỏi WER, CER tính thế nào hay FLEURS có gì thì mở slide 33 và 34.</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Tiếp theo là khâu dịch. Em dùng NLLB-200 bản 600 triệu tham số và chấm trên 2.022 cặp câu của FLEURS, đủ sáu chiều. Ở đây em dịch câu văn bản chuẩn có sẵn, không dịch kết quả của khâu nhận dạng, để lỗi nghe không bị tính vào điểm dịch.</a:t>
            </a:r>
          </a:p>
          <a:p>
            <a:r>
              <a:t>Em dùng hai độ đo. spBLEU đếm xem bản dịch máy trùng bao nhiêu chữ với bản dịch mẫu của người. COMET là một mô hình được huấn luyện để chấm bản dịch theo nghĩa, cho điểm từ 0 đến 1.</a:t>
            </a:r>
          </a:p>
          <a:p>
            <a:r>
              <a:t>Hai độ đo này xếp hạng các chiều khác nhau. Theo spBLEU thì Việt sang Nhật thấp nhất. Theo COMET thì Việt sang Trung thấp nhất, còn Việt sang Nhật lại ở mức khá. Lý do là spBLEU chỉ đếm chữ trùng, nên một câu tiếng Nhật đúng nghĩa nhưng diễn đạt khác bản mẫu vẫn bị điểm thấp. Vì vậy em báo cáo cả hai, và không lấy trung bình sáu chiều.</a:t>
            </a:r>
          </a:p>
          <a:p>
            <a:r>
              <a:t>Tóm lại, điểm COMET từ 0,77 đến 0,85 ở cả sáu chiều, và chiều yếu nhất là Việt sang Trung, thấp ở cả hai độ đo.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Về tốc độ, em đo cả chuỗi bốn khâu trên 50 câu mỗi chiều. Chỉ số là RTF, bằng thời gian xử lý chia cho độ dài câu nói. Ví dụ câu dài 4 giây mà xử lý mất 2 giây thì RTF là 0,5. RTF dưới 1 nghĩa là máy xử lý xong nhanh hơn thời gian người ta nói câu đó. Em lấy p90, tức 9 trên 10 câu nhanh hơn mức này, để con số trung bình không che mất những câu chậm.</a:t>
            </a:r>
          </a:p>
          <a:p>
            <a:r>
              <a:t>Trên laptop Windows có card RTX 4060, cả sáu chiều đều dưới 0,5, chậm nhất là Việt sang Nhật với 0,383. Trên máy Mac M4, cả sáu chiều đều dưới 1, nhưng chỉ hai chiều xuống được dưới 0,5. Mức 0,5 là em tự đề xuất, vì khi hai bên cùng nói thì hai chiều dùng chung một bộ mô hình, mỗi chiều chỉ còn khoảng một nửa sức máy.</a:t>
            </a:r>
          </a:p>
          <a:p>
            <a:r>
              <a:t>Tóm lại, cả sáu chiều đều theo kịp người nói trên cả hai máy, và máy có card rời đạt luôn mục tiêu 0,5.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Như em nói ở trên, FLEURS là giọng đọc nên có thể lạc quan hơn thực tế. Vì vậy em đo thêm trên 25 đoạn của một buổi phỏng vấn thật. Cùng mô hình, cùng máy, WER tiếng Việt tăng từ 10,4% lên 24,6%, tức gấp 2,4 lần.</a:t>
            </a:r>
          </a:p>
          <a:p>
            <a:r>
              <a:t>Lỗi chủ yếu nằm ở các thuật ngữ tiếng Anh chen vào câu tiếng Việt. Ví dụ từ "string" xuất hiện 18 lần thì Whisper chỉ nghe đúng 1 lần, còn lại nghe thành "stream", "trên" hay "chuyên". Phụ đề tự động của YouTube cũng sai y như vậy.</a:t>
            </a:r>
          </a:p>
          <a:p>
            <a:r>
              <a:t>Bộ dữ liệu này còn làm lộ ra hai lỗi của khâu dịch. Một là có 2 trên 75 lượt dịch sang tiếng Nhật bị lặp một cụm từ hơn 50 lần. Hai là từ "spring" bị dịch thành mùa xuân.</a:t>
            </a:r>
          </a:p>
          <a:p>
            <a:r>
              <a:t>Bộ này chỉ có một bản ghi, nên em dùng nó để thấy khoảng cách lớn cỡ nào, còn số liệu chính vẫn là FLEURS.</a:t>
            </a:r>
          </a:p>
          <a:p>
            <a:r>
              <a:t>Tóm lại, giọng nói tự nhiên có WER gấp 2,4 lần giọng đọc, và lỗi chính là thuật ngữ tiếng Anh.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này em đối chiếu kết quả với các yêu cầu đặt ra từ đầu. Ví dụ với một câu 3 giây, cả chuỗi từ nhận dạng tới đọc mất khoảng 1,8 đến 2,6 giây, dưới mục tiêu 4 giây. Chạy liên tục 60 phút được 877 câu, không có lỗi nào, bộ nhớ chỉ tăng 12 MB. Lịch sử chỉ lưu chữ, không lưu âm thanh.</a:t>
            </a:r>
          </a:p>
          <a:p>
            <a:r>
              <a:t>Có một điểm em muốn nói rõ. Yêu cầu chạy không cần mạng hiện mới đạt theo thiết kế, tức trên đường dịch không có lời gọi mạng nào, nhưng em chưa có bài kiểm thử tự động ngắt mạng. Lát nữa trong phần demo em sẽ tắt Wi-Fi để thầy cô thấy.</a:t>
            </a:r>
          </a:p>
          <a:p>
            <a:r>
              <a:t>Tóm lại, ứng dụng đạt cả mười yêu cầu, riêng phần chạy offline mới đạt theo thiết kế.</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Về kết quả, em đã làm được một ứng dụng desktop chạy trọn bốn khâu tách câu, nhận dạng, dịch và đọc ngay trên máy. Ứng dụng dịch sáu chiều, thu được cả micro lẫn âm thanh trên máy mà không bị vòng lặp, và có bộ cài cho cả Windows lẫn macOS.</a:t>
            </a:r>
          </a:p>
          <a:p>
            <a:r>
              <a:t>Vì các mô hình đều có sẵn, em xem đóng góp của mình nằm ở ba chỗ. Thứ nhất là kiến trúc cho phép thay và đo từng khâu. Thứ hai là bộ đánh giá trên FLEURS, chạy lại được và có đủ tệp kết quả gốc. Thứ ba là những vấn đề chỉ lộ ra khi chạy trên máy thật, ví dụ whisper.cpp chọn nhầm card đồ họa tích hợp, hay khi có GPU thì khâu đọc lại thành khâu chậm nhất.</a:t>
            </a:r>
          </a:p>
          <a:p>
            <a:r>
              <a:t>Tóm lại, đây là một ứng dụng dịch hai chiều chạy trọn trên laptop, có số đo từng khâu trên cả FLEURS lẫn giọng thật.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Về hạn chế, em ghép mỗi hạn chế với một hướng phát triển. Hạn chế lớn nhất là thuật ngữ tiếng Anh nằm trong câu tiếng Việt, vì người dùng em hướng tới thường làm trong ngành phần mềm và nói chuyện với đối tác nước ngoài. Hướng sửa là cho Whisper một danh sách thuật ngữ để gợi ý khi nhận dạng, và giữ nguyên các từ đó khi dịch.</a:t>
            </a:r>
          </a:p>
          <a:p>
            <a:r>
              <a:t>Ngoài ra, NLLB đôi khi bị lặp từ và dịch nghĩa đen thuật ngữ. Khâu đọc tiếng Nhật và tiếng Trung còn chạy CPU nên chậm. Bộ giọng thật mới có 25 đoạn, và em chưa thử trên máy không có card đồ họa. Cuối cùng, NLLB-200 có giấy phép phi thương mại, nên nếu muốn bán ứng dụng thì phải đổi mô hình dịch.</a:t>
            </a:r>
          </a:p>
          <a:p>
            <a:r>
              <a:t>Tóm lại, hạn chế lớn nhất là thuật ngữ tiếng Anh trong câu tiếng Việt, và bước tiếp theo là danh sách thuật ngữ.</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demo, tối đa 2 phút, trên máy Windows, cấu hình Cân bằng. Trước khi vào phòng: mở app chạy thử một lần, bấm "Khởi động model" và đợi nạp xong.</a:t>
            </a:r>
          </a:p>
          <a:p>
            <a:r>
              <a:t>1) Tắt Wi-Fi: "Em xin tắt mạng để thầy cô thấy phần dịch chạy hoàn toàn trên máy."</a:t>
            </a:r>
          </a:p>
          <a:p>
            <a:r>
              <a:t>2) Giữ phím Space, nói câu đã tập ("Chúng ta sẽ họp lại vào thứ Hai tuần sau"), rồi nhả phím: "Đây là câu em vừa nói, đây là bản dịch, và ứng dụng đang đọc bản dịch ra loa."</a:t>
            </a:r>
          </a:p>
          <a:p>
            <a:r>
              <a:t>3) Mở video tiếng Anh đã lưu sẵn trên máy, cho chạy 10 đến 15 giây: "Đây là âm thanh đang phát trên máy. Ứng dụng hiện phụ đề tiếng Việt, chiều này không đọc thành tiếng."</a:t>
            </a:r>
          </a:p>
          <a:p>
            <a:r>
              <a:t>4) Còn thời gian thì mở màn Lịch sử: "Lịch sử chỉ lưu chữ, không lưu âm thanh."</a:t>
            </a:r>
          </a:p>
          <a:p>
            <a:r>
              <a:t>Nếu demo lỗi: dừng lại, mở video demo đã quay sẵn. Không tải lại mô hình hay sửa cấu hình trước hội đồng.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trình bày và demo của em đến đây là hết. Em xin cảm ơn thầy cô đã lắng nghe, và em mong nhận được câu hỏi và góp ý của hội đồng.</a:t>
            </a:r>
          </a:p>
          <a:p>
            <a:r>
              <a:t>Giữ slide này trong lúc hội đồng hỏi. Slide dự phòng nằm sau slide Cảm ơn. Slide 27 là mục lục, gõ số trang rồi Enter để nhảy tới, xong gõ 25 rồi Enter để quay lại đây.</a:t>
            </a:r>
          </a:p>
          <a:p>
            <a:r>
              <a:t>Nghe hết câu hỏi và ghi lại. Mỗi câu trả lời khoảng 30 đến 60 giây, có con số, mở đúng slide. Câu nào chưa tìm hiểu thì nói thẳng là em chưa tìm hiểu và sẽ kiểm tra lại.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Dạ, em xin cảm ơn thầy Chủ tịch và quý thầy cô đã lắng nghe và góp ý. Em xin tiếp thu các góp ý để hoàn thiện đồ án.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lục slide dự phòng. Trong lúc trình chiếu, gõ số trang rồi Enter để nhảy thẳng tới slide đó.</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VAD là gì: VAD là phát hiện giọng nói. Nó không hiểu nội dung, chỉ cho biết trong từng đoạn âm thanh 32 mili giây có người đang nói hay không. Em dùng mô hình Silero, chạy trên CPU. Bộ tách câu gom những đoạn có giọng lại thành một câu, chờ tới khi người nói ngừng hoặc câu dài tới 6 giây thì mới gửi cho Whisper. Nhờ vậy Whisper không phải nghe những đoạn im lặng, vì đó chính là lúc nó hay tự bịa ra câu.</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ASR là gì: ASR là nhận dạng giọng nói, tức chuyển lời nói thành chữ. Em dùng Whisper của OpenAI. Âm thanh được đổi thành phổ tần số, phần encoder đọc cả câu, rồi phần decoder viết ra chữ từng chút một. Cấu hình Cân bằng dùng bản large-v3-turbo. Bản turbo giữ nguyên phần encoder nhưng giảm phần decoder từ 32 lớp xuống 4 lớp, nên chạy nhanh hơn nhiều. Em còn dùng bản nén 5 bit để mô hình nhỏ lại.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MT là gì: MT là dịch máy, ở đây là dịch văn bản. Em dùng NLLB-200 của Meta, một mô hình dịch được 200 ngôn ngữ. Bản em dùng có 600 triệu tham số, được thu nhỏ từ một mô hình lớn hơn nhiều để chạy được trên laptop. Mỗi câu đầu vào được gắn mã ngôn ngữ, ví dụ vie_Latn là tiếng Việt, và đầu ra được ép bắt đầu bằng mã ngôn ngữ đích, ví dụ jpn_Jpan là tiếng Nhật. Nhờ vậy câu tiếng Việt được dịch thẳng sang tiếng Nhật, không phải đi vòng qua tiếng Anh.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TTS là gì: TTS là tổng hợp giọng nói, tức đọc chữ thành tiếng. Chữ được chuẩn hóa, ví dụ số được đổi thành chữ, rồi chuyển thành âm, sau đó mô hình giọng tạo ra âm thanh. Với tiếng Việt, Anh và Trung, em dùng sherpa-onnx. Thư viện này không xử lý được chữ tiếng Nhật, nên tiếng Nhật em dùng thêm mô hình Kokoro. Khâu này chỉ chạy khi người dùng nói qua micro. Hiện nó chạy trên CPU, nên là khâu chậm nhất khi dịch sang tiếng Trung hoặc tiếng Nhật.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slide này khi hội đồng hỏi về một thuật ngữ kỹ thuật trong bài. Chỉ cần giải thích đúng dòng được hỏi.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bộ FLEURS có gì: FLEURS là bộ dữ liệu giọng đọc của Google, có 102 ngôn ngữ. Câu gốc là câu tiếng Anh lấy từ Wikinews, Wikijunior và Wikivoyage, được dịch chuyên nghiệp sang từng ngôn ngữ rồi nhờ người bản ngữ đọc to. Cùng một câu thì có chung một mã ở mọi ngôn ngữ, nên em ghép theo mã là có ngay cặp câu để đánh giá dịch.</a:t>
            </a:r>
          </a:p>
          <a:p>
            <a:r>
              <a:t>Em chỉ dùng phần test. Cụ thể là 3.099 bản thu, khoảng 10 giờ âm thanh, để đánh giá nhận dạng. 2.022 cặp câu để đánh giá dịch. Và 50 bản thu mỗi chiều để đo tốc độ. Mỗi câu tiếng Việt dài trung bình khoảng 31 từ, chủ đề là tin tức, du lịch và khoa học phổ thông.</a:t>
            </a:r>
          </a:p>
          <a:p>
            <a:r>
              <a:t>Ví dụ bên phải là cùng một câu ở bốn ngôn ngữ. Bản tiếng Nhật ghi là nhà máy điện hạt nhân, vì cả bốn bản đều được dịch từ câu tiếng Anh, không dịch qua lại với nhau.</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WER tính thế nào: WER bằng tổng số từ bị nghe nhầm, bị bỏ sót và bị thêm thừa, chia cho số từ của câu đúng. Ví dụ câu "độ trễ hiện tại là hai giây" bị nghe thành "vụ trễ hiện tại hai giây". Ở đây có một từ nghe nhầm và một từ bị bỏ. Câu đúng có bảy từ, nên WER là 2 chia 7, khoảng 28,6%. Khi tính cho cả bộ, em cộng hết lỗi rồi chia cho tổng số từ. Với tiếng Trung và tiếng Nhật thì cách tính giống hệt nhưng đếm theo ký tự, gọi là CER.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BLEU tính thế nào: BLEU đếm xem bản dịch máy có bao nhiêu cụm 1, 2, 3 và 4 từ trùng với bản dịch mẫu, rồi lấy trung bình nhân của bốn tỉ lệ đó. Bản dịch ngắn hơn bản mẫu thì bị trừ thêm. Vì là trung bình nhân, chỉ cần không có cụm 4 từ nào trùng là cả câu được 0 điểm, như ví dụ "I disagree with this proposal" ở dưới, dù câu này dịch đúng nghĩa. Nên BLEU chỉ có ý nghĩa khi tính trên cả bộ dữ liệu. spBLEU là BLEU nhưng tách từ theo một cách chung cho mọi ngôn ngữ, nhờ vậy chấm được cả tiếng Trung và tiếng Nhật.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COMET là gì: COMET là một mô hình được huấn luyện để chấm bản dịch giống như người chấm. Nó đọc ba câu cùng lúc: câu gốc, câu máy dịch và câu dịch mẫu, rồi cho điểm từ 0 đến 1. Mô hình này học từ rất nhiều điểm mà người thật đã chấm cho các bản dịch máy. Em dùng phiên bản Unbabel/wmt22-comet-da như thầy giao. Điểm COMET không phải phần trăm, 0,85 không có nghĩa là dịch đúng 85%. Nó dùng để so các chiều dịch hoặc các mô hình với nhau trên cùng một bộ dữ liệu.</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về ngưỡng RTF: RTF bằng thời gian xử lý chia cho độ dài câu nói. Dưới 1 là điều kiện tối thiểu. Nếu lớn hơn 1 thì máy xử lý không kịp, câu sau dồn lên câu trước và độ trễ cứ tăng mãi. Mục tiêu 0,5 là em tự đề xuất, dựa trên hai lý do. Một là hai chiều dịch dùng chung một bộ mô hình, nên khi hai bên cùng nói thì mỗi chiều chỉ còn khoảng nửa sức máy. Hai là câu dài nhất 6 giây nhân 0,5 thì mất khoảng 3 giây xử lý, gần với độ trễ khoảng 3 giây của phiên dịch viên thật. Em dùng p90 để 9 trên 10 câu đạt mức này. Nếu bị hỏi 0,5 theo chuẩn nào thì nói rõ đây là mức em suy ra, chưa có chuẩn sẵn cho cả chuỗi dịch.</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muốn thêm ngôn ngữ khác thì sao: em không phải sửa chuỗi xử lý. VAD giữ nguyên vì nó không phụ thuộc ngôn ngữ. Whisper đã nhận dạng được khoảng 100 ngôn ngữ, nên chỉ cần truyền mã ngôn ngữ mới. NLLB có sẵn 200 ngôn ngữ, em chỉ thêm một dòng mã, ví dụ tiếng Hàn là kor_Hang. Phần khó nhất là khâu đọc, vì phải tìm được một giọng đọc chạy offline cho ngôn ngữ đó, giống như em đã phải thêm Kokoro cho tiếng Nhật. Ngoài ra là thêm tên ngôn ngữ vào giao diện.</a:t>
            </a:r>
          </a:p>
          <a:p>
            <a:r>
              <a:t>Chất lượng thì phụ thuộc vào Whisper và NLLB, mỗi ngôn ngữ một khác. Ngôn ngữ nào ít dữ liệu huấn luyện thì sai nhiều hơn hẳn. FLEURS có 102 ngôn ngữ, nên trước khi đưa ngôn ngữ mới vào, em sẽ chạy lại đúng bộ đánh giá này để có số liệu.</a:t>
            </a:r>
          </a:p>
          <a:p>
            <a:r>
              <a:t>Tóm lại, thêm ngôn ngữ chỉ đụng tới cấu hình và giọng đọc, còn chất lượng thì phải đo lại trên FLEURS.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sao không dùng một mô hình làm trọn từ đầu đến cuối, hay dùng mô hình ngôn ngữ lớn: những mô hình đó gộp nghe, dịch và đọc vào một, nên ít lỗi cộng dồn hơn. Nhưng để làm được hết một lúc thì mô hình phải lớn hơn. Ví dụ SeamlessM4T bản large có 2,3 tỷ tham số trong một khối. Một mô hình ngôn ngữ lớn 7 tỷ tham số, dù đã nén xuống 4 bit, riêng phần trọng số đã khoảng 3,5 GB, chưa tính phần nghe và đọc. Còn chuỗi của em có hai khâu chính cộng lại khoảng 1,4 tỷ tham số, và mỗi khâu chạy trên runtime nhanh nhất cho từng loại máy.</a:t>
            </a:r>
          </a:p>
          <a:p>
            <a:r>
              <a:t>Với laptop phổ thông thì giới hạn phần cứng là vấn đề thật, và đó cũng là lý do em làm đề tài này. Thêm nữa, ghép từng khâu thì em đo được và thay được từng phần.</a:t>
            </a:r>
          </a:p>
          <a:p>
            <a:r>
              <a:t>Nếu bị hỏi đã chạy thử SeamlessM4T chưa: em chưa đo, nên em không khẳng định nó chậm hơn bao nhiêu.</a:t>
            </a:r>
          </a:p>
          <a:p>
            <a:r>
              <a:t>Tóm lại, mô hình một bước lớn hơn và không tách ra để đo hay thay được, nên đề tài chọn ghép các mô hình vừa phải.</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vì sao chọn các mô hình này: em chọn theo ba tiêu chí. Mô hình phải chạy được trên cả Windows và macOS, phải hỗ trợ đủ bốn ngôn ngữ, và phải đóng gói được vào bộ cài. Khâu nhận dạng có ba runtime, mỗi runtime dùng một tệp mô hình riêng. Khâu đọc thì em phải đổi giữa chừng, vì sherpa-onnx không đọc được tiếng Nhật nên em thêm Kokoro. Ba cấu hình Nhanh, Cân bằng và Chất lượng khác nhau ở mô hình nhận dạng và độ dài câu tối đa. Em mới đo đầy đủ cho cấu hình Cân bằng, nên chưa nói được cấu hình Nhanh kém hơn bao nhiêu.</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về tốc độ khởi động và GPU: dịch vụ không nạp mô hình lúc mở, nên mở chỉ mất 0,4 giây thay vì 45 giây. Mô hình chỉ được nạp khi cần dùng. Bản cài Windows đầu tiên chạy nhận dạng bằng CPU, mất 17,6 giây cho 3 giây âm thanh, không dùng được. Em dựng lại whisper.cpp với Vulkan để chạy trên card đồ họa, còn 0,44 giây, bộ cài chỉ nặng thêm 18 MB. Trên laptop có hai card, whisper.cpp tự chọn card tích hợp Iris Xe nên chậm gần 60 lần, vì vậy em cho ứng dụng tự tìm và chọn card rời.</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khâu nào chậm nhất: so với máy Mac, card đồ họa trên máy Windows làm khâu nhận dạng nhanh khoảng 8 lần và khâu dịch nhanh 2 đến 2,5 lần. Khâu đọc vẫn chạy CPU nên gần như không đổi, và trở thành khâu chậm nhất khi dịch sang tiếng Trung hay tiếng Nhật, chiếm khoảng hai phần ba thời gian cả chuỗi. Em chỉ thấy được điều này vì đo riêng từng khâu.</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về độ ổn định: bảng bên trái là thời gian xử lý một câu 3 giây trên máy Mac, cả bốn chiều đều đạt mục tiêu. Bên phải là bài chạy liên tục 60 phút trên máy Windows: 877 câu, không lỗi, bộ nhớ chỉ tăng từ 1.110 lên 1.122 MB, và 10% câu cuối chỉ chậm hơn 10% câu đầu chưa tới 2 mili giây. Đây là một lần chạy trên một máy.</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thầy cô hỏi bộ tách câu đã thử trên giọng thật chưa: em thử trên ba bản ghi YouTube dài hơn 11 phút, ba kiểu nói khác nhau. Với bản tin đọc liền mạch, trước đây 10% số câu dài hơn 12,5 giây, giờ mức đó còn 5,9 giây, đổi lại 30% số đoạn bị cắt giữa câu. Với phỏng vấn, mức đó giảm từ 6,8 xuống 5,7 giây và 10% số đoạn bị cắt. Với bài nói TEDx thì gần như không đổi và không đoạn nào bị cắt, vì người nói tự nhiên có nhiều chỗ ngừng.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Nếu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hỏi</a:t>
            </a:r>
            <a:r>
              <a:rPr lang="en-US" sz="1200" b="0" i="0" kern="1200" dirty="0">
                <a:solidFill>
                  <a:schemeClr val="tx1"/>
                </a:solidFill>
                <a:effectLst/>
                <a:latin typeface="+mn-lt"/>
                <a:ea typeface="+mn-ea"/>
                <a:cs typeface="+mn-cs"/>
              </a:rPr>
              <a:t>: “Danh </a:t>
            </a:r>
            <a:r>
              <a:rPr lang="en-US" sz="1200" b="0" i="0" kern="1200" dirty="0" err="1">
                <a:solidFill>
                  <a:schemeClr val="tx1"/>
                </a:solidFill>
                <a:effectLst/>
                <a:latin typeface="+mn-lt"/>
                <a:ea typeface="+mn-ea"/>
                <a:cs typeface="+mn-cs"/>
              </a:rPr>
              <a:t>mục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nguồn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bài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liệt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kê</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slide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476892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8.png"/><Relationship Id="rId7"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0.png"/><Relationship Id="rId4" Type="http://schemas.openxmlformats.org/officeDocument/2006/relationships/image" Target="../media/image9.png"/><Relationship Id="rId9"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9718406" y="-441609"/>
            <a:ext cx="3273726" cy="1908177"/>
          </a:xfrm>
          <a:custGeom>
            <a:avLst/>
            <a:gdLst/>
            <a:ahLst/>
            <a:cxnLst/>
            <a:rect l="l" t="t" r="r" b="b"/>
            <a:pathLst>
              <a:path w="4910589" h="2862265">
                <a:moveTo>
                  <a:pt x="4910590" y="2862265"/>
                </a:moveTo>
                <a:lnTo>
                  <a:pt x="0" y="2862265"/>
                </a:lnTo>
                <a:lnTo>
                  <a:pt x="0" y="0"/>
                </a:lnTo>
                <a:lnTo>
                  <a:pt x="4910590" y="0"/>
                </a:lnTo>
                <a:lnTo>
                  <a:pt x="4910590" y="28622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p>
        </p:txBody>
      </p:sp>
      <p:sp>
        <p:nvSpPr>
          <p:cNvPr id="3" name="Freeform 3"/>
          <p:cNvSpPr/>
          <p:nvPr/>
        </p:nvSpPr>
        <p:spPr>
          <a:xfrm rot="-5002168" flipH="1" flipV="1">
            <a:off x="9896427" y="5524846"/>
            <a:ext cx="3219547" cy="3225411"/>
          </a:xfrm>
          <a:custGeom>
            <a:avLst/>
            <a:gdLst/>
            <a:ahLst/>
            <a:cxnLst/>
            <a:rect l="l" t="t" r="r" b="b"/>
            <a:pathLst>
              <a:path w="4829321" h="4838117">
                <a:moveTo>
                  <a:pt x="4829320" y="4838117"/>
                </a:moveTo>
                <a:lnTo>
                  <a:pt x="0" y="4838117"/>
                </a:lnTo>
                <a:lnTo>
                  <a:pt x="0" y="0"/>
                </a:lnTo>
                <a:lnTo>
                  <a:pt x="4829320" y="0"/>
                </a:lnTo>
                <a:lnTo>
                  <a:pt x="4829320" y="4838117"/>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200"/>
          </a:p>
        </p:txBody>
      </p:sp>
      <p:grpSp>
        <p:nvGrpSpPr>
          <p:cNvPr id="4" name="Group 4"/>
          <p:cNvGrpSpPr/>
          <p:nvPr/>
        </p:nvGrpSpPr>
        <p:grpSpPr>
          <a:xfrm>
            <a:off x="-1296609" y="5243462"/>
            <a:ext cx="4514002" cy="3788177"/>
            <a:chOff x="0" y="0"/>
            <a:chExt cx="9028004" cy="7576355"/>
          </a:xfrm>
        </p:grpSpPr>
        <p:sp>
          <p:nvSpPr>
            <p:cNvPr id="5" name="Freeform 5"/>
            <p:cNvSpPr/>
            <p:nvPr/>
          </p:nvSpPr>
          <p:spPr>
            <a:xfrm>
              <a:off x="1422433" y="0"/>
              <a:ext cx="7605571" cy="4433105"/>
            </a:xfrm>
            <a:custGeom>
              <a:avLst/>
              <a:gdLst/>
              <a:ahLst/>
              <a:cxnLst/>
              <a:rect l="l" t="t" r="r" b="b"/>
              <a:pathLst>
                <a:path w="7605571" h="4433105">
                  <a:moveTo>
                    <a:pt x="0" y="0"/>
                  </a:moveTo>
                  <a:lnTo>
                    <a:pt x="7605571" y="0"/>
                  </a:lnTo>
                  <a:lnTo>
                    <a:pt x="7605571" y="4433105"/>
                  </a:lnTo>
                  <a:lnTo>
                    <a:pt x="0" y="443310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p>
          </p:txBody>
        </p:sp>
        <p:sp>
          <p:nvSpPr>
            <p:cNvPr id="6" name="Freeform 6"/>
            <p:cNvSpPr/>
            <p:nvPr/>
          </p:nvSpPr>
          <p:spPr>
            <a:xfrm rot="7488824">
              <a:off x="1857199" y="1306427"/>
              <a:ext cx="3308593" cy="6253354"/>
            </a:xfrm>
            <a:custGeom>
              <a:avLst/>
              <a:gdLst/>
              <a:ahLst/>
              <a:cxnLst/>
              <a:rect l="l" t="t" r="r" b="b"/>
              <a:pathLst>
                <a:path w="3308593" h="6253354">
                  <a:moveTo>
                    <a:pt x="0" y="0"/>
                  </a:moveTo>
                  <a:lnTo>
                    <a:pt x="3308593" y="0"/>
                  </a:lnTo>
                  <a:lnTo>
                    <a:pt x="3308593" y="6253355"/>
                  </a:lnTo>
                  <a:lnTo>
                    <a:pt x="0" y="62533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sz="1200"/>
            </a:p>
          </p:txBody>
        </p:sp>
      </p:grpSp>
      <p:sp>
        <p:nvSpPr>
          <p:cNvPr id="7" name="Freeform 7"/>
          <p:cNvSpPr/>
          <p:nvPr/>
        </p:nvSpPr>
        <p:spPr>
          <a:xfrm rot="7488824">
            <a:off x="11578908" y="-1282673"/>
            <a:ext cx="2047353" cy="3869569"/>
          </a:xfrm>
          <a:custGeom>
            <a:avLst/>
            <a:gdLst/>
            <a:ahLst/>
            <a:cxnLst/>
            <a:rect l="l" t="t" r="r" b="b"/>
            <a:pathLst>
              <a:path w="3071030" h="5804353">
                <a:moveTo>
                  <a:pt x="0" y="0"/>
                </a:moveTo>
                <a:lnTo>
                  <a:pt x="3071030" y="0"/>
                </a:lnTo>
                <a:lnTo>
                  <a:pt x="3071030" y="5804353"/>
                </a:lnTo>
                <a:lnTo>
                  <a:pt x="0" y="58043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8" name="Freeform 8"/>
          <p:cNvSpPr/>
          <p:nvPr/>
        </p:nvSpPr>
        <p:spPr>
          <a:xfrm>
            <a:off x="762000" y="526140"/>
            <a:ext cx="966823" cy="781515"/>
          </a:xfrm>
          <a:custGeom>
            <a:avLst/>
            <a:gdLst/>
            <a:ahLst/>
            <a:cxnLst/>
            <a:rect l="l" t="t" r="r" b="b"/>
            <a:pathLst>
              <a:path w="2134982" h="1725777">
                <a:moveTo>
                  <a:pt x="0" y="0"/>
                </a:moveTo>
                <a:lnTo>
                  <a:pt x="2134982" y="0"/>
                </a:lnTo>
                <a:lnTo>
                  <a:pt x="2134982" y="1725777"/>
                </a:lnTo>
                <a:lnTo>
                  <a:pt x="0" y="1725777"/>
                </a:lnTo>
                <a:lnTo>
                  <a:pt x="0" y="0"/>
                </a:lnTo>
                <a:close/>
              </a:path>
            </a:pathLst>
          </a:custGeom>
          <a:blipFill>
            <a:blip r:embed="rId5"/>
            <a:stretch>
              <a:fillRect/>
            </a:stretch>
          </a:blipFill>
        </p:spPr>
        <p:txBody>
          <a:bodyPr/>
          <a:lstStyle/>
          <a:p>
            <a:endParaRPr lang="en-US" sz="1200"/>
          </a:p>
        </p:txBody>
      </p:sp>
      <p:sp>
        <p:nvSpPr>
          <p:cNvPr id="9" name="Freeform 9"/>
          <p:cNvSpPr/>
          <p:nvPr/>
        </p:nvSpPr>
        <p:spPr>
          <a:xfrm>
            <a:off x="3309698" y="1297452"/>
            <a:ext cx="5366865" cy="4546809"/>
          </a:xfrm>
          <a:custGeom>
            <a:avLst/>
            <a:gdLst/>
            <a:ahLst/>
            <a:cxnLst/>
            <a:rect l="l" t="t" r="r" b="b"/>
            <a:pathLst>
              <a:path w="8050297" h="6820213">
                <a:moveTo>
                  <a:pt x="0" y="0"/>
                </a:moveTo>
                <a:lnTo>
                  <a:pt x="8050297" y="0"/>
                </a:lnTo>
                <a:lnTo>
                  <a:pt x="8050297" y="6820213"/>
                </a:lnTo>
                <a:lnTo>
                  <a:pt x="0" y="6820213"/>
                </a:lnTo>
                <a:lnTo>
                  <a:pt x="0" y="0"/>
                </a:lnTo>
                <a:close/>
              </a:path>
            </a:pathLst>
          </a:custGeom>
          <a:blipFill>
            <a:blip r:embed="rId5">
              <a:alphaModFix amt="6999"/>
            </a:blip>
            <a:stretch>
              <a:fillRect r="-4808"/>
            </a:stretch>
          </a:blipFill>
        </p:spPr>
        <p:txBody>
          <a:bodyPr/>
          <a:lstStyle/>
          <a:p>
            <a:endParaRPr lang="en-US" sz="1200"/>
          </a:p>
        </p:txBody>
      </p:sp>
      <p:sp>
        <p:nvSpPr>
          <p:cNvPr id="11" name="TextBox 11"/>
          <p:cNvSpPr txBox="1"/>
          <p:nvPr/>
        </p:nvSpPr>
        <p:spPr>
          <a:xfrm>
            <a:off x="6092826" y="2253022"/>
            <a:ext cx="6350" cy="906274"/>
          </a:xfrm>
          <a:prstGeom prst="rect">
            <a:avLst/>
          </a:prstGeom>
        </p:spPr>
        <p:txBody>
          <a:bodyPr lIns="0" tIns="0" rIns="0" bIns="0" rtlCol="0" anchor="t">
            <a:spAutoFit/>
          </a:bodyPr>
          <a:lstStyle/>
          <a:p>
            <a:pPr algn="ctr">
              <a:lnSpc>
                <a:spcPts val="8964"/>
              </a:lnSpc>
              <a:spcBef>
                <a:spcPct val="0"/>
              </a:spcBef>
            </a:pPr>
            <a:endParaRPr sz="1200"/>
          </a:p>
        </p:txBody>
      </p:sp>
      <p:sp>
        <p:nvSpPr>
          <p:cNvPr id="12" name="TextBox 12"/>
          <p:cNvSpPr txBox="1"/>
          <p:nvPr/>
        </p:nvSpPr>
        <p:spPr>
          <a:xfrm>
            <a:off x="1465944" y="526140"/>
            <a:ext cx="9681031" cy="888128"/>
          </a:xfrm>
          <a:prstGeom prst="rect">
            <a:avLst/>
          </a:prstGeom>
        </p:spPr>
        <p:txBody>
          <a:bodyPr wrap="square" lIns="0" tIns="0" rIns="0" bIns="0" rtlCol="0" anchor="t">
            <a:spAutoFit/>
          </a:bodyPr>
          <a:lstStyle/>
          <a:p>
            <a:pPr algn="ctr">
              <a:lnSpc>
                <a:spcPts val="3640"/>
              </a:lnSpc>
            </a:pPr>
            <a:r>
              <a:rPr lang="en-US" sz="2667" dirty="0">
                <a:solidFill>
                  <a:srgbClr val="0C3571"/>
                </a:solidFill>
                <a:latin typeface="Times New Roman" panose="02020603050405020304" pitchFamily="18" charset="0"/>
                <a:ea typeface="Open Sans Bold"/>
                <a:cs typeface="Times New Roman" panose="02020603050405020304" pitchFamily="18" charset="0"/>
                <a:sym typeface="Open Sans Bold"/>
              </a:rPr>
              <a:t>TRƯỜNG ĐẠI HỌC CÔNG NGHỆ THÔNG TIN</a:t>
            </a:r>
          </a:p>
          <a:p>
            <a:pPr algn="ctr">
              <a:lnSpc>
                <a:spcPts val="3640"/>
              </a:lnSpc>
            </a:pPr>
            <a:r>
              <a:rPr lang="en-US" sz="2667" b="1" dirty="0">
                <a:solidFill>
                  <a:srgbClr val="0C3571"/>
                </a:solidFill>
                <a:latin typeface="Times New Roman" panose="02020603050405020304" pitchFamily="18" charset="0"/>
                <a:ea typeface="Open Sans Bold"/>
                <a:cs typeface="Times New Roman" panose="02020603050405020304" pitchFamily="18" charset="0"/>
                <a:sym typeface="Open Sans Bold"/>
              </a:rPr>
              <a:t>TRUNG TÂM PHÁT TRIỂN CÔNG NGHỆ THÔNG TIN</a:t>
            </a:r>
          </a:p>
        </p:txBody>
      </p:sp>
      <p:sp>
        <p:nvSpPr>
          <p:cNvPr id="14" name="TextBox 14"/>
          <p:cNvSpPr txBox="1"/>
          <p:nvPr/>
        </p:nvSpPr>
        <p:spPr>
          <a:xfrm>
            <a:off x="526673" y="6116631"/>
            <a:ext cx="11665327" cy="434221"/>
          </a:xfrm>
          <a:prstGeom prst="rect">
            <a:avLst/>
          </a:prstGeom>
        </p:spPr>
        <p:txBody>
          <a:bodyPr lIns="0" tIns="0" rIns="0" bIns="0" rtlCol="0" anchor="t">
            <a:spAutoFit/>
          </a:bodyPr>
          <a:lstStyle/>
          <a:p>
            <a:pPr algn="ctr">
              <a:lnSpc>
                <a:spcPts val="3640"/>
              </a:lnSpc>
              <a:spcBef>
                <a:spcPct val="0"/>
              </a:spcBef>
            </a:pPr>
            <a:r>
              <a:rPr lang="en-US" sz="2600" b="1" dirty="0">
                <a:solidFill>
                  <a:srgbClr val="0C3571"/>
                </a:solidFill>
                <a:latin typeface="Open Sans Bold"/>
                <a:ea typeface="Open Sans Bold"/>
                <a:cs typeface="Open Sans Bold"/>
                <a:sym typeface="Open Sans Bold"/>
              </a:rPr>
              <a:t>THÀNH PHỐ HỒ CHÍ MINH, NGÀY 10 THÁNG 10 NĂM 2026</a:t>
            </a:r>
          </a:p>
        </p:txBody>
      </p:sp>
      <p:grpSp>
        <p:nvGrpSpPr>
          <p:cNvPr id="17" name="Group 16">
            <a:extLst>
              <a:ext uri="{FF2B5EF4-FFF2-40B4-BE49-F238E27FC236}">
                <a16:creationId xmlns:a16="http://schemas.microsoft.com/office/drawing/2014/main" id="{F9F9D102-4D2A-2A7F-E9DF-03FBC4E3ABA5}"/>
              </a:ext>
            </a:extLst>
          </p:cNvPr>
          <p:cNvGrpSpPr/>
          <p:nvPr/>
        </p:nvGrpSpPr>
        <p:grpSpPr>
          <a:xfrm>
            <a:off x="526673" y="2141010"/>
            <a:ext cx="11665327" cy="2875345"/>
            <a:chOff x="790009" y="3605212"/>
            <a:chExt cx="17497991" cy="4313018"/>
          </a:xfrm>
        </p:grpSpPr>
        <p:sp>
          <p:nvSpPr>
            <p:cNvPr id="10" name="TextBox 10"/>
            <p:cNvSpPr txBox="1"/>
            <p:nvPr/>
          </p:nvSpPr>
          <p:spPr>
            <a:xfrm>
              <a:off x="790009" y="3605212"/>
              <a:ext cx="17497991" cy="1352871"/>
            </a:xfrm>
            <a:prstGeom prst="rect">
              <a:avLst/>
            </a:prstGeom>
          </p:spPr>
          <p:txBody>
            <a:bodyPr lIns="0" tIns="0" rIns="0" bIns="0" rtlCol="0" anchor="t">
              <a:spAutoFit/>
            </a:bodyPr>
            <a:lstStyle/>
            <a:p>
              <a:pPr algn="ctr">
                <a:lnSpc>
                  <a:spcPts val="7467"/>
                </a:lnSpc>
              </a:pPr>
              <a:r>
                <a:rPr lang="en-US" sz="5334" b="1" dirty="0">
                  <a:solidFill>
                    <a:srgbClr val="0C3571"/>
                  </a:solidFill>
                  <a:latin typeface="Open Sans Bold"/>
                  <a:ea typeface="Open Sans Bold"/>
                  <a:cs typeface="Open Sans Bold"/>
                  <a:sym typeface="Open Sans Bold"/>
                </a:rPr>
                <a:t>BẢO VỆ ĐỒ ÁN TỐT NGHIỆP</a:t>
              </a:r>
            </a:p>
          </p:txBody>
        </p:sp>
        <p:sp>
          <p:nvSpPr>
            <p:cNvPr id="13" name="TextBox 13"/>
            <p:cNvSpPr txBox="1"/>
            <p:nvPr/>
          </p:nvSpPr>
          <p:spPr>
            <a:xfrm>
              <a:off x="1609383" y="5457801"/>
              <a:ext cx="15859242" cy="921983"/>
            </a:xfrm>
            <a:prstGeom prst="rect">
              <a:avLst/>
            </a:prstGeom>
          </p:spPr>
          <p:txBody>
            <a:bodyPr lIns="0" tIns="0" rIns="0" bIns="0" rtlCol="0" anchor="t">
              <a:spAutoFit/>
            </a:bodyPr>
            <a:lstStyle/>
            <a:p>
              <a:pPr algn="ctr">
                <a:lnSpc>
                  <a:spcPts val="5133"/>
                </a:lnSpc>
                <a:spcBef>
                  <a:spcPct val="0"/>
                </a:spcBef>
              </a:pPr>
              <a:r>
                <a:rPr lang="en-US" sz="3666" b="1" dirty="0">
                  <a:solidFill>
                    <a:srgbClr val="0C3571"/>
                  </a:solidFill>
                  <a:latin typeface="Open Sans Bold"/>
                  <a:ea typeface="Open Sans Bold"/>
                  <a:cs typeface="Open Sans Bold"/>
                  <a:sym typeface="Open Sans Bold"/>
                </a:rPr>
                <a:t>NGÀNH CÔNG NGHỆ THÔNG TIN</a:t>
              </a:r>
            </a:p>
          </p:txBody>
        </p:sp>
        <p:sp>
          <p:nvSpPr>
            <p:cNvPr id="16" name="TextBox 15">
              <a:extLst>
                <a:ext uri="{FF2B5EF4-FFF2-40B4-BE49-F238E27FC236}">
                  <a16:creationId xmlns:a16="http://schemas.microsoft.com/office/drawing/2014/main" id="{9C88DEF2-DA65-5A99-1674-2A4C29CB1994}"/>
                </a:ext>
              </a:extLst>
            </p:cNvPr>
            <p:cNvSpPr txBox="1"/>
            <p:nvPr/>
          </p:nvSpPr>
          <p:spPr>
            <a:xfrm>
              <a:off x="5616817" y="6948733"/>
              <a:ext cx="5679440" cy="969497"/>
            </a:xfrm>
            <a:prstGeom prst="rect">
              <a:avLst/>
            </a:prstGeom>
            <a:noFill/>
          </p:spPr>
          <p:txBody>
            <a:bodyPr wrap="none" rtlCol="0">
              <a:spAutoFit/>
            </a:bodyPr>
            <a:lstStyle/>
            <a:p>
              <a:r>
                <a:rPr lang="en-US" sz="3600" dirty="0">
                  <a:latin typeface="Open Sans Bold" pitchFamily="2" charset="0"/>
                  <a:ea typeface="Open Sans Bold" pitchFamily="2" charset="0"/>
                  <a:cs typeface="Open Sans Bold" pitchFamily="2" charset="0"/>
                </a:rPr>
                <a:t>HỆ ĐÀO TẠO TỪ XA</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D9EDF1"/>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uit_mark.png"/>
          <p:cNvPicPr>
            <a:picLocks noChangeAspect="1"/>
          </p:cNvPicPr>
          <p:nvPr/>
        </p:nvPicPr>
        <p:blipFill>
          <a:blip r:embed="rId3">
            <a:alphaModFix amt="15000"/>
          </a:blip>
          <a:stretch>
            <a:fillRect/>
          </a:stretch>
        </p:blipFill>
        <p:spPr>
          <a:xfrm>
            <a:off x="3566160" y="1307592"/>
            <a:ext cx="5129784" cy="4150311"/>
          </a:xfrm>
          <a:prstGeom prst="rect">
            <a:avLst/>
          </a:prstGeom>
        </p:spPr>
      </p:pic>
      <p:pic>
        <p:nvPicPr>
          <p:cNvPr id="4" name="Image 1" descr="C:\Users\hhung\AppData\Local\Temp\claude\d--Project-local-live-voice-translator\d0343c7e-f558-4e8b-8c62-5b900df8bea6\scratchpad\build\img\logo_dhqg.png"/>
          <p:cNvPicPr>
            <a:picLocks noChangeAspect="1"/>
          </p:cNvPicPr>
          <p:nvPr/>
        </p:nvPicPr>
        <p:blipFill>
          <a:blip r:embed="rId4"/>
          <a:stretch>
            <a:fillRect/>
          </a:stretch>
        </p:blipFill>
        <p:spPr>
          <a:xfrm>
            <a:off x="713232" y="320040"/>
            <a:ext cx="2331720" cy="728121"/>
          </a:xfrm>
          <a:prstGeom prst="rect">
            <a:avLst/>
          </a:prstGeom>
        </p:spPr>
      </p:pic>
      <p:pic>
        <p:nvPicPr>
          <p:cNvPr id="5" name="Image 2" descr="C:\Users\hhung\AppData\Local\Temp\claude\d--Project-local-live-voice-translator\d0343c7e-f558-4e8b-8c62-5b900df8bea6\scratchpad\build\img\logo_uit20_ise.png"/>
          <p:cNvPicPr>
            <a:picLocks noChangeAspect="1"/>
          </p:cNvPicPr>
          <p:nvPr/>
        </p:nvPicPr>
        <p:blipFill>
          <a:blip r:embed="rId5"/>
          <a:stretch>
            <a:fillRect/>
          </a:stretch>
        </p:blipFill>
        <p:spPr>
          <a:xfrm>
            <a:off x="9372600" y="320040"/>
            <a:ext cx="2148840" cy="692885"/>
          </a:xfrm>
          <a:prstGeom prst="rect">
            <a:avLst/>
          </a:prstGeom>
        </p:spPr>
      </p:pic>
      <p:sp>
        <p:nvSpPr>
          <p:cNvPr id="6" name="Text 0"/>
          <p:cNvSpPr txBox="1"/>
          <p:nvPr/>
        </p:nvSpPr>
        <p:spPr>
          <a:xfrm>
            <a:off x="274320" y="1371600"/>
            <a:ext cx="11643055" cy="868680"/>
          </a:xfrm>
          <a:prstGeom prst="rect">
            <a:avLst/>
          </a:prstGeom>
          <a:noFill/>
          <a:ln/>
        </p:spPr>
        <p:txBody>
          <a:bodyPr wrap="square" lIns="0" tIns="0" rIns="0" bIns="0" rtlCol="0" anchor="ctr"/>
          <a:lstStyle/>
          <a:p>
            <a:pPr marL="0" indent="0" algn="ctr">
              <a:buNone/>
            </a:pPr>
            <a:r>
              <a:rPr lang="en-US" sz="4800" b="1" dirty="0">
                <a:solidFill>
                  <a:srgbClr val="2E3192"/>
                </a:solidFill>
                <a:latin typeface="Arial" pitchFamily="34" charset="0"/>
                <a:ea typeface="Arial" pitchFamily="34" charset="-122"/>
                <a:cs typeface="Arial" pitchFamily="34" charset="-120"/>
              </a:rPr>
              <a:t>LỄ BẢO VỆ ĐỒ ÁN TỐT NGHIỆP</a:t>
            </a:r>
            <a:endParaRPr lang="en-US" sz="4800" dirty="0"/>
          </a:p>
        </p:txBody>
      </p:sp>
      <p:sp>
        <p:nvSpPr>
          <p:cNvPr id="7" name="Text 1"/>
          <p:cNvSpPr txBox="1"/>
          <p:nvPr/>
        </p:nvSpPr>
        <p:spPr>
          <a:xfrm>
            <a:off x="274320" y="2212848"/>
            <a:ext cx="11643055" cy="548640"/>
          </a:xfrm>
          <a:prstGeom prst="rect">
            <a:avLst/>
          </a:prstGeom>
          <a:noFill/>
          <a:ln/>
        </p:spPr>
        <p:txBody>
          <a:bodyPr wrap="square" lIns="0" tIns="0" rIns="0" bIns="0" rtlCol="0" anchor="ctr"/>
          <a:lstStyle/>
          <a:p>
            <a:pPr marL="0" indent="0" algn="ctr">
              <a:buNone/>
            </a:pPr>
            <a:r>
              <a:rPr lang="en-US" sz="3000" b="1" dirty="0">
                <a:solidFill>
                  <a:srgbClr val="B8262B"/>
                </a:solidFill>
                <a:latin typeface="Arial" pitchFamily="34" charset="0"/>
                <a:ea typeface="Arial" pitchFamily="34" charset="-122"/>
                <a:cs typeface="Arial" pitchFamily="34" charset="-120"/>
              </a:rPr>
              <a:t>NGÀNH CÔNG NGHỆ THÔNG TIN - 7480201</a:t>
            </a:r>
            <a:endParaRPr lang="en-US" sz="3000" dirty="0"/>
          </a:p>
        </p:txBody>
      </p:sp>
      <p:sp>
        <p:nvSpPr>
          <p:cNvPr id="8" name="Text 2"/>
          <p:cNvSpPr txBox="1"/>
          <p:nvPr/>
        </p:nvSpPr>
        <p:spPr>
          <a:xfrm>
            <a:off x="731520" y="3017520"/>
            <a:ext cx="10728655" cy="1417320"/>
          </a:xfrm>
          <a:prstGeom prst="rect">
            <a:avLst/>
          </a:prstGeom>
          <a:noFill/>
          <a:ln/>
        </p:spPr>
        <p:txBody>
          <a:bodyPr wrap="square" lIns="0" tIns="0" rIns="0" bIns="0" rtlCol="0" anchor="ctr"/>
          <a:lstStyle/>
          <a:p>
            <a:pPr marL="0" indent="0" algn="ctr">
              <a:spcAft>
                <a:spcPts val="400"/>
              </a:spcAft>
              <a:buNone/>
            </a:pPr>
            <a:r>
              <a:rPr lang="en-US" sz="1700" b="1" dirty="0">
                <a:solidFill>
                  <a:srgbClr val="222222"/>
                </a:solidFill>
                <a:latin typeface="Arial" pitchFamily="34" charset="0"/>
                <a:ea typeface="Arial" pitchFamily="34" charset="-122"/>
                <a:cs typeface="Arial" pitchFamily="34" charset="-120"/>
              </a:rPr>
              <a:t>TÊN ĐỀ TÀI:</a:t>
            </a:r>
            <a:endParaRPr lang="en-US" sz="1900" dirty="0"/>
          </a:p>
          <a:p>
            <a:pPr marL="0" indent="0" algn="ctr">
              <a:spcAft>
                <a:spcPts val="400"/>
              </a:spcAft>
              <a:buNone/>
            </a:pPr>
            <a:r>
              <a:rPr lang="en-US" sz="1900" b="1" dirty="0">
                <a:solidFill>
                  <a:srgbClr val="222222"/>
                </a:solidFill>
                <a:latin typeface="Arial" pitchFamily="34" charset="0"/>
                <a:ea typeface="Arial" pitchFamily="34" charset="-122"/>
                <a:cs typeface="Arial" pitchFamily="34" charset="-120"/>
              </a:rPr>
              <a:t>HỆ THỐNG DỊCH GIỌNG NÓI ĐA NGÔN NGỮ GẦN THỜI GIAN THỰC</a:t>
            </a:r>
            <a:endParaRPr lang="en-US" sz="1900" dirty="0"/>
          </a:p>
          <a:p>
            <a:pPr marL="0" indent="0" algn="ctr">
              <a:spcAft>
                <a:spcPts val="400"/>
              </a:spcAft>
              <a:buNone/>
            </a:pPr>
            <a:r>
              <a:rPr lang="en-US" sz="1900" b="1" dirty="0">
                <a:solidFill>
                  <a:srgbClr val="222222"/>
                </a:solidFill>
                <a:latin typeface="Arial" pitchFamily="34" charset="0"/>
                <a:ea typeface="Arial" pitchFamily="34" charset="-122"/>
                <a:cs typeface="Arial" pitchFamily="34" charset="-120"/>
              </a:rPr>
              <a:t>SỬ DỤNG MÔ HÌNH AI CHẠY CỤC BỘ</a:t>
            </a:r>
            <a:endParaRPr lang="en-US" sz="1900" dirty="0"/>
          </a:p>
          <a:p>
            <a:pPr marL="0" indent="0" algn="ctr">
              <a:spcAft>
                <a:spcPts val="400"/>
              </a:spcAft>
              <a:buNone/>
            </a:pPr>
            <a:r>
              <a:rPr lang="en-US" sz="1500" b="1" i="1" dirty="0">
                <a:solidFill>
                  <a:srgbClr val="1B517B"/>
                </a:solidFill>
                <a:latin typeface="Arial" pitchFamily="34" charset="0"/>
                <a:ea typeface="Arial" pitchFamily="34" charset="-122"/>
                <a:cs typeface="Arial" pitchFamily="34" charset="-120"/>
              </a:rPr>
              <a:t>A Near Real-Time Speech Translation System Using Locally Hosted AI Models</a:t>
            </a:r>
            <a:endParaRPr lang="en-US" sz="1900" dirty="0"/>
          </a:p>
        </p:txBody>
      </p:sp>
      <p:sp>
        <p:nvSpPr>
          <p:cNvPr id="9" name="Text 3"/>
          <p:cNvSpPr txBox="1"/>
          <p:nvPr/>
        </p:nvSpPr>
        <p:spPr>
          <a:xfrm>
            <a:off x="1097280" y="4800600"/>
            <a:ext cx="4206240" cy="822960"/>
          </a:xfrm>
          <a:prstGeom prst="rect">
            <a:avLst/>
          </a:prstGeom>
          <a:noFill/>
          <a:ln/>
        </p:spPr>
        <p:txBody>
          <a:bodyPr wrap="square" lIns="0" tIns="0" rIns="0" bIns="0" rtlCol="0" anchor="t"/>
          <a:lstStyle/>
          <a:p>
            <a:pPr marL="0" indent="0" algn="ctr">
              <a:spcAft>
                <a:spcPts val="600"/>
              </a:spcAft>
              <a:buNone/>
            </a:pPr>
            <a:r>
              <a:rPr lang="en-US" sz="1800" b="1" dirty="0">
                <a:solidFill>
                  <a:srgbClr val="222222"/>
                </a:solidFill>
                <a:latin typeface="Arial" pitchFamily="34" charset="0"/>
                <a:ea typeface="Arial" pitchFamily="34" charset="-122"/>
                <a:cs typeface="Arial" pitchFamily="34" charset="-120"/>
              </a:rPr>
              <a:t>GVHD:</a:t>
            </a:r>
            <a:endParaRPr lang="en-US" sz="1800" dirty="0"/>
          </a:p>
          <a:p>
            <a:pPr marL="0" indent="0" algn="ctr">
              <a:spcAft>
                <a:spcPts val="600"/>
              </a:spcAft>
              <a:buNone/>
            </a:pPr>
            <a:r>
              <a:rPr lang="en-US" sz="1800" b="1" dirty="0">
                <a:solidFill>
                  <a:srgbClr val="222222"/>
                </a:solidFill>
                <a:latin typeface="Arial" pitchFamily="34" charset="0"/>
                <a:ea typeface="Arial" pitchFamily="34" charset="-122"/>
                <a:cs typeface="Arial" pitchFamily="34" charset="-120"/>
              </a:rPr>
              <a:t>ThS. Nguyễn Thành Luân</a:t>
            </a:r>
            <a:endParaRPr lang="en-US" sz="1800" dirty="0"/>
          </a:p>
        </p:txBody>
      </p:sp>
      <p:sp>
        <p:nvSpPr>
          <p:cNvPr id="10" name="Text 4"/>
          <p:cNvSpPr txBox="1"/>
          <p:nvPr/>
        </p:nvSpPr>
        <p:spPr>
          <a:xfrm>
            <a:off x="6675120" y="4800600"/>
            <a:ext cx="4389120" cy="822960"/>
          </a:xfrm>
          <a:prstGeom prst="rect">
            <a:avLst/>
          </a:prstGeom>
          <a:noFill/>
          <a:ln/>
        </p:spPr>
        <p:txBody>
          <a:bodyPr wrap="square" lIns="0" tIns="0" rIns="0" bIns="0" rtlCol="0" anchor="t"/>
          <a:lstStyle/>
          <a:p>
            <a:pPr marL="0" indent="0" algn="ctr">
              <a:spcAft>
                <a:spcPts val="600"/>
              </a:spcAft>
              <a:buNone/>
            </a:pPr>
            <a:r>
              <a:rPr lang="en-US" sz="1800" b="1" dirty="0">
                <a:solidFill>
                  <a:srgbClr val="222222"/>
                </a:solidFill>
                <a:latin typeface="Arial" pitchFamily="34" charset="0"/>
                <a:ea typeface="Arial" pitchFamily="34" charset="-122"/>
                <a:cs typeface="Arial" pitchFamily="34" charset="-120"/>
              </a:rPr>
              <a:t>NGƯỜI THỰC HIỆN:</a:t>
            </a:r>
            <a:endParaRPr lang="en-US" sz="1800" dirty="0"/>
          </a:p>
          <a:p>
            <a:pPr marL="0" indent="0" algn="ctr">
              <a:spcAft>
                <a:spcPts val="600"/>
              </a:spcAft>
              <a:buNone/>
            </a:pPr>
            <a:r>
              <a:rPr lang="en-US" sz="1800" b="1" dirty="0">
                <a:solidFill>
                  <a:srgbClr val="222222"/>
                </a:solidFill>
                <a:latin typeface="Arial" pitchFamily="34" charset="0"/>
                <a:ea typeface="Arial" pitchFamily="34" charset="-122"/>
                <a:cs typeface="Arial" pitchFamily="34" charset="-120"/>
              </a:rPr>
              <a:t>24410300 - Ngô Mạnh Hùng</a:t>
            </a:r>
            <a:endParaRPr lang="en-US" sz="1800" dirty="0"/>
          </a:p>
        </p:txBody>
      </p:sp>
      <p:sp>
        <p:nvSpPr>
          <p:cNvPr id="11" name="Text 5"/>
          <p:cNvSpPr txBox="1"/>
          <p:nvPr/>
        </p:nvSpPr>
        <p:spPr>
          <a:xfrm>
            <a:off x="274320" y="6144768"/>
            <a:ext cx="11643055" cy="411480"/>
          </a:xfrm>
          <a:prstGeom prst="rect">
            <a:avLst/>
          </a:prstGeom>
          <a:noFill/>
          <a:ln/>
        </p:spPr>
        <p:txBody>
          <a:bodyPr wrap="square" lIns="0" tIns="0" rIns="0" bIns="0" rtlCol="0" anchor="t"/>
          <a:lstStyle/>
          <a:p>
            <a:pPr marL="0" indent="0" algn="ctr">
              <a:buNone/>
            </a:pPr>
            <a:r>
              <a:rPr lang="en-US" sz="1800" b="1" i="1" dirty="0">
                <a:solidFill>
                  <a:srgbClr val="2E3192"/>
                </a:solidFill>
                <a:latin typeface="Arial" pitchFamily="34" charset="0"/>
                <a:ea typeface="Arial" pitchFamily="34" charset="-122"/>
                <a:cs typeface="Arial" pitchFamily="34" charset="-120"/>
              </a:rPr>
              <a:t>Thành phố Hồ Chí Minh, </a:t>
            </a:r>
            <a:r>
              <a:rPr lang="en-US" sz="1800" b="1" i="1" dirty="0" err="1">
                <a:solidFill>
                  <a:srgbClr val="2E3192"/>
                </a:solidFill>
                <a:latin typeface="Arial" pitchFamily="34" charset="0"/>
                <a:ea typeface="Arial" pitchFamily="34" charset="-122"/>
                <a:cs typeface="Arial" pitchFamily="34" charset="-120"/>
              </a:rPr>
              <a:t>ngày</a:t>
            </a:r>
            <a:r>
              <a:rPr lang="en-US" sz="1800" b="1" i="1" dirty="0">
                <a:solidFill>
                  <a:srgbClr val="2E3192"/>
                </a:solidFill>
                <a:latin typeface="Arial" pitchFamily="34" charset="0"/>
                <a:ea typeface="Arial" pitchFamily="34" charset="-122"/>
                <a:cs typeface="Arial" pitchFamily="34" charset="-120"/>
              </a:rPr>
              <a:t> 10 </a:t>
            </a:r>
            <a:r>
              <a:rPr lang="en-US" sz="1800" b="1" i="1" dirty="0" err="1">
                <a:solidFill>
                  <a:srgbClr val="2E3192"/>
                </a:solidFill>
                <a:latin typeface="Arial" pitchFamily="34" charset="0"/>
                <a:ea typeface="Arial" pitchFamily="34" charset="-122"/>
                <a:cs typeface="Arial" pitchFamily="34" charset="-120"/>
              </a:rPr>
              <a:t>tháng</a:t>
            </a:r>
            <a:r>
              <a:rPr lang="en-US" sz="1800" b="1" i="1">
                <a:solidFill>
                  <a:srgbClr val="2E3192"/>
                </a:solidFill>
                <a:latin typeface="Arial" pitchFamily="34" charset="0"/>
                <a:ea typeface="Arial" pitchFamily="34" charset="-122"/>
                <a:cs typeface="Arial" pitchFamily="34" charset="-120"/>
              </a:rPr>
              <a:t> 10 năm</a:t>
            </a:r>
            <a:r>
              <a:rPr lang="en-US" sz="1800" b="1" i="1" dirty="0">
                <a:solidFill>
                  <a:srgbClr val="2E3192"/>
                </a:solidFill>
                <a:latin typeface="Arial" pitchFamily="34" charset="0"/>
                <a:ea typeface="Arial" pitchFamily="34" charset="-122"/>
                <a:cs typeface="Arial" pitchFamily="34" charset="-120"/>
              </a:rPr>
              <a:t> 2026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Grp="1" noRot="1" noChangeAspect="1" noMove="1" noResize="1" noEditPoints="1" noAdjustHandles="1" noChangeArrowheads="1" noChangeShapeType="1" noCrop="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411480" y="292608"/>
            <a:ext cx="2560320" cy="459250"/>
          </a:xfrm>
          <a:prstGeom prst="rect">
            <a:avLst/>
          </a:prstGeom>
        </p:spPr>
      </p:pic>
      <p:sp>
        <p:nvSpPr>
          <p:cNvPr id="5" name="Text 0"/>
          <p:cNvSpPr txBox="1"/>
          <p:nvPr/>
        </p:nvSpPr>
        <p:spPr>
          <a:xfrm>
            <a:off x="640080" y="914400"/>
            <a:ext cx="5669280" cy="685800"/>
          </a:xfrm>
          <a:prstGeom prst="rect">
            <a:avLst/>
          </a:prstGeom>
          <a:noFill/>
          <a:ln/>
        </p:spPr>
        <p:txBody>
          <a:bodyPr wrap="square" lIns="0" tIns="0" rIns="0" bIns="0" rtlCol="0" anchor="t"/>
          <a:lstStyle/>
          <a:p>
            <a:pPr marL="0" indent="0" algn="l">
              <a:buNone/>
            </a:pPr>
            <a:r>
              <a:rPr lang="en-US" sz="3600" b="1" dirty="0">
                <a:solidFill>
                  <a:srgbClr val="487BA2"/>
                </a:solidFill>
                <a:latin typeface="Arial" pitchFamily="34" charset="0"/>
                <a:ea typeface="Arial" pitchFamily="34" charset="-122"/>
                <a:cs typeface="Arial" pitchFamily="34" charset="-120"/>
              </a:rPr>
              <a:t>Nội dung</a:t>
            </a:r>
            <a:endParaRPr lang="en-US" sz="3600" dirty="0"/>
          </a:p>
        </p:txBody>
      </p:sp>
      <p:sp>
        <p:nvSpPr>
          <p:cNvPr id="6" name="Text 1"/>
          <p:cNvSpPr txBox="1"/>
          <p:nvPr/>
        </p:nvSpPr>
        <p:spPr>
          <a:xfrm>
            <a:off x="640080" y="1691640"/>
            <a:ext cx="5486400" cy="4480560"/>
          </a:xfrm>
          <a:prstGeom prst="rect">
            <a:avLst/>
          </a:prstGeom>
          <a:noFill/>
          <a:ln/>
        </p:spPr>
        <p:txBody>
          <a:bodyPr wrap="square" lIns="0" tIns="0" rIns="0" bIns="0" rtlCol="0" anchor="t"/>
          <a:lstStyle/>
          <a:p>
            <a:pPr marL="0" indent="0">
              <a:buNone/>
            </a:pPr>
            <a:r>
              <a:rPr lang="en-US" sz="2000" dirty="0">
                <a:solidFill>
                  <a:srgbClr val="376BB4"/>
                </a:solidFill>
                <a:latin typeface="Arial" pitchFamily="34" charset="0"/>
                <a:ea typeface="Arial" pitchFamily="34" charset="-122"/>
                <a:cs typeface="Arial" pitchFamily="34" charset="-120"/>
              </a:rPr>
              <a:t>I. Tổng quan đề tài</a:t>
            </a:r>
            <a:endParaRPr lang="en-US" sz="2000" dirty="0"/>
          </a:p>
          <a:p>
            <a:pPr marL="0" lvl="1" indent="0">
              <a:buNone/>
            </a:pPr>
            <a:r>
              <a:rPr lang="en-US" sz="1500" dirty="0">
                <a:solidFill>
                  <a:srgbClr val="222222"/>
                </a:solidFill>
                <a:latin typeface="Arial" pitchFamily="34" charset="0"/>
                <a:ea typeface="Arial" pitchFamily="34" charset="-122"/>
                <a:cs typeface="Arial" pitchFamily="34" charset="-120"/>
              </a:rPr>
              <a:t>1. Bài toán và các giải pháp liên quan</a:t>
            </a:r>
            <a:endParaRPr lang="en-US" sz="2000" dirty="0"/>
          </a:p>
          <a:p>
            <a:pPr marL="0" lvl="1" indent="0">
              <a:buNone/>
            </a:pPr>
            <a:r>
              <a:rPr lang="en-US" sz="1500" dirty="0">
                <a:solidFill>
                  <a:srgbClr val="222222"/>
                </a:solidFill>
                <a:latin typeface="Arial" pitchFamily="34" charset="0"/>
                <a:ea typeface="Arial" pitchFamily="34" charset="-122"/>
                <a:cs typeface="Arial" pitchFamily="34" charset="-120"/>
              </a:rPr>
              <a:t>2. Mục tiêu và phạm vi</a:t>
            </a:r>
            <a:endParaRPr lang="en-US" sz="2000" dirty="0"/>
          </a:p>
          <a:p>
            <a:pPr marL="0" indent="0">
              <a:spcBef>
                <a:spcPts val="800"/>
              </a:spcBef>
              <a:buNone/>
            </a:pPr>
            <a:r>
              <a:rPr lang="en-US" sz="2000" dirty="0">
                <a:solidFill>
                  <a:srgbClr val="376BB4"/>
                </a:solidFill>
                <a:latin typeface="Arial" pitchFamily="34" charset="0"/>
                <a:ea typeface="Arial" pitchFamily="34" charset="-122"/>
                <a:cs typeface="Arial" pitchFamily="34" charset="-120"/>
              </a:rPr>
              <a:t>II. Phương pháp thực hiện</a:t>
            </a:r>
            <a:endParaRPr lang="en-US" sz="2000" dirty="0"/>
          </a:p>
          <a:p>
            <a:pPr marL="0" lvl="1" indent="0">
              <a:buNone/>
            </a:pPr>
            <a:r>
              <a:rPr lang="en-US" sz="1500" dirty="0">
                <a:solidFill>
                  <a:srgbClr val="222222"/>
                </a:solidFill>
                <a:latin typeface="Arial" pitchFamily="34" charset="0"/>
                <a:ea typeface="Arial" pitchFamily="34" charset="-122"/>
                <a:cs typeface="Arial" pitchFamily="34" charset="-120"/>
              </a:rPr>
              <a:t>1. Chuỗi xử lý và lựa chọn mô hình</a:t>
            </a:r>
            <a:endParaRPr lang="en-US" sz="2000" dirty="0"/>
          </a:p>
          <a:p>
            <a:pPr marL="0" lvl="1" indent="0">
              <a:buNone/>
            </a:pPr>
            <a:r>
              <a:rPr lang="en-US" sz="1500" dirty="0">
                <a:solidFill>
                  <a:srgbClr val="222222"/>
                </a:solidFill>
                <a:latin typeface="Arial" pitchFamily="34" charset="0"/>
                <a:ea typeface="Arial" pitchFamily="34" charset="-122"/>
                <a:cs typeface="Arial" pitchFamily="34" charset="-120"/>
              </a:rPr>
              <a:t>2. Kiến trúc hệ thống</a:t>
            </a:r>
            <a:endParaRPr lang="en-US" sz="2000" dirty="0"/>
          </a:p>
          <a:p>
            <a:pPr marL="0" lvl="1" indent="0">
              <a:buNone/>
            </a:pPr>
            <a:r>
              <a:rPr lang="en-US" sz="1500" dirty="0">
                <a:solidFill>
                  <a:srgbClr val="222222"/>
                </a:solidFill>
                <a:latin typeface="Arial" pitchFamily="34" charset="0"/>
                <a:ea typeface="Arial" pitchFamily="34" charset="-122"/>
                <a:cs typeface="Arial" pitchFamily="34" charset="-120"/>
              </a:rPr>
              <a:t>3. Các kỹ thuật xử lý chính</a:t>
            </a:r>
            <a:endParaRPr lang="en-US" sz="2000" dirty="0"/>
          </a:p>
          <a:p>
            <a:pPr marL="0" lvl="1" indent="0">
              <a:buNone/>
            </a:pPr>
            <a:r>
              <a:rPr lang="en-US" sz="1500" dirty="0">
                <a:solidFill>
                  <a:srgbClr val="222222"/>
                </a:solidFill>
                <a:latin typeface="Arial" pitchFamily="34" charset="0"/>
                <a:ea typeface="Arial" pitchFamily="34" charset="-122"/>
                <a:cs typeface="Arial" pitchFamily="34" charset="-120"/>
              </a:rPr>
              <a:t>4. Ứng dụng, đóng gói và kiểm thử</a:t>
            </a:r>
            <a:endParaRPr lang="en-US" sz="2000" dirty="0"/>
          </a:p>
          <a:p>
            <a:pPr marL="0" indent="0">
              <a:spcBef>
                <a:spcPts val="800"/>
              </a:spcBef>
              <a:buNone/>
            </a:pPr>
            <a:r>
              <a:rPr lang="en-US" sz="2000" dirty="0">
                <a:solidFill>
                  <a:srgbClr val="376BB4"/>
                </a:solidFill>
                <a:latin typeface="Arial" pitchFamily="34" charset="0"/>
                <a:ea typeface="Arial" pitchFamily="34" charset="-122"/>
                <a:cs typeface="Arial" pitchFamily="34" charset="-120"/>
              </a:rPr>
              <a:t>III. Kết quả thực nghiệm</a:t>
            </a:r>
            <a:endParaRPr lang="en-US" sz="2000" dirty="0"/>
          </a:p>
          <a:p>
            <a:pPr marL="0" indent="0">
              <a:spcBef>
                <a:spcPts val="800"/>
              </a:spcBef>
              <a:buNone/>
            </a:pPr>
            <a:r>
              <a:rPr lang="en-US" sz="2000" dirty="0">
                <a:solidFill>
                  <a:srgbClr val="376BB4"/>
                </a:solidFill>
                <a:latin typeface="Arial" pitchFamily="34" charset="0"/>
                <a:ea typeface="Arial" pitchFamily="34" charset="-122"/>
                <a:cs typeface="Arial" pitchFamily="34" charset="-120"/>
              </a:rPr>
              <a:t>IV. Kết luận</a:t>
            </a:r>
            <a:endParaRPr lang="en-US" sz="2000" dirty="0"/>
          </a:p>
        </p:txBody>
      </p:sp>
      <p:pic>
        <p:nvPicPr>
          <p:cNvPr id="7" name="Image 2" descr="C:\Users\hhung\AppData\Local\Temp\claude\d--Project-local-live-voice-translator\d0343c7e-f558-4e8b-8c62-5b900df8bea6\scratchpad\build\img\h3-12-phien-dich.png"/>
          <p:cNvPicPr>
            <a:picLocks noChangeAspect="1"/>
          </p:cNvPicPr>
          <p:nvPr/>
        </p:nvPicPr>
        <p:blipFill>
          <a:blip r:embed="rId5"/>
          <a:stretch>
            <a:fillRect/>
          </a:stretch>
        </p:blipFill>
        <p:spPr>
          <a:xfrm>
            <a:off x="4532553" y="1131453"/>
            <a:ext cx="7019367" cy="4244153"/>
          </a:xfrm>
          <a:prstGeom prst="rect">
            <a:avLst/>
          </a:prstGeom>
        </p:spPr>
      </p:pic>
      <p:sp>
        <p:nvSpPr>
          <p:cNvPr id="8" name="Text 3"/>
          <p:cNvSpPr txBox="1"/>
          <p:nvPr/>
        </p:nvSpPr>
        <p:spPr>
          <a:xfrm>
            <a:off x="5068004" y="5421326"/>
            <a:ext cx="6220508" cy="442381"/>
          </a:xfrm>
          <a:prstGeom prst="rect">
            <a:avLst/>
          </a:prstGeom>
          <a:noFill/>
          <a:ln/>
        </p:spPr>
        <p:txBody>
          <a:bodyPr wrap="square" lIns="0" tIns="0" rIns="0" bIns="0" rtlCol="0" anchor="t"/>
          <a:lstStyle/>
          <a:p>
            <a:pPr marL="0" indent="0" algn="ctr">
              <a:buNone/>
            </a:pPr>
            <a:r>
              <a:rPr lang="en-US" sz="1200" i="1" dirty="0">
                <a:solidFill>
                  <a:srgbClr val="5F6B76"/>
                </a:solidFill>
                <a:latin typeface="Arial" pitchFamily="34" charset="0"/>
                <a:ea typeface="Arial" pitchFamily="34" charset="-122"/>
                <a:cs typeface="Arial" pitchFamily="34" charset="-120"/>
              </a:rPr>
              <a:t>Màn hình Phiên dịch của ứng dụng</a:t>
            </a:r>
            <a:endParaRPr lang="en-US" sz="1200" dirty="0"/>
          </a:p>
        </p:txBody>
      </p:sp>
      <p:sp>
        <p:nvSpPr>
          <p:cNvPr id="9" name="Text 4"/>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 Tổng quan đề tài</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1. Bài toán</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100" dirty="0"/>
          </a:p>
        </p:txBody>
      </p:sp>
      <p:sp>
        <p:nvSpPr>
          <p:cNvPr id="8" name="Text 3"/>
          <p:cNvSpPr txBox="1"/>
          <p:nvPr/>
        </p:nvSpPr>
        <p:spPr>
          <a:xfrm>
            <a:off x="685800" y="1371600"/>
            <a:ext cx="10241280" cy="731520"/>
          </a:xfrm>
          <a:prstGeom prst="rect">
            <a:avLst/>
          </a:prstGeom>
          <a:noFill/>
          <a:ln/>
        </p:spPr>
        <p:txBody>
          <a:bodyPr wrap="square" lIns="0" tIns="0" rIns="0" bIns="0" rtlCol="0" anchor="t"/>
          <a:lstStyle/>
          <a:p>
            <a:pPr marL="0" indent="0">
              <a:buNone/>
            </a:pPr>
            <a:r>
              <a:rPr lang="en-US" sz="1700" dirty="0">
                <a:solidFill>
                  <a:srgbClr val="222222"/>
                </a:solidFill>
                <a:latin typeface="Arial" pitchFamily="34" charset="0"/>
                <a:ea typeface="Arial" pitchFamily="34" charset="-122"/>
                <a:cs typeface="Arial" pitchFamily="34" charset="-120"/>
              </a:rPr>
              <a:t>Họp và học trực tuyến với người nói ngôn ngữ khác ngày càng phổ biến (Google Meet, Teams, Zoom). Các công cụ dịch giọng nói hiện có gần như đều chạy trên đám mây, kéo theo ba vấn đề:</a:t>
            </a:r>
            <a:endParaRPr lang="en-US" sz="1700" dirty="0"/>
          </a:p>
        </p:txBody>
      </p:sp>
      <p:sp>
        <p:nvSpPr>
          <p:cNvPr id="9" name="Shape 4"/>
          <p:cNvSpPr/>
          <p:nvPr/>
        </p:nvSpPr>
        <p:spPr>
          <a:xfrm>
            <a:off x="685800" y="2286000"/>
            <a:ext cx="3200400" cy="2057400"/>
          </a:xfrm>
          <a:prstGeom prst="roundRect">
            <a:avLst>
              <a:gd name="adj" fmla="val 3556"/>
            </a:avLst>
          </a:prstGeom>
          <a:solidFill>
            <a:srgbClr val="EEF4F9"/>
          </a:solidFill>
          <a:ln w="12700">
            <a:solidFill>
              <a:srgbClr val="EEF4F9"/>
            </a:solidFill>
            <a:prstDash val="solid"/>
          </a:ln>
        </p:spPr>
        <p:txBody>
          <a:bodyPr/>
          <a:lstStyle/>
          <a:p>
            <a:endParaRPr lang="en-US"/>
          </a:p>
        </p:txBody>
      </p:sp>
      <p:sp>
        <p:nvSpPr>
          <p:cNvPr id="10" name="Shape 5"/>
          <p:cNvSpPr/>
          <p:nvPr/>
        </p:nvSpPr>
        <p:spPr>
          <a:xfrm>
            <a:off x="914400" y="2487168"/>
            <a:ext cx="658368" cy="658368"/>
          </a:xfrm>
          <a:prstGeom prst="ellipse">
            <a:avLst/>
          </a:prstGeom>
          <a:solidFill>
            <a:srgbClr val="FFFFFF"/>
          </a:solidFill>
          <a:ln w="12700">
            <a:solidFill>
              <a:srgbClr val="DCE8F2"/>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1060704" y="2633472"/>
            <a:ext cx="365760" cy="365760"/>
          </a:xfrm>
          <a:prstGeom prst="rect">
            <a:avLst/>
          </a:prstGeom>
        </p:spPr>
      </p:pic>
      <p:sp>
        <p:nvSpPr>
          <p:cNvPr id="12" name="Text 6"/>
          <p:cNvSpPr txBox="1"/>
          <p:nvPr/>
        </p:nvSpPr>
        <p:spPr>
          <a:xfrm>
            <a:off x="914400" y="3246120"/>
            <a:ext cx="2834640" cy="365760"/>
          </a:xfrm>
          <a:prstGeom prst="rect">
            <a:avLst/>
          </a:prstGeom>
          <a:noFill/>
          <a:ln/>
        </p:spPr>
        <p:txBody>
          <a:bodyPr wrap="square" lIns="0" tIns="0" rIns="0" bIns="0" rtlCol="0" anchor="t"/>
          <a:lstStyle/>
          <a:p>
            <a:pPr marL="0" indent="0">
              <a:buNone/>
            </a:pPr>
            <a:r>
              <a:rPr lang="en-US" sz="1700" b="1" dirty="0">
                <a:solidFill>
                  <a:srgbClr val="1B517B"/>
                </a:solidFill>
                <a:latin typeface="Arial" pitchFamily="34" charset="0"/>
                <a:ea typeface="Arial" pitchFamily="34" charset="-122"/>
                <a:cs typeface="Arial" pitchFamily="34" charset="-120"/>
              </a:rPr>
              <a:t>Phụ thuộc đường truyền</a:t>
            </a:r>
            <a:endParaRPr lang="en-US" sz="1700" dirty="0"/>
          </a:p>
        </p:txBody>
      </p:sp>
      <p:sp>
        <p:nvSpPr>
          <p:cNvPr id="13" name="Text 7"/>
          <p:cNvSpPr txBox="1"/>
          <p:nvPr/>
        </p:nvSpPr>
        <p:spPr>
          <a:xfrm>
            <a:off x="914400" y="3611880"/>
            <a:ext cx="2834640" cy="685800"/>
          </a:xfrm>
          <a:prstGeom prst="rect">
            <a:avLst/>
          </a:prstGeom>
          <a:noFill/>
          <a:ln/>
        </p:spPr>
        <p:txBody>
          <a:bodyPr wrap="square" lIns="0" tIns="0" rIns="0" bIns="0" rtlCol="0" anchor="t"/>
          <a:lstStyle/>
          <a:p>
            <a:pPr marL="0" indent="0">
              <a:buNone/>
            </a:pPr>
            <a:r>
              <a:rPr lang="en-US" sz="1400" dirty="0">
                <a:solidFill>
                  <a:srgbClr val="222222"/>
                </a:solidFill>
                <a:latin typeface="Arial" pitchFamily="34" charset="0"/>
                <a:ea typeface="Arial" pitchFamily="34" charset="-122"/>
                <a:cs typeface="Arial" pitchFamily="34" charset="-120"/>
              </a:rPr>
              <a:t>Mạng chập chờn thì bản dịch trễ hoặc mất giữa cuộc họp.</a:t>
            </a:r>
            <a:endParaRPr lang="en-US" sz="1400" dirty="0"/>
          </a:p>
        </p:txBody>
      </p:sp>
      <p:sp>
        <p:nvSpPr>
          <p:cNvPr id="14" name="Shape 8"/>
          <p:cNvSpPr/>
          <p:nvPr/>
        </p:nvSpPr>
        <p:spPr>
          <a:xfrm>
            <a:off x="4160520" y="2286000"/>
            <a:ext cx="3200400" cy="2057400"/>
          </a:xfrm>
          <a:prstGeom prst="roundRect">
            <a:avLst>
              <a:gd name="adj" fmla="val 3556"/>
            </a:avLst>
          </a:prstGeom>
          <a:solidFill>
            <a:srgbClr val="EEF4F9"/>
          </a:solidFill>
          <a:ln w="12700">
            <a:solidFill>
              <a:srgbClr val="EEF4F9"/>
            </a:solidFill>
            <a:prstDash val="solid"/>
          </a:ln>
        </p:spPr>
        <p:txBody>
          <a:bodyPr/>
          <a:lstStyle/>
          <a:p>
            <a:endParaRPr lang="en-US"/>
          </a:p>
        </p:txBody>
      </p:sp>
      <p:sp>
        <p:nvSpPr>
          <p:cNvPr id="15" name="Shape 9"/>
          <p:cNvSpPr/>
          <p:nvPr/>
        </p:nvSpPr>
        <p:spPr>
          <a:xfrm>
            <a:off x="4389120" y="2487168"/>
            <a:ext cx="658368" cy="658368"/>
          </a:xfrm>
          <a:prstGeom prst="ellipse">
            <a:avLst/>
          </a:prstGeom>
          <a:solidFill>
            <a:srgbClr val="FFFFFF"/>
          </a:solidFill>
          <a:ln w="12700">
            <a:solidFill>
              <a:srgbClr val="DCE8F2"/>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4535424" y="2633472"/>
            <a:ext cx="365760" cy="365760"/>
          </a:xfrm>
          <a:prstGeom prst="rect">
            <a:avLst/>
          </a:prstGeom>
        </p:spPr>
      </p:pic>
      <p:sp>
        <p:nvSpPr>
          <p:cNvPr id="17" name="Text 10"/>
          <p:cNvSpPr txBox="1"/>
          <p:nvPr/>
        </p:nvSpPr>
        <p:spPr>
          <a:xfrm>
            <a:off x="4389120" y="3246120"/>
            <a:ext cx="2834640" cy="365760"/>
          </a:xfrm>
          <a:prstGeom prst="rect">
            <a:avLst/>
          </a:prstGeom>
          <a:noFill/>
          <a:ln/>
        </p:spPr>
        <p:txBody>
          <a:bodyPr wrap="square" lIns="0" tIns="0" rIns="0" bIns="0" rtlCol="0" anchor="t"/>
          <a:lstStyle/>
          <a:p>
            <a:pPr marL="0" indent="0">
              <a:buNone/>
            </a:pPr>
            <a:r>
              <a:rPr lang="en-US" sz="1700" b="1" dirty="0">
                <a:solidFill>
                  <a:srgbClr val="1B517B"/>
                </a:solidFill>
                <a:latin typeface="Arial" pitchFamily="34" charset="0"/>
                <a:ea typeface="Arial" pitchFamily="34" charset="-122"/>
                <a:cs typeface="Arial" pitchFamily="34" charset="-120"/>
              </a:rPr>
              <a:t>Tốn phí theo lượt dùng</a:t>
            </a:r>
            <a:endParaRPr lang="en-US" sz="1700" dirty="0"/>
          </a:p>
        </p:txBody>
      </p:sp>
      <p:sp>
        <p:nvSpPr>
          <p:cNvPr id="18" name="Text 11"/>
          <p:cNvSpPr txBox="1"/>
          <p:nvPr/>
        </p:nvSpPr>
        <p:spPr>
          <a:xfrm>
            <a:off x="4389120" y="3611880"/>
            <a:ext cx="2834640" cy="685800"/>
          </a:xfrm>
          <a:prstGeom prst="rect">
            <a:avLst/>
          </a:prstGeom>
          <a:noFill/>
          <a:ln/>
        </p:spPr>
        <p:txBody>
          <a:bodyPr wrap="square" lIns="0" tIns="0" rIns="0" bIns="0" rtlCol="0" anchor="t"/>
          <a:lstStyle/>
          <a:p>
            <a:pPr marL="0" indent="0">
              <a:buNone/>
            </a:pPr>
            <a:r>
              <a:rPr lang="en-US" sz="1400" dirty="0">
                <a:solidFill>
                  <a:srgbClr val="222222"/>
                </a:solidFill>
                <a:latin typeface="Arial" pitchFamily="34" charset="0"/>
                <a:ea typeface="Arial" pitchFamily="34" charset="-122"/>
                <a:cs typeface="Arial" pitchFamily="34" charset="-120"/>
              </a:rPr>
              <a:t>Tính theo thời lượng hoặc gói thuê bao; nhiều tính năng chỉ có ở gói trả phí.</a:t>
            </a:r>
            <a:endParaRPr lang="en-US" sz="1400" dirty="0"/>
          </a:p>
        </p:txBody>
      </p:sp>
      <p:sp>
        <p:nvSpPr>
          <p:cNvPr id="19" name="Shape 12"/>
          <p:cNvSpPr/>
          <p:nvPr/>
        </p:nvSpPr>
        <p:spPr>
          <a:xfrm>
            <a:off x="7635240" y="2286000"/>
            <a:ext cx="3200400" cy="2057400"/>
          </a:xfrm>
          <a:prstGeom prst="roundRect">
            <a:avLst>
              <a:gd name="adj" fmla="val 3556"/>
            </a:avLst>
          </a:prstGeom>
          <a:solidFill>
            <a:srgbClr val="EEF4F9"/>
          </a:solidFill>
          <a:ln w="12700">
            <a:solidFill>
              <a:srgbClr val="EEF4F9"/>
            </a:solidFill>
            <a:prstDash val="solid"/>
          </a:ln>
        </p:spPr>
        <p:txBody>
          <a:bodyPr/>
          <a:lstStyle/>
          <a:p>
            <a:endParaRPr lang="en-US"/>
          </a:p>
        </p:txBody>
      </p:sp>
      <p:sp>
        <p:nvSpPr>
          <p:cNvPr id="20" name="Shape 13"/>
          <p:cNvSpPr/>
          <p:nvPr/>
        </p:nvSpPr>
        <p:spPr>
          <a:xfrm>
            <a:off x="7863840" y="2487168"/>
            <a:ext cx="658368" cy="658368"/>
          </a:xfrm>
          <a:prstGeom prst="ellipse">
            <a:avLst/>
          </a:prstGeom>
          <a:solidFill>
            <a:srgbClr val="FFFFFF"/>
          </a:solidFill>
          <a:ln w="12700">
            <a:solidFill>
              <a:srgbClr val="DCE8F2"/>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8010144" y="2633472"/>
            <a:ext cx="365760" cy="365760"/>
          </a:xfrm>
          <a:prstGeom prst="rect">
            <a:avLst/>
          </a:prstGeom>
        </p:spPr>
      </p:pic>
      <p:sp>
        <p:nvSpPr>
          <p:cNvPr id="22" name="Text 14"/>
          <p:cNvSpPr txBox="1"/>
          <p:nvPr/>
        </p:nvSpPr>
        <p:spPr>
          <a:xfrm>
            <a:off x="7863840" y="3246120"/>
            <a:ext cx="2834640" cy="365760"/>
          </a:xfrm>
          <a:prstGeom prst="rect">
            <a:avLst/>
          </a:prstGeom>
          <a:noFill/>
          <a:ln/>
        </p:spPr>
        <p:txBody>
          <a:bodyPr wrap="square" lIns="0" tIns="0" rIns="0" bIns="0" rtlCol="0" anchor="t"/>
          <a:lstStyle/>
          <a:p>
            <a:pPr marL="0" indent="0">
              <a:buNone/>
            </a:pPr>
            <a:r>
              <a:rPr lang="en-US" sz="1700" b="1" dirty="0">
                <a:solidFill>
                  <a:srgbClr val="1B517B"/>
                </a:solidFill>
                <a:latin typeface="Arial" pitchFamily="34" charset="0"/>
                <a:ea typeface="Arial" pitchFamily="34" charset="-122"/>
                <a:cs typeface="Arial" pitchFamily="34" charset="-120"/>
              </a:rPr>
              <a:t>Nội dung rời khỏi máy</a:t>
            </a:r>
            <a:endParaRPr lang="en-US" sz="1700" dirty="0"/>
          </a:p>
        </p:txBody>
      </p:sp>
      <p:sp>
        <p:nvSpPr>
          <p:cNvPr id="23" name="Text 15"/>
          <p:cNvSpPr txBox="1"/>
          <p:nvPr/>
        </p:nvSpPr>
        <p:spPr>
          <a:xfrm>
            <a:off x="7863840" y="3611880"/>
            <a:ext cx="2834640" cy="685800"/>
          </a:xfrm>
          <a:prstGeom prst="rect">
            <a:avLst/>
          </a:prstGeom>
          <a:noFill/>
          <a:ln/>
        </p:spPr>
        <p:txBody>
          <a:bodyPr wrap="square" lIns="0" tIns="0" rIns="0" bIns="0" rtlCol="0" anchor="t"/>
          <a:lstStyle/>
          <a:p>
            <a:pPr marL="0" indent="0">
              <a:buNone/>
            </a:pPr>
            <a:r>
              <a:rPr lang="en-US" sz="1400" dirty="0">
                <a:solidFill>
                  <a:srgbClr val="222222"/>
                </a:solidFill>
                <a:latin typeface="Arial" pitchFamily="34" charset="0"/>
                <a:ea typeface="Arial" pitchFamily="34" charset="-122"/>
                <a:cs typeface="Arial" pitchFamily="34" charset="-120"/>
              </a:rPr>
              <a:t>Toàn bộ âm thanh cuộc họp phải gửi tới máy chủ của bên thứ ba.</a:t>
            </a:r>
            <a:endParaRPr lang="en-US" sz="1400" dirty="0"/>
          </a:p>
        </p:txBody>
      </p:sp>
      <p:sp>
        <p:nvSpPr>
          <p:cNvPr id="24" name="Text 16"/>
          <p:cNvSpPr txBox="1"/>
          <p:nvPr/>
        </p:nvSpPr>
        <p:spPr>
          <a:xfrm>
            <a:off x="685800" y="4572000"/>
            <a:ext cx="10241280" cy="685800"/>
          </a:xfrm>
          <a:prstGeom prst="rect">
            <a:avLst/>
          </a:prstGeom>
          <a:noFill/>
          <a:ln/>
        </p:spPr>
        <p:txBody>
          <a:bodyPr wrap="square" lIns="0" tIns="0" rIns="0" bIns="0" rtlCol="0" anchor="t"/>
          <a:lstStyle/>
          <a:p>
            <a:pPr marL="0" indent="0">
              <a:buNone/>
            </a:pPr>
            <a:r>
              <a:rPr lang="en-US" sz="1600" dirty="0">
                <a:solidFill>
                  <a:srgbClr val="222222"/>
                </a:solidFill>
                <a:latin typeface="Arial" pitchFamily="34" charset="0"/>
                <a:ea typeface="Arial" pitchFamily="34" charset="-122"/>
                <a:cs typeface="Arial" pitchFamily="34" charset="-120"/>
              </a:rPr>
              <a:t>Trong khi đó, mô hình mã nguồn mở cho từng khâu đã đủ tốt để chạy trên máy cá nhân: </a:t>
            </a:r>
            <a:r>
              <a:rPr lang="en-US" sz="1600" b="1" dirty="0">
                <a:solidFill>
                  <a:srgbClr val="376BB4"/>
                </a:solidFill>
                <a:latin typeface="Arial" pitchFamily="34" charset="0"/>
                <a:ea typeface="Arial" pitchFamily="34" charset="-122"/>
                <a:cs typeface="Arial" pitchFamily="34" charset="-120"/>
              </a:rPr>
              <a:t>Whisper</a:t>
            </a:r>
            <a:r>
              <a:rPr lang="en-US" sz="1600" dirty="0">
                <a:solidFill>
                  <a:srgbClr val="222222"/>
                </a:solidFill>
                <a:latin typeface="Arial" pitchFamily="34" charset="0"/>
                <a:ea typeface="Arial" pitchFamily="34" charset="-122"/>
                <a:cs typeface="Arial" pitchFamily="34" charset="-120"/>
              </a:rPr>
              <a:t> nhận dạng ~100 ngôn ngữ [19], </a:t>
            </a:r>
            <a:r>
              <a:rPr lang="en-US" sz="1600" b="1" dirty="0">
                <a:solidFill>
                  <a:srgbClr val="376BB4"/>
                </a:solidFill>
                <a:latin typeface="Arial" pitchFamily="34" charset="0"/>
                <a:ea typeface="Arial" pitchFamily="34" charset="-122"/>
                <a:cs typeface="Arial" pitchFamily="34" charset="-120"/>
              </a:rPr>
              <a:t>NLLB-200</a:t>
            </a:r>
            <a:r>
              <a:rPr lang="en-US" sz="1600" dirty="0">
                <a:solidFill>
                  <a:srgbClr val="222222"/>
                </a:solidFill>
                <a:latin typeface="Arial" pitchFamily="34" charset="0"/>
                <a:ea typeface="Arial" pitchFamily="34" charset="-122"/>
                <a:cs typeface="Arial" pitchFamily="34" charset="-120"/>
              </a:rPr>
              <a:t> dịch trực tiếp 200 ngôn ngữ [4], </a:t>
            </a:r>
            <a:r>
              <a:rPr lang="en-US" sz="1600" b="1" dirty="0">
                <a:solidFill>
                  <a:srgbClr val="376BB4"/>
                </a:solidFill>
                <a:latin typeface="Arial" pitchFamily="34" charset="0"/>
                <a:ea typeface="Arial" pitchFamily="34" charset="-122"/>
                <a:cs typeface="Arial" pitchFamily="34" charset="-120"/>
              </a:rPr>
              <a:t>sherpa-onnx</a:t>
            </a:r>
            <a:r>
              <a:rPr lang="en-US" sz="1600" dirty="0">
                <a:solidFill>
                  <a:srgbClr val="222222"/>
                </a:solidFill>
                <a:latin typeface="Arial" pitchFamily="34" charset="0"/>
                <a:ea typeface="Arial" pitchFamily="34" charset="-122"/>
                <a:cs typeface="Arial" pitchFamily="34" charset="-120"/>
              </a:rPr>
              <a:t> tổng hợp giọng nói offline [12].</a:t>
            </a:r>
            <a:endParaRPr lang="en-US" sz="1600" dirty="0"/>
          </a:p>
        </p:txBody>
      </p:sp>
      <p:sp>
        <p:nvSpPr>
          <p:cNvPr id="25" name="Shape x501"/>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26"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7"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Đề tài trả lời: laptop cá nhân có tự chạy trọn chuỗi dịch giọng nói và theo kịp người nói không?</a:t>
            </a:r>
            <a:endParaRPr lang="vi-VN" sz="1500" b="0" i="0" dirty="0">
              <a:solidFill>
                <a:srgbClr val="B8262B"/>
              </a:solidFill>
              <a:latin typeface="Arial"/>
              <a:ea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 Tổng quan đề tài</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1. Các giải pháp liên quan</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100" dirty="0"/>
          </a:p>
        </p:txBody>
      </p:sp>
      <p:graphicFrame>
        <p:nvGraphicFramePr>
          <p:cNvPr id="8" name="Full comparison"/>
          <p:cNvGraphicFramePr>
            <a:graphicFrameLocks noGrp="1"/>
          </p:cNvGraphicFramePr>
          <p:nvPr/>
        </p:nvGraphicFramePr>
        <p:xfrm>
          <a:off x="685800" y="1371600"/>
          <a:ext cx="10241280" cy="3200400"/>
        </p:xfrm>
        <a:graphic>
          <a:graphicData uri="http://schemas.openxmlformats.org/drawingml/2006/table">
            <a:tbl>
              <a:tblPr/>
              <a:tblGrid>
                <a:gridCol w="21031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457200">
                <a:tc>
                  <a:txBody>
                    <a:bodyPr/>
                    <a:lstStyle/>
                    <a:p>
                      <a:pPr marL="0" indent="0" algn="ctr">
                        <a:buNone/>
                      </a:pPr>
                      <a:r>
                        <a:rPr lang="vi-VN" sz="1200" b="1" i="0" dirty="0">
                          <a:solidFill>
                            <a:srgbClr val="FFFFFF"/>
                          </a:solidFill>
                          <a:latin typeface="Arial"/>
                          <a:ea typeface="Arial"/>
                          <a:cs typeface="Arial"/>
                        </a:rPr>
                        <a:t>Tiêu chí</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Google Meet [7]</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SeamlessM4T [23]</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TranscriptionSuite [10]</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LocalVocal [22]</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Đề tài</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extLst>
                  <a:ext uri="{0D108BD9-81ED-4DB2-BD59-A6C34878D82A}">
                    <a16:rowId xmlns:a16="http://schemas.microsoft.com/office/drawing/2014/main" val="10000"/>
                  </a:ext>
                </a:extLst>
              </a:tr>
              <a:tr h="457200">
                <a:tc>
                  <a:txBody>
                    <a:bodyPr/>
                    <a:lstStyle/>
                    <a:p>
                      <a:pPr marL="0" indent="0" algn="l">
                        <a:buNone/>
                      </a:pPr>
                      <a:r>
                        <a:rPr lang="vi-VN" sz="1200" b="1" i="0" dirty="0">
                          <a:solidFill>
                            <a:srgbClr val="222222"/>
                          </a:solidFill>
                          <a:latin typeface="Arial"/>
                          <a:ea typeface="Arial"/>
                          <a:cs typeface="Arial"/>
                        </a:rPr>
                        <a:t>Chạy cục bộ, không cần mạng</a:t>
                      </a:r>
                      <a:endParaRPr lang="vi-VN" sz="1200" b="0" i="0" dirty="0">
                        <a:solidFill>
                          <a:srgbClr val="222222"/>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B8262B"/>
                          </a:solidFill>
                          <a:latin typeface="Arial"/>
                          <a:ea typeface="Arial"/>
                          <a:cs typeface="Arial"/>
                        </a:rPr>
                        <a:t>Không</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Có¹</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1" i="0" dirty="0">
                          <a:solidFill>
                            <a:srgbClr val="FFFFFF"/>
                          </a:solidFill>
                          <a:latin typeface="Arial"/>
                          <a:ea typeface="Arial"/>
                          <a:cs typeface="Arial"/>
                        </a:rPr>
                        <a:t>Có</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487BA2"/>
                    </a:solidFill>
                  </a:tcPr>
                </a:tc>
                <a:extLst>
                  <a:ext uri="{0D108BD9-81ED-4DB2-BD59-A6C34878D82A}">
                    <a16:rowId xmlns:a16="http://schemas.microsoft.com/office/drawing/2014/main" val="10001"/>
                  </a:ext>
                </a:extLst>
              </a:tr>
              <a:tr h="457200">
                <a:tc>
                  <a:txBody>
                    <a:bodyPr/>
                    <a:lstStyle/>
                    <a:p>
                      <a:pPr marL="0" indent="0" algn="l">
                        <a:buNone/>
                      </a:pPr>
                      <a:r>
                        <a:rPr lang="vi-VN" sz="1200" b="1" i="0" dirty="0">
                          <a:solidFill>
                            <a:srgbClr val="222222"/>
                          </a:solidFill>
                          <a:latin typeface="Arial"/>
                          <a:ea typeface="Arial"/>
                          <a:cs typeface="Arial"/>
                        </a:rPr>
                        <a:t>Nhận dạng tiếng Việt</a:t>
                      </a:r>
                      <a:endParaRPr lang="vi-VN" sz="1200" b="0" i="0" dirty="0">
                        <a:solidFill>
                          <a:srgbClr val="222222"/>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1" i="0" dirty="0">
                          <a:solidFill>
                            <a:srgbClr val="FFFFFF"/>
                          </a:solidFill>
                          <a:latin typeface="Arial"/>
                          <a:ea typeface="Arial"/>
                          <a:cs typeface="Arial"/>
                        </a:rPr>
                        <a:t>Có</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487BA2"/>
                    </a:solidFill>
                  </a:tcPr>
                </a:tc>
                <a:extLst>
                  <a:ext uri="{0D108BD9-81ED-4DB2-BD59-A6C34878D82A}">
                    <a16:rowId xmlns:a16="http://schemas.microsoft.com/office/drawing/2014/main" val="10002"/>
                  </a:ext>
                </a:extLst>
              </a:tr>
              <a:tr h="457200">
                <a:tc>
                  <a:txBody>
                    <a:bodyPr/>
                    <a:lstStyle/>
                    <a:p>
                      <a:pPr marL="0" indent="0" algn="l">
                        <a:buNone/>
                      </a:pPr>
                      <a:r>
                        <a:rPr lang="vi-VN" sz="1200" b="1" i="0" dirty="0">
                          <a:solidFill>
                            <a:srgbClr val="222222"/>
                          </a:solidFill>
                          <a:latin typeface="Arial"/>
                          <a:ea typeface="Arial"/>
                          <a:cs typeface="Arial"/>
                        </a:rPr>
                        <a:t>Dịch có tiếng Việt</a:t>
                      </a:r>
                      <a:endParaRPr lang="vi-VN" sz="1200" b="0" i="0" dirty="0">
                        <a:solidFill>
                          <a:srgbClr val="222222"/>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Phụ đề, gói trả phí</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E8B57"/>
                          </a:solidFill>
                          <a:latin typeface="Arial"/>
                          <a:ea typeface="Arial"/>
                          <a:cs typeface="Arial"/>
                        </a:rPr>
                        <a:t>Có</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Chỉ sang tiếng Anh</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Có (NLLB, M2M-100)</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1" i="0" dirty="0">
                          <a:solidFill>
                            <a:srgbClr val="FFFFFF"/>
                          </a:solidFill>
                          <a:latin typeface="Arial"/>
                          <a:ea typeface="Arial"/>
                          <a:cs typeface="Arial"/>
                        </a:rPr>
                        <a:t>Có</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487BA2"/>
                    </a:solidFill>
                  </a:tcPr>
                </a:tc>
                <a:extLst>
                  <a:ext uri="{0D108BD9-81ED-4DB2-BD59-A6C34878D82A}">
                    <a16:rowId xmlns:a16="http://schemas.microsoft.com/office/drawing/2014/main" val="10003"/>
                  </a:ext>
                </a:extLst>
              </a:tr>
              <a:tr h="457200">
                <a:tc>
                  <a:txBody>
                    <a:bodyPr/>
                    <a:lstStyle/>
                    <a:p>
                      <a:pPr marL="0" indent="0" algn="l">
                        <a:buNone/>
                      </a:pPr>
                      <a:r>
                        <a:rPr lang="vi-VN" sz="1200" b="1" i="0" dirty="0">
                          <a:solidFill>
                            <a:srgbClr val="222222"/>
                          </a:solidFill>
                          <a:latin typeface="Arial"/>
                          <a:ea typeface="Arial"/>
                          <a:cs typeface="Arial"/>
                        </a:rPr>
                        <a:t>Đọc bản dịch bằng giọng nói</a:t>
                      </a:r>
                      <a:endParaRPr lang="vi-VN" sz="1200" b="0" i="0" dirty="0">
                        <a:solidFill>
                          <a:srgbClr val="222222"/>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Có, chưa có tiếng Việt</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Có, có tiếng Việt</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B8262B"/>
                          </a:solidFill>
                          <a:latin typeface="Arial"/>
                          <a:ea typeface="Arial"/>
                          <a:cs typeface="Arial"/>
                        </a:rPr>
                        <a:t>Không</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B8262B"/>
                          </a:solidFill>
                          <a:latin typeface="Arial"/>
                          <a:ea typeface="Arial"/>
                          <a:cs typeface="Arial"/>
                        </a:rPr>
                        <a:t>Không</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1" i="0" dirty="0">
                          <a:solidFill>
                            <a:srgbClr val="FFFFFF"/>
                          </a:solidFill>
                          <a:latin typeface="Arial"/>
                          <a:ea typeface="Arial"/>
                          <a:cs typeface="Arial"/>
                        </a:rPr>
                        <a:t>Có</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487BA2"/>
                    </a:solidFill>
                  </a:tcPr>
                </a:tc>
                <a:extLst>
                  <a:ext uri="{0D108BD9-81ED-4DB2-BD59-A6C34878D82A}">
                    <a16:rowId xmlns:a16="http://schemas.microsoft.com/office/drawing/2014/main" val="10004"/>
                  </a:ext>
                </a:extLst>
              </a:tr>
              <a:tr h="457200">
                <a:tc>
                  <a:txBody>
                    <a:bodyPr/>
                    <a:lstStyle/>
                    <a:p>
                      <a:pPr marL="0" indent="0" algn="l">
                        <a:buNone/>
                      </a:pPr>
                      <a:r>
                        <a:rPr lang="vi-VN" sz="1200" b="1" i="0" dirty="0">
                          <a:solidFill>
                            <a:srgbClr val="222222"/>
                          </a:solidFill>
                          <a:latin typeface="Arial"/>
                          <a:ea typeface="Arial"/>
                          <a:cs typeface="Arial"/>
                        </a:rPr>
                        <a:t>Thu âm thanh trên máy</a:t>
                      </a:r>
                      <a:endParaRPr lang="vi-VN" sz="1200" b="0" i="0" dirty="0">
                        <a:solidFill>
                          <a:srgbClr val="222222"/>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Trong cuộc gọi Meet</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B8262B"/>
                          </a:solidFill>
                          <a:latin typeface="Arial"/>
                          <a:ea typeface="Arial"/>
                          <a:cs typeface="Arial"/>
                        </a:rPr>
                        <a:t>Không</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Micro, âm thanh hệ thống</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Mọi nguồn âm thanh của OBS</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1" i="0" dirty="0">
                          <a:solidFill>
                            <a:srgbClr val="FFFFFF"/>
                          </a:solidFill>
                          <a:latin typeface="Arial"/>
                          <a:ea typeface="Arial"/>
                          <a:cs typeface="Arial"/>
                        </a:rPr>
                        <a:t>Micro + hệ thống</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487BA2"/>
                    </a:solidFill>
                  </a:tcPr>
                </a:tc>
                <a:extLst>
                  <a:ext uri="{0D108BD9-81ED-4DB2-BD59-A6C34878D82A}">
                    <a16:rowId xmlns:a16="http://schemas.microsoft.com/office/drawing/2014/main" val="10005"/>
                  </a:ext>
                </a:extLst>
              </a:tr>
              <a:tr h="457200">
                <a:tc>
                  <a:txBody>
                    <a:bodyPr/>
                    <a:lstStyle/>
                    <a:p>
                      <a:pPr marL="0" indent="0" algn="l">
                        <a:buNone/>
                      </a:pPr>
                      <a:r>
                        <a:rPr lang="vi-VN" sz="1200" b="1" i="0" dirty="0">
                          <a:solidFill>
                            <a:srgbClr val="222222"/>
                          </a:solidFill>
                          <a:latin typeface="Arial"/>
                          <a:ea typeface="Arial"/>
                          <a:cs typeface="Arial"/>
                        </a:rPr>
                        <a:t>Dạng sản phẩm</a:t>
                      </a:r>
                      <a:endParaRPr lang="vi-VN" sz="1200" b="0" i="0" dirty="0">
                        <a:solidFill>
                          <a:srgbClr val="222222"/>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Tính năng của Meet</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Mô hình, dòng lệnh, demo</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App Electron + server Docker</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0" i="0" dirty="0">
                          <a:solidFill>
                            <a:srgbClr val="222222"/>
                          </a:solidFill>
                          <a:latin typeface="Arial"/>
                          <a:ea typeface="Arial"/>
                          <a:cs typeface="Arial"/>
                        </a:rPr>
                        <a:t>Plugin OBS</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200" b="1" i="0" dirty="0">
                          <a:solidFill>
                            <a:srgbClr val="FFFFFF"/>
                          </a:solidFill>
                          <a:latin typeface="Arial"/>
                          <a:ea typeface="Arial"/>
                          <a:cs typeface="Arial"/>
                        </a:rPr>
                        <a:t>App desktop</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487BA2"/>
                    </a:solidFill>
                  </a:tcPr>
                </a:tc>
                <a:extLst>
                  <a:ext uri="{0D108BD9-81ED-4DB2-BD59-A6C34878D82A}">
                    <a16:rowId xmlns:a16="http://schemas.microsoft.com/office/drawing/2014/main" val="10006"/>
                  </a:ext>
                </a:extLst>
              </a:tr>
            </a:tbl>
          </a:graphicData>
        </a:graphic>
      </p:graphicFrame>
      <p:sp>
        <p:nvSpPr>
          <p:cNvPr id="9" name="Text x544"/>
          <p:cNvSpPr txBox="1"/>
          <p:nvPr/>
        </p:nvSpPr>
        <p:spPr>
          <a:xfrm>
            <a:off x="685800" y="4681728"/>
            <a:ext cx="10241280" cy="411480"/>
          </a:xfrm>
          <a:prstGeom prst="rect">
            <a:avLst/>
          </a:prstGeom>
          <a:noFill/>
          <a:ln>
            <a:noFill/>
          </a:ln>
        </p:spPr>
        <p:txBody>
          <a:bodyPr wrap="square" lIns="0" tIns="0" rIns="0" bIns="0" rtlCol="0" anchor="t"/>
          <a:lstStyle/>
          <a:p>
            <a:pPr marL="0" indent="0" algn="l">
              <a:buNone/>
            </a:pPr>
            <a:r>
              <a:rPr lang="vi-VN" sz="1100" b="0" i="1" dirty="0">
                <a:solidFill>
                  <a:srgbClr val="5F6B76"/>
                </a:solidFill>
                <a:latin typeface="Arial"/>
                <a:ea typeface="Arial"/>
                <a:cs typeface="Arial"/>
              </a:rPr>
              <a:t>¹ Dịch qua đám mây (DeepL, OpenAI, …) là tùy chọn. SeamlessM4T chỉ có bản dựng sẵn cho Linux x86-64 và Mac Apple Silicon. Nguồn: trang trợ giúp Google Meet, README của từng dự án, tra ngày 08/10/2026.</a:t>
            </a:r>
            <a:endParaRPr lang="vi-VN" sz="1100" b="0" i="0" dirty="0">
              <a:solidFill>
                <a:srgbClr val="5F6B76"/>
              </a:solidFill>
              <a:latin typeface="Arial"/>
              <a:ea typeface="Arial"/>
              <a:cs typeface="Arial"/>
            </a:endParaRPr>
          </a:p>
        </p:txBody>
      </p:sp>
      <p:sp>
        <p:nvSpPr>
          <p:cNvPr id="10" name="Shape x545"/>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1"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2"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Chưa công cụ nào đủ cả sáu hàng: SeamlessM4T gần nhất về mô hình, LocalVocal về ứng dụng</a:t>
            </a:r>
            <a:endParaRPr lang="vi-VN" sz="1500" b="0" i="0" dirty="0">
              <a:solidFill>
                <a:srgbClr val="B8262B"/>
              </a:solidFill>
              <a:latin typeface="Arial"/>
              <a:ea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 Tổng quan đề tài</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2. Mục tiêu và phạm vi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100" dirty="0"/>
          </a:p>
        </p:txBody>
      </p:sp>
      <p:sp>
        <p:nvSpPr>
          <p:cNvPr id="8" name="Text 3"/>
          <p:cNvSpPr txBox="1"/>
          <p:nvPr/>
        </p:nvSpPr>
        <p:spPr>
          <a:xfrm>
            <a:off x="685800" y="1417320"/>
            <a:ext cx="6035040" cy="2834640"/>
          </a:xfrm>
          <a:prstGeom prst="rect">
            <a:avLst/>
          </a:prstGeom>
          <a:noFill/>
          <a:ln/>
        </p:spPr>
        <p:txBody>
          <a:bodyPr wrap="square" lIns="0" tIns="0" rIns="0" bIns="0" rtlCol="0" anchor="t"/>
          <a:lstStyle/>
          <a:p>
            <a:pPr marL="190500" indent="-190500">
              <a:spcAft>
                <a:spcPts val="900"/>
              </a:spcAft>
              <a:buSzPct val="100000"/>
              <a:buChar char="•"/>
            </a:pPr>
            <a:r>
              <a:rPr lang="en-US" sz="1600" b="1" dirty="0">
                <a:solidFill>
                  <a:srgbClr val="376BB4"/>
                </a:solidFill>
                <a:latin typeface="Arial" pitchFamily="34" charset="0"/>
                <a:ea typeface="Arial" pitchFamily="34" charset="-122"/>
                <a:cs typeface="Arial" pitchFamily="34" charset="-120"/>
              </a:rPr>
              <a:t>Input: </a:t>
            </a:r>
            <a:r>
              <a:rPr lang="en-US" sz="1600" b="0" dirty="0">
                <a:solidFill>
                  <a:srgbClr val="222222"/>
                </a:solidFill>
                <a:latin typeface="Arial" pitchFamily="34" charset="0"/>
                <a:ea typeface="Arial" pitchFamily="34" charset="-122"/>
                <a:cs typeface="Arial" pitchFamily="34" charset="-120"/>
              </a:rPr>
              <a:t>giọng người dùng qua microphone và âm thanh đang phát trên máy (phía bên kia cuộc gọi, video, bài giảng)</a:t>
            </a:r>
            <a:endParaRPr lang="en-US" sz="1600" dirty="0"/>
          </a:p>
          <a:p>
            <a:pPr marL="190500" indent="-190500">
              <a:spcAft>
                <a:spcPts val="900"/>
              </a:spcAft>
              <a:buSzPct val="100000"/>
              <a:buChar char="•"/>
            </a:pPr>
            <a:r>
              <a:rPr lang="en-US" sz="1600" b="1" dirty="0">
                <a:solidFill>
                  <a:srgbClr val="376BB4"/>
                </a:solidFill>
                <a:latin typeface="Arial" pitchFamily="34" charset="0"/>
                <a:ea typeface="Arial" pitchFamily="34" charset="-122"/>
                <a:cs typeface="Arial" pitchFamily="34" charset="-120"/>
              </a:rPr>
              <a:t>Output: </a:t>
            </a:r>
            <a:r>
              <a:rPr lang="en-US" sz="1600" b="0" dirty="0">
                <a:solidFill>
                  <a:srgbClr val="222222"/>
                </a:solidFill>
                <a:latin typeface="Arial" pitchFamily="34" charset="0"/>
                <a:ea typeface="Arial" pitchFamily="34" charset="-122"/>
                <a:cs typeface="Arial" pitchFamily="34" charset="-120"/>
              </a:rPr>
              <a:t>phụ đề song ngữ trên màn hình; giọng đọc bản dịch ra loa cho người đối diện</a:t>
            </a:r>
            <a:endParaRPr lang="en-US" sz="1600" dirty="0"/>
          </a:p>
          <a:p>
            <a:pPr marL="190500" indent="-190500">
              <a:spcAft>
                <a:spcPts val="900"/>
              </a:spcAft>
              <a:buSzPct val="100000"/>
              <a:buChar char="•"/>
            </a:pPr>
            <a:r>
              <a:rPr lang="en-US" sz="1600" b="1" dirty="0">
                <a:solidFill>
                  <a:srgbClr val="376BB4"/>
                </a:solidFill>
                <a:latin typeface="Arial" pitchFamily="34" charset="0"/>
                <a:ea typeface="Arial" pitchFamily="34" charset="-122"/>
                <a:cs typeface="Arial" pitchFamily="34" charset="-120"/>
              </a:rPr>
              <a:t>Ngôn ngữ: </a:t>
            </a:r>
            <a:r>
              <a:rPr lang="en-US" sz="1600" b="0" dirty="0">
                <a:solidFill>
                  <a:srgbClr val="222222"/>
                </a:solidFill>
                <a:latin typeface="Arial" pitchFamily="34" charset="0"/>
                <a:ea typeface="Arial" pitchFamily="34" charset="-122"/>
                <a:cs typeface="Arial" pitchFamily="34" charset="-120"/>
              </a:rPr>
              <a:t>6 chiều dịch Việt ↔ Anh / Nhật / Trung giản thể</a:t>
            </a:r>
            <a:endParaRPr lang="en-US" sz="1600" dirty="0"/>
          </a:p>
          <a:p>
            <a:pPr marL="190500" indent="-190500">
              <a:spcAft>
                <a:spcPts val="900"/>
              </a:spcAft>
              <a:buSzPct val="100000"/>
              <a:buChar char="•"/>
            </a:pPr>
            <a:r>
              <a:rPr lang="en-US" sz="1600" b="1" dirty="0">
                <a:solidFill>
                  <a:srgbClr val="376BB4"/>
                </a:solidFill>
                <a:latin typeface="Arial" pitchFamily="34" charset="0"/>
                <a:ea typeface="Arial" pitchFamily="34" charset="-122"/>
                <a:cs typeface="Arial" pitchFamily="34" charset="-120"/>
              </a:rPr>
              <a:t>Nền tảng: </a:t>
            </a:r>
            <a:r>
              <a:rPr lang="en-US" sz="1600" b="0" dirty="0">
                <a:solidFill>
                  <a:srgbClr val="222222"/>
                </a:solidFill>
                <a:latin typeface="Arial" pitchFamily="34" charset="0"/>
                <a:ea typeface="Arial" pitchFamily="34" charset="-122"/>
                <a:cs typeface="Arial" pitchFamily="34" charset="-120"/>
              </a:rPr>
              <a:t>Windows 11 x64 và macOS 13+ Apple Silicon, đóng gói thành bộ cài</a:t>
            </a:r>
            <a:endParaRPr lang="en-US" sz="1600" dirty="0"/>
          </a:p>
          <a:p>
            <a:pPr marL="190500" indent="-190500">
              <a:spcAft>
                <a:spcPts val="900"/>
              </a:spcAft>
              <a:buSzPct val="100000"/>
              <a:buChar char="•"/>
            </a:pPr>
            <a:r>
              <a:rPr lang="en-US" sz="1600" b="1" dirty="0">
                <a:solidFill>
                  <a:srgbClr val="376BB4"/>
                </a:solidFill>
                <a:latin typeface="Arial" pitchFamily="34" charset="0"/>
                <a:ea typeface="Arial" pitchFamily="34" charset="-122"/>
                <a:cs typeface="Arial" pitchFamily="34" charset="-120"/>
              </a:rPr>
              <a:t>Không dùng đám mây </a:t>
            </a:r>
            <a:r>
              <a:rPr lang="en-US" sz="1600" b="0" dirty="0">
                <a:solidFill>
                  <a:srgbClr val="222222"/>
                </a:solidFill>
                <a:latin typeface="Arial" pitchFamily="34" charset="0"/>
                <a:ea typeface="Arial" pitchFamily="34" charset="-122"/>
                <a:cs typeface="Arial" pitchFamily="34" charset="-120"/>
              </a:rPr>
              <a:t>khi dịch; mô hình chỉ tải về một lần</a:t>
            </a:r>
            <a:endParaRPr lang="en-US" sz="1600" dirty="0"/>
          </a:p>
        </p:txBody>
      </p:sp>
      <p:sp>
        <p:nvSpPr>
          <p:cNvPr id="9" name="Shape 4"/>
          <p:cNvSpPr/>
          <p:nvPr/>
        </p:nvSpPr>
        <p:spPr>
          <a:xfrm>
            <a:off x="685800" y="4343400"/>
            <a:ext cx="5623560" cy="1188720"/>
          </a:xfrm>
          <a:prstGeom prst="roundRect">
            <a:avLst>
              <a:gd name="adj" fmla="val 5000"/>
            </a:avLst>
          </a:prstGeom>
          <a:solidFill>
            <a:srgbClr val="FBEDED"/>
          </a:solidFill>
          <a:ln w="12700">
            <a:solidFill>
              <a:srgbClr val="FBEDED"/>
            </a:solidFill>
            <a:prstDash val="solid"/>
          </a:ln>
        </p:spPr>
        <p:txBody>
          <a:bodyPr/>
          <a:lstStyle/>
          <a:p>
            <a:endParaRPr lang="en-US"/>
          </a:p>
        </p:txBody>
      </p:sp>
      <p:sp>
        <p:nvSpPr>
          <p:cNvPr id="10" name="Text 5"/>
          <p:cNvSpPr txBox="1"/>
          <p:nvPr/>
        </p:nvSpPr>
        <p:spPr>
          <a:xfrm>
            <a:off x="868680" y="4389120"/>
            <a:ext cx="5303520" cy="1097280"/>
          </a:xfrm>
          <a:prstGeom prst="rect">
            <a:avLst/>
          </a:prstGeom>
          <a:noFill/>
          <a:ln/>
        </p:spPr>
        <p:txBody>
          <a:bodyPr wrap="square" lIns="0" tIns="0" rIns="0" bIns="0" rtlCol="0" anchor="ctr"/>
          <a:lstStyle/>
          <a:p>
            <a:pPr marL="0" indent="0">
              <a:buNone/>
            </a:pPr>
            <a:r>
              <a:rPr lang="en-US" sz="1400" b="1" dirty="0">
                <a:solidFill>
                  <a:srgbClr val="B8262B"/>
                </a:solidFill>
                <a:latin typeface="Arial" pitchFamily="34" charset="0"/>
                <a:ea typeface="Arial" pitchFamily="34" charset="-122"/>
                <a:cs typeface="Arial" pitchFamily="34" charset="-120"/>
              </a:rPr>
              <a:t>Ngoài phạm vi: </a:t>
            </a:r>
            <a:r>
              <a:rPr lang="en-US" sz="1400" dirty="0">
                <a:solidFill>
                  <a:srgbClr val="222222"/>
                </a:solidFill>
                <a:latin typeface="Arial" pitchFamily="34" charset="0"/>
                <a:ea typeface="Arial" pitchFamily="34" charset="-122"/>
                <a:cs typeface="Arial" pitchFamily="34" charset="-120"/>
              </a:rPr>
              <a:t>không đề xuất mô hình AI mới (đề tài là tích hợp hệ thống); không dịch đồng thời theo từng từ, đơn vị xử lý là một câu sau khi người nói ngắt; không nhân bản giọng; không đưa bản dịch ngược vào phần mềm họp.</a:t>
            </a:r>
            <a:endParaRPr lang="en-US" sz="1400" dirty="0"/>
          </a:p>
        </p:txBody>
      </p:sp>
      <p:sp>
        <p:nvSpPr>
          <p:cNvPr id="11" name="Shape 6"/>
          <p:cNvSpPr/>
          <p:nvPr/>
        </p:nvSpPr>
        <p:spPr>
          <a:xfrm>
            <a:off x="8823960" y="2423160"/>
            <a:ext cx="0" cy="502920"/>
          </a:xfrm>
          <a:prstGeom prst="line">
            <a:avLst/>
          </a:prstGeom>
          <a:noFill/>
          <a:ln w="31750">
            <a:solidFill>
              <a:srgbClr val="487BA2"/>
            </a:solidFill>
            <a:prstDash val="solid"/>
            <a:headEnd type="triangle"/>
            <a:tailEnd type="triangle"/>
          </a:ln>
        </p:spPr>
        <p:txBody>
          <a:bodyPr/>
          <a:lstStyle/>
          <a:p>
            <a:endParaRPr lang="en-US"/>
          </a:p>
        </p:txBody>
      </p:sp>
      <p:sp>
        <p:nvSpPr>
          <p:cNvPr id="12" name="Shape 7"/>
          <p:cNvSpPr/>
          <p:nvPr/>
        </p:nvSpPr>
        <p:spPr>
          <a:xfrm>
            <a:off x="9452728" y="4031462"/>
            <a:ext cx="512701" cy="304849"/>
          </a:xfrm>
          <a:prstGeom prst="line">
            <a:avLst/>
          </a:prstGeom>
          <a:noFill/>
          <a:ln w="31750">
            <a:solidFill>
              <a:srgbClr val="487BA2"/>
            </a:solidFill>
            <a:prstDash val="solid"/>
            <a:headEnd type="triangle"/>
            <a:tailEnd type="triangle"/>
          </a:ln>
        </p:spPr>
        <p:txBody>
          <a:bodyPr/>
          <a:lstStyle/>
          <a:p>
            <a:endParaRPr lang="en-US"/>
          </a:p>
        </p:txBody>
      </p:sp>
      <p:sp>
        <p:nvSpPr>
          <p:cNvPr id="13" name="Shape 8"/>
          <p:cNvSpPr/>
          <p:nvPr/>
        </p:nvSpPr>
        <p:spPr>
          <a:xfrm flipV="1">
            <a:off x="7682492" y="4031462"/>
            <a:ext cx="512701" cy="304849"/>
          </a:xfrm>
          <a:prstGeom prst="line">
            <a:avLst/>
          </a:prstGeom>
          <a:noFill/>
          <a:ln w="31750">
            <a:solidFill>
              <a:srgbClr val="487BA2"/>
            </a:solidFill>
            <a:prstDash val="solid"/>
            <a:headEnd type="triangle"/>
            <a:tailEnd type="triangle"/>
          </a:ln>
        </p:spPr>
        <p:txBody>
          <a:bodyPr/>
          <a:lstStyle/>
          <a:p>
            <a:endParaRPr lang="en-US"/>
          </a:p>
        </p:txBody>
      </p:sp>
      <p:sp>
        <p:nvSpPr>
          <p:cNvPr id="14" name="Shape 9"/>
          <p:cNvSpPr/>
          <p:nvPr/>
        </p:nvSpPr>
        <p:spPr>
          <a:xfrm>
            <a:off x="8161020" y="2994660"/>
            <a:ext cx="1325880" cy="1325880"/>
          </a:xfrm>
          <a:prstGeom prst="ellipse">
            <a:avLst/>
          </a:prstGeom>
          <a:solidFill>
            <a:srgbClr val="1B517B"/>
          </a:solidFill>
          <a:ln w="12700">
            <a:solidFill>
              <a:srgbClr val="1B517B"/>
            </a:solidFill>
            <a:prstDash val="solid"/>
          </a:ln>
        </p:spPr>
        <p:txBody>
          <a:bodyPr/>
          <a:lstStyle/>
          <a:p>
            <a:endParaRPr lang="en-US"/>
          </a:p>
        </p:txBody>
      </p:sp>
      <p:sp>
        <p:nvSpPr>
          <p:cNvPr id="15" name="Text 10"/>
          <p:cNvSpPr txBox="1"/>
          <p:nvPr/>
        </p:nvSpPr>
        <p:spPr>
          <a:xfrm>
            <a:off x="8161020" y="2994660"/>
            <a:ext cx="1325880" cy="13258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VI</a:t>
            </a:r>
            <a:endParaRPr lang="en-US" sz="2200" dirty="0"/>
          </a:p>
          <a:p>
            <a:pPr marL="0" indent="0" algn="ctr">
              <a:buNone/>
            </a:pPr>
            <a:r>
              <a:rPr lang="en-US" sz="1100" dirty="0">
                <a:solidFill>
                  <a:srgbClr val="FFFFFF"/>
                </a:solidFill>
                <a:latin typeface="Arial" pitchFamily="34" charset="0"/>
                <a:ea typeface="Arial" pitchFamily="34" charset="-122"/>
                <a:cs typeface="Arial" pitchFamily="34" charset="-120"/>
              </a:rPr>
              <a:t>Tiếng Việt</a:t>
            </a:r>
            <a:endParaRPr lang="en-US" sz="2200" dirty="0"/>
          </a:p>
        </p:txBody>
      </p:sp>
      <p:sp>
        <p:nvSpPr>
          <p:cNvPr id="16" name="Shape 11"/>
          <p:cNvSpPr/>
          <p:nvPr/>
        </p:nvSpPr>
        <p:spPr>
          <a:xfrm>
            <a:off x="8252460" y="1211580"/>
            <a:ext cx="1143000" cy="1143000"/>
          </a:xfrm>
          <a:prstGeom prst="ellipse">
            <a:avLst/>
          </a:prstGeom>
          <a:solidFill>
            <a:srgbClr val="487BA2"/>
          </a:solidFill>
          <a:ln w="12700">
            <a:solidFill>
              <a:srgbClr val="487BA2"/>
            </a:solidFill>
            <a:prstDash val="solid"/>
          </a:ln>
        </p:spPr>
        <p:txBody>
          <a:bodyPr/>
          <a:lstStyle/>
          <a:p>
            <a:endParaRPr lang="en-US"/>
          </a:p>
        </p:txBody>
      </p:sp>
      <p:sp>
        <p:nvSpPr>
          <p:cNvPr id="17" name="Text 12"/>
          <p:cNvSpPr txBox="1"/>
          <p:nvPr/>
        </p:nvSpPr>
        <p:spPr>
          <a:xfrm>
            <a:off x="8252460" y="1211580"/>
            <a:ext cx="1143000" cy="11430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EN</a:t>
            </a:r>
            <a:endParaRPr lang="en-US" sz="2200" dirty="0"/>
          </a:p>
          <a:p>
            <a:pPr marL="0" indent="0" algn="ctr">
              <a:buNone/>
            </a:pPr>
            <a:r>
              <a:rPr lang="en-US" sz="1100" dirty="0">
                <a:solidFill>
                  <a:srgbClr val="FFFFFF"/>
                </a:solidFill>
                <a:latin typeface="Arial" pitchFamily="34" charset="0"/>
                <a:ea typeface="Arial" pitchFamily="34" charset="-122"/>
                <a:cs typeface="Arial" pitchFamily="34" charset="-120"/>
              </a:rPr>
              <a:t>Tiếng Anh</a:t>
            </a:r>
            <a:endParaRPr lang="en-US" sz="2200" dirty="0"/>
          </a:p>
        </p:txBody>
      </p:sp>
      <p:sp>
        <p:nvSpPr>
          <p:cNvPr id="18" name="Shape 13"/>
          <p:cNvSpPr/>
          <p:nvPr/>
        </p:nvSpPr>
        <p:spPr>
          <a:xfrm>
            <a:off x="9944100" y="4091940"/>
            <a:ext cx="1143000" cy="1143000"/>
          </a:xfrm>
          <a:prstGeom prst="ellipse">
            <a:avLst/>
          </a:prstGeom>
          <a:solidFill>
            <a:srgbClr val="487BA2"/>
          </a:solidFill>
          <a:ln w="12700">
            <a:solidFill>
              <a:srgbClr val="487BA2"/>
            </a:solidFill>
            <a:prstDash val="solid"/>
          </a:ln>
        </p:spPr>
        <p:txBody>
          <a:bodyPr/>
          <a:lstStyle/>
          <a:p>
            <a:endParaRPr lang="en-US"/>
          </a:p>
        </p:txBody>
      </p:sp>
      <p:sp>
        <p:nvSpPr>
          <p:cNvPr id="19" name="Text 14"/>
          <p:cNvSpPr txBox="1"/>
          <p:nvPr/>
        </p:nvSpPr>
        <p:spPr>
          <a:xfrm>
            <a:off x="9944100" y="4091940"/>
            <a:ext cx="1143000" cy="11430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JA</a:t>
            </a:r>
            <a:endParaRPr lang="en-US" sz="2200" dirty="0"/>
          </a:p>
          <a:p>
            <a:pPr marL="0" indent="0" algn="ctr">
              <a:buNone/>
            </a:pPr>
            <a:r>
              <a:rPr lang="en-US" sz="1100" dirty="0">
                <a:solidFill>
                  <a:srgbClr val="FFFFFF"/>
                </a:solidFill>
                <a:latin typeface="Arial" pitchFamily="34" charset="0"/>
                <a:ea typeface="Arial" pitchFamily="34" charset="-122"/>
                <a:cs typeface="Arial" pitchFamily="34" charset="-120"/>
              </a:rPr>
              <a:t>Tiếng Nhật</a:t>
            </a:r>
            <a:endParaRPr lang="en-US" sz="2200" dirty="0"/>
          </a:p>
        </p:txBody>
      </p:sp>
      <p:sp>
        <p:nvSpPr>
          <p:cNvPr id="20" name="Shape 15"/>
          <p:cNvSpPr/>
          <p:nvPr/>
        </p:nvSpPr>
        <p:spPr>
          <a:xfrm>
            <a:off x="6560820" y="4091940"/>
            <a:ext cx="1143000" cy="1143000"/>
          </a:xfrm>
          <a:prstGeom prst="ellipse">
            <a:avLst/>
          </a:prstGeom>
          <a:solidFill>
            <a:srgbClr val="487BA2"/>
          </a:solidFill>
          <a:ln w="12700">
            <a:solidFill>
              <a:srgbClr val="487BA2"/>
            </a:solidFill>
            <a:prstDash val="solid"/>
          </a:ln>
        </p:spPr>
        <p:txBody>
          <a:bodyPr/>
          <a:lstStyle/>
          <a:p>
            <a:endParaRPr lang="en-US"/>
          </a:p>
        </p:txBody>
      </p:sp>
      <p:sp>
        <p:nvSpPr>
          <p:cNvPr id="21" name="Text 16"/>
          <p:cNvSpPr txBox="1"/>
          <p:nvPr/>
        </p:nvSpPr>
        <p:spPr>
          <a:xfrm>
            <a:off x="6560820" y="4091940"/>
            <a:ext cx="1143000" cy="11430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ZH</a:t>
            </a:r>
            <a:endParaRPr lang="en-US" sz="2200" dirty="0"/>
          </a:p>
          <a:p>
            <a:pPr marL="0" indent="0" algn="ctr">
              <a:buNone/>
            </a:pPr>
            <a:r>
              <a:rPr lang="en-US" sz="1100" dirty="0">
                <a:solidFill>
                  <a:srgbClr val="FFFFFF"/>
                </a:solidFill>
                <a:latin typeface="Arial" pitchFamily="34" charset="0"/>
                <a:ea typeface="Arial" pitchFamily="34" charset="-122"/>
                <a:cs typeface="Arial" pitchFamily="34" charset="-120"/>
              </a:rPr>
              <a:t>Tiếng Trung</a:t>
            </a:r>
            <a:endParaRPr lang="en-US" sz="2200" dirty="0"/>
          </a:p>
        </p:txBody>
      </p:sp>
      <p:sp>
        <p:nvSpPr>
          <p:cNvPr id="22" name="Text 17"/>
          <p:cNvSpPr txBox="1"/>
          <p:nvPr/>
        </p:nvSpPr>
        <p:spPr>
          <a:xfrm>
            <a:off x="7223760" y="5303520"/>
            <a:ext cx="3200400" cy="320040"/>
          </a:xfrm>
          <a:prstGeom prst="rect">
            <a:avLst/>
          </a:prstGeom>
          <a:noFill/>
          <a:ln/>
        </p:spPr>
        <p:txBody>
          <a:bodyPr wrap="square" lIns="0" tIns="0" rIns="0" bIns="0" rtlCol="0" anchor="t"/>
          <a:lstStyle/>
          <a:p>
            <a:pPr marL="0" indent="0" algn="ctr">
              <a:buNone/>
            </a:pPr>
            <a:r>
              <a:rPr lang="en-US" sz="1200" i="1" dirty="0">
                <a:solidFill>
                  <a:srgbClr val="5F6B76"/>
                </a:solidFill>
                <a:latin typeface="Arial" pitchFamily="34" charset="0"/>
                <a:ea typeface="Arial" pitchFamily="34" charset="-122"/>
                <a:cs typeface="Arial" pitchFamily="34" charset="-120"/>
              </a:rPr>
              <a:t>6 chiều dịch, tiếng Việt là trục</a:t>
            </a:r>
            <a:endParaRPr lang="en-US" sz="1200" dirty="0"/>
          </a:p>
        </p:txBody>
      </p:sp>
      <p:sp>
        <p:nvSpPr>
          <p:cNvPr id="23" name="Shape x504"/>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24"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5"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600" b="1" i="0" dirty="0">
                <a:solidFill>
                  <a:srgbClr val="B8262B"/>
                </a:solidFill>
                <a:latin typeface="Arial"/>
                <a:ea typeface="Arial"/>
                <a:cs typeface="Arial"/>
              </a:rPr>
              <a:t>Mục tiêu: dịch 6 chiều ngay trên laptop, từng câu một, âm thanh không rời khỏi máy</a:t>
            </a:r>
            <a:endParaRPr lang="vi-VN" sz="1600" b="0" i="0" dirty="0">
              <a:solidFill>
                <a:srgbClr val="B8262B"/>
              </a:solidFill>
              <a:latin typeface="Arial"/>
              <a:ea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lef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100" dirty="0"/>
          </a:p>
        </p:txBody>
      </p:sp>
      <p:sp>
        <p:nvSpPr>
          <p:cNvPr id="7" name="Shape 2"/>
          <p:cNvSpPr/>
          <p:nvPr/>
        </p:nvSpPr>
        <p:spPr>
          <a:xfrm>
            <a:off x="5669280" y="2011680"/>
            <a:ext cx="0" cy="3566160"/>
          </a:xfrm>
          <a:prstGeom prst="line">
            <a:avLst/>
          </a:prstGeom>
          <a:noFill/>
          <a:ln w="25400">
            <a:solidFill>
              <a:srgbClr val="1F1F1F"/>
            </a:solidFill>
            <a:prstDash val="solid"/>
          </a:ln>
        </p:spPr>
        <p:txBody>
          <a:bodyPr/>
          <a:lstStyle/>
          <a:p>
            <a:endParaRPr lang="en-US"/>
          </a:p>
        </p:txBody>
      </p:sp>
      <p:sp>
        <p:nvSpPr>
          <p:cNvPr id="8" name="Shape 3"/>
          <p:cNvSpPr/>
          <p:nvPr/>
        </p:nvSpPr>
        <p:spPr>
          <a:xfrm>
            <a:off x="5669280" y="2011680"/>
            <a:ext cx="502920" cy="0"/>
          </a:xfrm>
          <a:prstGeom prst="line">
            <a:avLst/>
          </a:prstGeom>
          <a:noFill/>
          <a:ln w="25400">
            <a:solidFill>
              <a:srgbClr val="1F1F1F"/>
            </a:solidFill>
            <a:prstDash val="solid"/>
          </a:ln>
        </p:spPr>
        <p:txBody>
          <a:bodyPr/>
          <a:lstStyle/>
          <a:p>
            <a:endParaRPr lang="en-US"/>
          </a:p>
        </p:txBody>
      </p:sp>
      <p:sp>
        <p:nvSpPr>
          <p:cNvPr id="9" name="Shape 4"/>
          <p:cNvSpPr/>
          <p:nvPr/>
        </p:nvSpPr>
        <p:spPr>
          <a:xfrm>
            <a:off x="6172200" y="1655064"/>
            <a:ext cx="3840480" cy="713232"/>
          </a:xfrm>
          <a:prstGeom prst="rect">
            <a:avLst/>
          </a:prstGeom>
          <a:solidFill>
            <a:srgbClr val="D5D8F2"/>
          </a:solidFill>
          <a:ln w="12700">
            <a:solidFill>
              <a:srgbClr val="D5D8F2"/>
            </a:solidFill>
            <a:prstDash val="solid"/>
          </a:ln>
          <a:effectLst>
            <a:outerShdw blurRad="50800" dist="25400" dir="5400000" algn="bl" rotWithShape="0">
              <a:srgbClr val="000000">
                <a:alpha val="18000"/>
              </a:srgbClr>
            </a:outerShdw>
          </a:effectLst>
        </p:spPr>
        <p:txBody>
          <a:bodyPr/>
          <a:lstStyle/>
          <a:p>
            <a:endParaRPr lang="en-US"/>
          </a:p>
        </p:txBody>
      </p:sp>
      <p:sp>
        <p:nvSpPr>
          <p:cNvPr id="10" name="Text 5"/>
          <p:cNvSpPr txBox="1"/>
          <p:nvPr/>
        </p:nvSpPr>
        <p:spPr>
          <a:xfrm>
            <a:off x="6172200" y="1655064"/>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1. Chuỗi xử lý và lựa chọn mô hình</a:t>
            </a:r>
            <a:endParaRPr lang="en-US" sz="1600" dirty="0"/>
          </a:p>
        </p:txBody>
      </p:sp>
      <p:sp>
        <p:nvSpPr>
          <p:cNvPr id="11" name="Shape 6"/>
          <p:cNvSpPr/>
          <p:nvPr/>
        </p:nvSpPr>
        <p:spPr>
          <a:xfrm>
            <a:off x="5166360" y="3200400"/>
            <a:ext cx="502920" cy="0"/>
          </a:xfrm>
          <a:prstGeom prst="line">
            <a:avLst/>
          </a:prstGeom>
          <a:noFill/>
          <a:ln w="25400">
            <a:solidFill>
              <a:srgbClr val="1F1F1F"/>
            </a:solidFill>
            <a:prstDash val="solid"/>
          </a:ln>
        </p:spPr>
        <p:txBody>
          <a:bodyPr/>
          <a:lstStyle/>
          <a:p>
            <a:endParaRPr lang="en-US"/>
          </a:p>
        </p:txBody>
      </p:sp>
      <p:sp>
        <p:nvSpPr>
          <p:cNvPr id="12" name="Shape 7"/>
          <p:cNvSpPr/>
          <p:nvPr/>
        </p:nvSpPr>
        <p:spPr>
          <a:xfrm>
            <a:off x="1325880" y="2843784"/>
            <a:ext cx="3840480" cy="713232"/>
          </a:xfrm>
          <a:prstGeom prst="rect">
            <a:avLst/>
          </a:prstGeom>
          <a:solidFill>
            <a:srgbClr val="FCE9A0"/>
          </a:solidFill>
          <a:ln w="12700">
            <a:solidFill>
              <a:srgbClr val="FCE9A0"/>
            </a:solidFill>
            <a:prstDash val="solid"/>
          </a:ln>
          <a:effectLst>
            <a:outerShdw blurRad="50800" dist="25400" dir="5400000" algn="bl" rotWithShape="0">
              <a:srgbClr val="000000">
                <a:alpha val="18000"/>
              </a:srgbClr>
            </a:outerShdw>
          </a:effectLst>
        </p:spPr>
        <p:txBody>
          <a:bodyPr/>
          <a:lstStyle/>
          <a:p>
            <a:endParaRPr lang="en-US"/>
          </a:p>
        </p:txBody>
      </p:sp>
      <p:sp>
        <p:nvSpPr>
          <p:cNvPr id="13" name="Text 8"/>
          <p:cNvSpPr txBox="1"/>
          <p:nvPr/>
        </p:nvSpPr>
        <p:spPr>
          <a:xfrm>
            <a:off x="1325880" y="2843784"/>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2. Kiến trúc hệ thống</a:t>
            </a:r>
            <a:endParaRPr lang="en-US" sz="1600" dirty="0"/>
          </a:p>
        </p:txBody>
      </p:sp>
      <p:sp>
        <p:nvSpPr>
          <p:cNvPr id="14" name="Shape 9"/>
          <p:cNvSpPr/>
          <p:nvPr/>
        </p:nvSpPr>
        <p:spPr>
          <a:xfrm>
            <a:off x="5669280" y="4389120"/>
            <a:ext cx="502920" cy="0"/>
          </a:xfrm>
          <a:prstGeom prst="line">
            <a:avLst/>
          </a:prstGeom>
          <a:noFill/>
          <a:ln w="25400">
            <a:solidFill>
              <a:srgbClr val="1F1F1F"/>
            </a:solidFill>
            <a:prstDash val="solid"/>
          </a:ln>
        </p:spPr>
        <p:txBody>
          <a:bodyPr/>
          <a:lstStyle/>
          <a:p>
            <a:endParaRPr lang="en-US"/>
          </a:p>
        </p:txBody>
      </p:sp>
      <p:sp>
        <p:nvSpPr>
          <p:cNvPr id="15" name="Shape 10"/>
          <p:cNvSpPr/>
          <p:nvPr/>
        </p:nvSpPr>
        <p:spPr>
          <a:xfrm>
            <a:off x="6172200" y="4032504"/>
            <a:ext cx="3840480" cy="713232"/>
          </a:xfrm>
          <a:prstGeom prst="rect">
            <a:avLst/>
          </a:prstGeom>
          <a:solidFill>
            <a:srgbClr val="FCE9A0"/>
          </a:solidFill>
          <a:ln w="12700">
            <a:solidFill>
              <a:srgbClr val="FCE9A0"/>
            </a:solidFill>
            <a:prstDash val="solid"/>
          </a:ln>
          <a:effectLst>
            <a:outerShdw blurRad="50800" dist="25400" dir="5400000" algn="bl" rotWithShape="0">
              <a:srgbClr val="000000">
                <a:alpha val="18000"/>
              </a:srgbClr>
            </a:outerShdw>
          </a:effectLst>
        </p:spPr>
        <p:txBody>
          <a:bodyPr/>
          <a:lstStyle/>
          <a:p>
            <a:endParaRPr lang="en-US"/>
          </a:p>
        </p:txBody>
      </p:sp>
      <p:sp>
        <p:nvSpPr>
          <p:cNvPr id="16" name="Text 11"/>
          <p:cNvSpPr txBox="1"/>
          <p:nvPr/>
        </p:nvSpPr>
        <p:spPr>
          <a:xfrm>
            <a:off x="6172200" y="4032504"/>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3. Các kỹ thuật xử lý chính</a:t>
            </a:r>
            <a:endParaRPr lang="en-US" sz="1600" dirty="0"/>
          </a:p>
        </p:txBody>
      </p:sp>
      <p:sp>
        <p:nvSpPr>
          <p:cNvPr id="17" name="Shape 12"/>
          <p:cNvSpPr/>
          <p:nvPr/>
        </p:nvSpPr>
        <p:spPr>
          <a:xfrm>
            <a:off x="5166360" y="5577840"/>
            <a:ext cx="502920" cy="0"/>
          </a:xfrm>
          <a:prstGeom prst="line">
            <a:avLst/>
          </a:prstGeom>
          <a:noFill/>
          <a:ln w="25400">
            <a:solidFill>
              <a:srgbClr val="1F1F1F"/>
            </a:solidFill>
            <a:prstDash val="solid"/>
          </a:ln>
        </p:spPr>
        <p:txBody>
          <a:bodyPr/>
          <a:lstStyle/>
          <a:p>
            <a:endParaRPr lang="en-US"/>
          </a:p>
        </p:txBody>
      </p:sp>
      <p:sp>
        <p:nvSpPr>
          <p:cNvPr id="18" name="Shape 13"/>
          <p:cNvSpPr/>
          <p:nvPr/>
        </p:nvSpPr>
        <p:spPr>
          <a:xfrm>
            <a:off x="1325880" y="5221224"/>
            <a:ext cx="3840480" cy="713232"/>
          </a:xfrm>
          <a:prstGeom prst="rect">
            <a:avLst/>
          </a:prstGeom>
          <a:solidFill>
            <a:srgbClr val="D5D8F2"/>
          </a:solidFill>
          <a:ln w="12700">
            <a:solidFill>
              <a:srgbClr val="D5D8F2"/>
            </a:solidFill>
            <a:prstDash val="solid"/>
          </a:ln>
          <a:effectLst>
            <a:outerShdw blurRad="50800" dist="25400" dir="5400000" algn="bl" rotWithShape="0">
              <a:srgbClr val="000000">
                <a:alpha val="18000"/>
              </a:srgbClr>
            </a:outerShdw>
          </a:effectLst>
        </p:spPr>
        <p:txBody>
          <a:bodyPr/>
          <a:lstStyle/>
          <a:p>
            <a:endParaRPr lang="en-US"/>
          </a:p>
        </p:txBody>
      </p:sp>
      <p:sp>
        <p:nvSpPr>
          <p:cNvPr id="19" name="Text 14"/>
          <p:cNvSpPr txBox="1"/>
          <p:nvPr/>
        </p:nvSpPr>
        <p:spPr>
          <a:xfrm>
            <a:off x="1325880" y="5221224"/>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4. Ứng dụng, đóng gói và kiểm thử</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1. Chuỗi xử lý dịch giọng nói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100" dirty="0"/>
          </a:p>
        </p:txBody>
      </p:sp>
      <p:sp>
        <p:nvSpPr>
          <p:cNvPr id="8" name="Shape 3"/>
          <p:cNvSpPr/>
          <p:nvPr/>
        </p:nvSpPr>
        <p:spPr>
          <a:xfrm>
            <a:off x="685800" y="1481328"/>
            <a:ext cx="1828800" cy="713232"/>
          </a:xfrm>
          <a:prstGeom prst="roundRect">
            <a:avLst>
              <a:gd name="adj" fmla="val 10256"/>
            </a:avLst>
          </a:prstGeom>
          <a:solidFill>
            <a:srgbClr val="DCE8F2"/>
          </a:solidFill>
          <a:ln w="12700">
            <a:solidFill>
              <a:srgbClr val="DCE8F2"/>
            </a:solidFill>
            <a:prstDash val="solid"/>
          </a:ln>
        </p:spPr>
        <p:txBody>
          <a:bodyPr/>
          <a:lstStyle/>
          <a:p>
            <a:endParaRPr lang="en-US"/>
          </a:p>
        </p:txBody>
      </p:sp>
      <p:sp>
        <p:nvSpPr>
          <p:cNvPr id="9" name="Shape 4"/>
          <p:cNvSpPr/>
          <p:nvPr/>
        </p:nvSpPr>
        <p:spPr>
          <a:xfrm>
            <a:off x="787132" y="1655064"/>
            <a:ext cx="365760" cy="365760"/>
          </a:xfrm>
          <a:prstGeom prst="ellipse">
            <a:avLst/>
          </a:prstGeom>
          <a:solidFill>
            <a:srgbClr val="1B517B"/>
          </a:solidFill>
          <a:ln w="12700">
            <a:solidFill>
              <a:srgbClr val="1B517B"/>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860284" y="1728216"/>
            <a:ext cx="219456" cy="219456"/>
          </a:xfrm>
          <a:prstGeom prst="rect">
            <a:avLst/>
          </a:prstGeom>
        </p:spPr>
      </p:pic>
      <p:sp>
        <p:nvSpPr>
          <p:cNvPr id="11" name="Text 5"/>
          <p:cNvSpPr txBox="1"/>
          <p:nvPr/>
        </p:nvSpPr>
        <p:spPr>
          <a:xfrm>
            <a:off x="1252728" y="1481328"/>
            <a:ext cx="1243584" cy="713232"/>
          </a:xfrm>
          <a:prstGeom prst="rect">
            <a:avLst/>
          </a:prstGeom>
          <a:noFill/>
          <a:ln/>
        </p:spPr>
        <p:txBody>
          <a:bodyPr wrap="square" lIns="0" tIns="0" rIns="0" bIns="0" rtlCol="0" anchor="ctr"/>
          <a:lstStyle/>
          <a:p>
            <a:pPr marL="0" indent="0">
              <a:buNone/>
            </a:pPr>
            <a:r>
              <a:rPr lang="en-US" sz="1200" b="1" dirty="0">
                <a:solidFill>
                  <a:srgbClr val="1B517B"/>
                </a:solidFill>
                <a:latin typeface="Arial" pitchFamily="34" charset="0"/>
                <a:ea typeface="Arial" pitchFamily="34" charset="-122"/>
                <a:cs typeface="Arial" pitchFamily="34" charset="-120"/>
              </a:rPr>
              <a:t>Microphone</a:t>
            </a:r>
            <a:endParaRPr lang="en-US" sz="1200" dirty="0"/>
          </a:p>
        </p:txBody>
      </p:sp>
      <p:sp>
        <p:nvSpPr>
          <p:cNvPr id="12" name="Shape 6"/>
          <p:cNvSpPr/>
          <p:nvPr/>
        </p:nvSpPr>
        <p:spPr>
          <a:xfrm>
            <a:off x="685800" y="2487168"/>
            <a:ext cx="1828800" cy="713232"/>
          </a:xfrm>
          <a:prstGeom prst="roundRect">
            <a:avLst>
              <a:gd name="adj" fmla="val 10256"/>
            </a:avLst>
          </a:prstGeom>
          <a:solidFill>
            <a:srgbClr val="DCE8F2"/>
          </a:solidFill>
          <a:ln w="12700">
            <a:solidFill>
              <a:srgbClr val="DCE8F2"/>
            </a:solidFill>
            <a:prstDash val="solid"/>
          </a:ln>
        </p:spPr>
        <p:txBody>
          <a:bodyPr/>
          <a:lstStyle/>
          <a:p>
            <a:endParaRPr lang="en-US"/>
          </a:p>
        </p:txBody>
      </p:sp>
      <p:sp>
        <p:nvSpPr>
          <p:cNvPr id="13" name="Shape 7"/>
          <p:cNvSpPr/>
          <p:nvPr/>
        </p:nvSpPr>
        <p:spPr>
          <a:xfrm>
            <a:off x="787132" y="2660904"/>
            <a:ext cx="365760" cy="365760"/>
          </a:xfrm>
          <a:prstGeom prst="ellipse">
            <a:avLst/>
          </a:prstGeom>
          <a:solidFill>
            <a:srgbClr val="1B517B"/>
          </a:solidFill>
          <a:ln w="12700">
            <a:solidFill>
              <a:srgbClr val="1B517B"/>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860284" y="2734056"/>
            <a:ext cx="219456" cy="219456"/>
          </a:xfrm>
          <a:prstGeom prst="rect">
            <a:avLst/>
          </a:prstGeom>
        </p:spPr>
      </p:pic>
      <p:sp>
        <p:nvSpPr>
          <p:cNvPr id="15" name="Text 8"/>
          <p:cNvSpPr txBox="1"/>
          <p:nvPr/>
        </p:nvSpPr>
        <p:spPr>
          <a:xfrm>
            <a:off x="1252728" y="2487168"/>
            <a:ext cx="1243584" cy="713232"/>
          </a:xfrm>
          <a:prstGeom prst="rect">
            <a:avLst/>
          </a:prstGeom>
          <a:noFill/>
          <a:ln/>
        </p:spPr>
        <p:txBody>
          <a:bodyPr wrap="square" lIns="0" tIns="0" rIns="0" bIns="0" rtlCol="0" anchor="ctr"/>
          <a:lstStyle/>
          <a:p>
            <a:pPr marL="0" indent="0">
              <a:buNone/>
            </a:pPr>
            <a:r>
              <a:rPr lang="en-US" sz="1200" b="1" dirty="0">
                <a:solidFill>
                  <a:srgbClr val="1B517B"/>
                </a:solidFill>
                <a:latin typeface="Arial" pitchFamily="34" charset="0"/>
                <a:ea typeface="Arial" pitchFamily="34" charset="-122"/>
                <a:cs typeface="Arial" pitchFamily="34" charset="-120"/>
              </a:rPr>
              <a:t>Âm thanh hệ thống</a:t>
            </a:r>
            <a:endParaRPr lang="en-US" sz="1200" dirty="0"/>
          </a:p>
        </p:txBody>
      </p:sp>
      <p:sp>
        <p:nvSpPr>
          <p:cNvPr id="16" name="Shape 9"/>
          <p:cNvSpPr/>
          <p:nvPr/>
        </p:nvSpPr>
        <p:spPr>
          <a:xfrm>
            <a:off x="2514600" y="1837944"/>
            <a:ext cx="411480" cy="493776"/>
          </a:xfrm>
          <a:prstGeom prst="line">
            <a:avLst/>
          </a:prstGeom>
          <a:noFill/>
          <a:ln w="22225">
            <a:solidFill>
              <a:srgbClr val="1B517B"/>
            </a:solidFill>
            <a:prstDash val="solid"/>
            <a:tailEnd type="triangle"/>
          </a:ln>
        </p:spPr>
        <p:txBody>
          <a:bodyPr/>
          <a:lstStyle/>
          <a:p>
            <a:endParaRPr lang="en-US"/>
          </a:p>
        </p:txBody>
      </p:sp>
      <p:sp>
        <p:nvSpPr>
          <p:cNvPr id="17" name="Shape 10"/>
          <p:cNvSpPr/>
          <p:nvPr/>
        </p:nvSpPr>
        <p:spPr>
          <a:xfrm flipV="1">
            <a:off x="2514600" y="2331720"/>
            <a:ext cx="411480" cy="512064"/>
          </a:xfrm>
          <a:prstGeom prst="line">
            <a:avLst/>
          </a:prstGeom>
          <a:noFill/>
          <a:ln w="22225">
            <a:solidFill>
              <a:srgbClr val="1B517B"/>
            </a:solidFill>
            <a:prstDash val="solid"/>
            <a:tailEnd type="triangle"/>
          </a:ln>
        </p:spPr>
        <p:txBody>
          <a:bodyPr/>
          <a:lstStyle/>
          <a:p>
            <a:endParaRPr lang="en-US"/>
          </a:p>
        </p:txBody>
      </p:sp>
      <p:sp>
        <p:nvSpPr>
          <p:cNvPr id="18" name="Shape 11"/>
          <p:cNvSpPr/>
          <p:nvPr/>
        </p:nvSpPr>
        <p:spPr>
          <a:xfrm>
            <a:off x="2971800" y="1874520"/>
            <a:ext cx="1691640" cy="914400"/>
          </a:xfrm>
          <a:prstGeom prst="roundRect">
            <a:avLst>
              <a:gd name="adj" fmla="val 8000"/>
            </a:avLst>
          </a:prstGeom>
          <a:solidFill>
            <a:srgbClr val="1B517B"/>
          </a:solidFill>
          <a:ln w="12700">
            <a:solidFill>
              <a:srgbClr val="1B517B"/>
            </a:solidFill>
            <a:prstDash val="solid"/>
          </a:ln>
        </p:spPr>
        <p:txBody>
          <a:bodyPr/>
          <a:lstStyle/>
          <a:p>
            <a:endParaRPr lang="en-US"/>
          </a:p>
        </p:txBody>
      </p:sp>
      <p:sp>
        <p:nvSpPr>
          <p:cNvPr id="19" name="Text 12"/>
          <p:cNvSpPr txBox="1"/>
          <p:nvPr/>
        </p:nvSpPr>
        <p:spPr>
          <a:xfrm>
            <a:off x="2971800" y="1874520"/>
            <a:ext cx="1691640" cy="9144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VAD</a:t>
            </a:r>
            <a:endParaRPr lang="en-US" sz="2000" dirty="0"/>
          </a:p>
          <a:p>
            <a:pPr marL="0" indent="0" algn="ctr">
              <a:buNone/>
            </a:pPr>
            <a:r>
              <a:rPr lang="en-US" sz="1200" dirty="0">
                <a:solidFill>
                  <a:srgbClr val="FFFFFF"/>
                </a:solidFill>
                <a:latin typeface="Arial" pitchFamily="34" charset="0"/>
                <a:ea typeface="Arial" pitchFamily="34" charset="-122"/>
                <a:cs typeface="Arial" pitchFamily="34" charset="-120"/>
              </a:rPr>
              <a:t>Silero</a:t>
            </a:r>
            <a:endParaRPr lang="en-US" sz="2000" dirty="0"/>
          </a:p>
          <a:p>
            <a:pPr marL="0" indent="0" algn="ctr">
              <a:buNone/>
            </a:pPr>
            <a:r>
              <a:rPr lang="en-US" sz="1100" i="1" dirty="0">
                <a:solidFill>
                  <a:srgbClr val="FFFFFF"/>
                </a:solidFill>
                <a:latin typeface="Arial" pitchFamily="34" charset="0"/>
                <a:ea typeface="Arial" pitchFamily="34" charset="-122"/>
                <a:cs typeface="Arial" pitchFamily="34" charset="-120"/>
              </a:rPr>
              <a:t>tách câu</a:t>
            </a:r>
            <a:endParaRPr lang="en-US" sz="2000" dirty="0"/>
          </a:p>
        </p:txBody>
      </p:sp>
      <p:sp>
        <p:nvSpPr>
          <p:cNvPr id="20" name="Shape 13"/>
          <p:cNvSpPr/>
          <p:nvPr/>
        </p:nvSpPr>
        <p:spPr>
          <a:xfrm>
            <a:off x="4663440" y="2331720"/>
            <a:ext cx="384048" cy="0"/>
          </a:xfrm>
          <a:prstGeom prst="line">
            <a:avLst/>
          </a:prstGeom>
          <a:noFill/>
          <a:ln w="22225">
            <a:solidFill>
              <a:srgbClr val="1B517B"/>
            </a:solidFill>
            <a:prstDash val="solid"/>
            <a:tailEnd type="triangle"/>
          </a:ln>
        </p:spPr>
        <p:txBody>
          <a:bodyPr/>
          <a:lstStyle/>
          <a:p>
            <a:endParaRPr lang="en-US"/>
          </a:p>
        </p:txBody>
      </p:sp>
      <p:sp>
        <p:nvSpPr>
          <p:cNvPr id="21" name="Shape 14"/>
          <p:cNvSpPr/>
          <p:nvPr/>
        </p:nvSpPr>
        <p:spPr>
          <a:xfrm>
            <a:off x="5047488" y="1874520"/>
            <a:ext cx="1691640" cy="914400"/>
          </a:xfrm>
          <a:prstGeom prst="roundRect">
            <a:avLst>
              <a:gd name="adj" fmla="val 8000"/>
            </a:avLst>
          </a:prstGeom>
          <a:solidFill>
            <a:srgbClr val="1B517B"/>
          </a:solidFill>
          <a:ln w="12700">
            <a:solidFill>
              <a:srgbClr val="1B517B"/>
            </a:solidFill>
            <a:prstDash val="solid"/>
          </a:ln>
        </p:spPr>
        <p:txBody>
          <a:bodyPr/>
          <a:lstStyle/>
          <a:p>
            <a:endParaRPr lang="en-US"/>
          </a:p>
        </p:txBody>
      </p:sp>
      <p:sp>
        <p:nvSpPr>
          <p:cNvPr id="22" name="Text 15"/>
          <p:cNvSpPr txBox="1"/>
          <p:nvPr/>
        </p:nvSpPr>
        <p:spPr>
          <a:xfrm>
            <a:off x="5047488" y="1874520"/>
            <a:ext cx="1691640" cy="9144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ASR</a:t>
            </a:r>
            <a:endParaRPr lang="en-US" sz="2000" dirty="0"/>
          </a:p>
          <a:p>
            <a:pPr marL="0" indent="0" algn="ctr">
              <a:buNone/>
            </a:pPr>
            <a:r>
              <a:rPr lang="en-US" sz="1200" dirty="0">
                <a:solidFill>
                  <a:srgbClr val="FFFFFF"/>
                </a:solidFill>
                <a:latin typeface="Arial" pitchFamily="34" charset="0"/>
                <a:ea typeface="Arial" pitchFamily="34" charset="-122"/>
                <a:cs typeface="Arial" pitchFamily="34" charset="-120"/>
              </a:rPr>
              <a:t>Whisper</a:t>
            </a:r>
            <a:endParaRPr lang="en-US" sz="2000" dirty="0"/>
          </a:p>
          <a:p>
            <a:pPr marL="0" indent="0" algn="ctr">
              <a:buNone/>
            </a:pPr>
            <a:r>
              <a:rPr lang="en-US" sz="1100" i="1" dirty="0">
                <a:solidFill>
                  <a:srgbClr val="FFFFFF"/>
                </a:solidFill>
                <a:latin typeface="Arial" pitchFamily="34" charset="0"/>
                <a:ea typeface="Arial" pitchFamily="34" charset="-122"/>
                <a:cs typeface="Arial" pitchFamily="34" charset="-120"/>
              </a:rPr>
              <a:t>tiếng nói → văn bản</a:t>
            </a:r>
            <a:endParaRPr lang="en-US" sz="2000" dirty="0"/>
          </a:p>
        </p:txBody>
      </p:sp>
      <p:sp>
        <p:nvSpPr>
          <p:cNvPr id="23" name="Shape 16"/>
          <p:cNvSpPr/>
          <p:nvPr/>
        </p:nvSpPr>
        <p:spPr>
          <a:xfrm>
            <a:off x="6739128" y="2331720"/>
            <a:ext cx="384048" cy="0"/>
          </a:xfrm>
          <a:prstGeom prst="line">
            <a:avLst/>
          </a:prstGeom>
          <a:noFill/>
          <a:ln w="22225">
            <a:solidFill>
              <a:srgbClr val="1B517B"/>
            </a:solidFill>
            <a:prstDash val="solid"/>
            <a:tailEnd type="triangle"/>
          </a:ln>
        </p:spPr>
        <p:txBody>
          <a:bodyPr/>
          <a:lstStyle/>
          <a:p>
            <a:endParaRPr lang="en-US"/>
          </a:p>
        </p:txBody>
      </p:sp>
      <p:sp>
        <p:nvSpPr>
          <p:cNvPr id="24" name="Shape 17"/>
          <p:cNvSpPr/>
          <p:nvPr/>
        </p:nvSpPr>
        <p:spPr>
          <a:xfrm>
            <a:off x="7123176" y="1874520"/>
            <a:ext cx="1691640" cy="914400"/>
          </a:xfrm>
          <a:prstGeom prst="roundRect">
            <a:avLst>
              <a:gd name="adj" fmla="val 8000"/>
            </a:avLst>
          </a:prstGeom>
          <a:solidFill>
            <a:srgbClr val="1B517B"/>
          </a:solidFill>
          <a:ln w="12700">
            <a:solidFill>
              <a:srgbClr val="1B517B"/>
            </a:solidFill>
            <a:prstDash val="solid"/>
          </a:ln>
        </p:spPr>
        <p:txBody>
          <a:bodyPr/>
          <a:lstStyle/>
          <a:p>
            <a:endParaRPr lang="en-US"/>
          </a:p>
        </p:txBody>
      </p:sp>
      <p:sp>
        <p:nvSpPr>
          <p:cNvPr id="25" name="Text 18"/>
          <p:cNvSpPr txBox="1"/>
          <p:nvPr/>
        </p:nvSpPr>
        <p:spPr>
          <a:xfrm>
            <a:off x="7123176" y="1874520"/>
            <a:ext cx="1691640" cy="9144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MT</a:t>
            </a:r>
            <a:endParaRPr lang="en-US" sz="2000" dirty="0"/>
          </a:p>
          <a:p>
            <a:pPr marL="0" indent="0" algn="ctr">
              <a:buNone/>
            </a:pPr>
            <a:r>
              <a:rPr lang="en-US" sz="1200" dirty="0">
                <a:solidFill>
                  <a:srgbClr val="FFFFFF"/>
                </a:solidFill>
                <a:latin typeface="Arial" pitchFamily="34" charset="0"/>
                <a:ea typeface="Arial" pitchFamily="34" charset="-122"/>
                <a:cs typeface="Arial" pitchFamily="34" charset="-120"/>
              </a:rPr>
              <a:t>NLLB-200</a:t>
            </a:r>
            <a:endParaRPr lang="en-US" sz="2000" dirty="0"/>
          </a:p>
          <a:p>
            <a:pPr marL="0" indent="0" algn="ctr">
              <a:buNone/>
            </a:pPr>
            <a:r>
              <a:rPr lang="en-US" sz="1100" i="1" dirty="0">
                <a:solidFill>
                  <a:srgbClr val="FFFFFF"/>
                </a:solidFill>
                <a:latin typeface="Arial" pitchFamily="34" charset="0"/>
                <a:ea typeface="Arial" pitchFamily="34" charset="-122"/>
                <a:cs typeface="Arial" pitchFamily="34" charset="-120"/>
              </a:rPr>
              <a:t>dịch văn bản</a:t>
            </a:r>
            <a:endParaRPr lang="en-US" sz="2000" dirty="0"/>
          </a:p>
        </p:txBody>
      </p:sp>
      <p:sp>
        <p:nvSpPr>
          <p:cNvPr id="26" name="Shape 19"/>
          <p:cNvSpPr/>
          <p:nvPr/>
        </p:nvSpPr>
        <p:spPr>
          <a:xfrm>
            <a:off x="8814816" y="2331720"/>
            <a:ext cx="384048" cy="0"/>
          </a:xfrm>
          <a:prstGeom prst="line">
            <a:avLst/>
          </a:prstGeom>
          <a:noFill/>
          <a:ln w="22225">
            <a:solidFill>
              <a:srgbClr val="1B517B"/>
            </a:solidFill>
            <a:prstDash val="solid"/>
            <a:tailEnd type="triangle"/>
          </a:ln>
        </p:spPr>
        <p:txBody>
          <a:bodyPr/>
          <a:lstStyle/>
          <a:p>
            <a:endParaRPr lang="en-US"/>
          </a:p>
        </p:txBody>
      </p:sp>
      <p:sp>
        <p:nvSpPr>
          <p:cNvPr id="27" name="Shape 20"/>
          <p:cNvSpPr/>
          <p:nvPr/>
        </p:nvSpPr>
        <p:spPr>
          <a:xfrm>
            <a:off x="9198864" y="1874520"/>
            <a:ext cx="1691640" cy="914400"/>
          </a:xfrm>
          <a:prstGeom prst="roundRect">
            <a:avLst>
              <a:gd name="adj" fmla="val 8000"/>
            </a:avLst>
          </a:prstGeom>
          <a:solidFill>
            <a:srgbClr val="487BA2"/>
          </a:solidFill>
          <a:ln w="12700">
            <a:solidFill>
              <a:srgbClr val="1B517B"/>
            </a:solidFill>
            <a:prstDash val="solid"/>
          </a:ln>
        </p:spPr>
        <p:txBody>
          <a:bodyPr/>
          <a:lstStyle/>
          <a:p>
            <a:endParaRPr lang="en-US"/>
          </a:p>
        </p:txBody>
      </p:sp>
      <p:sp>
        <p:nvSpPr>
          <p:cNvPr id="28" name="Text 21"/>
          <p:cNvSpPr txBox="1"/>
          <p:nvPr/>
        </p:nvSpPr>
        <p:spPr>
          <a:xfrm>
            <a:off x="9198864" y="1874520"/>
            <a:ext cx="1691640" cy="9144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TTS</a:t>
            </a:r>
            <a:endParaRPr lang="en-US" sz="2000" dirty="0"/>
          </a:p>
          <a:p>
            <a:pPr marL="0" indent="0" algn="ctr">
              <a:buNone/>
            </a:pPr>
            <a:r>
              <a:rPr lang="en-US" sz="1200" dirty="0">
                <a:solidFill>
                  <a:srgbClr val="FFFFFF"/>
                </a:solidFill>
                <a:latin typeface="Arial" pitchFamily="34" charset="0"/>
                <a:ea typeface="Arial" pitchFamily="34" charset="-122"/>
                <a:cs typeface="Arial" pitchFamily="34" charset="-120"/>
              </a:rPr>
              <a:t>sherpa-onnx / Kokoro</a:t>
            </a:r>
            <a:endParaRPr lang="en-US" sz="2000" dirty="0"/>
          </a:p>
          <a:p>
            <a:pPr marL="0" indent="0" algn="ctr">
              <a:buNone/>
            </a:pPr>
            <a:r>
              <a:rPr lang="en-US" sz="1100" i="1" dirty="0">
                <a:solidFill>
                  <a:srgbClr val="FFFFFF"/>
                </a:solidFill>
                <a:latin typeface="Arial" pitchFamily="34" charset="0"/>
                <a:ea typeface="Arial" pitchFamily="34" charset="-122"/>
                <a:cs typeface="Arial" pitchFamily="34" charset="-120"/>
              </a:rPr>
              <a:t>văn bản → giọng nói</a:t>
            </a:r>
            <a:endParaRPr lang="en-US" sz="2000" dirty="0"/>
          </a:p>
        </p:txBody>
      </p:sp>
      <p:sp>
        <p:nvSpPr>
          <p:cNvPr id="29" name="Shape 22"/>
          <p:cNvSpPr/>
          <p:nvPr/>
        </p:nvSpPr>
        <p:spPr>
          <a:xfrm>
            <a:off x="10890504" y="2331720"/>
            <a:ext cx="274320" cy="0"/>
          </a:xfrm>
          <a:prstGeom prst="line">
            <a:avLst/>
          </a:prstGeom>
          <a:noFill/>
          <a:ln w="22225">
            <a:solidFill>
              <a:srgbClr val="1B517B"/>
            </a:solidFill>
            <a:prstDash val="solid"/>
            <a:tailEnd type="triangle"/>
          </a:ln>
        </p:spPr>
        <p:txBody>
          <a:bodyPr/>
          <a:lstStyle/>
          <a:p>
            <a:endParaRPr lang="en-US"/>
          </a:p>
        </p:txBody>
      </p:sp>
      <p:sp>
        <p:nvSpPr>
          <p:cNvPr id="30" name="Shape 23"/>
          <p:cNvSpPr/>
          <p:nvPr/>
        </p:nvSpPr>
        <p:spPr>
          <a:xfrm>
            <a:off x="11183112" y="2057400"/>
            <a:ext cx="548640" cy="548640"/>
          </a:xfrm>
          <a:prstGeom prst="ellipse">
            <a:avLst/>
          </a:prstGeom>
          <a:solidFill>
            <a:srgbClr val="1B517B"/>
          </a:solidFill>
          <a:ln w="12700">
            <a:solidFill>
              <a:srgbClr val="1B517B"/>
            </a:solidFill>
            <a:prstDash val="solid"/>
          </a:ln>
        </p:spPr>
        <p:txBody>
          <a:bodyPr/>
          <a:lstStyle/>
          <a:p>
            <a:endParaRPr lang="en-US"/>
          </a:p>
        </p:txBody>
      </p:sp>
      <p:pic>
        <p:nvPicPr>
          <p:cNvPr id="31" name="Image 4" descr="preencoded.png"/>
          <p:cNvPicPr>
            <a:picLocks noChangeAspect="1"/>
          </p:cNvPicPr>
          <p:nvPr/>
        </p:nvPicPr>
        <p:blipFill>
          <a:blip r:embed="rId6"/>
          <a:stretch>
            <a:fillRect/>
          </a:stretch>
        </p:blipFill>
        <p:spPr>
          <a:xfrm>
            <a:off x="11320272" y="2194560"/>
            <a:ext cx="274320" cy="274320"/>
          </a:xfrm>
          <a:prstGeom prst="rect">
            <a:avLst/>
          </a:prstGeom>
        </p:spPr>
      </p:pic>
      <p:sp>
        <p:nvSpPr>
          <p:cNvPr id="32" name="Text 24"/>
          <p:cNvSpPr txBox="1"/>
          <p:nvPr/>
        </p:nvSpPr>
        <p:spPr>
          <a:xfrm>
            <a:off x="10954512" y="2633472"/>
            <a:ext cx="1005840" cy="274320"/>
          </a:xfrm>
          <a:prstGeom prst="rect">
            <a:avLst/>
          </a:prstGeom>
          <a:noFill/>
          <a:ln/>
        </p:spPr>
        <p:txBody>
          <a:bodyPr wrap="square" lIns="0" tIns="0" rIns="0" bIns="0" rtlCol="0" anchor="t"/>
          <a:lstStyle/>
          <a:p>
            <a:pPr marL="0" indent="0" algn="ctr">
              <a:buNone/>
            </a:pPr>
            <a:r>
              <a:rPr lang="en-US" sz="1100" dirty="0">
                <a:solidFill>
                  <a:srgbClr val="222222"/>
                </a:solidFill>
                <a:latin typeface="Arial" pitchFamily="34" charset="0"/>
                <a:ea typeface="Arial" pitchFamily="34" charset="-122"/>
                <a:cs typeface="Arial" pitchFamily="34" charset="-120"/>
              </a:rPr>
              <a:t>Loa</a:t>
            </a:r>
            <a:endParaRPr lang="en-US" sz="1100" dirty="0"/>
          </a:p>
        </p:txBody>
      </p:sp>
      <p:sp>
        <p:nvSpPr>
          <p:cNvPr id="33" name="Shape 25"/>
          <p:cNvSpPr/>
          <p:nvPr/>
        </p:nvSpPr>
        <p:spPr>
          <a:xfrm>
            <a:off x="5893308" y="2788920"/>
            <a:ext cx="0" cy="411480"/>
          </a:xfrm>
          <a:prstGeom prst="line">
            <a:avLst/>
          </a:prstGeom>
          <a:noFill/>
          <a:ln w="19050">
            <a:solidFill>
              <a:srgbClr val="487BA2"/>
            </a:solidFill>
            <a:prstDash val="solid"/>
            <a:tailEnd type="triangle"/>
          </a:ln>
        </p:spPr>
        <p:txBody>
          <a:bodyPr/>
          <a:lstStyle/>
          <a:p>
            <a:endParaRPr lang="en-US"/>
          </a:p>
        </p:txBody>
      </p:sp>
      <p:sp>
        <p:nvSpPr>
          <p:cNvPr id="34" name="Shape 26"/>
          <p:cNvSpPr/>
          <p:nvPr/>
        </p:nvSpPr>
        <p:spPr>
          <a:xfrm>
            <a:off x="7968996" y="2788920"/>
            <a:ext cx="0" cy="411480"/>
          </a:xfrm>
          <a:prstGeom prst="line">
            <a:avLst/>
          </a:prstGeom>
          <a:noFill/>
          <a:ln w="19050">
            <a:solidFill>
              <a:srgbClr val="487BA2"/>
            </a:solidFill>
            <a:prstDash val="solid"/>
            <a:tailEnd type="triangle"/>
          </a:ln>
        </p:spPr>
        <p:txBody>
          <a:bodyPr/>
          <a:lstStyle/>
          <a:p>
            <a:endParaRPr lang="en-US"/>
          </a:p>
        </p:txBody>
      </p:sp>
      <p:sp>
        <p:nvSpPr>
          <p:cNvPr id="35" name="Shape 27"/>
          <p:cNvSpPr/>
          <p:nvPr/>
        </p:nvSpPr>
        <p:spPr>
          <a:xfrm>
            <a:off x="5047488" y="3218688"/>
            <a:ext cx="3767328" cy="457200"/>
          </a:xfrm>
          <a:prstGeom prst="roundRect">
            <a:avLst>
              <a:gd name="adj" fmla="val 16000"/>
            </a:avLst>
          </a:prstGeom>
          <a:solidFill>
            <a:srgbClr val="FCE9A0"/>
          </a:solidFill>
          <a:ln w="12700">
            <a:solidFill>
              <a:srgbClr val="FCE9A0"/>
            </a:solidFill>
            <a:prstDash val="solid"/>
          </a:ln>
        </p:spPr>
        <p:txBody>
          <a:bodyPr/>
          <a:lstStyle/>
          <a:p>
            <a:endParaRPr lang="en-US"/>
          </a:p>
        </p:txBody>
      </p:sp>
      <p:pic>
        <p:nvPicPr>
          <p:cNvPr id="36" name="Image 5" descr="preencoded.png"/>
          <p:cNvPicPr>
            <a:picLocks noChangeAspect="1"/>
          </p:cNvPicPr>
          <p:nvPr/>
        </p:nvPicPr>
        <p:blipFill>
          <a:blip r:embed="rId7"/>
          <a:stretch>
            <a:fillRect/>
          </a:stretch>
        </p:blipFill>
        <p:spPr>
          <a:xfrm>
            <a:off x="5230368" y="3310128"/>
            <a:ext cx="274320" cy="274320"/>
          </a:xfrm>
          <a:prstGeom prst="rect">
            <a:avLst/>
          </a:prstGeom>
        </p:spPr>
      </p:pic>
      <p:sp>
        <p:nvSpPr>
          <p:cNvPr id="37" name="Text 28"/>
          <p:cNvSpPr txBox="1"/>
          <p:nvPr/>
        </p:nvSpPr>
        <p:spPr>
          <a:xfrm>
            <a:off x="5596128" y="3218688"/>
            <a:ext cx="3200400" cy="457200"/>
          </a:xfrm>
          <a:prstGeom prst="rect">
            <a:avLst/>
          </a:prstGeom>
          <a:noFill/>
          <a:ln/>
        </p:spPr>
        <p:txBody>
          <a:bodyPr wrap="square" lIns="0" tIns="0" rIns="0" bIns="0" rtlCol="0" anchor="ctr"/>
          <a:lstStyle/>
          <a:p>
            <a:pPr marL="0" indent="0">
              <a:buNone/>
            </a:pPr>
            <a:r>
              <a:rPr lang="en-US" sz="1300" b="1" dirty="0">
                <a:solidFill>
                  <a:srgbClr val="1B517B"/>
                </a:solidFill>
                <a:latin typeface="Arial" pitchFamily="34" charset="0"/>
                <a:ea typeface="Arial" pitchFamily="34" charset="-122"/>
                <a:cs typeface="Arial" pitchFamily="34" charset="-120"/>
              </a:rPr>
              <a:t>Phụ đề song ngữ hiện ngay</a:t>
            </a:r>
            <a:endParaRPr lang="en-US" sz="1300" dirty="0"/>
          </a:p>
        </p:txBody>
      </p:sp>
      <p:sp>
        <p:nvSpPr>
          <p:cNvPr id="38" name="Text 29"/>
          <p:cNvSpPr txBox="1"/>
          <p:nvPr/>
        </p:nvSpPr>
        <p:spPr>
          <a:xfrm>
            <a:off x="685800" y="3291840"/>
            <a:ext cx="2103120" cy="548640"/>
          </a:xfrm>
          <a:prstGeom prst="rect">
            <a:avLst/>
          </a:prstGeom>
          <a:noFill/>
          <a:ln/>
        </p:spPr>
        <p:txBody>
          <a:bodyPr wrap="square" lIns="0" tIns="0" rIns="0" bIns="0" rtlCol="0" anchor="t"/>
          <a:lstStyle/>
          <a:p>
            <a:pPr marL="0" indent="0">
              <a:buNone/>
            </a:pPr>
            <a:r>
              <a:rPr lang="en-US" sz="1100" i="1" dirty="0">
                <a:solidFill>
                  <a:srgbClr val="5F6B76"/>
                </a:solidFill>
                <a:latin typeface="Arial" pitchFamily="34" charset="0"/>
                <a:ea typeface="Arial" pitchFamily="34" charset="-122"/>
                <a:cs typeface="Arial" pitchFamily="34" charset="-120"/>
              </a:rPr>
              <a:t>Âm thanh chuẩn hóa về PCM 16-bit, 16 kHz, một kênh</a:t>
            </a:r>
            <a:endParaRPr lang="en-US" sz="1100" dirty="0"/>
          </a:p>
        </p:txBody>
      </p:sp>
      <p:sp>
        <p:nvSpPr>
          <p:cNvPr id="39" name="Shape 30"/>
          <p:cNvSpPr/>
          <p:nvPr/>
        </p:nvSpPr>
        <p:spPr>
          <a:xfrm>
            <a:off x="685800" y="3977640"/>
            <a:ext cx="5120640" cy="1554480"/>
          </a:xfrm>
          <a:prstGeom prst="roundRect">
            <a:avLst>
              <a:gd name="adj" fmla="val 3404"/>
            </a:avLst>
          </a:prstGeom>
          <a:solidFill>
            <a:srgbClr val="EEF4F9"/>
          </a:solidFill>
          <a:ln w="12700">
            <a:solidFill>
              <a:srgbClr val="EEF4F9"/>
            </a:solidFill>
            <a:prstDash val="solid"/>
          </a:ln>
        </p:spPr>
        <p:txBody>
          <a:bodyPr/>
          <a:lstStyle/>
          <a:p>
            <a:endParaRPr lang="en-US"/>
          </a:p>
        </p:txBody>
      </p:sp>
      <p:sp>
        <p:nvSpPr>
          <p:cNvPr id="40" name="Text 31"/>
          <p:cNvSpPr txBox="1"/>
          <p:nvPr/>
        </p:nvSpPr>
        <p:spPr>
          <a:xfrm>
            <a:off x="868680" y="4050792"/>
            <a:ext cx="484632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Vì sao chọn cách chuỗi (thay vì đầu-cuối)</a:t>
            </a:r>
            <a:endParaRPr lang="en-US" sz="1500" dirty="0"/>
          </a:p>
        </p:txBody>
      </p:sp>
      <p:sp>
        <p:nvSpPr>
          <p:cNvPr id="41" name="Text 32"/>
          <p:cNvSpPr txBox="1"/>
          <p:nvPr/>
        </p:nvSpPr>
        <p:spPr>
          <a:xfrm>
            <a:off x="868680" y="4434840"/>
            <a:ext cx="4800600" cy="10515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Đo được lỗi từng khâu: nghe nhầm hay dịch nhầm</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Thay từng khâu theo phần cứng, không đụng khâu khác</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Mỗi khâu đã có mô hình mở phủ đủ 4 ngôn ngữ</a:t>
            </a:r>
            <a:endParaRPr lang="en-US" sz="1400" dirty="0"/>
          </a:p>
        </p:txBody>
      </p:sp>
      <p:sp>
        <p:nvSpPr>
          <p:cNvPr id="42" name="Shape 33"/>
          <p:cNvSpPr/>
          <p:nvPr/>
        </p:nvSpPr>
        <p:spPr>
          <a:xfrm>
            <a:off x="6035040" y="3977640"/>
            <a:ext cx="4846320" cy="1554480"/>
          </a:xfrm>
          <a:prstGeom prst="roundRect">
            <a:avLst>
              <a:gd name="adj" fmla="val 3404"/>
            </a:avLst>
          </a:prstGeom>
          <a:solidFill>
            <a:srgbClr val="FBEDED"/>
          </a:solidFill>
          <a:ln w="12700">
            <a:solidFill>
              <a:srgbClr val="FBEDED"/>
            </a:solidFill>
            <a:prstDash val="solid"/>
          </a:ln>
        </p:spPr>
        <p:txBody>
          <a:bodyPr/>
          <a:lstStyle/>
          <a:p>
            <a:endParaRPr lang="en-US"/>
          </a:p>
        </p:txBody>
      </p:sp>
      <p:sp>
        <p:nvSpPr>
          <p:cNvPr id="43" name="Text 34"/>
          <p:cNvSpPr txBox="1"/>
          <p:nvPr/>
        </p:nvSpPr>
        <p:spPr>
          <a:xfrm>
            <a:off x="6217920" y="4050792"/>
            <a:ext cx="4572000" cy="365760"/>
          </a:xfrm>
          <a:prstGeom prst="rect">
            <a:avLst/>
          </a:prstGeom>
          <a:noFill/>
          <a:ln/>
        </p:spPr>
        <p:txBody>
          <a:bodyPr wrap="square" lIns="0" tIns="0" rIns="0" bIns="0" rtlCol="0" anchor="t"/>
          <a:lstStyle/>
          <a:p>
            <a:pPr marL="0" indent="0">
              <a:buNone/>
            </a:pPr>
            <a:r>
              <a:rPr lang="en-US" sz="1500" b="1" dirty="0">
                <a:solidFill>
                  <a:srgbClr val="B8262B"/>
                </a:solidFill>
                <a:latin typeface="Arial" pitchFamily="34" charset="0"/>
                <a:ea typeface="Arial" pitchFamily="34" charset="-122"/>
                <a:cs typeface="Arial" pitchFamily="34" charset="-120"/>
              </a:rPr>
              <a:t>Cái giá phải trả</a:t>
            </a:r>
            <a:endParaRPr lang="en-US" sz="1500" dirty="0"/>
          </a:p>
        </p:txBody>
      </p:sp>
      <p:sp>
        <p:nvSpPr>
          <p:cNvPr id="44" name="Text 35"/>
          <p:cNvSpPr txBox="1"/>
          <p:nvPr/>
        </p:nvSpPr>
        <p:spPr>
          <a:xfrm>
            <a:off x="6217920" y="4434840"/>
            <a:ext cx="4480560" cy="10515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Lỗi cộng dồn: từ nghe nhầm được dịch luôn cái sai</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Độ trễ cộng dồn: bốn khâu chạy nối tiếp</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Cả hai được đo cụ thể ở phần III</a:t>
            </a:r>
            <a:endParaRPr lang="en-US" sz="1400" dirty="0"/>
          </a:p>
        </p:txBody>
      </p:sp>
      <p:sp>
        <p:nvSpPr>
          <p:cNvPr id="45" name="Shape x507"/>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46"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47"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Tách 4 khâu để đo và thay được từng khâu; đổi lại lỗi và độ trễ cộng dồn, nên em đo cả hai</a:t>
            </a:r>
            <a:endParaRPr lang="vi-VN" sz="1500" b="0" i="0" dirty="0">
              <a:solidFill>
                <a:srgbClr val="B8262B"/>
              </a:solidFill>
              <a:latin typeface="Arial"/>
              <a:ea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2. Kiến trúc: hai tiến trình trên một máy</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9</a:t>
            </a:r>
            <a:endParaRPr lang="en-US" sz="1100" dirty="0"/>
          </a:p>
        </p:txBody>
      </p:sp>
      <p:sp>
        <p:nvSpPr>
          <p:cNvPr id="8" name="Shape 3"/>
          <p:cNvSpPr/>
          <p:nvPr/>
        </p:nvSpPr>
        <p:spPr>
          <a:xfrm>
            <a:off x="685800" y="1463040"/>
            <a:ext cx="3749040" cy="2103120"/>
          </a:xfrm>
          <a:prstGeom prst="roundRect">
            <a:avLst>
              <a:gd name="adj" fmla="val 3333"/>
            </a:avLst>
          </a:prstGeom>
          <a:solidFill>
            <a:srgbClr val="EEF4F9"/>
          </a:solidFill>
          <a:ln w="15875">
            <a:solidFill>
              <a:srgbClr val="487BA2"/>
            </a:solidFill>
            <a:prstDash val="solid"/>
          </a:ln>
        </p:spPr>
        <p:txBody>
          <a:bodyPr/>
          <a:lstStyle/>
          <a:p>
            <a:endParaRPr lang="en-US"/>
          </a:p>
        </p:txBody>
      </p:sp>
      <p:sp>
        <p:nvSpPr>
          <p:cNvPr id="9" name="Text 4"/>
          <p:cNvSpPr txBox="1"/>
          <p:nvPr/>
        </p:nvSpPr>
        <p:spPr>
          <a:xfrm>
            <a:off x="868680" y="1554480"/>
            <a:ext cx="3383280" cy="411480"/>
          </a:xfrm>
          <a:prstGeom prst="rect">
            <a:avLst/>
          </a:prstGeom>
          <a:noFill/>
          <a:ln/>
        </p:spPr>
        <p:txBody>
          <a:bodyPr wrap="square" lIns="0" tIns="0" rIns="0" bIns="0" rtlCol="0" anchor="t"/>
          <a:lstStyle/>
          <a:p>
            <a:pPr marL="0" indent="0">
              <a:lnSpc>
                <a:spcPct val="150000"/>
              </a:lnSpc>
              <a:buNone/>
            </a:pPr>
            <a:r>
              <a:rPr lang="en-US" sz="1800" b="1" dirty="0">
                <a:solidFill>
                  <a:srgbClr val="1B517B"/>
                </a:solidFill>
                <a:latin typeface="Arial" pitchFamily="34" charset="0"/>
                <a:ea typeface="Arial" pitchFamily="34" charset="-122"/>
                <a:cs typeface="Arial" pitchFamily="34" charset="-120"/>
              </a:rPr>
              <a:t>Ứng dụng desktop</a:t>
            </a:r>
            <a:endParaRPr lang="en-US" sz="1800" dirty="0"/>
          </a:p>
        </p:txBody>
      </p:sp>
      <p:sp>
        <p:nvSpPr>
          <p:cNvPr id="10" name="Text 5"/>
          <p:cNvSpPr txBox="1"/>
          <p:nvPr/>
        </p:nvSpPr>
        <p:spPr>
          <a:xfrm>
            <a:off x="868680" y="1938528"/>
            <a:ext cx="3383280" cy="320040"/>
          </a:xfrm>
          <a:prstGeom prst="rect">
            <a:avLst/>
          </a:prstGeom>
          <a:noFill/>
          <a:ln/>
        </p:spPr>
        <p:txBody>
          <a:bodyPr wrap="square" lIns="0" tIns="0" rIns="0" bIns="0" rtlCol="0" anchor="t"/>
          <a:lstStyle/>
          <a:p>
            <a:pPr marL="0" indent="0">
              <a:lnSpc>
                <a:spcPct val="150000"/>
              </a:lnSpc>
              <a:buNone/>
            </a:pPr>
            <a:r>
              <a:rPr lang="en-US" sz="1300" i="1" dirty="0">
                <a:solidFill>
                  <a:srgbClr val="5F6B76"/>
                </a:solidFill>
                <a:latin typeface="Arial" pitchFamily="34" charset="0"/>
                <a:ea typeface="Arial" pitchFamily="34" charset="-122"/>
                <a:cs typeface="Arial" pitchFamily="34" charset="-120"/>
              </a:rPr>
              <a:t>Electron · React · TypeScript</a:t>
            </a:r>
            <a:endParaRPr lang="en-US" sz="1300" dirty="0"/>
          </a:p>
        </p:txBody>
      </p:sp>
      <p:sp>
        <p:nvSpPr>
          <p:cNvPr id="11" name="Text 6"/>
          <p:cNvSpPr txBox="1"/>
          <p:nvPr/>
        </p:nvSpPr>
        <p:spPr>
          <a:xfrm>
            <a:off x="868680" y="2331720"/>
            <a:ext cx="3383280" cy="12344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Giao diện, phụ đề song ngữ</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Thu microphone + âm thanh hệ thống (WASAPI loopback / ScreenCaptureKit)</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Phát giọng đọc bản dịch ra loa</a:t>
            </a:r>
            <a:endParaRPr lang="en-US" sz="1400" dirty="0"/>
          </a:p>
        </p:txBody>
      </p:sp>
      <p:sp>
        <p:nvSpPr>
          <p:cNvPr id="12" name="Shape 7"/>
          <p:cNvSpPr/>
          <p:nvPr/>
        </p:nvSpPr>
        <p:spPr>
          <a:xfrm>
            <a:off x="7178040" y="1463040"/>
            <a:ext cx="3749040" cy="2103120"/>
          </a:xfrm>
          <a:prstGeom prst="roundRect">
            <a:avLst>
              <a:gd name="adj" fmla="val 3333"/>
            </a:avLst>
          </a:prstGeom>
          <a:solidFill>
            <a:srgbClr val="EEF4F9"/>
          </a:solidFill>
          <a:ln w="15875">
            <a:solidFill>
              <a:srgbClr val="487BA2"/>
            </a:solidFill>
            <a:prstDash val="solid"/>
          </a:ln>
        </p:spPr>
        <p:txBody>
          <a:bodyPr/>
          <a:lstStyle/>
          <a:p>
            <a:endParaRPr lang="en-US"/>
          </a:p>
        </p:txBody>
      </p:sp>
      <p:sp>
        <p:nvSpPr>
          <p:cNvPr id="13" name="Text 8"/>
          <p:cNvSpPr txBox="1"/>
          <p:nvPr/>
        </p:nvSpPr>
        <p:spPr>
          <a:xfrm>
            <a:off x="7360920" y="1554480"/>
            <a:ext cx="3383280" cy="411480"/>
          </a:xfrm>
          <a:prstGeom prst="rect">
            <a:avLst/>
          </a:prstGeom>
          <a:noFill/>
          <a:ln/>
        </p:spPr>
        <p:txBody>
          <a:bodyPr wrap="square" lIns="0" tIns="0" rIns="0" bIns="0" rtlCol="0" anchor="t"/>
          <a:lstStyle/>
          <a:p>
            <a:pPr marL="0" indent="0">
              <a:lnSpc>
                <a:spcPct val="150000"/>
              </a:lnSpc>
              <a:buNone/>
            </a:pPr>
            <a:r>
              <a:rPr lang="en-US" sz="1800" b="1" dirty="0">
                <a:solidFill>
                  <a:srgbClr val="1B517B"/>
                </a:solidFill>
                <a:latin typeface="Arial" pitchFamily="34" charset="0"/>
                <a:ea typeface="Arial" pitchFamily="34" charset="-122"/>
                <a:cs typeface="Arial" pitchFamily="34" charset="-120"/>
              </a:rPr>
              <a:t>Dịch vụ AI</a:t>
            </a:r>
            <a:endParaRPr lang="en-US" sz="1800" dirty="0"/>
          </a:p>
        </p:txBody>
      </p:sp>
      <p:sp>
        <p:nvSpPr>
          <p:cNvPr id="14" name="Text 9"/>
          <p:cNvSpPr txBox="1"/>
          <p:nvPr/>
        </p:nvSpPr>
        <p:spPr>
          <a:xfrm>
            <a:off x="7360920" y="1938528"/>
            <a:ext cx="3383280" cy="320040"/>
          </a:xfrm>
          <a:prstGeom prst="rect">
            <a:avLst/>
          </a:prstGeom>
          <a:noFill/>
          <a:ln/>
        </p:spPr>
        <p:txBody>
          <a:bodyPr wrap="square" lIns="0" tIns="0" rIns="0" bIns="0" rtlCol="0" anchor="t"/>
          <a:lstStyle/>
          <a:p>
            <a:pPr marL="0" indent="0">
              <a:lnSpc>
                <a:spcPct val="150000"/>
              </a:lnSpc>
              <a:buNone/>
            </a:pPr>
            <a:r>
              <a:rPr lang="en-US" sz="1300" i="1" dirty="0">
                <a:solidFill>
                  <a:srgbClr val="5F6B76"/>
                </a:solidFill>
                <a:latin typeface="Arial" pitchFamily="34" charset="0"/>
                <a:ea typeface="Arial" pitchFamily="34" charset="-122"/>
                <a:cs typeface="Arial" pitchFamily="34" charset="-120"/>
              </a:rPr>
              <a:t>Python · FastAPI · SQLite</a:t>
            </a:r>
            <a:endParaRPr lang="en-US" sz="1300" dirty="0"/>
          </a:p>
        </p:txBody>
      </p:sp>
      <p:sp>
        <p:nvSpPr>
          <p:cNvPr id="15" name="Text 10"/>
          <p:cNvSpPr txBox="1"/>
          <p:nvPr/>
        </p:nvSpPr>
        <p:spPr>
          <a:xfrm>
            <a:off x="7360920" y="2331720"/>
            <a:ext cx="3383280" cy="12344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VAD / ASR / MT / TTS</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Quản lý vòng đời mô hình</a:t>
            </a:r>
            <a:endParaRPr lang="en-US" sz="1400" dirty="0"/>
          </a:p>
          <a:p>
            <a:pPr marL="190500" indent="-190500">
              <a:spcAft>
                <a:spcPts val="600"/>
              </a:spcAft>
              <a:buSzPct val="100000"/>
              <a:buChar char="•"/>
            </a:pPr>
            <a:r>
              <a:rPr lang="en-US" sz="1400" dirty="0">
                <a:solidFill>
                  <a:srgbClr val="222222"/>
                </a:solidFill>
                <a:latin typeface="Arial" pitchFamily="34" charset="0"/>
                <a:ea typeface="Arial" pitchFamily="34" charset="-122"/>
                <a:cs typeface="Arial" pitchFamily="34" charset="-120"/>
              </a:rPr>
              <a:t>Lịch sử phiên, đo đạc, đánh giá</a:t>
            </a:r>
            <a:endParaRPr lang="en-US" sz="1400" dirty="0"/>
          </a:p>
        </p:txBody>
      </p:sp>
      <p:sp>
        <p:nvSpPr>
          <p:cNvPr id="16" name="Shape 11"/>
          <p:cNvSpPr/>
          <p:nvPr/>
        </p:nvSpPr>
        <p:spPr>
          <a:xfrm>
            <a:off x="4480560" y="2331720"/>
            <a:ext cx="2651760" cy="0"/>
          </a:xfrm>
          <a:prstGeom prst="line">
            <a:avLst/>
          </a:prstGeom>
          <a:noFill/>
          <a:ln w="25400">
            <a:solidFill>
              <a:srgbClr val="1B517B"/>
            </a:solidFill>
            <a:prstDash val="solid"/>
            <a:headEnd type="triangle"/>
            <a:tailEnd type="triangle"/>
          </a:ln>
        </p:spPr>
        <p:txBody>
          <a:bodyPr/>
          <a:lstStyle/>
          <a:p>
            <a:endParaRPr lang="en-US"/>
          </a:p>
        </p:txBody>
      </p:sp>
      <p:sp>
        <p:nvSpPr>
          <p:cNvPr id="17" name="Text 12"/>
          <p:cNvSpPr txBox="1"/>
          <p:nvPr/>
        </p:nvSpPr>
        <p:spPr>
          <a:xfrm>
            <a:off x="4480560" y="1764792"/>
            <a:ext cx="2651760" cy="530352"/>
          </a:xfrm>
          <a:prstGeom prst="rect">
            <a:avLst/>
          </a:prstGeom>
          <a:noFill/>
          <a:ln/>
        </p:spPr>
        <p:txBody>
          <a:bodyPr wrap="square" lIns="0" tIns="0" rIns="0" bIns="0" rtlCol="0" anchor="b"/>
          <a:lstStyle/>
          <a:p>
            <a:pPr marL="0" indent="0" algn="ctr">
              <a:buNone/>
            </a:pPr>
            <a:r>
              <a:rPr lang="en-US" sz="1400" b="1" dirty="0">
                <a:solidFill>
                  <a:srgbClr val="1B517B"/>
                </a:solidFill>
                <a:latin typeface="Arial" pitchFamily="34" charset="0"/>
                <a:ea typeface="Arial" pitchFamily="34" charset="-122"/>
                <a:cs typeface="Arial" pitchFamily="34" charset="-120"/>
              </a:rPr>
              <a:t>REST</a:t>
            </a:r>
            <a:endParaRPr lang="en-US" sz="1400" dirty="0"/>
          </a:p>
          <a:p>
            <a:pPr marL="0" indent="0" algn="ctr">
              <a:buNone/>
            </a:pPr>
            <a:r>
              <a:rPr lang="en-US" sz="1100" dirty="0">
                <a:solidFill>
                  <a:srgbClr val="5F6B76"/>
                </a:solidFill>
                <a:latin typeface="Arial" pitchFamily="34" charset="0"/>
                <a:ea typeface="Arial" pitchFamily="34" charset="-122"/>
                <a:cs typeface="Arial" pitchFamily="34" charset="-120"/>
              </a:rPr>
              <a:t>cấu hình, mô hình, lịch sử</a:t>
            </a:r>
            <a:endParaRPr lang="en-US" sz="1400" dirty="0"/>
          </a:p>
        </p:txBody>
      </p:sp>
      <p:sp>
        <p:nvSpPr>
          <p:cNvPr id="18" name="Shape 13"/>
          <p:cNvSpPr/>
          <p:nvPr/>
        </p:nvSpPr>
        <p:spPr>
          <a:xfrm>
            <a:off x="4480560" y="3246120"/>
            <a:ext cx="2651760" cy="0"/>
          </a:xfrm>
          <a:prstGeom prst="line">
            <a:avLst/>
          </a:prstGeom>
          <a:noFill/>
          <a:ln w="25400">
            <a:solidFill>
              <a:srgbClr val="1B517B"/>
            </a:solidFill>
            <a:prstDash val="solid"/>
            <a:headEnd type="triangle"/>
            <a:tailEnd type="triangle"/>
          </a:ln>
        </p:spPr>
        <p:txBody>
          <a:bodyPr/>
          <a:lstStyle/>
          <a:p>
            <a:endParaRPr lang="en-US"/>
          </a:p>
        </p:txBody>
      </p:sp>
      <p:sp>
        <p:nvSpPr>
          <p:cNvPr id="19" name="Text 14"/>
          <p:cNvSpPr txBox="1"/>
          <p:nvPr/>
        </p:nvSpPr>
        <p:spPr>
          <a:xfrm>
            <a:off x="4480560" y="2679192"/>
            <a:ext cx="2651760" cy="530352"/>
          </a:xfrm>
          <a:prstGeom prst="rect">
            <a:avLst/>
          </a:prstGeom>
          <a:noFill/>
          <a:ln/>
        </p:spPr>
        <p:txBody>
          <a:bodyPr wrap="square" lIns="0" tIns="0" rIns="0" bIns="0" rtlCol="0" anchor="b"/>
          <a:lstStyle/>
          <a:p>
            <a:pPr marL="0" indent="0" algn="ctr">
              <a:buNone/>
            </a:pPr>
            <a:r>
              <a:rPr lang="en-US" sz="1400" b="1" dirty="0">
                <a:solidFill>
                  <a:srgbClr val="1B517B"/>
                </a:solidFill>
                <a:latin typeface="Arial" pitchFamily="34" charset="0"/>
                <a:ea typeface="Arial" pitchFamily="34" charset="-122"/>
                <a:cs typeface="Arial" pitchFamily="34" charset="-120"/>
              </a:rPr>
              <a:t>WebSocket /ws</a:t>
            </a:r>
            <a:endParaRPr lang="en-US" sz="1400" dirty="0"/>
          </a:p>
          <a:p>
            <a:pPr marL="0" indent="0" algn="ctr">
              <a:buNone/>
            </a:pPr>
            <a:r>
              <a:rPr lang="en-US" sz="1100" dirty="0">
                <a:solidFill>
                  <a:srgbClr val="5F6B76"/>
                </a:solidFill>
                <a:latin typeface="Arial" pitchFamily="34" charset="0"/>
                <a:ea typeface="Arial" pitchFamily="34" charset="-122"/>
                <a:cs typeface="Arial" pitchFamily="34" charset="-120"/>
              </a:rPr>
              <a:t>audio.chunk ⇄ asr / mt / tts</a:t>
            </a:r>
            <a:endParaRPr lang="en-US" sz="1400" dirty="0"/>
          </a:p>
        </p:txBody>
      </p:sp>
      <p:sp>
        <p:nvSpPr>
          <p:cNvPr id="20" name="Shape 15"/>
          <p:cNvSpPr/>
          <p:nvPr/>
        </p:nvSpPr>
        <p:spPr>
          <a:xfrm>
            <a:off x="685800" y="3703320"/>
            <a:ext cx="10241280" cy="457200"/>
          </a:xfrm>
          <a:prstGeom prst="roundRect">
            <a:avLst>
              <a:gd name="adj" fmla="val 16000"/>
            </a:avLst>
          </a:prstGeom>
          <a:solidFill>
            <a:srgbClr val="1B517B"/>
          </a:solidFill>
          <a:ln w="12700">
            <a:solidFill>
              <a:srgbClr val="1B517B"/>
            </a:solidFill>
            <a:prstDash val="solid"/>
          </a:ln>
        </p:spPr>
        <p:txBody>
          <a:bodyPr/>
          <a:lstStyle/>
          <a:p>
            <a:endParaRPr lang="en-US"/>
          </a:p>
        </p:txBody>
      </p:sp>
      <p:sp>
        <p:nvSpPr>
          <p:cNvPr id="21" name="Text 16"/>
          <p:cNvSpPr txBox="1"/>
          <p:nvPr/>
        </p:nvSpPr>
        <p:spPr>
          <a:xfrm>
            <a:off x="685800" y="3703320"/>
            <a:ext cx="10241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Dịch vụ chỉ mở cổng trong máy (127.0.0.1): không ra mạng LAN, không gọi dịch vụ đám mây khi dịch</a:t>
            </a:r>
            <a:endParaRPr lang="en-US" sz="1400" dirty="0"/>
          </a:p>
        </p:txBody>
      </p:sp>
      <p:sp>
        <p:nvSpPr>
          <p:cNvPr id="22" name="Text 17"/>
          <p:cNvSpPr txBox="1"/>
          <p:nvPr/>
        </p:nvSpPr>
        <p:spPr>
          <a:xfrm>
            <a:off x="685800" y="4297680"/>
            <a:ext cx="4572000" cy="32004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Vì sao tách hai tiến trình:</a:t>
            </a:r>
            <a:endParaRPr lang="en-US" sz="1500" dirty="0"/>
          </a:p>
        </p:txBody>
      </p:sp>
      <p:sp>
        <p:nvSpPr>
          <p:cNvPr id="23" name="Text 18"/>
          <p:cNvSpPr txBox="1"/>
          <p:nvPr/>
        </p:nvSpPr>
        <p:spPr>
          <a:xfrm>
            <a:off x="685800" y="4663440"/>
            <a:ext cx="3246120" cy="9144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Thư viện mô hình (whisper.cpp, transformers, sherpa-onnx) nằm ở Python; Electron thu sẵn được âm thanh hệ thống</a:t>
            </a:r>
            <a:endParaRPr lang="en-US" sz="1300" dirty="0"/>
          </a:p>
        </p:txBody>
      </p:sp>
      <p:sp>
        <p:nvSpPr>
          <p:cNvPr id="24" name="Text 19"/>
          <p:cNvSpPr txBox="1"/>
          <p:nvPr/>
        </p:nvSpPr>
        <p:spPr>
          <a:xfrm>
            <a:off x="4160520" y="4663440"/>
            <a:ext cx="3246120" cy="9144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Mô hình chiếm ~2 GB RAM và chặn CPU hàng giây: chung tiến trình thì giao diện đơ mỗi câu</a:t>
            </a:r>
            <a:endParaRPr lang="en-US" sz="1300" dirty="0"/>
          </a:p>
        </p:txBody>
      </p:sp>
      <p:sp>
        <p:nvSpPr>
          <p:cNvPr id="25" name="Text 20"/>
          <p:cNvSpPr txBox="1"/>
          <p:nvPr/>
        </p:nvSpPr>
        <p:spPr>
          <a:xfrm>
            <a:off x="7635240" y="4663440"/>
            <a:ext cx="3246120" cy="9144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Dịch vụ lỗi thì cửa sổ vẫn mở để báo lỗi và khởi động lại dịch vụ</a:t>
            </a:r>
            <a:endParaRPr lang="en-US" sz="1300" dirty="0"/>
          </a:p>
        </p:txBody>
      </p:sp>
      <p:sp>
        <p:nvSpPr>
          <p:cNvPr id="26" name="Shape x510"/>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27"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8"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Tách hai tiến trình để mô hình nặng không làm đơ giao diện; hai bên chỉ trao đổi bên trong máy</a:t>
            </a:r>
            <a:endParaRPr lang="vi-VN" sz="1500" b="0" i="0" dirty="0">
              <a:solidFill>
                <a:srgbClr val="B8262B"/>
              </a:solidFill>
              <a:latin typeface="Arial"/>
              <a:ea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2. Kiến trúc lục giác (Ports &amp; Adapters) [2]</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10</a:t>
            </a:r>
            <a:endParaRPr lang="en-US" sz="1100" dirty="0"/>
          </a:p>
        </p:txBody>
      </p:sp>
      <p:sp>
        <p:nvSpPr>
          <p:cNvPr id="8" name="Shape 3"/>
          <p:cNvSpPr/>
          <p:nvPr/>
        </p:nvSpPr>
        <p:spPr>
          <a:xfrm>
            <a:off x="822960" y="1554480"/>
            <a:ext cx="4010558" cy="4010558"/>
          </a:xfrm>
          <a:prstGeom prst="ellipse">
            <a:avLst/>
          </a:prstGeom>
          <a:solidFill>
            <a:srgbClr val="D6E4F0"/>
          </a:solidFill>
          <a:ln w="19050">
            <a:solidFill>
              <a:srgbClr val="FFFFFF"/>
            </a:solidFill>
            <a:prstDash val="solid"/>
          </a:ln>
        </p:spPr>
        <p:txBody>
          <a:bodyPr/>
          <a:lstStyle/>
          <a:p>
            <a:endParaRPr lang="en-US"/>
          </a:p>
        </p:txBody>
      </p:sp>
      <p:sp>
        <p:nvSpPr>
          <p:cNvPr id="9" name="Shape 4"/>
          <p:cNvSpPr/>
          <p:nvPr/>
        </p:nvSpPr>
        <p:spPr>
          <a:xfrm>
            <a:off x="1334110" y="2065630"/>
            <a:ext cx="2988259" cy="2988259"/>
          </a:xfrm>
          <a:prstGeom prst="ellipse">
            <a:avLst/>
          </a:prstGeom>
          <a:solidFill>
            <a:srgbClr val="B3CCE2"/>
          </a:solidFill>
          <a:ln w="19050">
            <a:solidFill>
              <a:srgbClr val="FFFFFF"/>
            </a:solidFill>
            <a:prstDash val="solid"/>
          </a:ln>
        </p:spPr>
        <p:txBody>
          <a:bodyPr/>
          <a:lstStyle/>
          <a:p>
            <a:endParaRPr lang="en-US"/>
          </a:p>
        </p:txBody>
      </p:sp>
      <p:sp>
        <p:nvSpPr>
          <p:cNvPr id="10" name="Shape 5"/>
          <p:cNvSpPr/>
          <p:nvPr/>
        </p:nvSpPr>
        <p:spPr>
          <a:xfrm>
            <a:off x="1845259" y="2576779"/>
            <a:ext cx="1965960" cy="1965960"/>
          </a:xfrm>
          <a:prstGeom prst="ellipse">
            <a:avLst/>
          </a:prstGeom>
          <a:solidFill>
            <a:srgbClr val="7FA6C8"/>
          </a:solidFill>
          <a:ln w="19050">
            <a:solidFill>
              <a:srgbClr val="FFFFFF"/>
            </a:solidFill>
            <a:prstDash val="solid"/>
          </a:ln>
        </p:spPr>
        <p:txBody>
          <a:bodyPr/>
          <a:lstStyle/>
          <a:p>
            <a:endParaRPr lang="en-US"/>
          </a:p>
        </p:txBody>
      </p:sp>
      <p:sp>
        <p:nvSpPr>
          <p:cNvPr id="11" name="Shape 6"/>
          <p:cNvSpPr/>
          <p:nvPr/>
        </p:nvSpPr>
        <p:spPr>
          <a:xfrm>
            <a:off x="2340681" y="3072201"/>
            <a:ext cx="975116" cy="975116"/>
          </a:xfrm>
          <a:prstGeom prst="ellipse">
            <a:avLst/>
          </a:prstGeom>
          <a:solidFill>
            <a:srgbClr val="1B517B"/>
          </a:solidFill>
          <a:ln w="19050">
            <a:solidFill>
              <a:srgbClr val="FFFFFF"/>
            </a:solidFill>
            <a:prstDash val="solid"/>
          </a:ln>
        </p:spPr>
        <p:txBody>
          <a:bodyPr/>
          <a:lstStyle/>
          <a:p>
            <a:endParaRPr lang="en-US"/>
          </a:p>
        </p:txBody>
      </p:sp>
      <p:sp>
        <p:nvSpPr>
          <p:cNvPr id="12" name="Text 7"/>
          <p:cNvSpPr txBox="1"/>
          <p:nvPr/>
        </p:nvSpPr>
        <p:spPr>
          <a:xfrm>
            <a:off x="1456639" y="1645463"/>
            <a:ext cx="2743200" cy="329184"/>
          </a:xfrm>
          <a:prstGeom prst="rect">
            <a:avLst/>
          </a:prstGeom>
          <a:noFill/>
          <a:ln/>
        </p:spPr>
        <p:txBody>
          <a:bodyPr wrap="square" lIns="0" tIns="0" rIns="0" bIns="0" rtlCol="0" anchor="ctr"/>
          <a:lstStyle/>
          <a:p>
            <a:pPr marL="0" indent="0" algn="ctr">
              <a:buNone/>
            </a:pPr>
            <a:r>
              <a:rPr lang="en-US" sz="1400" b="1" dirty="0">
                <a:solidFill>
                  <a:srgbClr val="1B517B"/>
                </a:solidFill>
                <a:latin typeface="Arial" pitchFamily="34" charset="0"/>
                <a:ea typeface="Arial" pitchFamily="34" charset="-122"/>
                <a:cs typeface="Arial" pitchFamily="34" charset="-120"/>
              </a:rPr>
              <a:t>Adapters · Transport</a:t>
            </a:r>
            <a:endParaRPr lang="en-US" sz="1400" dirty="0"/>
          </a:p>
        </p:txBody>
      </p:sp>
      <p:sp>
        <p:nvSpPr>
          <p:cNvPr id="13" name="Text 8"/>
          <p:cNvSpPr txBox="1"/>
          <p:nvPr/>
        </p:nvSpPr>
        <p:spPr>
          <a:xfrm>
            <a:off x="1456639" y="2156612"/>
            <a:ext cx="2743200" cy="329184"/>
          </a:xfrm>
          <a:prstGeom prst="rect">
            <a:avLst/>
          </a:prstGeom>
          <a:noFill/>
          <a:ln/>
        </p:spPr>
        <p:txBody>
          <a:bodyPr wrap="square" lIns="0" tIns="0" rIns="0" bIns="0" rtlCol="0" anchor="ctr"/>
          <a:lstStyle/>
          <a:p>
            <a:pPr marL="0" indent="0" algn="ctr">
              <a:buNone/>
            </a:pPr>
            <a:r>
              <a:rPr lang="en-US" sz="1400" b="1" dirty="0">
                <a:solidFill>
                  <a:srgbClr val="1B517B"/>
                </a:solidFill>
                <a:latin typeface="Arial" pitchFamily="34" charset="0"/>
                <a:ea typeface="Arial" pitchFamily="34" charset="-122"/>
                <a:cs typeface="Arial" pitchFamily="34" charset="-120"/>
              </a:rPr>
              <a:t>Ports</a:t>
            </a:r>
            <a:endParaRPr lang="en-US" sz="1400" dirty="0"/>
          </a:p>
        </p:txBody>
      </p:sp>
      <p:sp>
        <p:nvSpPr>
          <p:cNvPr id="14" name="Text 9"/>
          <p:cNvSpPr txBox="1"/>
          <p:nvPr/>
        </p:nvSpPr>
        <p:spPr>
          <a:xfrm>
            <a:off x="1456639" y="2659898"/>
            <a:ext cx="2743200"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Application</a:t>
            </a:r>
            <a:endParaRPr lang="en-US" sz="1400" dirty="0"/>
          </a:p>
        </p:txBody>
      </p:sp>
      <p:sp>
        <p:nvSpPr>
          <p:cNvPr id="15" name="Text 10"/>
          <p:cNvSpPr txBox="1"/>
          <p:nvPr/>
        </p:nvSpPr>
        <p:spPr>
          <a:xfrm>
            <a:off x="1456639" y="3379440"/>
            <a:ext cx="274320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Domain</a:t>
            </a:r>
            <a:endParaRPr lang="en-US" sz="1300" dirty="0"/>
          </a:p>
        </p:txBody>
      </p:sp>
      <p:sp>
        <p:nvSpPr>
          <p:cNvPr id="16" name="Text 11"/>
          <p:cNvSpPr txBox="1"/>
          <p:nvPr/>
        </p:nvSpPr>
        <p:spPr>
          <a:xfrm>
            <a:off x="1090879" y="5018684"/>
            <a:ext cx="3474720" cy="502920"/>
          </a:xfrm>
          <a:prstGeom prst="rect">
            <a:avLst/>
          </a:prstGeom>
          <a:noFill/>
          <a:ln/>
        </p:spPr>
        <p:txBody>
          <a:bodyPr wrap="square" lIns="0" tIns="0" rIns="0" bIns="0" rtlCol="0" anchor="t"/>
          <a:lstStyle/>
          <a:p>
            <a:pPr marL="0" indent="0" algn="ctr">
              <a:buNone/>
            </a:pPr>
            <a:r>
              <a:rPr lang="en-US" sz="1100" dirty="0">
                <a:solidFill>
                  <a:srgbClr val="1B517B"/>
                </a:solidFill>
                <a:latin typeface="Arial" pitchFamily="34" charset="0"/>
                <a:ea typeface="Arial" pitchFamily="34" charset="-122"/>
                <a:cs typeface="Arial" pitchFamily="34" charset="-120"/>
              </a:rPr>
              <a:t>whisper.cpp · MLX · faster-whisper</a:t>
            </a:r>
            <a:endParaRPr lang="en-US" sz="1100" dirty="0"/>
          </a:p>
          <a:p>
            <a:pPr marL="0" indent="0" algn="ctr">
              <a:buNone/>
            </a:pPr>
            <a:r>
              <a:rPr lang="en-US" sz="1100" dirty="0">
                <a:solidFill>
                  <a:srgbClr val="1B517B"/>
                </a:solidFill>
                <a:latin typeface="Arial" pitchFamily="34" charset="0"/>
                <a:ea typeface="Arial" pitchFamily="34" charset="-122"/>
                <a:cs typeface="Arial" pitchFamily="34" charset="-120"/>
              </a:rPr>
              <a:t>NLLB · sherpa-onnx · Kokoro · SQLite</a:t>
            </a:r>
            <a:endParaRPr lang="en-US" sz="1100" dirty="0"/>
          </a:p>
        </p:txBody>
      </p:sp>
      <p:sp>
        <p:nvSpPr>
          <p:cNvPr id="17" name="Text 12"/>
          <p:cNvSpPr txBox="1"/>
          <p:nvPr/>
        </p:nvSpPr>
        <p:spPr>
          <a:xfrm>
            <a:off x="1639519" y="4547128"/>
            <a:ext cx="2377440" cy="274320"/>
          </a:xfrm>
          <a:prstGeom prst="rect">
            <a:avLst/>
          </a:prstGeom>
          <a:noFill/>
          <a:ln/>
        </p:spPr>
        <p:txBody>
          <a:bodyPr wrap="square" lIns="0" tIns="0" rIns="0" bIns="0" rtlCol="0" anchor="t"/>
          <a:lstStyle/>
          <a:p>
            <a:pPr marL="0" indent="0" algn="ctr">
              <a:buNone/>
            </a:pPr>
            <a:r>
              <a:rPr lang="en-US" sz="1050" dirty="0">
                <a:solidFill>
                  <a:srgbClr val="1B517B"/>
                </a:solidFill>
                <a:latin typeface="Arial" pitchFamily="34" charset="0"/>
                <a:ea typeface="Arial" pitchFamily="34" charset="-122"/>
                <a:cs typeface="Arial" pitchFamily="34" charset="-120"/>
              </a:rPr>
              <a:t>SpeechToTextProvider…</a:t>
            </a:r>
            <a:endParaRPr lang="en-US" sz="1050" dirty="0"/>
          </a:p>
        </p:txBody>
      </p:sp>
      <p:sp>
        <p:nvSpPr>
          <p:cNvPr id="18" name="Text 13"/>
          <p:cNvSpPr txBox="1"/>
          <p:nvPr/>
        </p:nvSpPr>
        <p:spPr>
          <a:xfrm>
            <a:off x="1822399" y="4075298"/>
            <a:ext cx="2011680" cy="274320"/>
          </a:xfrm>
          <a:prstGeom prst="rect">
            <a:avLst/>
          </a:prstGeom>
          <a:noFill/>
          <a:ln/>
        </p:spPr>
        <p:txBody>
          <a:bodyPr wrap="square" lIns="0" tIns="0" rIns="0" bIns="0" rtlCol="0" anchor="t"/>
          <a:lstStyle/>
          <a:p>
            <a:pPr marL="0" indent="0" algn="ctr">
              <a:buNone/>
            </a:pPr>
            <a:r>
              <a:rPr lang="en-US" sz="1050" dirty="0">
                <a:solidFill>
                  <a:srgbClr val="FFFFFF"/>
                </a:solidFill>
                <a:latin typeface="Arial" pitchFamily="34" charset="0"/>
                <a:ea typeface="Arial" pitchFamily="34" charset="-122"/>
                <a:cs typeface="Arial" pitchFamily="34" charset="-120"/>
              </a:rPr>
              <a:t>TranslationPipeline</a:t>
            </a:r>
            <a:endParaRPr lang="en-US" sz="1050" dirty="0"/>
          </a:p>
        </p:txBody>
      </p:sp>
      <p:sp>
        <p:nvSpPr>
          <p:cNvPr id="19" name="Text 14"/>
          <p:cNvSpPr txBox="1"/>
          <p:nvPr/>
        </p:nvSpPr>
        <p:spPr>
          <a:xfrm>
            <a:off x="6035040" y="1463040"/>
            <a:ext cx="5029200" cy="411480"/>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Một quy tắc: phụ thuộc luôn hướng vào trong</a:t>
            </a:r>
            <a:endParaRPr lang="en-US" sz="1600" dirty="0"/>
          </a:p>
        </p:txBody>
      </p:sp>
      <p:sp>
        <p:nvSpPr>
          <p:cNvPr id="20" name="Text 15"/>
          <p:cNvSpPr txBox="1"/>
          <p:nvPr/>
        </p:nvSpPr>
        <p:spPr>
          <a:xfrm>
            <a:off x="6035040" y="1874520"/>
            <a:ext cx="4846320" cy="594360"/>
          </a:xfrm>
          <a:prstGeom prst="rect">
            <a:avLst/>
          </a:prstGeom>
          <a:noFill/>
          <a:ln/>
        </p:spPr>
        <p:txBody>
          <a:bodyPr wrap="square" lIns="0" tIns="0" rIns="0" bIns="0" rtlCol="0" anchor="t"/>
          <a:lstStyle/>
          <a:p>
            <a:pPr marL="0" indent="0">
              <a:buNone/>
            </a:pPr>
            <a:r>
              <a:rPr lang="en-US" sz="1400" dirty="0">
                <a:solidFill>
                  <a:srgbClr val="5F6B76"/>
                </a:solidFill>
                <a:latin typeface="Arial" pitchFamily="34" charset="0"/>
                <a:ea typeface="Arial" pitchFamily="34" charset="-122"/>
                <a:cs typeface="Arial" pitchFamily="34" charset="-120"/>
              </a:rPr>
              <a:t>Chuỗi xử lý chỉ biết các port (giao diện trừu tượng), không biết mô hình nào đang chạy phía sau.</a:t>
            </a:r>
            <a:endParaRPr lang="en-US" sz="1400" dirty="0"/>
          </a:p>
        </p:txBody>
      </p:sp>
      <p:sp>
        <p:nvSpPr>
          <p:cNvPr id="21" name="Shape 16"/>
          <p:cNvSpPr/>
          <p:nvPr/>
        </p:nvSpPr>
        <p:spPr>
          <a:xfrm>
            <a:off x="6035040" y="2514600"/>
            <a:ext cx="566928" cy="566928"/>
          </a:xfrm>
          <a:prstGeom prst="ellipse">
            <a:avLst/>
          </a:prstGeom>
          <a:solidFill>
            <a:srgbClr val="1B517B"/>
          </a:solidFill>
          <a:ln w="12700">
            <a:solidFill>
              <a:srgbClr val="1B517B"/>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6171103" y="2650663"/>
            <a:ext cx="294803" cy="294803"/>
          </a:xfrm>
          <a:prstGeom prst="rect">
            <a:avLst/>
          </a:prstGeom>
        </p:spPr>
      </p:pic>
      <p:sp>
        <p:nvSpPr>
          <p:cNvPr id="23" name="Text 17"/>
          <p:cNvSpPr txBox="1"/>
          <p:nvPr/>
        </p:nvSpPr>
        <p:spPr>
          <a:xfrm>
            <a:off x="6766560" y="2468880"/>
            <a:ext cx="4206240" cy="347472"/>
          </a:xfrm>
          <a:prstGeom prst="rect">
            <a:avLst/>
          </a:prstGeom>
          <a:noFill/>
          <a:ln/>
        </p:spPr>
        <p:txBody>
          <a:bodyPr wrap="square" lIns="0" tIns="0" rIns="0" bIns="0" rtlCol="0" anchor="t"/>
          <a:lstStyle/>
          <a:p>
            <a:pPr marL="0" indent="0">
              <a:lnSpc>
                <a:spcPct val="150000"/>
              </a:lnSpc>
              <a:buNone/>
            </a:pPr>
            <a:r>
              <a:rPr lang="en-US" sz="1500" b="1" dirty="0">
                <a:solidFill>
                  <a:srgbClr val="1B517B"/>
                </a:solidFill>
                <a:latin typeface="Arial" pitchFamily="34" charset="0"/>
                <a:ea typeface="Arial" pitchFamily="34" charset="-122"/>
                <a:cs typeface="Arial" pitchFamily="34" charset="-120"/>
              </a:rPr>
              <a:t>Thêm 2 runtime ASR (MLX, faster-whisper)</a:t>
            </a:r>
            <a:endParaRPr lang="en-US" sz="1500" dirty="0"/>
          </a:p>
        </p:txBody>
      </p:sp>
      <p:sp>
        <p:nvSpPr>
          <p:cNvPr id="24" name="Text 18"/>
          <p:cNvSpPr txBox="1"/>
          <p:nvPr/>
        </p:nvSpPr>
        <p:spPr>
          <a:xfrm>
            <a:off x="6766560" y="2816352"/>
            <a:ext cx="4023360" cy="77724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Mỗi runtime: 1 adapter + 1 dòng đăng ký + 1 dòng preset. Không sửa dòng nào của chuỗi xử lý.</a:t>
            </a:r>
            <a:endParaRPr lang="en-US" sz="1300" dirty="0"/>
          </a:p>
        </p:txBody>
      </p:sp>
      <p:sp>
        <p:nvSpPr>
          <p:cNvPr id="25" name="Shape 19"/>
          <p:cNvSpPr/>
          <p:nvPr/>
        </p:nvSpPr>
        <p:spPr>
          <a:xfrm>
            <a:off x="6035040" y="3502152"/>
            <a:ext cx="566928" cy="566928"/>
          </a:xfrm>
          <a:prstGeom prst="ellipse">
            <a:avLst/>
          </a:prstGeom>
          <a:solidFill>
            <a:srgbClr val="1B517B"/>
          </a:solidFill>
          <a:ln w="12700">
            <a:solidFill>
              <a:srgbClr val="1B517B"/>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6171103" y="3638215"/>
            <a:ext cx="294803" cy="294803"/>
          </a:xfrm>
          <a:prstGeom prst="rect">
            <a:avLst/>
          </a:prstGeom>
        </p:spPr>
      </p:pic>
      <p:sp>
        <p:nvSpPr>
          <p:cNvPr id="27" name="Text 20"/>
          <p:cNvSpPr txBox="1"/>
          <p:nvPr/>
        </p:nvSpPr>
        <p:spPr>
          <a:xfrm>
            <a:off x="6766560" y="3456432"/>
            <a:ext cx="4206240" cy="347472"/>
          </a:xfrm>
          <a:prstGeom prst="rect">
            <a:avLst/>
          </a:prstGeom>
          <a:noFill/>
          <a:ln/>
        </p:spPr>
        <p:txBody>
          <a:bodyPr wrap="square" lIns="0" tIns="0" rIns="0" bIns="0" rtlCol="0" anchor="t"/>
          <a:lstStyle/>
          <a:p>
            <a:pPr marL="0" indent="0">
              <a:lnSpc>
                <a:spcPct val="150000"/>
              </a:lnSpc>
              <a:buNone/>
            </a:pPr>
            <a:r>
              <a:rPr lang="en-US" sz="1500" b="1" dirty="0">
                <a:solidFill>
                  <a:srgbClr val="1B517B"/>
                </a:solidFill>
                <a:latin typeface="Arial" pitchFamily="34" charset="0"/>
                <a:ea typeface="Arial" pitchFamily="34" charset="-122"/>
                <a:cs typeface="Arial" pitchFamily="34" charset="-120"/>
              </a:rPr>
              <a:t>Khi sherpa-onnx không đọc được tiếng Nhật</a:t>
            </a:r>
            <a:endParaRPr lang="en-US" sz="1500" dirty="0"/>
          </a:p>
        </p:txBody>
      </p:sp>
      <p:sp>
        <p:nvSpPr>
          <p:cNvPr id="28" name="Text 21"/>
          <p:cNvSpPr txBox="1"/>
          <p:nvPr/>
        </p:nvSpPr>
        <p:spPr>
          <a:xfrm>
            <a:off x="6766560" y="3803904"/>
            <a:ext cx="4023360" cy="77724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Thêm adapter Kokoro và LanguageRoutedTts chọn engine theo ngôn ngữ đích; chuỗi xử lý vẫn chỉ thấy một TTS.</a:t>
            </a:r>
            <a:endParaRPr lang="en-US" sz="1300" dirty="0"/>
          </a:p>
        </p:txBody>
      </p:sp>
      <p:sp>
        <p:nvSpPr>
          <p:cNvPr id="29" name="Shape 22"/>
          <p:cNvSpPr/>
          <p:nvPr/>
        </p:nvSpPr>
        <p:spPr>
          <a:xfrm>
            <a:off x="6035040" y="4709160"/>
            <a:ext cx="566928" cy="566928"/>
          </a:xfrm>
          <a:prstGeom prst="ellipse">
            <a:avLst/>
          </a:prstGeom>
          <a:solidFill>
            <a:srgbClr val="1B517B"/>
          </a:solidFill>
          <a:ln w="12700">
            <a:solidFill>
              <a:srgbClr val="1B517B"/>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6171103" y="4845223"/>
            <a:ext cx="294803" cy="294803"/>
          </a:xfrm>
          <a:prstGeom prst="rect">
            <a:avLst/>
          </a:prstGeom>
        </p:spPr>
      </p:pic>
      <p:sp>
        <p:nvSpPr>
          <p:cNvPr id="31" name="Text 23"/>
          <p:cNvSpPr txBox="1"/>
          <p:nvPr/>
        </p:nvSpPr>
        <p:spPr>
          <a:xfrm>
            <a:off x="6766560" y="4663440"/>
            <a:ext cx="4206240" cy="347472"/>
          </a:xfrm>
          <a:prstGeom prst="rect">
            <a:avLst/>
          </a:prstGeom>
          <a:noFill/>
          <a:ln/>
        </p:spPr>
        <p:txBody>
          <a:bodyPr wrap="square" lIns="0" tIns="0" rIns="0" bIns="0" rtlCol="0" anchor="t"/>
          <a:lstStyle/>
          <a:p>
            <a:pPr marL="0" indent="0">
              <a:lnSpc>
                <a:spcPct val="150000"/>
              </a:lnSpc>
              <a:buNone/>
            </a:pPr>
            <a:r>
              <a:rPr lang="en-US" sz="1500" b="1" dirty="0">
                <a:solidFill>
                  <a:srgbClr val="1B517B"/>
                </a:solidFill>
                <a:latin typeface="Arial" pitchFamily="34" charset="0"/>
                <a:ea typeface="Arial" pitchFamily="34" charset="-122"/>
                <a:cs typeface="Arial" pitchFamily="34" charset="-120"/>
              </a:rPr>
              <a:t>Kiểm thử không cần mô hình thật</a:t>
            </a:r>
            <a:endParaRPr lang="en-US" sz="1500" dirty="0"/>
          </a:p>
        </p:txBody>
      </p:sp>
      <p:sp>
        <p:nvSpPr>
          <p:cNvPr id="32" name="Text 24"/>
          <p:cNvSpPr txBox="1"/>
          <p:nvPr/>
        </p:nvSpPr>
        <p:spPr>
          <a:xfrm>
            <a:off x="6766560" y="5010912"/>
            <a:ext cx="4023360" cy="77724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Thay adapter bằng mô hình giả: 327 bài kiểm thử dịch vụ chạy trong vài giây, tất định.</a:t>
            </a:r>
            <a:endParaRPr lang="en-US" sz="1300" dirty="0"/>
          </a:p>
        </p:txBody>
      </p:sp>
      <p:sp>
        <p:nvSpPr>
          <p:cNvPr id="33" name="Shape x513"/>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34"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35"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Chuỗi xử lý chỉ biết port, nên thêm 2 runtime ASR và 1 engine TTS mà không sửa dòng nào của nó</a:t>
            </a:r>
            <a:endParaRPr lang="vi-VN" sz="1500" b="0" i="0" dirty="0">
              <a:solidFill>
                <a:srgbClr val="B8262B"/>
              </a:solidFill>
              <a:latin typeface="Arial"/>
              <a:ea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3. Bộ tách câu: khi nào một câu kết thúc?</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11</a:t>
            </a:r>
            <a:endParaRPr lang="en-US" sz="1100" dirty="0"/>
          </a:p>
        </p:txBody>
      </p:sp>
      <p:sp>
        <p:nvSpPr>
          <p:cNvPr id="8" name="Text 3"/>
          <p:cNvSpPr txBox="1"/>
          <p:nvPr/>
        </p:nvSpPr>
        <p:spPr>
          <a:xfrm>
            <a:off x="685800" y="1371600"/>
            <a:ext cx="10241280" cy="640080"/>
          </a:xfrm>
          <a:prstGeom prst="rect">
            <a:avLst/>
          </a:prstGeom>
          <a:noFill/>
          <a:ln/>
        </p:spPr>
        <p:txBody>
          <a:bodyPr wrap="square" lIns="0" tIns="0" rIns="0" bIns="0" rtlCol="0" anchor="t"/>
          <a:lstStyle/>
          <a:p>
            <a:pPr marL="0" indent="0">
              <a:buNone/>
            </a:pPr>
            <a:r>
              <a:rPr lang="en-US" sz="1600" b="1" dirty="0">
                <a:solidFill>
                  <a:srgbClr val="B8262B"/>
                </a:solidFill>
                <a:latin typeface="Arial" pitchFamily="34" charset="0"/>
                <a:ea typeface="Arial" pitchFamily="34" charset="-122"/>
                <a:cs typeface="Arial" pitchFamily="34" charset="-120"/>
              </a:rPr>
              <a:t>Vấn đề: </a:t>
            </a:r>
            <a:r>
              <a:rPr lang="en-US" sz="1600" dirty="0">
                <a:solidFill>
                  <a:srgbClr val="222222"/>
                </a:solidFill>
                <a:latin typeface="Arial" pitchFamily="34" charset="0"/>
                <a:ea typeface="Arial" pitchFamily="34" charset="-122"/>
                <a:cs typeface="Arial" pitchFamily="34" charset="-120"/>
              </a:rPr>
              <a:t>lời nói không có dấu chấm câu. Phiên bản đầu dùng một ngưỡng im lặng 300 ms và trần 20 s: người nói liền mạch phải chờ tới 20 s mới có bản dịch (GVHD góp ý, 19/08/2026).</a:t>
            </a:r>
            <a:endParaRPr lang="en-US" sz="1600" dirty="0"/>
          </a:p>
        </p:txBody>
      </p:sp>
      <p:sp>
        <p:nvSpPr>
          <p:cNvPr id="9" name="Shape 4"/>
          <p:cNvSpPr/>
          <p:nvPr/>
        </p:nvSpPr>
        <p:spPr>
          <a:xfrm>
            <a:off x="1097280" y="2606040"/>
            <a:ext cx="4000500" cy="502920"/>
          </a:xfrm>
          <a:prstGeom prst="rect">
            <a:avLst/>
          </a:prstGeom>
          <a:solidFill>
            <a:srgbClr val="DCE8F2"/>
          </a:solidFill>
          <a:ln w="12700">
            <a:solidFill>
              <a:srgbClr val="DCE8F2"/>
            </a:solidFill>
            <a:prstDash val="solid"/>
          </a:ln>
        </p:spPr>
        <p:txBody>
          <a:bodyPr/>
          <a:lstStyle/>
          <a:p>
            <a:endParaRPr lang="en-US"/>
          </a:p>
        </p:txBody>
      </p:sp>
      <p:sp>
        <p:nvSpPr>
          <p:cNvPr id="10" name="Shape 5"/>
          <p:cNvSpPr/>
          <p:nvPr/>
        </p:nvSpPr>
        <p:spPr>
          <a:xfrm>
            <a:off x="5097780" y="2606040"/>
            <a:ext cx="2857500" cy="502920"/>
          </a:xfrm>
          <a:prstGeom prst="rect">
            <a:avLst/>
          </a:prstGeom>
          <a:solidFill>
            <a:srgbClr val="9DBBD6"/>
          </a:solidFill>
          <a:ln w="12700">
            <a:solidFill>
              <a:srgbClr val="9DBBD6"/>
            </a:solidFill>
            <a:prstDash val="solid"/>
          </a:ln>
        </p:spPr>
        <p:txBody>
          <a:bodyPr/>
          <a:lstStyle/>
          <a:p>
            <a:endParaRPr lang="en-US"/>
          </a:p>
        </p:txBody>
      </p:sp>
      <p:sp>
        <p:nvSpPr>
          <p:cNvPr id="11" name="Shape 6"/>
          <p:cNvSpPr/>
          <p:nvPr/>
        </p:nvSpPr>
        <p:spPr>
          <a:xfrm>
            <a:off x="7955280" y="2423160"/>
            <a:ext cx="64008" cy="685800"/>
          </a:xfrm>
          <a:prstGeom prst="rect">
            <a:avLst/>
          </a:prstGeom>
          <a:solidFill>
            <a:srgbClr val="B8262B"/>
          </a:solidFill>
          <a:ln w="12700">
            <a:solidFill>
              <a:srgbClr val="B8262B"/>
            </a:solidFill>
            <a:prstDash val="solid"/>
          </a:ln>
        </p:spPr>
        <p:txBody>
          <a:bodyPr/>
          <a:lstStyle/>
          <a:p>
            <a:endParaRPr lang="en-US"/>
          </a:p>
        </p:txBody>
      </p:sp>
      <p:sp>
        <p:nvSpPr>
          <p:cNvPr id="12" name="Text 7"/>
          <p:cNvSpPr txBox="1"/>
          <p:nvPr/>
        </p:nvSpPr>
        <p:spPr>
          <a:xfrm>
            <a:off x="1097280" y="2240280"/>
            <a:ext cx="2743200" cy="274320"/>
          </a:xfrm>
          <a:prstGeom prst="rect">
            <a:avLst/>
          </a:prstGeom>
          <a:noFill/>
          <a:ln/>
        </p:spPr>
        <p:txBody>
          <a:bodyPr wrap="square" lIns="0" tIns="0" rIns="0" bIns="0" rtlCol="0" anchor="t"/>
          <a:lstStyle/>
          <a:p>
            <a:pPr marL="0" indent="0">
              <a:buNone/>
            </a:pPr>
            <a:r>
              <a:rPr lang="en-US" sz="1200" i="1" dirty="0">
                <a:solidFill>
                  <a:srgbClr val="5F6B76"/>
                </a:solidFill>
                <a:latin typeface="Arial" pitchFamily="34" charset="0"/>
                <a:ea typeface="Arial" pitchFamily="34" charset="-122"/>
                <a:cs typeface="Arial" pitchFamily="34" charset="-120"/>
              </a:rPr>
              <a:t>Độ dài câu đang nói</a:t>
            </a:r>
            <a:endParaRPr lang="en-US" sz="1200" dirty="0"/>
          </a:p>
        </p:txBody>
      </p:sp>
      <p:sp>
        <p:nvSpPr>
          <p:cNvPr id="13" name="Text 8"/>
          <p:cNvSpPr txBox="1"/>
          <p:nvPr/>
        </p:nvSpPr>
        <p:spPr>
          <a:xfrm>
            <a:off x="731520" y="3154680"/>
            <a:ext cx="731520" cy="274320"/>
          </a:xfrm>
          <a:prstGeom prst="rect">
            <a:avLst/>
          </a:prstGeom>
          <a:noFill/>
          <a:ln/>
        </p:spPr>
        <p:txBody>
          <a:bodyPr wrap="square" lIns="0" tIns="0" rIns="0" bIns="0" rtlCol="0" anchor="t"/>
          <a:lstStyle/>
          <a:p>
            <a:pPr marL="0" indent="0" algn="ctr">
              <a:buNone/>
            </a:pPr>
            <a:r>
              <a:rPr lang="en-US" sz="1200" b="1" dirty="0">
                <a:solidFill>
                  <a:srgbClr val="222222"/>
                </a:solidFill>
                <a:latin typeface="Arial" pitchFamily="34" charset="0"/>
                <a:ea typeface="Arial" pitchFamily="34" charset="-122"/>
                <a:cs typeface="Arial" pitchFamily="34" charset="-120"/>
              </a:rPr>
              <a:t>0 s</a:t>
            </a:r>
            <a:endParaRPr lang="en-US" sz="1200" dirty="0"/>
          </a:p>
        </p:txBody>
      </p:sp>
      <p:sp>
        <p:nvSpPr>
          <p:cNvPr id="14" name="Text 9"/>
          <p:cNvSpPr txBox="1"/>
          <p:nvPr/>
        </p:nvSpPr>
        <p:spPr>
          <a:xfrm>
            <a:off x="4732020" y="3154680"/>
            <a:ext cx="731520" cy="274320"/>
          </a:xfrm>
          <a:prstGeom prst="rect">
            <a:avLst/>
          </a:prstGeom>
          <a:noFill/>
          <a:ln/>
        </p:spPr>
        <p:txBody>
          <a:bodyPr wrap="square" lIns="0" tIns="0" rIns="0" bIns="0" rtlCol="0" anchor="t"/>
          <a:lstStyle/>
          <a:p>
            <a:pPr marL="0" indent="0" algn="ctr">
              <a:buNone/>
            </a:pPr>
            <a:r>
              <a:rPr lang="en-US" sz="1200" b="1" dirty="0">
                <a:solidFill>
                  <a:srgbClr val="222222"/>
                </a:solidFill>
                <a:latin typeface="Arial" pitchFamily="34" charset="0"/>
                <a:ea typeface="Arial" pitchFamily="34" charset="-122"/>
                <a:cs typeface="Arial" pitchFamily="34" charset="-120"/>
              </a:rPr>
              <a:t>3,5 s</a:t>
            </a:r>
            <a:endParaRPr lang="en-US" sz="1200" dirty="0"/>
          </a:p>
        </p:txBody>
      </p:sp>
      <p:sp>
        <p:nvSpPr>
          <p:cNvPr id="15" name="Text 10"/>
          <p:cNvSpPr txBox="1"/>
          <p:nvPr/>
        </p:nvSpPr>
        <p:spPr>
          <a:xfrm>
            <a:off x="7589520" y="3154680"/>
            <a:ext cx="731520" cy="274320"/>
          </a:xfrm>
          <a:prstGeom prst="rect">
            <a:avLst/>
          </a:prstGeom>
          <a:noFill/>
          <a:ln/>
        </p:spPr>
        <p:txBody>
          <a:bodyPr wrap="square" lIns="0" tIns="0" rIns="0" bIns="0" rtlCol="0" anchor="t"/>
          <a:lstStyle/>
          <a:p>
            <a:pPr marL="0" indent="0" algn="ctr">
              <a:buNone/>
            </a:pPr>
            <a:r>
              <a:rPr lang="en-US" sz="1200" b="1" dirty="0">
                <a:solidFill>
                  <a:srgbClr val="222222"/>
                </a:solidFill>
                <a:latin typeface="Arial" pitchFamily="34" charset="0"/>
                <a:ea typeface="Arial" pitchFamily="34" charset="-122"/>
                <a:cs typeface="Arial" pitchFamily="34" charset="-120"/>
              </a:rPr>
              <a:t>6 s</a:t>
            </a:r>
            <a:endParaRPr lang="en-US" sz="1200" dirty="0"/>
          </a:p>
        </p:txBody>
      </p:sp>
      <p:sp>
        <p:nvSpPr>
          <p:cNvPr id="16" name="Text 11"/>
          <p:cNvSpPr txBox="1"/>
          <p:nvPr/>
        </p:nvSpPr>
        <p:spPr>
          <a:xfrm>
            <a:off x="1097280" y="2606040"/>
            <a:ext cx="4000500" cy="502920"/>
          </a:xfrm>
          <a:prstGeom prst="rect">
            <a:avLst/>
          </a:prstGeom>
          <a:noFill/>
          <a:ln/>
        </p:spPr>
        <p:txBody>
          <a:bodyPr wrap="square" lIns="0" tIns="0" rIns="0" bIns="0" rtlCol="0" anchor="ctr"/>
          <a:lstStyle/>
          <a:p>
            <a:pPr marL="0" indent="0" algn="ctr">
              <a:buNone/>
            </a:pPr>
            <a:r>
              <a:rPr lang="en-US" sz="1400" b="1" dirty="0">
                <a:solidFill>
                  <a:srgbClr val="1B517B"/>
                </a:solidFill>
                <a:latin typeface="Arial" pitchFamily="34" charset="0"/>
                <a:ea typeface="Arial" pitchFamily="34" charset="-122"/>
                <a:cs typeface="Arial" pitchFamily="34" charset="-120"/>
              </a:rPr>
              <a:t>Câu còn ngắn</a:t>
            </a:r>
            <a:endParaRPr lang="en-US" sz="1400" dirty="0"/>
          </a:p>
        </p:txBody>
      </p:sp>
      <p:sp>
        <p:nvSpPr>
          <p:cNvPr id="17" name="Text 12"/>
          <p:cNvSpPr txBox="1"/>
          <p:nvPr/>
        </p:nvSpPr>
        <p:spPr>
          <a:xfrm>
            <a:off x="5097780" y="2606040"/>
            <a:ext cx="2857500" cy="502920"/>
          </a:xfrm>
          <a:prstGeom prst="rect">
            <a:avLst/>
          </a:prstGeom>
          <a:noFill/>
          <a:ln/>
        </p:spPr>
        <p:txBody>
          <a:bodyPr wrap="square" lIns="0" tIns="0" rIns="0" bIns="0" rtlCol="0" anchor="ctr"/>
          <a:lstStyle/>
          <a:p>
            <a:pPr marL="0" indent="0" algn="ctr">
              <a:buNone/>
            </a:pPr>
            <a:r>
              <a:rPr lang="en-US" sz="1400" b="1" dirty="0">
                <a:solidFill>
                  <a:srgbClr val="1B517B"/>
                </a:solidFill>
                <a:latin typeface="Arial" pitchFamily="34" charset="0"/>
                <a:ea typeface="Arial" pitchFamily="34" charset="-122"/>
                <a:cs typeface="Arial" pitchFamily="34" charset="-120"/>
              </a:rPr>
              <a:t>Câu đã dài</a:t>
            </a:r>
            <a:endParaRPr lang="en-US" sz="1400" dirty="0"/>
          </a:p>
        </p:txBody>
      </p:sp>
      <p:sp>
        <p:nvSpPr>
          <p:cNvPr id="18" name="Text 13"/>
          <p:cNvSpPr txBox="1"/>
          <p:nvPr/>
        </p:nvSpPr>
        <p:spPr>
          <a:xfrm>
            <a:off x="8092440" y="2606040"/>
            <a:ext cx="1645920" cy="502920"/>
          </a:xfrm>
          <a:prstGeom prst="rect">
            <a:avLst/>
          </a:prstGeom>
          <a:noFill/>
          <a:ln/>
        </p:spPr>
        <p:txBody>
          <a:bodyPr wrap="square" lIns="0" tIns="0" rIns="0" bIns="0" rtlCol="0" anchor="ctr"/>
          <a:lstStyle/>
          <a:p>
            <a:pPr marL="0" indent="0">
              <a:buNone/>
            </a:pPr>
            <a:r>
              <a:rPr lang="en-US" sz="1400" b="1" dirty="0">
                <a:solidFill>
                  <a:srgbClr val="B8262B"/>
                </a:solidFill>
                <a:latin typeface="Arial" pitchFamily="34" charset="0"/>
                <a:ea typeface="Arial" pitchFamily="34" charset="-122"/>
                <a:cs typeface="Arial" pitchFamily="34" charset="-120"/>
              </a:rPr>
              <a:t>Trần cứng</a:t>
            </a:r>
            <a:endParaRPr lang="en-US" sz="1400" dirty="0"/>
          </a:p>
        </p:txBody>
      </p:sp>
      <p:sp>
        <p:nvSpPr>
          <p:cNvPr id="19" name="Shape 14"/>
          <p:cNvSpPr/>
          <p:nvPr/>
        </p:nvSpPr>
        <p:spPr>
          <a:xfrm>
            <a:off x="1097280" y="3520440"/>
            <a:ext cx="3863340" cy="1371600"/>
          </a:xfrm>
          <a:prstGeom prst="roundRect">
            <a:avLst>
              <a:gd name="adj" fmla="val 5000"/>
            </a:avLst>
          </a:prstGeom>
          <a:solidFill>
            <a:srgbClr val="EEF4F9"/>
          </a:solidFill>
          <a:ln w="12700">
            <a:solidFill>
              <a:srgbClr val="EEF4F9"/>
            </a:solidFill>
            <a:prstDash val="solid"/>
          </a:ln>
        </p:spPr>
        <p:txBody>
          <a:bodyPr/>
          <a:lstStyle/>
          <a:p>
            <a:endParaRPr lang="en-US"/>
          </a:p>
        </p:txBody>
      </p:sp>
      <p:sp>
        <p:nvSpPr>
          <p:cNvPr id="20" name="Text 15"/>
          <p:cNvSpPr txBox="1"/>
          <p:nvPr/>
        </p:nvSpPr>
        <p:spPr>
          <a:xfrm>
            <a:off x="1234440" y="3584448"/>
            <a:ext cx="358902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Chờ im lặng 320 ms</a:t>
            </a:r>
            <a:endParaRPr lang="en-US" sz="1500" dirty="0"/>
          </a:p>
        </p:txBody>
      </p:sp>
      <p:sp>
        <p:nvSpPr>
          <p:cNvPr id="21" name="Text 16"/>
          <p:cNvSpPr txBox="1"/>
          <p:nvPr/>
        </p:nvSpPr>
        <p:spPr>
          <a:xfrm>
            <a:off x="1234440" y="3977640"/>
            <a:ext cx="3589020" cy="9144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Ngập ngừng giữa câu không bị coi là hết câu, nên người nói chậm không bị băm câu.</a:t>
            </a:r>
            <a:endParaRPr lang="en-US" sz="1300" dirty="0"/>
          </a:p>
        </p:txBody>
      </p:sp>
      <p:sp>
        <p:nvSpPr>
          <p:cNvPr id="22" name="Shape 17"/>
          <p:cNvSpPr/>
          <p:nvPr/>
        </p:nvSpPr>
        <p:spPr>
          <a:xfrm>
            <a:off x="5097780" y="3520440"/>
            <a:ext cx="2720340" cy="1371600"/>
          </a:xfrm>
          <a:prstGeom prst="roundRect">
            <a:avLst>
              <a:gd name="adj" fmla="val 5000"/>
            </a:avLst>
          </a:prstGeom>
          <a:solidFill>
            <a:srgbClr val="EEF4F9"/>
          </a:solidFill>
          <a:ln w="12700">
            <a:solidFill>
              <a:srgbClr val="EEF4F9"/>
            </a:solidFill>
            <a:prstDash val="solid"/>
          </a:ln>
        </p:spPr>
        <p:txBody>
          <a:bodyPr/>
          <a:lstStyle/>
          <a:p>
            <a:endParaRPr lang="en-US"/>
          </a:p>
        </p:txBody>
      </p:sp>
      <p:sp>
        <p:nvSpPr>
          <p:cNvPr id="23" name="Text 18"/>
          <p:cNvSpPr txBox="1"/>
          <p:nvPr/>
        </p:nvSpPr>
        <p:spPr>
          <a:xfrm>
            <a:off x="5234940" y="3584448"/>
            <a:ext cx="244602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Chốt ở hụt hơi 140 ms</a:t>
            </a:r>
            <a:endParaRPr lang="en-US" sz="1500" dirty="0"/>
          </a:p>
        </p:txBody>
      </p:sp>
      <p:sp>
        <p:nvSpPr>
          <p:cNvPr id="24" name="Text 19"/>
          <p:cNvSpPr txBox="1"/>
          <p:nvPr/>
        </p:nvSpPr>
        <p:spPr>
          <a:xfrm>
            <a:off x="5234940" y="3977640"/>
            <a:ext cx="2446020" cy="9144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Câu đã dài thì chỉ cần một chỗ ngừng ngắn là chốt, bản dịch ra sớm hơn.</a:t>
            </a:r>
            <a:endParaRPr lang="en-US" sz="1300" dirty="0"/>
          </a:p>
        </p:txBody>
      </p:sp>
      <p:sp>
        <p:nvSpPr>
          <p:cNvPr id="25" name="Shape 20"/>
          <p:cNvSpPr/>
          <p:nvPr/>
        </p:nvSpPr>
        <p:spPr>
          <a:xfrm>
            <a:off x="7955280" y="3520440"/>
            <a:ext cx="2971800" cy="1371600"/>
          </a:xfrm>
          <a:prstGeom prst="roundRect">
            <a:avLst>
              <a:gd name="adj" fmla="val 5000"/>
            </a:avLst>
          </a:prstGeom>
          <a:solidFill>
            <a:srgbClr val="FBEDED"/>
          </a:solidFill>
          <a:ln w="12700">
            <a:solidFill>
              <a:srgbClr val="FBEDED"/>
            </a:solidFill>
            <a:prstDash val="solid"/>
          </a:ln>
        </p:spPr>
        <p:txBody>
          <a:bodyPr/>
          <a:lstStyle/>
          <a:p>
            <a:endParaRPr lang="en-US"/>
          </a:p>
        </p:txBody>
      </p:sp>
      <p:sp>
        <p:nvSpPr>
          <p:cNvPr id="26" name="Text 21"/>
          <p:cNvSpPr txBox="1"/>
          <p:nvPr/>
        </p:nvSpPr>
        <p:spPr>
          <a:xfrm>
            <a:off x="8092440" y="3584448"/>
            <a:ext cx="2697480" cy="365760"/>
          </a:xfrm>
          <a:prstGeom prst="rect">
            <a:avLst/>
          </a:prstGeom>
          <a:noFill/>
          <a:ln/>
        </p:spPr>
        <p:txBody>
          <a:bodyPr wrap="square" lIns="0" tIns="0" rIns="0" bIns="0" rtlCol="0" anchor="t"/>
          <a:lstStyle/>
          <a:p>
            <a:pPr marL="0" indent="0">
              <a:buNone/>
            </a:pPr>
            <a:r>
              <a:rPr lang="en-US" sz="1500" b="1" dirty="0">
                <a:solidFill>
                  <a:srgbClr val="B8262B"/>
                </a:solidFill>
                <a:latin typeface="Arial" pitchFamily="34" charset="0"/>
                <a:ea typeface="Arial" pitchFamily="34" charset="-122"/>
                <a:cs typeface="Arial" pitchFamily="34" charset="-120"/>
              </a:rPr>
              <a:t>Cắt có lùi</a:t>
            </a:r>
            <a:endParaRPr lang="en-US" sz="1500" dirty="0"/>
          </a:p>
        </p:txBody>
      </p:sp>
      <p:sp>
        <p:nvSpPr>
          <p:cNvPr id="27" name="Text 22"/>
          <p:cNvSpPr txBox="1"/>
          <p:nvPr/>
        </p:nvSpPr>
        <p:spPr>
          <a:xfrm>
            <a:off x="8092440" y="3977640"/>
            <a:ext cx="2697480" cy="9144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Chạm 6 s thì cắt, nhưng lùi tối đa 400 ms để cắt ở chỗ yên nhất; đoạn sau lặp lại 100 ms để không mất âm đầu từ.</a:t>
            </a:r>
            <a:endParaRPr lang="en-US" sz="1300" dirty="0"/>
          </a:p>
        </p:txBody>
      </p:sp>
      <p:sp>
        <p:nvSpPr>
          <p:cNvPr id="28" name="Text 23"/>
          <p:cNvSpPr txBox="1"/>
          <p:nvPr/>
        </p:nvSpPr>
        <p:spPr>
          <a:xfrm>
            <a:off x="685800" y="5010912"/>
            <a:ext cx="10241280" cy="5943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Cái giá: </a:t>
            </a:r>
            <a:r>
              <a:rPr lang="en-US" sz="1500" b="0" dirty="0">
                <a:solidFill>
                  <a:srgbClr val="222222"/>
                </a:solidFill>
                <a:latin typeface="Arial" pitchFamily="34" charset="0"/>
                <a:ea typeface="Arial" pitchFamily="34" charset="-122"/>
                <a:cs typeface="Arial" pitchFamily="34" charset="-120"/>
              </a:rPr>
              <a:t>trần 6 s cắt giữa câu 30% số đoạn ở bản tin, 10% ở phỏng vấn, 0% ở TEDx. Các ngưỡng trên là của preset Cân bằng.</a:t>
            </a:r>
            <a:endParaRPr lang="en-US" sz="1500" dirty="0"/>
          </a:p>
        </p:txBody>
      </p:sp>
      <p:sp>
        <p:nvSpPr>
          <p:cNvPr id="29" name="Shape x516"/>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30"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31"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Câu dài nhất giờ là 6 s thay vì 20 s; với bản tin đọc liền mạch, 90% câu ngắn hơn 5,9 s</a:t>
            </a:r>
            <a:endParaRPr lang="vi-VN" sz="1500" b="0" i="0" dirty="0">
              <a:solidFill>
                <a:srgbClr val="B8262B"/>
              </a:solidFill>
              <a:latin typeface="Arial"/>
              <a:ea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3. Hai chiều dịch và chống vòng lặp âm thanh</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12</a:t>
            </a:r>
            <a:endParaRPr lang="en-US" sz="1100" dirty="0"/>
          </a:p>
        </p:txBody>
      </p:sp>
      <p:sp>
        <p:nvSpPr>
          <p:cNvPr id="8" name="Shape 3"/>
          <p:cNvSpPr/>
          <p:nvPr/>
        </p:nvSpPr>
        <p:spPr>
          <a:xfrm>
            <a:off x="685800" y="1417320"/>
            <a:ext cx="1325880" cy="822960"/>
          </a:xfrm>
          <a:prstGeom prst="roundRect">
            <a:avLst>
              <a:gd name="adj" fmla="val 8000"/>
            </a:avLst>
          </a:prstGeom>
          <a:solidFill>
            <a:srgbClr val="1B517B"/>
          </a:solidFill>
          <a:ln w="12700">
            <a:solidFill>
              <a:srgbClr val="1B517B"/>
            </a:solidFill>
            <a:prstDash val="solid"/>
          </a:ln>
        </p:spPr>
        <p:txBody>
          <a:bodyPr/>
          <a:lstStyle/>
          <a:p>
            <a:endParaRPr lang="en-US"/>
          </a:p>
        </p:txBody>
      </p:sp>
      <p:sp>
        <p:nvSpPr>
          <p:cNvPr id="9" name="Text 4"/>
          <p:cNvSpPr txBox="1"/>
          <p:nvPr/>
        </p:nvSpPr>
        <p:spPr>
          <a:xfrm>
            <a:off x="685800" y="1417320"/>
            <a:ext cx="132588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CHIỀU ĐI</a:t>
            </a:r>
            <a:endParaRPr lang="en-US" sz="1500" dirty="0"/>
          </a:p>
        </p:txBody>
      </p:sp>
      <p:sp>
        <p:nvSpPr>
          <p:cNvPr id="10" name="Shape 5"/>
          <p:cNvSpPr/>
          <p:nvPr/>
        </p:nvSpPr>
        <p:spPr>
          <a:xfrm>
            <a:off x="2240280" y="1417320"/>
            <a:ext cx="2377440" cy="822960"/>
          </a:xfrm>
          <a:prstGeom prst="roundRect">
            <a:avLst>
              <a:gd name="adj" fmla="val 8000"/>
            </a:avLst>
          </a:prstGeom>
          <a:solidFill>
            <a:srgbClr val="EEF4F9"/>
          </a:solidFill>
          <a:ln w="12700">
            <a:solidFill>
              <a:srgbClr val="EEF4F9"/>
            </a:solidFill>
            <a:prstDash val="solid"/>
          </a:ln>
        </p:spPr>
        <p:txBody>
          <a:bodyPr/>
          <a:lstStyle/>
          <a:p>
            <a:endParaRPr lang="en-US"/>
          </a:p>
        </p:txBody>
      </p:sp>
      <p:sp>
        <p:nvSpPr>
          <p:cNvPr id="11" name="Shape 6"/>
          <p:cNvSpPr/>
          <p:nvPr/>
        </p:nvSpPr>
        <p:spPr>
          <a:xfrm>
            <a:off x="2377440" y="1591056"/>
            <a:ext cx="475488" cy="475488"/>
          </a:xfrm>
          <a:prstGeom prst="ellipse">
            <a:avLst/>
          </a:prstGeom>
          <a:solidFill>
            <a:srgbClr val="1B517B"/>
          </a:solidFill>
          <a:ln w="12700">
            <a:solidFill>
              <a:srgbClr val="1B517B"/>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2496312" y="1709928"/>
            <a:ext cx="237744" cy="237744"/>
          </a:xfrm>
          <a:prstGeom prst="rect">
            <a:avLst/>
          </a:prstGeom>
        </p:spPr>
      </p:pic>
      <p:sp>
        <p:nvSpPr>
          <p:cNvPr id="13" name="Text 7"/>
          <p:cNvSpPr txBox="1"/>
          <p:nvPr/>
        </p:nvSpPr>
        <p:spPr>
          <a:xfrm>
            <a:off x="2971800" y="1417320"/>
            <a:ext cx="1554480" cy="822960"/>
          </a:xfrm>
          <a:prstGeom prst="rect">
            <a:avLst/>
          </a:prstGeom>
          <a:noFill/>
          <a:ln/>
        </p:spPr>
        <p:txBody>
          <a:bodyPr wrap="square" lIns="0" tIns="0" rIns="0" bIns="0" rtlCol="0" anchor="ctr"/>
          <a:lstStyle/>
          <a:p>
            <a:pPr marL="0" indent="0" algn="l">
              <a:buNone/>
            </a:pPr>
            <a:r>
              <a:rPr lang="en-US" sz="1400" dirty="0">
                <a:solidFill>
                  <a:srgbClr val="222222"/>
                </a:solidFill>
                <a:latin typeface="Arial" pitchFamily="34" charset="0"/>
                <a:ea typeface="Arial" pitchFamily="34" charset="-122"/>
                <a:cs typeface="Arial" pitchFamily="34" charset="-120"/>
              </a:rPr>
              <a:t>Microphone</a:t>
            </a:r>
            <a:endParaRPr lang="en-US" sz="1400" dirty="0"/>
          </a:p>
          <a:p>
            <a:pPr marL="0" indent="0" algn="l">
              <a:buNone/>
            </a:pPr>
            <a:r>
              <a:rPr lang="en-US" sz="1400" dirty="0">
                <a:solidFill>
                  <a:srgbClr val="222222"/>
                </a:solidFill>
                <a:latin typeface="Arial" pitchFamily="34" charset="0"/>
                <a:ea typeface="Arial" pitchFamily="34" charset="-122"/>
                <a:cs typeface="Arial" pitchFamily="34" charset="-120"/>
              </a:rPr>
              <a:t>(giữ phím để nói)</a:t>
            </a:r>
            <a:endParaRPr lang="en-US" sz="1400" dirty="0"/>
          </a:p>
        </p:txBody>
      </p:sp>
      <p:sp>
        <p:nvSpPr>
          <p:cNvPr id="14" name="Shape 8"/>
          <p:cNvSpPr/>
          <p:nvPr/>
        </p:nvSpPr>
        <p:spPr>
          <a:xfrm>
            <a:off x="4617720" y="1828800"/>
            <a:ext cx="411480" cy="0"/>
          </a:xfrm>
          <a:prstGeom prst="line">
            <a:avLst/>
          </a:prstGeom>
          <a:noFill/>
          <a:ln w="22225">
            <a:solidFill>
              <a:srgbClr val="1B517B"/>
            </a:solidFill>
            <a:prstDash val="solid"/>
            <a:tailEnd type="triangle"/>
          </a:ln>
        </p:spPr>
        <p:txBody>
          <a:bodyPr/>
          <a:lstStyle/>
          <a:p>
            <a:endParaRPr lang="en-US"/>
          </a:p>
        </p:txBody>
      </p:sp>
      <p:sp>
        <p:nvSpPr>
          <p:cNvPr id="15" name="Shape 9"/>
          <p:cNvSpPr/>
          <p:nvPr/>
        </p:nvSpPr>
        <p:spPr>
          <a:xfrm>
            <a:off x="5029200" y="1417320"/>
            <a:ext cx="2743200" cy="822960"/>
          </a:xfrm>
          <a:prstGeom prst="roundRect">
            <a:avLst>
              <a:gd name="adj" fmla="val 8000"/>
            </a:avLst>
          </a:prstGeom>
          <a:solidFill>
            <a:srgbClr val="EEF4F9"/>
          </a:solidFill>
          <a:ln w="12700">
            <a:solidFill>
              <a:srgbClr val="EEF4F9"/>
            </a:solidFill>
            <a:prstDash val="solid"/>
          </a:ln>
        </p:spPr>
        <p:txBody>
          <a:bodyPr/>
          <a:lstStyle/>
          <a:p>
            <a:endParaRPr lang="en-US"/>
          </a:p>
        </p:txBody>
      </p:sp>
      <p:sp>
        <p:nvSpPr>
          <p:cNvPr id="16" name="Text 10"/>
          <p:cNvSpPr txBox="1"/>
          <p:nvPr/>
        </p:nvSpPr>
        <p:spPr>
          <a:xfrm>
            <a:off x="5120640" y="1417320"/>
            <a:ext cx="2560320" cy="822960"/>
          </a:xfrm>
          <a:prstGeom prst="rect">
            <a:avLst/>
          </a:prstGeom>
          <a:noFill/>
          <a:ln/>
        </p:spPr>
        <p:txBody>
          <a:bodyPr wrap="square" lIns="0" tIns="0" rIns="0" bIns="0" rtlCol="0" anchor="ctr"/>
          <a:lstStyle/>
          <a:p>
            <a:pPr marL="0" indent="0" algn="ctr">
              <a:buNone/>
            </a:pPr>
            <a:r>
              <a:rPr lang="en-US" sz="1400" b="1" dirty="0">
                <a:solidFill>
                  <a:srgbClr val="1B517B"/>
                </a:solidFill>
                <a:latin typeface="Arial" pitchFamily="34" charset="0"/>
                <a:ea typeface="Arial" pitchFamily="34" charset="-122"/>
                <a:cs typeface="Arial" pitchFamily="34" charset="-120"/>
              </a:rPr>
              <a:t>VAD → ASR → MT → TTS</a:t>
            </a:r>
            <a:endParaRPr lang="en-US" sz="1400" dirty="0"/>
          </a:p>
        </p:txBody>
      </p:sp>
      <p:sp>
        <p:nvSpPr>
          <p:cNvPr id="17" name="Shape 11"/>
          <p:cNvSpPr/>
          <p:nvPr/>
        </p:nvSpPr>
        <p:spPr>
          <a:xfrm>
            <a:off x="7772400" y="1828800"/>
            <a:ext cx="411480" cy="0"/>
          </a:xfrm>
          <a:prstGeom prst="line">
            <a:avLst/>
          </a:prstGeom>
          <a:noFill/>
          <a:ln w="22225">
            <a:solidFill>
              <a:srgbClr val="1B517B"/>
            </a:solidFill>
            <a:prstDash val="solid"/>
            <a:tailEnd type="triangle"/>
          </a:ln>
        </p:spPr>
        <p:txBody>
          <a:bodyPr/>
          <a:lstStyle/>
          <a:p>
            <a:endParaRPr lang="en-US"/>
          </a:p>
        </p:txBody>
      </p:sp>
      <p:sp>
        <p:nvSpPr>
          <p:cNvPr id="18" name="Shape 12"/>
          <p:cNvSpPr/>
          <p:nvPr/>
        </p:nvSpPr>
        <p:spPr>
          <a:xfrm>
            <a:off x="8183880" y="1417320"/>
            <a:ext cx="2743200" cy="822960"/>
          </a:xfrm>
          <a:prstGeom prst="roundRect">
            <a:avLst>
              <a:gd name="adj" fmla="val 8000"/>
            </a:avLst>
          </a:prstGeom>
          <a:solidFill>
            <a:srgbClr val="EEF4F9"/>
          </a:solidFill>
          <a:ln w="12700">
            <a:solidFill>
              <a:srgbClr val="EEF4F9"/>
            </a:solidFill>
            <a:prstDash val="solid"/>
          </a:ln>
        </p:spPr>
        <p:txBody>
          <a:bodyPr/>
          <a:lstStyle/>
          <a:p>
            <a:endParaRPr lang="en-US"/>
          </a:p>
        </p:txBody>
      </p:sp>
      <p:sp>
        <p:nvSpPr>
          <p:cNvPr id="19" name="Shape 13"/>
          <p:cNvSpPr/>
          <p:nvPr/>
        </p:nvSpPr>
        <p:spPr>
          <a:xfrm>
            <a:off x="8321040" y="1591056"/>
            <a:ext cx="475488" cy="475488"/>
          </a:xfrm>
          <a:prstGeom prst="ellipse">
            <a:avLst/>
          </a:prstGeom>
          <a:solidFill>
            <a:srgbClr val="1B517B"/>
          </a:solidFill>
          <a:ln w="12700">
            <a:solidFill>
              <a:srgbClr val="1B517B"/>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439912" y="1709928"/>
            <a:ext cx="237744" cy="237744"/>
          </a:xfrm>
          <a:prstGeom prst="rect">
            <a:avLst/>
          </a:prstGeom>
        </p:spPr>
      </p:pic>
      <p:sp>
        <p:nvSpPr>
          <p:cNvPr id="21" name="Text 14"/>
          <p:cNvSpPr txBox="1"/>
          <p:nvPr/>
        </p:nvSpPr>
        <p:spPr>
          <a:xfrm>
            <a:off x="8915400" y="1417320"/>
            <a:ext cx="1920240" cy="822960"/>
          </a:xfrm>
          <a:prstGeom prst="rect">
            <a:avLst/>
          </a:prstGeom>
          <a:noFill/>
          <a:ln/>
        </p:spPr>
        <p:txBody>
          <a:bodyPr wrap="square" lIns="0" tIns="0" rIns="0" bIns="0" rtlCol="0" anchor="ctr"/>
          <a:lstStyle/>
          <a:p>
            <a:pPr marL="0" indent="0" algn="l">
              <a:buNone/>
            </a:pPr>
            <a:r>
              <a:rPr lang="en-US" sz="1400" dirty="0">
                <a:solidFill>
                  <a:srgbClr val="222222"/>
                </a:solidFill>
                <a:latin typeface="Arial" pitchFamily="34" charset="0"/>
                <a:ea typeface="Arial" pitchFamily="34" charset="-122"/>
                <a:cs typeface="Arial" pitchFamily="34" charset="-120"/>
              </a:rPr>
              <a:t>Phụ đề + giọng đọc bản dịch ra loa</a:t>
            </a:r>
            <a:endParaRPr lang="en-US" sz="1400" dirty="0"/>
          </a:p>
        </p:txBody>
      </p:sp>
      <p:sp>
        <p:nvSpPr>
          <p:cNvPr id="22" name="Shape 15"/>
          <p:cNvSpPr/>
          <p:nvPr/>
        </p:nvSpPr>
        <p:spPr>
          <a:xfrm>
            <a:off x="685800" y="2331720"/>
            <a:ext cx="1325880" cy="822960"/>
          </a:xfrm>
          <a:prstGeom prst="roundRect">
            <a:avLst>
              <a:gd name="adj" fmla="val 8000"/>
            </a:avLst>
          </a:prstGeom>
          <a:solidFill>
            <a:srgbClr val="487BA2"/>
          </a:solidFill>
          <a:ln w="12700">
            <a:solidFill>
              <a:srgbClr val="487BA2"/>
            </a:solidFill>
            <a:prstDash val="solid"/>
          </a:ln>
        </p:spPr>
        <p:txBody>
          <a:bodyPr/>
          <a:lstStyle/>
          <a:p>
            <a:endParaRPr lang="en-US"/>
          </a:p>
        </p:txBody>
      </p:sp>
      <p:sp>
        <p:nvSpPr>
          <p:cNvPr id="23" name="Text 16"/>
          <p:cNvSpPr txBox="1"/>
          <p:nvPr/>
        </p:nvSpPr>
        <p:spPr>
          <a:xfrm>
            <a:off x="685800" y="2331720"/>
            <a:ext cx="132588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CHIỀU VỀ</a:t>
            </a:r>
            <a:endParaRPr lang="en-US" sz="1500" dirty="0"/>
          </a:p>
        </p:txBody>
      </p:sp>
      <p:sp>
        <p:nvSpPr>
          <p:cNvPr id="24" name="Shape 17"/>
          <p:cNvSpPr/>
          <p:nvPr/>
        </p:nvSpPr>
        <p:spPr>
          <a:xfrm>
            <a:off x="2240280" y="2331720"/>
            <a:ext cx="2377440" cy="822960"/>
          </a:xfrm>
          <a:prstGeom prst="roundRect">
            <a:avLst>
              <a:gd name="adj" fmla="val 8000"/>
            </a:avLst>
          </a:prstGeom>
          <a:solidFill>
            <a:srgbClr val="EEF4F9"/>
          </a:solidFill>
          <a:ln w="12700">
            <a:solidFill>
              <a:srgbClr val="EEF4F9"/>
            </a:solidFill>
            <a:prstDash val="solid"/>
          </a:ln>
        </p:spPr>
        <p:txBody>
          <a:bodyPr/>
          <a:lstStyle/>
          <a:p>
            <a:endParaRPr lang="en-US"/>
          </a:p>
        </p:txBody>
      </p:sp>
      <p:sp>
        <p:nvSpPr>
          <p:cNvPr id="25" name="Shape 18"/>
          <p:cNvSpPr/>
          <p:nvPr/>
        </p:nvSpPr>
        <p:spPr>
          <a:xfrm>
            <a:off x="2377440" y="2505456"/>
            <a:ext cx="475488" cy="475488"/>
          </a:xfrm>
          <a:prstGeom prst="ellipse">
            <a:avLst/>
          </a:prstGeom>
          <a:solidFill>
            <a:srgbClr val="1B517B"/>
          </a:solidFill>
          <a:ln w="12700">
            <a:solidFill>
              <a:srgbClr val="1B517B"/>
            </a:solidFill>
            <a:prstDash val="solid"/>
          </a:ln>
        </p:spPr>
        <p:txBody>
          <a:bodyPr/>
          <a:lstStyle/>
          <a:p>
            <a:endParaRPr lang="en-US"/>
          </a:p>
        </p:txBody>
      </p:sp>
      <p:pic>
        <p:nvPicPr>
          <p:cNvPr id="26" name="Image 4" descr="preencoded.png"/>
          <p:cNvPicPr>
            <a:picLocks noChangeAspect="1"/>
          </p:cNvPicPr>
          <p:nvPr/>
        </p:nvPicPr>
        <p:blipFill>
          <a:blip r:embed="rId6"/>
          <a:stretch>
            <a:fillRect/>
          </a:stretch>
        </p:blipFill>
        <p:spPr>
          <a:xfrm>
            <a:off x="2496312" y="2624328"/>
            <a:ext cx="237744" cy="237744"/>
          </a:xfrm>
          <a:prstGeom prst="rect">
            <a:avLst/>
          </a:prstGeom>
        </p:spPr>
      </p:pic>
      <p:sp>
        <p:nvSpPr>
          <p:cNvPr id="27" name="Text 19"/>
          <p:cNvSpPr txBox="1"/>
          <p:nvPr/>
        </p:nvSpPr>
        <p:spPr>
          <a:xfrm>
            <a:off x="2971800" y="2331720"/>
            <a:ext cx="1554480" cy="822960"/>
          </a:xfrm>
          <a:prstGeom prst="rect">
            <a:avLst/>
          </a:prstGeom>
          <a:noFill/>
          <a:ln/>
        </p:spPr>
        <p:txBody>
          <a:bodyPr wrap="square" lIns="0" tIns="0" rIns="0" bIns="0" rtlCol="0" anchor="ctr"/>
          <a:lstStyle/>
          <a:p>
            <a:pPr marL="0" indent="0" algn="l">
              <a:buNone/>
            </a:pPr>
            <a:r>
              <a:rPr lang="en-US" sz="1400" dirty="0">
                <a:solidFill>
                  <a:srgbClr val="222222"/>
                </a:solidFill>
                <a:latin typeface="Arial" pitchFamily="34" charset="0"/>
                <a:ea typeface="Arial" pitchFamily="34" charset="-122"/>
                <a:cs typeface="Arial" pitchFamily="34" charset="-120"/>
              </a:rPr>
              <a:t>Âm thanh hệ thống</a:t>
            </a:r>
            <a:endParaRPr lang="en-US" sz="1400" dirty="0"/>
          </a:p>
          <a:p>
            <a:pPr marL="0" indent="0" algn="l">
              <a:buNone/>
            </a:pPr>
            <a:r>
              <a:rPr lang="en-US" sz="1400" dirty="0">
                <a:solidFill>
                  <a:srgbClr val="222222"/>
                </a:solidFill>
                <a:latin typeface="Arial" pitchFamily="34" charset="0"/>
                <a:ea typeface="Arial" pitchFamily="34" charset="-122"/>
                <a:cs typeface="Arial" pitchFamily="34" charset="-120"/>
              </a:rPr>
              <a:t>(thu liên tục)</a:t>
            </a:r>
            <a:endParaRPr lang="en-US" sz="1400" dirty="0"/>
          </a:p>
        </p:txBody>
      </p:sp>
      <p:sp>
        <p:nvSpPr>
          <p:cNvPr id="28" name="Shape 20"/>
          <p:cNvSpPr/>
          <p:nvPr/>
        </p:nvSpPr>
        <p:spPr>
          <a:xfrm>
            <a:off x="4617720" y="2743200"/>
            <a:ext cx="411480" cy="0"/>
          </a:xfrm>
          <a:prstGeom prst="line">
            <a:avLst/>
          </a:prstGeom>
          <a:noFill/>
          <a:ln w="22225">
            <a:solidFill>
              <a:srgbClr val="1B517B"/>
            </a:solidFill>
            <a:prstDash val="solid"/>
            <a:tailEnd type="triangle"/>
          </a:ln>
        </p:spPr>
        <p:txBody>
          <a:bodyPr/>
          <a:lstStyle/>
          <a:p>
            <a:endParaRPr lang="en-US"/>
          </a:p>
        </p:txBody>
      </p:sp>
      <p:sp>
        <p:nvSpPr>
          <p:cNvPr id="29" name="Shape 21"/>
          <p:cNvSpPr/>
          <p:nvPr/>
        </p:nvSpPr>
        <p:spPr>
          <a:xfrm>
            <a:off x="5029200" y="2331720"/>
            <a:ext cx="2743200" cy="822960"/>
          </a:xfrm>
          <a:prstGeom prst="roundRect">
            <a:avLst>
              <a:gd name="adj" fmla="val 8000"/>
            </a:avLst>
          </a:prstGeom>
          <a:solidFill>
            <a:srgbClr val="EEF4F9"/>
          </a:solidFill>
          <a:ln w="12700">
            <a:solidFill>
              <a:srgbClr val="EEF4F9"/>
            </a:solidFill>
            <a:prstDash val="solid"/>
          </a:ln>
        </p:spPr>
        <p:txBody>
          <a:bodyPr/>
          <a:lstStyle/>
          <a:p>
            <a:endParaRPr lang="en-US"/>
          </a:p>
        </p:txBody>
      </p:sp>
      <p:sp>
        <p:nvSpPr>
          <p:cNvPr id="30" name="Text 22"/>
          <p:cNvSpPr txBox="1"/>
          <p:nvPr/>
        </p:nvSpPr>
        <p:spPr>
          <a:xfrm>
            <a:off x="5120640" y="2331720"/>
            <a:ext cx="2560320" cy="822960"/>
          </a:xfrm>
          <a:prstGeom prst="rect">
            <a:avLst/>
          </a:prstGeom>
          <a:noFill/>
          <a:ln/>
        </p:spPr>
        <p:txBody>
          <a:bodyPr wrap="square" lIns="0" tIns="0" rIns="0" bIns="0" rtlCol="0" anchor="ctr"/>
          <a:lstStyle/>
          <a:p>
            <a:pPr marL="0" indent="0" algn="ctr">
              <a:buNone/>
            </a:pPr>
            <a:r>
              <a:rPr lang="en-US" sz="1400" b="1" dirty="0">
                <a:solidFill>
                  <a:srgbClr val="1B517B"/>
                </a:solidFill>
                <a:latin typeface="Arial" pitchFamily="34" charset="0"/>
                <a:ea typeface="Arial" pitchFamily="34" charset="-122"/>
                <a:cs typeface="Arial" pitchFamily="34" charset="-120"/>
              </a:rPr>
              <a:t>VAD → ASR → MT</a:t>
            </a:r>
            <a:endParaRPr lang="en-US" sz="1400" dirty="0"/>
          </a:p>
        </p:txBody>
      </p:sp>
      <p:sp>
        <p:nvSpPr>
          <p:cNvPr id="31" name="Shape 23"/>
          <p:cNvSpPr/>
          <p:nvPr/>
        </p:nvSpPr>
        <p:spPr>
          <a:xfrm>
            <a:off x="7772400" y="2743200"/>
            <a:ext cx="411480" cy="0"/>
          </a:xfrm>
          <a:prstGeom prst="line">
            <a:avLst/>
          </a:prstGeom>
          <a:noFill/>
          <a:ln w="22225">
            <a:solidFill>
              <a:srgbClr val="1B517B"/>
            </a:solidFill>
            <a:prstDash val="solid"/>
            <a:tailEnd type="triangle"/>
          </a:ln>
        </p:spPr>
        <p:txBody>
          <a:bodyPr/>
          <a:lstStyle/>
          <a:p>
            <a:endParaRPr lang="en-US"/>
          </a:p>
        </p:txBody>
      </p:sp>
      <p:sp>
        <p:nvSpPr>
          <p:cNvPr id="32" name="Shape 24"/>
          <p:cNvSpPr/>
          <p:nvPr/>
        </p:nvSpPr>
        <p:spPr>
          <a:xfrm>
            <a:off x="8183880" y="2331720"/>
            <a:ext cx="2743200" cy="822960"/>
          </a:xfrm>
          <a:prstGeom prst="roundRect">
            <a:avLst>
              <a:gd name="adj" fmla="val 8000"/>
            </a:avLst>
          </a:prstGeom>
          <a:solidFill>
            <a:srgbClr val="EEF4F9"/>
          </a:solidFill>
          <a:ln w="12700">
            <a:solidFill>
              <a:srgbClr val="EEF4F9"/>
            </a:solidFill>
            <a:prstDash val="solid"/>
          </a:ln>
        </p:spPr>
        <p:txBody>
          <a:bodyPr/>
          <a:lstStyle/>
          <a:p>
            <a:endParaRPr lang="en-US"/>
          </a:p>
        </p:txBody>
      </p:sp>
      <p:sp>
        <p:nvSpPr>
          <p:cNvPr id="33" name="Shape 25"/>
          <p:cNvSpPr/>
          <p:nvPr/>
        </p:nvSpPr>
        <p:spPr>
          <a:xfrm>
            <a:off x="8321040" y="2505456"/>
            <a:ext cx="475488" cy="475488"/>
          </a:xfrm>
          <a:prstGeom prst="ellipse">
            <a:avLst/>
          </a:prstGeom>
          <a:solidFill>
            <a:srgbClr val="1B517B"/>
          </a:solidFill>
          <a:ln w="12700">
            <a:solidFill>
              <a:srgbClr val="1B517B"/>
            </a:solidFill>
            <a:prstDash val="solid"/>
          </a:ln>
        </p:spPr>
        <p:txBody>
          <a:bodyPr/>
          <a:lstStyle/>
          <a:p>
            <a:endParaRPr lang="en-US"/>
          </a:p>
        </p:txBody>
      </p:sp>
      <p:pic>
        <p:nvPicPr>
          <p:cNvPr id="34" name="Image 5" descr="preencoded.png"/>
          <p:cNvPicPr>
            <a:picLocks noChangeAspect="1"/>
          </p:cNvPicPr>
          <p:nvPr/>
        </p:nvPicPr>
        <p:blipFill>
          <a:blip r:embed="rId7"/>
          <a:stretch>
            <a:fillRect/>
          </a:stretch>
        </p:blipFill>
        <p:spPr>
          <a:xfrm>
            <a:off x="8439912" y="2624328"/>
            <a:ext cx="237744" cy="237744"/>
          </a:xfrm>
          <a:prstGeom prst="rect">
            <a:avLst/>
          </a:prstGeom>
        </p:spPr>
      </p:pic>
      <p:sp>
        <p:nvSpPr>
          <p:cNvPr id="35" name="Text 26"/>
          <p:cNvSpPr txBox="1"/>
          <p:nvPr/>
        </p:nvSpPr>
        <p:spPr>
          <a:xfrm>
            <a:off x="8915400" y="2331720"/>
            <a:ext cx="1920240" cy="822960"/>
          </a:xfrm>
          <a:prstGeom prst="rect">
            <a:avLst/>
          </a:prstGeom>
          <a:noFill/>
          <a:ln/>
        </p:spPr>
        <p:txBody>
          <a:bodyPr wrap="square" lIns="0" tIns="0" rIns="0" bIns="0" rtlCol="0" anchor="ctr"/>
          <a:lstStyle/>
          <a:p>
            <a:pPr marL="0" indent="0" algn="l">
              <a:buNone/>
            </a:pPr>
            <a:r>
              <a:rPr lang="en-US" sz="1400" dirty="0">
                <a:solidFill>
                  <a:srgbClr val="222222"/>
                </a:solidFill>
                <a:latin typeface="Arial" pitchFamily="34" charset="0"/>
                <a:ea typeface="Arial" pitchFamily="34" charset="-122"/>
                <a:cs typeface="Arial" pitchFamily="34" charset="-120"/>
              </a:rPr>
              <a:t>Phụ đề song ngữ</a:t>
            </a:r>
            <a:endParaRPr lang="en-US" sz="1400" dirty="0"/>
          </a:p>
          <a:p>
            <a:pPr marL="0" indent="0" algn="l">
              <a:buNone/>
            </a:pPr>
            <a:r>
              <a:rPr lang="en-US" sz="1400" dirty="0">
                <a:solidFill>
                  <a:srgbClr val="222222"/>
                </a:solidFill>
                <a:latin typeface="Arial" pitchFamily="34" charset="0"/>
                <a:ea typeface="Arial" pitchFamily="34" charset="-122"/>
                <a:cs typeface="Arial" pitchFamily="34" charset="-120"/>
              </a:rPr>
              <a:t>(không đọc thành tiếng)</a:t>
            </a:r>
            <a:endParaRPr lang="en-US" sz="1400" dirty="0"/>
          </a:p>
        </p:txBody>
      </p:sp>
      <p:sp>
        <p:nvSpPr>
          <p:cNvPr id="36" name="Shape 27"/>
          <p:cNvSpPr/>
          <p:nvPr/>
        </p:nvSpPr>
        <p:spPr>
          <a:xfrm>
            <a:off x="685800" y="3337560"/>
            <a:ext cx="3246120" cy="2148840"/>
          </a:xfrm>
          <a:prstGeom prst="roundRect">
            <a:avLst>
              <a:gd name="adj" fmla="val 3077"/>
            </a:avLst>
          </a:prstGeom>
          <a:solidFill>
            <a:srgbClr val="FBEDED"/>
          </a:solidFill>
          <a:ln w="12700">
            <a:solidFill>
              <a:srgbClr val="FBEDED"/>
            </a:solidFill>
            <a:prstDash val="solid"/>
          </a:ln>
        </p:spPr>
        <p:txBody>
          <a:bodyPr/>
          <a:lstStyle/>
          <a:p>
            <a:endParaRPr lang="en-US"/>
          </a:p>
        </p:txBody>
      </p:sp>
      <p:sp>
        <p:nvSpPr>
          <p:cNvPr id="37" name="Shape 28"/>
          <p:cNvSpPr/>
          <p:nvPr/>
        </p:nvSpPr>
        <p:spPr>
          <a:xfrm>
            <a:off x="868680" y="3474720"/>
            <a:ext cx="512064" cy="512064"/>
          </a:xfrm>
          <a:prstGeom prst="ellipse">
            <a:avLst/>
          </a:prstGeom>
          <a:solidFill>
            <a:srgbClr val="B8262B"/>
          </a:solidFill>
          <a:ln w="12700">
            <a:solidFill>
              <a:srgbClr val="B8262B"/>
            </a:solidFill>
            <a:prstDash val="solid"/>
          </a:ln>
        </p:spPr>
        <p:txBody>
          <a:bodyPr/>
          <a:lstStyle/>
          <a:p>
            <a:endParaRPr lang="en-US"/>
          </a:p>
        </p:txBody>
      </p:sp>
      <p:pic>
        <p:nvPicPr>
          <p:cNvPr id="38" name="Image 6" descr="preencoded.png"/>
          <p:cNvPicPr>
            <a:picLocks noChangeAspect="1"/>
          </p:cNvPicPr>
          <p:nvPr/>
        </p:nvPicPr>
        <p:blipFill>
          <a:blip r:embed="rId8"/>
          <a:stretch>
            <a:fillRect/>
          </a:stretch>
        </p:blipFill>
        <p:spPr>
          <a:xfrm>
            <a:off x="991575" y="3597615"/>
            <a:ext cx="266273" cy="266273"/>
          </a:xfrm>
          <a:prstGeom prst="rect">
            <a:avLst/>
          </a:prstGeom>
        </p:spPr>
      </p:pic>
      <p:sp>
        <p:nvSpPr>
          <p:cNvPr id="39" name="Text 29"/>
          <p:cNvSpPr txBox="1"/>
          <p:nvPr/>
        </p:nvSpPr>
        <p:spPr>
          <a:xfrm>
            <a:off x="1508760" y="3474720"/>
            <a:ext cx="2331720" cy="512064"/>
          </a:xfrm>
          <a:prstGeom prst="rect">
            <a:avLst/>
          </a:prstGeom>
          <a:noFill/>
          <a:ln/>
        </p:spPr>
        <p:txBody>
          <a:bodyPr wrap="square" lIns="0" tIns="0" rIns="0" bIns="0" rtlCol="0" anchor="ctr"/>
          <a:lstStyle/>
          <a:p>
            <a:pPr marL="0" indent="0">
              <a:buNone/>
            </a:pPr>
            <a:r>
              <a:rPr lang="en-US" sz="1500" b="1" dirty="0">
                <a:solidFill>
                  <a:srgbClr val="B8262B"/>
                </a:solidFill>
                <a:latin typeface="Arial" pitchFamily="34" charset="0"/>
                <a:ea typeface="Arial" pitchFamily="34" charset="-122"/>
                <a:cs typeface="Arial" pitchFamily="34" charset="-120"/>
              </a:rPr>
              <a:t>Chống vòng lặp</a:t>
            </a:r>
            <a:endParaRPr lang="en-US" sz="1500" dirty="0"/>
          </a:p>
        </p:txBody>
      </p:sp>
      <p:sp>
        <p:nvSpPr>
          <p:cNvPr id="40" name="Text 30"/>
          <p:cNvSpPr txBox="1"/>
          <p:nvPr/>
        </p:nvSpPr>
        <p:spPr>
          <a:xfrm>
            <a:off x="868680" y="4114800"/>
            <a:ext cx="2926080" cy="128016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Giọng đọc bản dịch cũng là âm thanh của máy, nên chiều về sẽ thu lại rồi dịch tiếp. Trong lúc đọc, ứng dụng bỏ qua âm thanh hệ thống và hiện "Tạm ngưng thu".</a:t>
            </a:r>
            <a:endParaRPr lang="en-US" sz="1300" dirty="0"/>
          </a:p>
        </p:txBody>
      </p:sp>
      <p:sp>
        <p:nvSpPr>
          <p:cNvPr id="41" name="Shape 31"/>
          <p:cNvSpPr/>
          <p:nvPr/>
        </p:nvSpPr>
        <p:spPr>
          <a:xfrm>
            <a:off x="4160520" y="3337560"/>
            <a:ext cx="3246120" cy="2148840"/>
          </a:xfrm>
          <a:prstGeom prst="roundRect">
            <a:avLst>
              <a:gd name="adj" fmla="val 3077"/>
            </a:avLst>
          </a:prstGeom>
          <a:solidFill>
            <a:srgbClr val="EEF4F9"/>
          </a:solidFill>
          <a:ln w="12700">
            <a:solidFill>
              <a:srgbClr val="EEF4F9"/>
            </a:solidFill>
            <a:prstDash val="solid"/>
          </a:ln>
        </p:spPr>
        <p:txBody>
          <a:bodyPr/>
          <a:lstStyle/>
          <a:p>
            <a:endParaRPr lang="en-US"/>
          </a:p>
        </p:txBody>
      </p:sp>
      <p:sp>
        <p:nvSpPr>
          <p:cNvPr id="42" name="Shape 32"/>
          <p:cNvSpPr/>
          <p:nvPr/>
        </p:nvSpPr>
        <p:spPr>
          <a:xfrm>
            <a:off x="4343400" y="3474720"/>
            <a:ext cx="512064" cy="512064"/>
          </a:xfrm>
          <a:prstGeom prst="ellipse">
            <a:avLst/>
          </a:prstGeom>
          <a:solidFill>
            <a:srgbClr val="1B517B"/>
          </a:solidFill>
          <a:ln w="12700">
            <a:solidFill>
              <a:srgbClr val="1B517B"/>
            </a:solidFill>
            <a:prstDash val="solid"/>
          </a:ln>
        </p:spPr>
        <p:txBody>
          <a:bodyPr/>
          <a:lstStyle/>
          <a:p>
            <a:endParaRPr lang="en-US"/>
          </a:p>
        </p:txBody>
      </p:sp>
      <p:pic>
        <p:nvPicPr>
          <p:cNvPr id="43" name="Image 7" descr="preencoded.png"/>
          <p:cNvPicPr>
            <a:picLocks noChangeAspect="1"/>
          </p:cNvPicPr>
          <p:nvPr/>
        </p:nvPicPr>
        <p:blipFill>
          <a:blip r:embed="rId9"/>
          <a:stretch>
            <a:fillRect/>
          </a:stretch>
        </p:blipFill>
        <p:spPr>
          <a:xfrm>
            <a:off x="4466295" y="3597615"/>
            <a:ext cx="266273" cy="266273"/>
          </a:xfrm>
          <a:prstGeom prst="rect">
            <a:avLst/>
          </a:prstGeom>
        </p:spPr>
      </p:pic>
      <p:sp>
        <p:nvSpPr>
          <p:cNvPr id="44" name="Text 33"/>
          <p:cNvSpPr txBox="1"/>
          <p:nvPr/>
        </p:nvSpPr>
        <p:spPr>
          <a:xfrm>
            <a:off x="4983480" y="3474720"/>
            <a:ext cx="2331720" cy="512064"/>
          </a:xfrm>
          <a:prstGeom prst="rect">
            <a:avLst/>
          </a:prstGeom>
          <a:noFill/>
          <a:ln/>
        </p:spPr>
        <p:txBody>
          <a:bodyPr wrap="square" lIns="0" tIns="0" rIns="0" bIns="0" rtlCol="0" anchor="ctr"/>
          <a:lstStyle/>
          <a:p>
            <a:pPr marL="0" indent="0">
              <a:buNone/>
            </a:pPr>
            <a:r>
              <a:rPr lang="en-US" sz="1500" b="1" dirty="0">
                <a:solidFill>
                  <a:srgbClr val="1B517B"/>
                </a:solidFill>
                <a:latin typeface="Arial" pitchFamily="34" charset="0"/>
                <a:ea typeface="Arial" pitchFamily="34" charset="-122"/>
                <a:cs typeface="Arial" pitchFamily="34" charset="-120"/>
              </a:rPr>
              <a:t>Nhả phím là chốt câu</a:t>
            </a:r>
            <a:endParaRPr lang="en-US" sz="1500" dirty="0"/>
          </a:p>
        </p:txBody>
      </p:sp>
      <p:sp>
        <p:nvSpPr>
          <p:cNvPr id="45" name="Text 34"/>
          <p:cNvSpPr txBox="1"/>
          <p:nvPr/>
        </p:nvSpPr>
        <p:spPr>
          <a:xfrm>
            <a:off x="4343400" y="4114800"/>
            <a:ext cx="2926080" cy="128016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Nhả phím thì ứng dụng ngừng gửi âm thanh, nên VAD không thấy khoảng lặng nào để chốt câu. Em thêm VadStream.flush() vào port VAD để chốt ngay lúc nhả phím.</a:t>
            </a:r>
            <a:endParaRPr lang="en-US" sz="1300" dirty="0"/>
          </a:p>
        </p:txBody>
      </p:sp>
      <p:sp>
        <p:nvSpPr>
          <p:cNvPr id="46" name="Shape 35"/>
          <p:cNvSpPr/>
          <p:nvPr/>
        </p:nvSpPr>
        <p:spPr>
          <a:xfrm>
            <a:off x="7635240" y="3337560"/>
            <a:ext cx="3246120" cy="2148840"/>
          </a:xfrm>
          <a:prstGeom prst="roundRect">
            <a:avLst>
              <a:gd name="adj" fmla="val 3077"/>
            </a:avLst>
          </a:prstGeom>
          <a:solidFill>
            <a:srgbClr val="EEF4F9"/>
          </a:solidFill>
          <a:ln w="12700">
            <a:solidFill>
              <a:srgbClr val="EEF4F9"/>
            </a:solidFill>
            <a:prstDash val="solid"/>
          </a:ln>
        </p:spPr>
        <p:txBody>
          <a:bodyPr/>
          <a:lstStyle/>
          <a:p>
            <a:endParaRPr lang="en-US"/>
          </a:p>
        </p:txBody>
      </p:sp>
      <p:sp>
        <p:nvSpPr>
          <p:cNvPr id="47" name="Shape 36"/>
          <p:cNvSpPr/>
          <p:nvPr/>
        </p:nvSpPr>
        <p:spPr>
          <a:xfrm>
            <a:off x="7818120" y="3474720"/>
            <a:ext cx="512064" cy="512064"/>
          </a:xfrm>
          <a:prstGeom prst="ellipse">
            <a:avLst/>
          </a:prstGeom>
          <a:solidFill>
            <a:srgbClr val="1B517B"/>
          </a:solidFill>
          <a:ln w="12700">
            <a:solidFill>
              <a:srgbClr val="1B517B"/>
            </a:solidFill>
            <a:prstDash val="solid"/>
          </a:ln>
        </p:spPr>
        <p:txBody>
          <a:bodyPr/>
          <a:lstStyle/>
          <a:p>
            <a:endParaRPr lang="en-US"/>
          </a:p>
        </p:txBody>
      </p:sp>
      <p:pic>
        <p:nvPicPr>
          <p:cNvPr id="48" name="Image 8" descr="preencoded.png"/>
          <p:cNvPicPr>
            <a:picLocks noChangeAspect="1"/>
          </p:cNvPicPr>
          <p:nvPr/>
        </p:nvPicPr>
        <p:blipFill>
          <a:blip r:embed="rId10"/>
          <a:stretch>
            <a:fillRect/>
          </a:stretch>
        </p:blipFill>
        <p:spPr>
          <a:xfrm>
            <a:off x="7941015" y="3597615"/>
            <a:ext cx="266273" cy="266273"/>
          </a:xfrm>
          <a:prstGeom prst="rect">
            <a:avLst/>
          </a:prstGeom>
        </p:spPr>
      </p:pic>
      <p:sp>
        <p:nvSpPr>
          <p:cNvPr id="49" name="Text 37"/>
          <p:cNvSpPr txBox="1"/>
          <p:nvPr/>
        </p:nvSpPr>
        <p:spPr>
          <a:xfrm>
            <a:off x="8458200" y="3474720"/>
            <a:ext cx="2331720" cy="512064"/>
          </a:xfrm>
          <a:prstGeom prst="rect">
            <a:avLst/>
          </a:prstGeom>
          <a:noFill/>
          <a:ln/>
        </p:spPr>
        <p:txBody>
          <a:bodyPr wrap="square" lIns="0" tIns="0" rIns="0" bIns="0" rtlCol="0" anchor="ctr"/>
          <a:lstStyle/>
          <a:p>
            <a:pPr marL="0" indent="0">
              <a:buNone/>
            </a:pPr>
            <a:r>
              <a:rPr lang="en-US" sz="1500" b="1" dirty="0">
                <a:solidFill>
                  <a:srgbClr val="1B517B"/>
                </a:solidFill>
                <a:latin typeface="Arial" pitchFamily="34" charset="0"/>
                <a:ea typeface="Arial" pitchFamily="34" charset="-122"/>
                <a:cs typeface="Arial" pitchFamily="34" charset="-120"/>
              </a:rPr>
              <a:t>Chặn hai lần</a:t>
            </a:r>
            <a:endParaRPr lang="en-US" sz="1500" dirty="0"/>
          </a:p>
        </p:txBody>
      </p:sp>
      <p:sp>
        <p:nvSpPr>
          <p:cNvPr id="50" name="Text 38"/>
          <p:cNvSpPr txBox="1"/>
          <p:nvPr/>
        </p:nvSpPr>
        <p:spPr>
          <a:xfrm>
            <a:off x="7818120" y="4114800"/>
            <a:ext cx="2926080" cy="128016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Ngoài lúc giữ phím, ứng dụng không gửi âm thanh micro, và dịch vụ cũng tự bỏ khung micro gửi đến. Một phía sai thì phía kia vẫn chặn.</a:t>
            </a:r>
            <a:endParaRPr lang="en-US" sz="1300" dirty="0"/>
          </a:p>
        </p:txBody>
      </p:sp>
      <p:sp>
        <p:nvSpPr>
          <p:cNvPr id="51" name="Shape x519"/>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52"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53"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600" b="1" i="0" dirty="0">
                <a:solidFill>
                  <a:srgbClr val="B8262B"/>
                </a:solidFill>
                <a:latin typeface="Arial"/>
                <a:ea typeface="Arial"/>
                <a:cs typeface="Arial"/>
              </a:rPr>
              <a:t>Hai chiều chạy cùng lúc mà bản dịch đang phát không bị thu lại rồi dịch tiếp</a:t>
            </a:r>
            <a:endParaRPr lang="vi-VN" sz="1600" b="0" i="0" dirty="0">
              <a:solidFill>
                <a:srgbClr val="B8262B"/>
              </a:solidFill>
              <a:latin typeface="Arial"/>
              <a:ea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4. Ứng dụng desktop</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13</a:t>
            </a:r>
            <a:endParaRPr lang="en-US" sz="1100" dirty="0"/>
          </a:p>
        </p:txBody>
      </p:sp>
      <p:pic>
        <p:nvPicPr>
          <p:cNvPr id="8" name="Image 2" descr="C:\Users\hhung\AppData\Local\Temp\claude\d--Project-local-live-voice-translator\d0343c7e-f558-4e8b-8c62-5b900df8bea6\scratchpad\build\img\h3-16-lich-su.png"/>
          <p:cNvPicPr>
            <a:picLocks noChangeAspect="1"/>
          </p:cNvPicPr>
          <p:nvPr/>
        </p:nvPicPr>
        <p:blipFill>
          <a:blip r:embed="rId5"/>
          <a:stretch>
            <a:fillRect/>
          </a:stretch>
        </p:blipFill>
        <p:spPr>
          <a:xfrm>
            <a:off x="685800" y="1417320"/>
            <a:ext cx="5669280" cy="3429000"/>
          </a:xfrm>
          <a:prstGeom prst="rect">
            <a:avLst/>
          </a:prstGeom>
        </p:spPr>
      </p:pic>
      <p:sp>
        <p:nvSpPr>
          <p:cNvPr id="9" name="Shape 3"/>
          <p:cNvSpPr/>
          <p:nvPr/>
        </p:nvSpPr>
        <p:spPr>
          <a:xfrm>
            <a:off x="685800" y="1417320"/>
            <a:ext cx="5669280" cy="3429000"/>
          </a:xfrm>
          <a:prstGeom prst="rect">
            <a:avLst/>
          </a:prstGeom>
          <a:ln w="12700">
            <a:solidFill>
              <a:srgbClr val="C9D6E2"/>
            </a:solidFill>
            <a:prstDash val="solid"/>
          </a:ln>
        </p:spPr>
        <p:txBody>
          <a:bodyPr/>
          <a:lstStyle/>
          <a:p>
            <a:endParaRPr lang="en-US"/>
          </a:p>
        </p:txBody>
      </p:sp>
      <p:sp>
        <p:nvSpPr>
          <p:cNvPr id="10" name="Text 4"/>
          <p:cNvSpPr txBox="1"/>
          <p:nvPr/>
        </p:nvSpPr>
        <p:spPr>
          <a:xfrm>
            <a:off x="685800" y="4873752"/>
            <a:ext cx="5669280" cy="274320"/>
          </a:xfrm>
          <a:prstGeom prst="rect">
            <a:avLst/>
          </a:prstGeom>
          <a:noFill/>
          <a:ln/>
        </p:spPr>
        <p:txBody>
          <a:bodyPr wrap="square" lIns="0" tIns="0" rIns="0" bIns="0" rtlCol="0" anchor="t"/>
          <a:lstStyle/>
          <a:p>
            <a:pPr marL="0" indent="0" algn="ctr">
              <a:buNone/>
            </a:pPr>
            <a:r>
              <a:rPr lang="en-US" sz="1200" i="1" dirty="0">
                <a:solidFill>
                  <a:srgbClr val="5F6B76"/>
                </a:solidFill>
                <a:latin typeface="Arial" pitchFamily="34" charset="0"/>
                <a:ea typeface="Arial" pitchFamily="34" charset="-122"/>
                <a:cs typeface="Arial" pitchFamily="34" charset="-120"/>
              </a:rPr>
              <a:t>Lịch sử: bản gốc và bản dịch của cả hai chiều</a:t>
            </a:r>
            <a:endParaRPr lang="en-US" sz="1200" dirty="0"/>
          </a:p>
        </p:txBody>
      </p:sp>
      <p:pic>
        <p:nvPicPr>
          <p:cNvPr id="11" name="Image 3" descr="C:\Users\hhung\AppData\Local\Temp\claude\d--Project-local-live-voice-translator\d0343c7e-f558-4e8b-8c62-5b900df8bea6\scratchpad\build\img\h3-11-thiet-lap.png"/>
          <p:cNvPicPr>
            <a:picLocks noChangeAspect="1"/>
          </p:cNvPicPr>
          <p:nvPr/>
        </p:nvPicPr>
        <p:blipFill>
          <a:blip r:embed="rId6"/>
          <a:stretch>
            <a:fillRect/>
          </a:stretch>
        </p:blipFill>
        <p:spPr>
          <a:xfrm>
            <a:off x="6675120" y="1417320"/>
            <a:ext cx="2871216" cy="1737360"/>
          </a:xfrm>
          <a:prstGeom prst="rect">
            <a:avLst/>
          </a:prstGeom>
        </p:spPr>
      </p:pic>
      <p:sp>
        <p:nvSpPr>
          <p:cNvPr id="12" name="Shape 5"/>
          <p:cNvSpPr/>
          <p:nvPr/>
        </p:nvSpPr>
        <p:spPr>
          <a:xfrm>
            <a:off x="6675120" y="1417320"/>
            <a:ext cx="2871216" cy="1737360"/>
          </a:xfrm>
          <a:prstGeom prst="rect">
            <a:avLst/>
          </a:prstGeom>
          <a:ln w="12700">
            <a:solidFill>
              <a:srgbClr val="C9D6E2"/>
            </a:solidFill>
            <a:prstDash val="solid"/>
          </a:ln>
        </p:spPr>
        <p:txBody>
          <a:bodyPr/>
          <a:lstStyle/>
          <a:p>
            <a:endParaRPr lang="en-US"/>
          </a:p>
        </p:txBody>
      </p:sp>
      <p:sp>
        <p:nvSpPr>
          <p:cNvPr id="13" name="Text 6"/>
          <p:cNvSpPr txBox="1"/>
          <p:nvPr/>
        </p:nvSpPr>
        <p:spPr>
          <a:xfrm>
            <a:off x="6675120" y="3182112"/>
            <a:ext cx="2871216" cy="274320"/>
          </a:xfrm>
          <a:prstGeom prst="rect">
            <a:avLst/>
          </a:prstGeom>
          <a:noFill/>
          <a:ln/>
        </p:spPr>
        <p:txBody>
          <a:bodyPr wrap="square" lIns="0" tIns="0" rIns="0" bIns="0" rtlCol="0" anchor="t"/>
          <a:lstStyle/>
          <a:p>
            <a:pPr marL="0" indent="0" algn="ctr">
              <a:buNone/>
            </a:pPr>
            <a:r>
              <a:rPr lang="en-US" sz="1200" i="1" dirty="0">
                <a:solidFill>
                  <a:srgbClr val="5F6B76"/>
                </a:solidFill>
                <a:latin typeface="Arial" pitchFamily="34" charset="0"/>
                <a:ea typeface="Arial" pitchFamily="34" charset="-122"/>
                <a:cs typeface="Arial" pitchFamily="34" charset="-120"/>
              </a:rPr>
              <a:t>Thiết bị âm thanh và GPU</a:t>
            </a:r>
            <a:endParaRPr lang="en-US" sz="1200" dirty="0"/>
          </a:p>
        </p:txBody>
      </p:sp>
      <p:pic>
        <p:nvPicPr>
          <p:cNvPr id="14" name="Image 4" descr="C:\Users\hhung\AppData\Local\Temp\claude\d--Project-local-live-voice-translator\d0343c7e-f558-4e8b-8c62-5b900df8bea6\scratchpad\build\img\h3-13-mo-hinh.png"/>
          <p:cNvPicPr>
            <a:picLocks noChangeAspect="1"/>
          </p:cNvPicPr>
          <p:nvPr/>
        </p:nvPicPr>
        <p:blipFill>
          <a:blip r:embed="rId7"/>
          <a:stretch>
            <a:fillRect/>
          </a:stretch>
        </p:blipFill>
        <p:spPr>
          <a:xfrm>
            <a:off x="6675120" y="3547872"/>
            <a:ext cx="2871216" cy="1737360"/>
          </a:xfrm>
          <a:prstGeom prst="rect">
            <a:avLst/>
          </a:prstGeom>
        </p:spPr>
      </p:pic>
      <p:sp>
        <p:nvSpPr>
          <p:cNvPr id="15" name="Shape 7"/>
          <p:cNvSpPr/>
          <p:nvPr/>
        </p:nvSpPr>
        <p:spPr>
          <a:xfrm>
            <a:off x="6675120" y="3547872"/>
            <a:ext cx="2871216" cy="1737360"/>
          </a:xfrm>
          <a:prstGeom prst="rect">
            <a:avLst/>
          </a:prstGeom>
          <a:ln w="12700">
            <a:solidFill>
              <a:srgbClr val="C9D6E2"/>
            </a:solidFill>
            <a:prstDash val="solid"/>
          </a:ln>
        </p:spPr>
        <p:txBody>
          <a:bodyPr/>
          <a:lstStyle/>
          <a:p>
            <a:endParaRPr lang="en-US"/>
          </a:p>
        </p:txBody>
      </p:sp>
      <p:sp>
        <p:nvSpPr>
          <p:cNvPr id="16" name="Text 8"/>
          <p:cNvSpPr txBox="1"/>
          <p:nvPr/>
        </p:nvSpPr>
        <p:spPr>
          <a:xfrm>
            <a:off x="6675120" y="5312664"/>
            <a:ext cx="2871216" cy="274320"/>
          </a:xfrm>
          <a:prstGeom prst="rect">
            <a:avLst/>
          </a:prstGeom>
          <a:noFill/>
          <a:ln/>
        </p:spPr>
        <p:txBody>
          <a:bodyPr wrap="square" lIns="0" tIns="0" rIns="0" bIns="0" rtlCol="0" anchor="t"/>
          <a:lstStyle/>
          <a:p>
            <a:pPr marL="0" indent="0" algn="ctr">
              <a:buNone/>
            </a:pPr>
            <a:r>
              <a:rPr lang="en-US" sz="1200" i="1" dirty="0">
                <a:solidFill>
                  <a:srgbClr val="5F6B76"/>
                </a:solidFill>
                <a:latin typeface="Arial" pitchFamily="34" charset="0"/>
                <a:ea typeface="Arial" pitchFamily="34" charset="-122"/>
                <a:cs typeface="Arial" pitchFamily="34" charset="-120"/>
              </a:rPr>
              <a:t>Quản lý mô hình, preset và tiến độ nạp</a:t>
            </a:r>
            <a:endParaRPr lang="en-US" sz="1200" dirty="0"/>
          </a:p>
        </p:txBody>
      </p:sp>
      <p:sp>
        <p:nvSpPr>
          <p:cNvPr id="17" name="Text 9"/>
          <p:cNvSpPr txBox="1"/>
          <p:nvPr/>
        </p:nvSpPr>
        <p:spPr>
          <a:xfrm>
            <a:off x="685800" y="5193792"/>
            <a:ext cx="5760720" cy="411480"/>
          </a:xfrm>
          <a:prstGeom prst="rect">
            <a:avLst/>
          </a:prstGeom>
          <a:noFill/>
          <a:ln/>
        </p:spPr>
        <p:txBody>
          <a:bodyPr wrap="square" lIns="0" tIns="0" rIns="0" bIns="0" rtlCol="0" anchor="t"/>
          <a:lstStyle/>
          <a:p>
            <a:pPr marL="0" indent="0">
              <a:spcAft>
                <a:spcPts val="300"/>
              </a:spcAft>
              <a:buNone/>
            </a:pPr>
            <a:r>
              <a:rPr lang="en-US" sz="1200" b="1" dirty="0">
                <a:solidFill>
                  <a:srgbClr val="1B517B"/>
                </a:solidFill>
                <a:latin typeface="Arial" pitchFamily="34" charset="0"/>
                <a:ea typeface="Arial" pitchFamily="34" charset="-122"/>
                <a:cs typeface="Arial" pitchFamily="34" charset="-120"/>
              </a:rPr>
              <a:t>8 màn hình: </a:t>
            </a:r>
            <a:r>
              <a:rPr lang="en-US" sz="1200" b="0" dirty="0">
                <a:solidFill>
                  <a:srgbClr val="222222"/>
                </a:solidFill>
                <a:latin typeface="Arial" pitchFamily="34" charset="0"/>
                <a:ea typeface="Arial" pitchFamily="34" charset="-122"/>
                <a:cs typeface="Arial" pitchFamily="34" charset="-120"/>
              </a:rPr>
              <a:t>Phiên dịch · Nhập tệp · Thiết bị âm thanh · Quản lý Model · Chẩn đoán · Lịch sử · Đánh giá · Cài đặt</a:t>
            </a:r>
            <a:endParaRPr lang="en-US" sz="1200" dirty="0"/>
          </a:p>
        </p:txBody>
      </p:sp>
      <p:sp>
        <p:nvSpPr>
          <p:cNvPr id="18" name="Shape x548"/>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9"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0"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Ngoài phiên dịch trực tiếp, ứng dụng còn nhập tệp, lưu lịch sử, chấm điểm và quản lý mô hình</a:t>
            </a:r>
            <a:endParaRPr lang="vi-VN" sz="1500" b="0" i="0" dirty="0">
              <a:solidFill>
                <a:srgbClr val="B8262B"/>
              </a:solidFill>
              <a:latin typeface="Arial"/>
              <a:ea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 Phương pháp thực hiện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4. Đóng gói và kiểm thử</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14</a:t>
            </a:r>
            <a:endParaRPr lang="en-US" sz="1100" dirty="0"/>
          </a:p>
        </p:txBody>
      </p:sp>
      <p:sp>
        <p:nvSpPr>
          <p:cNvPr id="8" name="Text 3"/>
          <p:cNvSpPr txBox="1"/>
          <p:nvPr/>
        </p:nvSpPr>
        <p:spPr>
          <a:xfrm>
            <a:off x="685800" y="1417320"/>
            <a:ext cx="6035040" cy="640080"/>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Bộ cài tự chứa: máy người dùng không cần Python, Node hay trình quản lý gói</a:t>
            </a:r>
            <a:endParaRPr lang="en-US" sz="1600" dirty="0"/>
          </a:p>
        </p:txBody>
      </p:sp>
      <p:sp>
        <p:nvSpPr>
          <p:cNvPr id="9" name="Shape 4"/>
          <p:cNvSpPr/>
          <p:nvPr/>
        </p:nvSpPr>
        <p:spPr>
          <a:xfrm>
            <a:off x="685800" y="2103120"/>
            <a:ext cx="2834640" cy="960120"/>
          </a:xfrm>
          <a:prstGeom prst="roundRect">
            <a:avLst>
              <a:gd name="adj" fmla="val 7619"/>
            </a:avLst>
          </a:prstGeom>
          <a:solidFill>
            <a:srgbClr val="EEF4F9"/>
          </a:solidFill>
          <a:ln w="12700">
            <a:solidFill>
              <a:srgbClr val="EEF4F9"/>
            </a:solidFill>
            <a:prstDash val="solid"/>
          </a:ln>
        </p:spPr>
        <p:txBody>
          <a:bodyPr/>
          <a:lstStyle/>
          <a:p>
            <a:endParaRPr lang="en-US"/>
          </a:p>
        </p:txBody>
      </p:sp>
      <p:sp>
        <p:nvSpPr>
          <p:cNvPr id="10" name="Text 5"/>
          <p:cNvSpPr txBox="1"/>
          <p:nvPr/>
        </p:nvSpPr>
        <p:spPr>
          <a:xfrm>
            <a:off x="868680" y="2103120"/>
            <a:ext cx="2560320" cy="960120"/>
          </a:xfrm>
          <a:prstGeom prst="rect">
            <a:avLst/>
          </a:prstGeom>
          <a:noFill/>
          <a:ln/>
        </p:spPr>
        <p:txBody>
          <a:bodyPr wrap="square" lIns="0" tIns="0" rIns="0" bIns="0" rtlCol="0" anchor="ctr"/>
          <a:lstStyle/>
          <a:p>
            <a:pPr marL="0" indent="0">
              <a:buNone/>
            </a:pPr>
            <a:r>
              <a:rPr lang="en-US" sz="2200" b="1" dirty="0">
                <a:solidFill>
                  <a:srgbClr val="1B517B"/>
                </a:solidFill>
                <a:latin typeface="Arial" pitchFamily="34" charset="0"/>
                <a:ea typeface="Arial" pitchFamily="34" charset="-122"/>
                <a:cs typeface="Arial" pitchFamily="34" charset="-120"/>
              </a:rPr>
              <a:t>.exe  371 MB</a:t>
            </a:r>
            <a:endParaRPr lang="en-US" sz="2200" dirty="0"/>
          </a:p>
          <a:p>
            <a:pPr marL="0" indent="0">
              <a:buNone/>
            </a:pPr>
            <a:r>
              <a:rPr lang="en-US" sz="1300" dirty="0">
                <a:solidFill>
                  <a:srgbClr val="5F6B76"/>
                </a:solidFill>
                <a:latin typeface="Arial" pitchFamily="34" charset="0"/>
                <a:ea typeface="Arial" pitchFamily="34" charset="-122"/>
                <a:cs typeface="Arial" pitchFamily="34" charset="-120"/>
              </a:rPr>
              <a:t>Windows 11 x64</a:t>
            </a:r>
            <a:endParaRPr lang="en-US" sz="2200" dirty="0"/>
          </a:p>
        </p:txBody>
      </p:sp>
      <p:sp>
        <p:nvSpPr>
          <p:cNvPr id="11" name="Shape 6"/>
          <p:cNvSpPr/>
          <p:nvPr/>
        </p:nvSpPr>
        <p:spPr>
          <a:xfrm>
            <a:off x="3749040" y="2103120"/>
            <a:ext cx="2834640" cy="960120"/>
          </a:xfrm>
          <a:prstGeom prst="roundRect">
            <a:avLst>
              <a:gd name="adj" fmla="val 7619"/>
            </a:avLst>
          </a:prstGeom>
          <a:solidFill>
            <a:srgbClr val="EEF4F9"/>
          </a:solidFill>
          <a:ln w="12700">
            <a:solidFill>
              <a:srgbClr val="EEF4F9"/>
            </a:solidFill>
            <a:prstDash val="solid"/>
          </a:ln>
        </p:spPr>
        <p:txBody>
          <a:bodyPr/>
          <a:lstStyle/>
          <a:p>
            <a:endParaRPr lang="en-US"/>
          </a:p>
        </p:txBody>
      </p:sp>
      <p:sp>
        <p:nvSpPr>
          <p:cNvPr id="12" name="Text 7"/>
          <p:cNvSpPr txBox="1"/>
          <p:nvPr/>
        </p:nvSpPr>
        <p:spPr>
          <a:xfrm>
            <a:off x="3931920" y="2103120"/>
            <a:ext cx="2560320" cy="960120"/>
          </a:xfrm>
          <a:prstGeom prst="rect">
            <a:avLst/>
          </a:prstGeom>
          <a:noFill/>
          <a:ln/>
        </p:spPr>
        <p:txBody>
          <a:bodyPr wrap="square" lIns="0" tIns="0" rIns="0" bIns="0" rtlCol="0" anchor="ctr"/>
          <a:lstStyle/>
          <a:p>
            <a:pPr marL="0" indent="0">
              <a:buNone/>
            </a:pPr>
            <a:r>
              <a:rPr lang="en-US" sz="2200" b="1" dirty="0">
                <a:solidFill>
                  <a:srgbClr val="1B517B"/>
                </a:solidFill>
                <a:latin typeface="Arial" pitchFamily="34" charset="0"/>
                <a:ea typeface="Arial" pitchFamily="34" charset="-122"/>
                <a:cs typeface="Arial" pitchFamily="34" charset="-120"/>
              </a:rPr>
              <a:t>.dmg  592 MB</a:t>
            </a:r>
            <a:endParaRPr lang="en-US" sz="2200" dirty="0"/>
          </a:p>
          <a:p>
            <a:pPr marL="0" indent="0">
              <a:buNone/>
            </a:pPr>
            <a:r>
              <a:rPr lang="en-US" sz="1300" dirty="0">
                <a:solidFill>
                  <a:srgbClr val="5F6B76"/>
                </a:solidFill>
                <a:latin typeface="Arial" pitchFamily="34" charset="0"/>
                <a:ea typeface="Arial" pitchFamily="34" charset="-122"/>
                <a:cs typeface="Arial" pitchFamily="34" charset="-120"/>
              </a:rPr>
              <a:t>macOS Apple Silicon</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3611880"/>
          <a:ext cx="6035040" cy="1920240"/>
        </p:xfrm>
        <a:graphic>
          <a:graphicData uri="http://schemas.openxmlformats.org/drawingml/2006/table">
            <a:tbl>
              <a:tblPr/>
              <a:tblGrid>
                <a:gridCol w="640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84048">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Tầng</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Kiểm gì</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Kết quả</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extLst>
                  <a:ext uri="{0D108BD9-81ED-4DB2-BD59-A6C34878D82A}">
                    <a16:rowId xmlns:a16="http://schemas.microsoft.com/office/drawing/2014/main" val="10000"/>
                  </a:ext>
                </a:extLst>
              </a:tr>
              <a:tr h="384048">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1</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Bộ Python đóng gói</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Nạp PyTorch, sherpa-onnx, pywhispercpp</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Dịch vụ chạy từ bộ đó</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Nạp 4 khâu trong 34 s, ASR báo Vulkan</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3</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Bộ cài .exe thật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Dịch vụ tự lên sau 12 s, tắt thì nhả cổng</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Tốc độ trên bản cài</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ASR 3 s âm thanh: 17.573 → 437 ms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8"/>
          <p:cNvSpPr txBox="1"/>
          <p:nvPr/>
        </p:nvSpPr>
        <p:spPr>
          <a:xfrm>
            <a:off x="685800" y="3246120"/>
            <a:ext cx="6035040" cy="320040"/>
          </a:xfrm>
          <a:prstGeom prst="rect">
            <a:avLst/>
          </a:prstGeom>
          <a:noFill/>
          <a:ln/>
        </p:spPr>
        <p:txBody>
          <a:bodyPr wrap="square" lIns="0" tIns="0" rIns="0" bIns="0" rtlCol="0" anchor="t"/>
          <a:lstStyle/>
          <a:p>
            <a:pPr marL="0" indent="0">
              <a:buNone/>
            </a:pPr>
            <a:r>
              <a:rPr lang="en-US" sz="1400" b="1" dirty="0">
                <a:solidFill>
                  <a:srgbClr val="1B517B"/>
                </a:solidFill>
                <a:latin typeface="Arial" pitchFamily="34" charset="0"/>
                <a:ea typeface="Arial" pitchFamily="34" charset="-122"/>
                <a:cs typeface="Arial" pitchFamily="34" charset="-120"/>
              </a:rPr>
              <a:t>Kiểm tra bộ cài Windows theo bốn tầng, từ trong ra ngoài:</a:t>
            </a:r>
            <a:endParaRPr lang="en-US" sz="1400" dirty="0"/>
          </a:p>
        </p:txBody>
      </p:sp>
      <p:sp>
        <p:nvSpPr>
          <p:cNvPr id="15" name="Text 9"/>
          <p:cNvSpPr txBox="1"/>
          <p:nvPr/>
        </p:nvSpPr>
        <p:spPr>
          <a:xfrm>
            <a:off x="7223760" y="1417320"/>
            <a:ext cx="3840480" cy="411480"/>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Ba lớp kiểm thử tự động</a:t>
            </a:r>
            <a:endParaRPr lang="en-US" sz="1600" dirty="0"/>
          </a:p>
        </p:txBody>
      </p:sp>
      <p:sp>
        <p:nvSpPr>
          <p:cNvPr id="16" name="Shape 10"/>
          <p:cNvSpPr/>
          <p:nvPr/>
        </p:nvSpPr>
        <p:spPr>
          <a:xfrm>
            <a:off x="7223760" y="1874520"/>
            <a:ext cx="3703320" cy="914400"/>
          </a:xfrm>
          <a:prstGeom prst="roundRect">
            <a:avLst>
              <a:gd name="adj" fmla="val 6957"/>
            </a:avLst>
          </a:prstGeom>
          <a:solidFill>
            <a:srgbClr val="EEF4F9"/>
          </a:solidFill>
          <a:ln w="12700">
            <a:solidFill>
              <a:srgbClr val="EEF4F9"/>
            </a:solidFill>
            <a:prstDash val="solid"/>
          </a:ln>
        </p:spPr>
        <p:txBody>
          <a:bodyPr/>
          <a:lstStyle/>
          <a:p>
            <a:endParaRPr lang="en-US"/>
          </a:p>
        </p:txBody>
      </p:sp>
      <p:sp>
        <p:nvSpPr>
          <p:cNvPr id="17" name="Text 11"/>
          <p:cNvSpPr txBox="1"/>
          <p:nvPr/>
        </p:nvSpPr>
        <p:spPr>
          <a:xfrm>
            <a:off x="7315200" y="1874520"/>
            <a:ext cx="1188720" cy="914400"/>
          </a:xfrm>
          <a:prstGeom prst="rect">
            <a:avLst/>
          </a:prstGeom>
          <a:noFill/>
          <a:ln/>
        </p:spPr>
        <p:txBody>
          <a:bodyPr wrap="square" lIns="0" tIns="0" rIns="0" bIns="0" rtlCol="0" anchor="ctr"/>
          <a:lstStyle/>
          <a:p>
            <a:pPr marL="0" indent="0" algn="ctr">
              <a:buNone/>
            </a:pPr>
            <a:r>
              <a:rPr lang="en-US" sz="3000" b="1" dirty="0">
                <a:solidFill>
                  <a:srgbClr val="1B517B"/>
                </a:solidFill>
                <a:latin typeface="Arial" pitchFamily="34" charset="0"/>
                <a:ea typeface="Arial" pitchFamily="34" charset="-122"/>
                <a:cs typeface="Arial" pitchFamily="34" charset="-120"/>
              </a:rPr>
              <a:t>327</a:t>
            </a:r>
            <a:endParaRPr lang="en-US" sz="3000" dirty="0"/>
          </a:p>
        </p:txBody>
      </p:sp>
      <p:sp>
        <p:nvSpPr>
          <p:cNvPr id="18" name="Text 12"/>
          <p:cNvSpPr txBox="1"/>
          <p:nvPr/>
        </p:nvSpPr>
        <p:spPr>
          <a:xfrm>
            <a:off x="8549640" y="1920240"/>
            <a:ext cx="2286000" cy="822960"/>
          </a:xfrm>
          <a:prstGeom prst="rect">
            <a:avLst/>
          </a:prstGeom>
          <a:noFill/>
          <a:ln/>
        </p:spPr>
        <p:txBody>
          <a:bodyPr wrap="square" lIns="0" tIns="0" rIns="0" bIns="0" rtlCol="0" anchor="ctr"/>
          <a:lstStyle/>
          <a:p>
            <a:pPr marL="0" indent="0">
              <a:buNone/>
            </a:pPr>
            <a:r>
              <a:rPr lang="en-US" sz="1400" b="1" dirty="0">
                <a:solidFill>
                  <a:srgbClr val="487BA2"/>
                </a:solidFill>
                <a:latin typeface="Arial" pitchFamily="34" charset="0"/>
                <a:ea typeface="Arial" pitchFamily="34" charset="-122"/>
                <a:cs typeface="Arial" pitchFamily="34" charset="-120"/>
              </a:rPr>
              <a:t>pytest</a:t>
            </a:r>
            <a:endParaRPr lang="en-US" sz="1400" dirty="0"/>
          </a:p>
          <a:p>
            <a:pPr marL="0" indent="0">
              <a:buNone/>
            </a:pPr>
            <a:r>
              <a:rPr lang="en-US" sz="1200" dirty="0">
                <a:solidFill>
                  <a:srgbClr val="222222"/>
                </a:solidFill>
                <a:latin typeface="Arial" pitchFamily="34" charset="0"/>
                <a:ea typeface="Arial" pitchFamily="34" charset="-122"/>
                <a:cs typeface="Arial" pitchFamily="34" charset="-120"/>
              </a:rPr>
              <a:t>Dịch vụ: pipeline, tách câu, lọc câu bịa, API, lịch sử</a:t>
            </a:r>
            <a:endParaRPr lang="en-US" sz="1400" dirty="0"/>
          </a:p>
        </p:txBody>
      </p:sp>
      <p:sp>
        <p:nvSpPr>
          <p:cNvPr id="19" name="Shape 13"/>
          <p:cNvSpPr/>
          <p:nvPr/>
        </p:nvSpPr>
        <p:spPr>
          <a:xfrm>
            <a:off x="7223760" y="2926080"/>
            <a:ext cx="3703320" cy="914400"/>
          </a:xfrm>
          <a:prstGeom prst="roundRect">
            <a:avLst>
              <a:gd name="adj" fmla="val 6957"/>
            </a:avLst>
          </a:prstGeom>
          <a:solidFill>
            <a:srgbClr val="EEF4F9"/>
          </a:solidFill>
          <a:ln w="12700">
            <a:solidFill>
              <a:srgbClr val="EEF4F9"/>
            </a:solidFill>
            <a:prstDash val="solid"/>
          </a:ln>
        </p:spPr>
        <p:txBody>
          <a:bodyPr/>
          <a:lstStyle/>
          <a:p>
            <a:endParaRPr lang="en-US"/>
          </a:p>
        </p:txBody>
      </p:sp>
      <p:sp>
        <p:nvSpPr>
          <p:cNvPr id="20" name="Text 14"/>
          <p:cNvSpPr txBox="1"/>
          <p:nvPr/>
        </p:nvSpPr>
        <p:spPr>
          <a:xfrm>
            <a:off x="7315200" y="2926080"/>
            <a:ext cx="1188720" cy="914400"/>
          </a:xfrm>
          <a:prstGeom prst="rect">
            <a:avLst/>
          </a:prstGeom>
          <a:noFill/>
          <a:ln/>
        </p:spPr>
        <p:txBody>
          <a:bodyPr wrap="square" lIns="0" tIns="0" rIns="0" bIns="0" rtlCol="0" anchor="ctr"/>
          <a:lstStyle/>
          <a:p>
            <a:pPr marL="0" indent="0" algn="ctr">
              <a:buNone/>
            </a:pPr>
            <a:r>
              <a:rPr lang="en-US" sz="3000" b="1" dirty="0">
                <a:solidFill>
                  <a:srgbClr val="1B517B"/>
                </a:solidFill>
                <a:latin typeface="Arial" pitchFamily="34" charset="0"/>
                <a:ea typeface="Arial" pitchFamily="34" charset="-122"/>
                <a:cs typeface="Arial" pitchFamily="34" charset="-120"/>
              </a:rPr>
              <a:t>69</a:t>
            </a:r>
            <a:endParaRPr lang="en-US" sz="3000" dirty="0"/>
          </a:p>
        </p:txBody>
      </p:sp>
      <p:sp>
        <p:nvSpPr>
          <p:cNvPr id="21" name="Text 15"/>
          <p:cNvSpPr txBox="1"/>
          <p:nvPr/>
        </p:nvSpPr>
        <p:spPr>
          <a:xfrm>
            <a:off x="8549640" y="2971800"/>
            <a:ext cx="2286000" cy="822960"/>
          </a:xfrm>
          <a:prstGeom prst="rect">
            <a:avLst/>
          </a:prstGeom>
          <a:noFill/>
          <a:ln/>
        </p:spPr>
        <p:txBody>
          <a:bodyPr wrap="square" lIns="0" tIns="0" rIns="0" bIns="0" rtlCol="0" anchor="ctr"/>
          <a:lstStyle/>
          <a:p>
            <a:pPr marL="0" indent="0">
              <a:buNone/>
            </a:pPr>
            <a:r>
              <a:rPr lang="en-US" sz="1400" b="1" dirty="0">
                <a:solidFill>
                  <a:srgbClr val="487BA2"/>
                </a:solidFill>
                <a:latin typeface="Arial" pitchFamily="34" charset="0"/>
                <a:ea typeface="Arial" pitchFamily="34" charset="-122"/>
                <a:cs typeface="Arial" pitchFamily="34" charset="-120"/>
              </a:rPr>
              <a:t>vitest + jsdom</a:t>
            </a:r>
            <a:endParaRPr lang="en-US" sz="1400" dirty="0"/>
          </a:p>
          <a:p>
            <a:pPr marL="0" indent="0">
              <a:buNone/>
            </a:pPr>
            <a:r>
              <a:rPr lang="en-US" sz="1200" dirty="0">
                <a:solidFill>
                  <a:srgbClr val="222222"/>
                </a:solidFill>
                <a:latin typeface="Arial" pitchFamily="34" charset="0"/>
                <a:ea typeface="Arial" pitchFamily="34" charset="-122"/>
                <a:cs typeface="Arial" pitchFamily="34" charset="-120"/>
              </a:rPr>
              <a:t>Giao diện trên dịch vụ giả</a:t>
            </a:r>
            <a:endParaRPr lang="en-US" sz="1400" dirty="0"/>
          </a:p>
        </p:txBody>
      </p:sp>
      <p:sp>
        <p:nvSpPr>
          <p:cNvPr id="22" name="Shape 16"/>
          <p:cNvSpPr/>
          <p:nvPr/>
        </p:nvSpPr>
        <p:spPr>
          <a:xfrm>
            <a:off x="7223760" y="3977640"/>
            <a:ext cx="3703320" cy="914400"/>
          </a:xfrm>
          <a:prstGeom prst="roundRect">
            <a:avLst>
              <a:gd name="adj" fmla="val 6957"/>
            </a:avLst>
          </a:prstGeom>
          <a:solidFill>
            <a:srgbClr val="EEF4F9"/>
          </a:solidFill>
          <a:ln w="12700">
            <a:solidFill>
              <a:srgbClr val="EEF4F9"/>
            </a:solidFill>
            <a:prstDash val="solid"/>
          </a:ln>
        </p:spPr>
        <p:txBody>
          <a:bodyPr/>
          <a:lstStyle/>
          <a:p>
            <a:endParaRPr lang="en-US"/>
          </a:p>
        </p:txBody>
      </p:sp>
      <p:sp>
        <p:nvSpPr>
          <p:cNvPr id="23" name="Text 17"/>
          <p:cNvSpPr txBox="1"/>
          <p:nvPr/>
        </p:nvSpPr>
        <p:spPr>
          <a:xfrm>
            <a:off x="7315200" y="3977640"/>
            <a:ext cx="1188720" cy="914400"/>
          </a:xfrm>
          <a:prstGeom prst="rect">
            <a:avLst/>
          </a:prstGeom>
          <a:noFill/>
          <a:ln/>
        </p:spPr>
        <p:txBody>
          <a:bodyPr wrap="square" lIns="0" tIns="0" rIns="0" bIns="0" rtlCol="0" anchor="ctr"/>
          <a:lstStyle/>
          <a:p>
            <a:pPr marL="0" indent="0" algn="ctr">
              <a:buNone/>
            </a:pPr>
            <a:r>
              <a:rPr lang="en-US" sz="3000" b="1" dirty="0">
                <a:solidFill>
                  <a:srgbClr val="1B517B"/>
                </a:solidFill>
                <a:latin typeface="Arial" pitchFamily="34" charset="0"/>
                <a:ea typeface="Arial" pitchFamily="34" charset="-122"/>
                <a:cs typeface="Arial" pitchFamily="34" charset="-120"/>
              </a:rPr>
              <a:t>11</a:t>
            </a:r>
            <a:endParaRPr lang="en-US" sz="3000" dirty="0"/>
          </a:p>
        </p:txBody>
      </p:sp>
      <p:sp>
        <p:nvSpPr>
          <p:cNvPr id="24" name="Text 18"/>
          <p:cNvSpPr txBox="1"/>
          <p:nvPr/>
        </p:nvSpPr>
        <p:spPr>
          <a:xfrm>
            <a:off x="8549640" y="4023360"/>
            <a:ext cx="2286000" cy="822960"/>
          </a:xfrm>
          <a:prstGeom prst="rect">
            <a:avLst/>
          </a:prstGeom>
          <a:noFill/>
          <a:ln/>
        </p:spPr>
        <p:txBody>
          <a:bodyPr wrap="square" lIns="0" tIns="0" rIns="0" bIns="0" rtlCol="0" anchor="ctr"/>
          <a:lstStyle/>
          <a:p>
            <a:pPr marL="0" indent="0">
              <a:buNone/>
            </a:pPr>
            <a:r>
              <a:rPr lang="en-US" sz="1400" b="1" dirty="0">
                <a:solidFill>
                  <a:srgbClr val="487BA2"/>
                </a:solidFill>
                <a:latin typeface="Arial" pitchFamily="34" charset="0"/>
                <a:ea typeface="Arial" pitchFamily="34" charset="-122"/>
                <a:cs typeface="Arial" pitchFamily="34" charset="-120"/>
              </a:rPr>
              <a:t>Playwright</a:t>
            </a:r>
            <a:endParaRPr lang="en-US" sz="1400" dirty="0"/>
          </a:p>
          <a:p>
            <a:pPr marL="0" indent="0">
              <a:buNone/>
            </a:pPr>
            <a:r>
              <a:rPr lang="en-US" sz="1200" dirty="0">
                <a:solidFill>
                  <a:srgbClr val="222222"/>
                </a:solidFill>
                <a:latin typeface="Arial" pitchFamily="34" charset="0"/>
                <a:ea typeface="Arial" pitchFamily="34" charset="-122"/>
                <a:cs typeface="Arial" pitchFamily="34" charset="-120"/>
              </a:rPr>
              <a:t>App Electron đã dựng + dịch vụ thật + tải mô hình thật</a:t>
            </a:r>
            <a:endParaRPr lang="en-US" sz="1400" dirty="0"/>
          </a:p>
        </p:txBody>
      </p:sp>
      <p:sp>
        <p:nvSpPr>
          <p:cNvPr id="25" name="Text 19"/>
          <p:cNvSpPr txBox="1"/>
          <p:nvPr/>
        </p:nvSpPr>
        <p:spPr>
          <a:xfrm>
            <a:off x="7223760" y="5029200"/>
            <a:ext cx="3749040" cy="548640"/>
          </a:xfrm>
          <a:prstGeom prst="rect">
            <a:avLst/>
          </a:prstGeom>
          <a:noFill/>
          <a:ln/>
        </p:spPr>
        <p:txBody>
          <a:bodyPr wrap="square" lIns="0" tIns="0" rIns="0" bIns="0" rtlCol="0" anchor="t"/>
          <a:lstStyle/>
          <a:p>
            <a:pPr marL="0" indent="0">
              <a:buNone/>
            </a:pPr>
            <a:r>
              <a:rPr lang="en-US" sz="1200" i="1" dirty="0">
                <a:solidFill>
                  <a:srgbClr val="5F6B76"/>
                </a:solidFill>
                <a:latin typeface="Arial" pitchFamily="34" charset="0"/>
                <a:ea typeface="Arial" pitchFamily="34" charset="-122"/>
                <a:cs typeface="Arial" pitchFamily="34" charset="-120"/>
              </a:rPr>
              <a:t>Hai lớp đầu dùng mô hình giả: chạy vài giây, tất định, không cần mạng.</a:t>
            </a:r>
            <a:endParaRPr lang="en-US" sz="1200" dirty="0"/>
          </a:p>
        </p:txBody>
      </p:sp>
      <p:sp>
        <p:nvSpPr>
          <p:cNvPr id="26" name="Shape x551"/>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27"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8"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Một bộ cài là chạy, không cần cài Python hay Node; 407 bài kiểm thử tự động ở ba lớp</a:t>
            </a:r>
            <a:endParaRPr lang="vi-VN" sz="1500" b="0" i="0" dirty="0">
              <a:solidFill>
                <a:srgbClr val="B8262B"/>
              </a:solidFill>
              <a:latin typeface="Arial"/>
              <a:ea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lef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III. Kết quả thực nghiệm</a:t>
            </a:r>
            <a:endParaRPr lang="en-US" sz="2800" dirty="0"/>
          </a:p>
        </p:txBody>
      </p:sp>
      <p:sp>
        <p:nvSpPr>
          <p:cNvPr id="6" name="Text 1"/>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15</a:t>
            </a:r>
            <a:endParaRPr lang="en-US" sz="1100" dirty="0"/>
          </a:p>
        </p:txBody>
      </p:sp>
      <p:sp>
        <p:nvSpPr>
          <p:cNvPr id="7" name="Shape 2"/>
          <p:cNvSpPr/>
          <p:nvPr/>
        </p:nvSpPr>
        <p:spPr>
          <a:xfrm>
            <a:off x="5669280" y="1892808"/>
            <a:ext cx="0" cy="3803904"/>
          </a:xfrm>
          <a:prstGeom prst="line">
            <a:avLst/>
          </a:prstGeom>
          <a:noFill/>
          <a:ln w="25400">
            <a:solidFill>
              <a:srgbClr val="1F1F1F"/>
            </a:solidFill>
            <a:prstDash val="solid"/>
          </a:ln>
        </p:spPr>
        <p:txBody>
          <a:bodyPr/>
          <a:lstStyle/>
          <a:p>
            <a:endParaRPr lang="en-US"/>
          </a:p>
        </p:txBody>
      </p:sp>
      <p:sp>
        <p:nvSpPr>
          <p:cNvPr id="8" name="Shape 3"/>
          <p:cNvSpPr/>
          <p:nvPr/>
        </p:nvSpPr>
        <p:spPr>
          <a:xfrm>
            <a:off x="5669280" y="1892808"/>
            <a:ext cx="502920" cy="0"/>
          </a:xfrm>
          <a:prstGeom prst="line">
            <a:avLst/>
          </a:prstGeom>
          <a:noFill/>
          <a:ln w="25400">
            <a:solidFill>
              <a:srgbClr val="1F1F1F"/>
            </a:solidFill>
            <a:prstDash val="solid"/>
          </a:ln>
        </p:spPr>
        <p:txBody>
          <a:bodyPr/>
          <a:lstStyle/>
          <a:p>
            <a:endParaRPr lang="en-US"/>
          </a:p>
        </p:txBody>
      </p:sp>
      <p:sp>
        <p:nvSpPr>
          <p:cNvPr id="9" name="Shape 4"/>
          <p:cNvSpPr/>
          <p:nvPr/>
        </p:nvSpPr>
        <p:spPr>
          <a:xfrm>
            <a:off x="6172200" y="1536192"/>
            <a:ext cx="3840480" cy="713232"/>
          </a:xfrm>
          <a:prstGeom prst="rect">
            <a:avLst/>
          </a:prstGeom>
          <a:solidFill>
            <a:srgbClr val="D5D8F2"/>
          </a:solidFill>
          <a:ln w="12700">
            <a:solidFill>
              <a:srgbClr val="D5D8F2"/>
            </a:solidFill>
            <a:prstDash val="solid"/>
          </a:ln>
          <a:effectLst>
            <a:outerShdw blurRad="50800" dist="25400" dir="5400000" algn="bl" rotWithShape="0">
              <a:srgbClr val="000000">
                <a:alpha val="18000"/>
              </a:srgbClr>
            </a:outerShdw>
          </a:effectLst>
        </p:spPr>
        <p:txBody>
          <a:bodyPr/>
          <a:lstStyle/>
          <a:p>
            <a:endParaRPr lang="en-US"/>
          </a:p>
        </p:txBody>
      </p:sp>
      <p:sp>
        <p:nvSpPr>
          <p:cNvPr id="10" name="Text 5"/>
          <p:cNvSpPr txBox="1"/>
          <p:nvPr/>
        </p:nvSpPr>
        <p:spPr>
          <a:xfrm>
            <a:off x="6172200" y="1536192"/>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1. Môi trường và dữ liệu</a:t>
            </a:r>
            <a:endParaRPr lang="en-US" sz="1600" dirty="0"/>
          </a:p>
        </p:txBody>
      </p:sp>
      <p:sp>
        <p:nvSpPr>
          <p:cNvPr id="11" name="Shape 6"/>
          <p:cNvSpPr/>
          <p:nvPr/>
        </p:nvSpPr>
        <p:spPr>
          <a:xfrm>
            <a:off x="5166360" y="2843784"/>
            <a:ext cx="502920" cy="0"/>
          </a:xfrm>
          <a:prstGeom prst="line">
            <a:avLst/>
          </a:prstGeom>
          <a:noFill/>
          <a:ln w="25400">
            <a:solidFill>
              <a:srgbClr val="1F1F1F"/>
            </a:solidFill>
            <a:prstDash val="solid"/>
          </a:ln>
        </p:spPr>
        <p:txBody>
          <a:bodyPr/>
          <a:lstStyle/>
          <a:p>
            <a:endParaRPr lang="en-US"/>
          </a:p>
        </p:txBody>
      </p:sp>
      <p:sp>
        <p:nvSpPr>
          <p:cNvPr id="12" name="Shape 7"/>
          <p:cNvSpPr/>
          <p:nvPr/>
        </p:nvSpPr>
        <p:spPr>
          <a:xfrm>
            <a:off x="1325880" y="2487168"/>
            <a:ext cx="3840480" cy="713232"/>
          </a:xfrm>
          <a:prstGeom prst="rect">
            <a:avLst/>
          </a:prstGeom>
          <a:solidFill>
            <a:srgbClr val="FCE9A0"/>
          </a:solidFill>
          <a:ln w="12700">
            <a:solidFill>
              <a:srgbClr val="FCE9A0"/>
            </a:solidFill>
            <a:prstDash val="solid"/>
          </a:ln>
          <a:effectLst>
            <a:outerShdw blurRad="50800" dist="25400" dir="5400000" algn="bl" rotWithShape="0">
              <a:srgbClr val="000000">
                <a:alpha val="18000"/>
              </a:srgbClr>
            </a:outerShdw>
          </a:effectLst>
        </p:spPr>
        <p:txBody>
          <a:bodyPr/>
          <a:lstStyle/>
          <a:p>
            <a:endParaRPr lang="en-US"/>
          </a:p>
        </p:txBody>
      </p:sp>
      <p:sp>
        <p:nvSpPr>
          <p:cNvPr id="13" name="Text 8"/>
          <p:cNvSpPr txBox="1"/>
          <p:nvPr/>
        </p:nvSpPr>
        <p:spPr>
          <a:xfrm>
            <a:off x="1325880" y="2487168"/>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2. Độ chính xác: nhận dạng và dịch</a:t>
            </a:r>
            <a:endParaRPr lang="en-US" sz="1600" dirty="0"/>
          </a:p>
        </p:txBody>
      </p:sp>
      <p:sp>
        <p:nvSpPr>
          <p:cNvPr id="14" name="Shape 9"/>
          <p:cNvSpPr/>
          <p:nvPr/>
        </p:nvSpPr>
        <p:spPr>
          <a:xfrm>
            <a:off x="5669280" y="3794760"/>
            <a:ext cx="502920" cy="0"/>
          </a:xfrm>
          <a:prstGeom prst="line">
            <a:avLst/>
          </a:prstGeom>
          <a:noFill/>
          <a:ln w="25400">
            <a:solidFill>
              <a:srgbClr val="1F1F1F"/>
            </a:solidFill>
            <a:prstDash val="solid"/>
          </a:ln>
        </p:spPr>
        <p:txBody>
          <a:bodyPr/>
          <a:lstStyle/>
          <a:p>
            <a:endParaRPr lang="en-US"/>
          </a:p>
        </p:txBody>
      </p:sp>
      <p:sp>
        <p:nvSpPr>
          <p:cNvPr id="15" name="Shape 10"/>
          <p:cNvSpPr/>
          <p:nvPr/>
        </p:nvSpPr>
        <p:spPr>
          <a:xfrm>
            <a:off x="6172200" y="3438144"/>
            <a:ext cx="3840480" cy="713232"/>
          </a:xfrm>
          <a:prstGeom prst="rect">
            <a:avLst/>
          </a:prstGeom>
          <a:solidFill>
            <a:srgbClr val="FCE9A0"/>
          </a:solidFill>
          <a:ln w="12700">
            <a:solidFill>
              <a:srgbClr val="FCE9A0"/>
            </a:solidFill>
            <a:prstDash val="solid"/>
          </a:ln>
          <a:effectLst>
            <a:outerShdw blurRad="50800" dist="25400" dir="5400000" algn="bl" rotWithShape="0">
              <a:srgbClr val="000000">
                <a:alpha val="18000"/>
              </a:srgbClr>
            </a:outerShdw>
          </a:effectLst>
        </p:spPr>
        <p:txBody>
          <a:bodyPr/>
          <a:lstStyle/>
          <a:p>
            <a:endParaRPr lang="en-US"/>
          </a:p>
        </p:txBody>
      </p:sp>
      <p:sp>
        <p:nvSpPr>
          <p:cNvPr id="16" name="Text 11"/>
          <p:cNvSpPr txBox="1"/>
          <p:nvPr/>
        </p:nvSpPr>
        <p:spPr>
          <a:xfrm>
            <a:off x="6172200" y="3438144"/>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3. Độ trễ và độ ổn định</a:t>
            </a:r>
            <a:endParaRPr lang="en-US" sz="1600" dirty="0"/>
          </a:p>
        </p:txBody>
      </p:sp>
      <p:sp>
        <p:nvSpPr>
          <p:cNvPr id="17" name="Shape 12"/>
          <p:cNvSpPr/>
          <p:nvPr/>
        </p:nvSpPr>
        <p:spPr>
          <a:xfrm>
            <a:off x="5166360" y="4745736"/>
            <a:ext cx="502920" cy="0"/>
          </a:xfrm>
          <a:prstGeom prst="line">
            <a:avLst/>
          </a:prstGeom>
          <a:noFill/>
          <a:ln w="25400">
            <a:solidFill>
              <a:srgbClr val="1F1F1F"/>
            </a:solidFill>
            <a:prstDash val="solid"/>
          </a:ln>
        </p:spPr>
        <p:txBody>
          <a:bodyPr/>
          <a:lstStyle/>
          <a:p>
            <a:endParaRPr lang="en-US"/>
          </a:p>
        </p:txBody>
      </p:sp>
      <p:sp>
        <p:nvSpPr>
          <p:cNvPr id="18" name="Shape 13"/>
          <p:cNvSpPr/>
          <p:nvPr/>
        </p:nvSpPr>
        <p:spPr>
          <a:xfrm>
            <a:off x="1325880" y="4389120"/>
            <a:ext cx="3840480" cy="713232"/>
          </a:xfrm>
          <a:prstGeom prst="rect">
            <a:avLst/>
          </a:prstGeom>
          <a:solidFill>
            <a:srgbClr val="D5D8F2"/>
          </a:solidFill>
          <a:ln w="12700">
            <a:solidFill>
              <a:srgbClr val="D5D8F2"/>
            </a:solidFill>
            <a:prstDash val="solid"/>
          </a:ln>
          <a:effectLst>
            <a:outerShdw blurRad="50800" dist="25400" dir="5400000" algn="bl" rotWithShape="0">
              <a:srgbClr val="000000">
                <a:alpha val="18000"/>
              </a:srgbClr>
            </a:outerShdw>
          </a:effectLst>
        </p:spPr>
        <p:txBody>
          <a:bodyPr/>
          <a:lstStyle/>
          <a:p>
            <a:endParaRPr lang="en-US"/>
          </a:p>
        </p:txBody>
      </p:sp>
      <p:sp>
        <p:nvSpPr>
          <p:cNvPr id="19" name="Text 14"/>
          <p:cNvSpPr txBox="1"/>
          <p:nvPr/>
        </p:nvSpPr>
        <p:spPr>
          <a:xfrm>
            <a:off x="1325880" y="4389120"/>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4. Đánh giá trên giọng người thật</a:t>
            </a:r>
            <a:endParaRPr lang="en-US" sz="1600" dirty="0"/>
          </a:p>
        </p:txBody>
      </p:sp>
      <p:sp>
        <p:nvSpPr>
          <p:cNvPr id="20" name="Shape 15"/>
          <p:cNvSpPr/>
          <p:nvPr/>
        </p:nvSpPr>
        <p:spPr>
          <a:xfrm>
            <a:off x="5669280" y="5696712"/>
            <a:ext cx="502920" cy="0"/>
          </a:xfrm>
          <a:prstGeom prst="line">
            <a:avLst/>
          </a:prstGeom>
          <a:noFill/>
          <a:ln w="25400">
            <a:solidFill>
              <a:srgbClr val="1F1F1F"/>
            </a:solidFill>
            <a:prstDash val="solid"/>
          </a:ln>
        </p:spPr>
        <p:txBody>
          <a:bodyPr/>
          <a:lstStyle/>
          <a:p>
            <a:endParaRPr lang="en-US"/>
          </a:p>
        </p:txBody>
      </p:sp>
      <p:sp>
        <p:nvSpPr>
          <p:cNvPr id="21" name="Shape 16"/>
          <p:cNvSpPr/>
          <p:nvPr/>
        </p:nvSpPr>
        <p:spPr>
          <a:xfrm>
            <a:off x="6172200" y="5340096"/>
            <a:ext cx="3840480" cy="713232"/>
          </a:xfrm>
          <a:prstGeom prst="rect">
            <a:avLst/>
          </a:prstGeom>
          <a:solidFill>
            <a:srgbClr val="D5D8F2"/>
          </a:solidFill>
          <a:ln w="12700">
            <a:solidFill>
              <a:srgbClr val="D5D8F2"/>
            </a:solidFill>
            <a:prstDash val="solid"/>
          </a:ln>
          <a:effectLst>
            <a:outerShdw blurRad="50800" dist="25400" dir="5400000" algn="bl" rotWithShape="0">
              <a:srgbClr val="000000">
                <a:alpha val="18000"/>
              </a:srgbClr>
            </a:outerShdw>
          </a:effectLst>
        </p:spPr>
        <p:txBody>
          <a:bodyPr/>
          <a:lstStyle/>
          <a:p>
            <a:endParaRPr lang="en-US"/>
          </a:p>
        </p:txBody>
      </p:sp>
      <p:sp>
        <p:nvSpPr>
          <p:cNvPr id="22" name="Text 17"/>
          <p:cNvSpPr txBox="1"/>
          <p:nvPr/>
        </p:nvSpPr>
        <p:spPr>
          <a:xfrm>
            <a:off x="6172200" y="5340096"/>
            <a:ext cx="3840480" cy="713232"/>
          </a:xfrm>
          <a:prstGeom prst="rect">
            <a:avLst/>
          </a:prstGeom>
          <a:noFill/>
          <a:ln/>
        </p:spPr>
        <p:txBody>
          <a:bodyPr wrap="square" lIns="50800" tIns="50800" rIns="50800" bIns="50800" rtlCol="0" anchor="ctr"/>
          <a:lstStyle/>
          <a:p>
            <a:pPr marL="0" indent="0" algn="ctr">
              <a:buNone/>
            </a:pPr>
            <a:r>
              <a:rPr lang="en-US" sz="1600" dirty="0">
                <a:solidFill>
                  <a:srgbClr val="34488F"/>
                </a:solidFill>
                <a:latin typeface="Arial" pitchFamily="34" charset="0"/>
                <a:ea typeface="Arial" pitchFamily="34" charset="-122"/>
                <a:cs typeface="Arial" pitchFamily="34" charset="-120"/>
              </a:rPr>
              <a:t>5. Đối chiếu yêu cầu phi chức năng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III. Kết quả thực nghiệm</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1. Môi trường và dữ liệu thử nghiệm</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16</a:t>
            </a:r>
            <a:endParaRPr lang="en-US" sz="1100" dirty="0"/>
          </a:p>
        </p:txBody>
      </p:sp>
      <p:sp>
        <p:nvSpPr>
          <p:cNvPr id="8" name="Shape 3"/>
          <p:cNvSpPr/>
          <p:nvPr/>
        </p:nvSpPr>
        <p:spPr>
          <a:xfrm>
            <a:off x="685800" y="1417320"/>
            <a:ext cx="4983480" cy="1234440"/>
          </a:xfrm>
          <a:prstGeom prst="roundRect">
            <a:avLst>
              <a:gd name="adj" fmla="val 5926"/>
            </a:avLst>
          </a:prstGeom>
          <a:solidFill>
            <a:srgbClr val="EEF4F9"/>
          </a:solidFill>
          <a:ln w="12700">
            <a:solidFill>
              <a:srgbClr val="EEF4F9"/>
            </a:solidFill>
            <a:prstDash val="solid"/>
          </a:ln>
        </p:spPr>
        <p:txBody>
          <a:bodyPr/>
          <a:lstStyle/>
          <a:p>
            <a:endParaRPr lang="en-US"/>
          </a:p>
        </p:txBody>
      </p:sp>
      <p:sp>
        <p:nvSpPr>
          <p:cNvPr id="9" name="Shape 4"/>
          <p:cNvSpPr/>
          <p:nvPr/>
        </p:nvSpPr>
        <p:spPr>
          <a:xfrm>
            <a:off x="919887" y="1769459"/>
            <a:ext cx="548640" cy="548640"/>
          </a:xfrm>
          <a:prstGeom prst="ellipse">
            <a:avLst/>
          </a:prstGeom>
          <a:solidFill>
            <a:srgbClr val="1B517B"/>
          </a:solidFill>
          <a:ln w="12700">
            <a:solidFill>
              <a:srgbClr val="1B517B"/>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1051561" y="1901133"/>
            <a:ext cx="285293" cy="285293"/>
          </a:xfrm>
          <a:prstGeom prst="rect">
            <a:avLst/>
          </a:prstGeom>
        </p:spPr>
      </p:pic>
      <p:sp>
        <p:nvSpPr>
          <p:cNvPr id="11" name="Text 5"/>
          <p:cNvSpPr txBox="1"/>
          <p:nvPr/>
        </p:nvSpPr>
        <p:spPr>
          <a:xfrm>
            <a:off x="1600200" y="1463040"/>
            <a:ext cx="3977640" cy="1143000"/>
          </a:xfrm>
          <a:prstGeom prst="rect">
            <a:avLst/>
          </a:prstGeom>
          <a:noFill/>
          <a:ln/>
        </p:spPr>
        <p:txBody>
          <a:bodyPr wrap="square" lIns="0" tIns="0" rIns="0" bIns="0" rtlCol="0" anchor="ctr"/>
          <a:lstStyle/>
          <a:p>
            <a:pPr marL="0" indent="0">
              <a:buNone/>
            </a:pPr>
            <a:r>
              <a:rPr lang="en-US" sz="1700" b="1" dirty="0">
                <a:solidFill>
                  <a:srgbClr val="1B517B"/>
                </a:solidFill>
                <a:latin typeface="Arial" pitchFamily="34" charset="0"/>
                <a:ea typeface="Arial" pitchFamily="34" charset="-122"/>
                <a:cs typeface="Arial" pitchFamily="34" charset="-120"/>
              </a:rPr>
              <a:t>macOS</a:t>
            </a:r>
            <a:endParaRPr lang="en-US" sz="1700" dirty="0"/>
          </a:p>
          <a:p>
            <a:pPr marL="0" indent="0">
              <a:buNone/>
            </a:pPr>
            <a:r>
              <a:rPr lang="en-US" sz="1300" dirty="0">
                <a:solidFill>
                  <a:srgbClr val="222222"/>
                </a:solidFill>
                <a:latin typeface="Arial" pitchFamily="34" charset="0"/>
                <a:ea typeface="Arial" pitchFamily="34" charset="-122"/>
                <a:cs typeface="Arial" pitchFamily="34" charset="-120"/>
              </a:rPr>
              <a:t>Apple M4 · macOS 26.6</a:t>
            </a:r>
            <a:endParaRPr lang="en-US" sz="1700" dirty="0"/>
          </a:p>
          <a:p>
            <a:pPr marL="0" indent="0">
              <a:buNone/>
            </a:pPr>
            <a:r>
              <a:rPr lang="en-US" sz="1200" dirty="0">
                <a:solidFill>
                  <a:srgbClr val="5F6B76"/>
                </a:solidFill>
                <a:latin typeface="Arial" pitchFamily="34" charset="0"/>
                <a:ea typeface="Arial" pitchFamily="34" charset="-122"/>
                <a:cs typeface="Arial" pitchFamily="34" charset="-120"/>
              </a:rPr>
              <a:t>ASR: MLX/Metal · MT: PyTorch/MPS · TTS: CPU</a:t>
            </a:r>
            <a:endParaRPr lang="en-US" sz="1700" dirty="0"/>
          </a:p>
        </p:txBody>
      </p:sp>
      <p:sp>
        <p:nvSpPr>
          <p:cNvPr id="12" name="Shape 6"/>
          <p:cNvSpPr/>
          <p:nvPr/>
        </p:nvSpPr>
        <p:spPr>
          <a:xfrm>
            <a:off x="5897880" y="1417320"/>
            <a:ext cx="4983480" cy="1234440"/>
          </a:xfrm>
          <a:prstGeom prst="roundRect">
            <a:avLst>
              <a:gd name="adj" fmla="val 5926"/>
            </a:avLst>
          </a:prstGeom>
          <a:solidFill>
            <a:srgbClr val="EEF4F9"/>
          </a:solidFill>
          <a:ln w="12700">
            <a:solidFill>
              <a:srgbClr val="EEF4F9"/>
            </a:solidFill>
            <a:prstDash val="solid"/>
          </a:ln>
        </p:spPr>
        <p:txBody>
          <a:bodyPr/>
          <a:lstStyle/>
          <a:p>
            <a:endParaRPr lang="en-US"/>
          </a:p>
        </p:txBody>
      </p:sp>
      <p:sp>
        <p:nvSpPr>
          <p:cNvPr id="13" name="Shape 7"/>
          <p:cNvSpPr/>
          <p:nvPr/>
        </p:nvSpPr>
        <p:spPr>
          <a:xfrm>
            <a:off x="6126480" y="1769459"/>
            <a:ext cx="548640" cy="548640"/>
          </a:xfrm>
          <a:prstGeom prst="ellipse">
            <a:avLst/>
          </a:prstGeom>
          <a:solidFill>
            <a:srgbClr val="1B517B"/>
          </a:solidFill>
          <a:ln w="12700">
            <a:solidFill>
              <a:srgbClr val="1B517B"/>
            </a:solidFill>
            <a:prstDash val="solid"/>
          </a:ln>
        </p:spPr>
        <p:txBody>
          <a:bodyPr/>
          <a:lstStyle/>
          <a:p>
            <a:endParaRPr lang="en-US"/>
          </a:p>
        </p:txBody>
      </p:sp>
      <p:pic>
        <p:nvPicPr>
          <p:cNvPr id="14" name="Image 3" descr="preencoded.png"/>
          <p:cNvPicPr>
            <a:picLocks noChangeAspect="1"/>
          </p:cNvPicPr>
          <p:nvPr/>
        </p:nvPicPr>
        <p:blipFill>
          <a:blip r:embed="rId5"/>
          <a:stretch>
            <a:fillRect/>
          </a:stretch>
        </p:blipFill>
        <p:spPr>
          <a:xfrm>
            <a:off x="6258154" y="1901133"/>
            <a:ext cx="285293" cy="285293"/>
          </a:xfrm>
          <a:prstGeom prst="rect">
            <a:avLst/>
          </a:prstGeom>
        </p:spPr>
      </p:pic>
      <p:sp>
        <p:nvSpPr>
          <p:cNvPr id="15" name="Text 8"/>
          <p:cNvSpPr txBox="1"/>
          <p:nvPr/>
        </p:nvSpPr>
        <p:spPr>
          <a:xfrm>
            <a:off x="6812280" y="1463040"/>
            <a:ext cx="3977640" cy="1143000"/>
          </a:xfrm>
          <a:prstGeom prst="rect">
            <a:avLst/>
          </a:prstGeom>
          <a:noFill/>
          <a:ln/>
        </p:spPr>
        <p:txBody>
          <a:bodyPr wrap="square" lIns="0" tIns="0" rIns="0" bIns="0" rtlCol="0" anchor="ctr"/>
          <a:lstStyle/>
          <a:p>
            <a:pPr marL="0" indent="0">
              <a:buNone/>
            </a:pPr>
            <a:r>
              <a:rPr lang="en-US" sz="1700" b="1" dirty="0">
                <a:solidFill>
                  <a:srgbClr val="1B517B"/>
                </a:solidFill>
                <a:latin typeface="Arial" pitchFamily="34" charset="0"/>
                <a:ea typeface="Arial" pitchFamily="34" charset="-122"/>
                <a:cs typeface="Arial" pitchFamily="34" charset="-120"/>
              </a:rPr>
              <a:t>Windows</a:t>
            </a:r>
            <a:endParaRPr lang="en-US" sz="1700" dirty="0"/>
          </a:p>
          <a:p>
            <a:pPr marL="0" indent="0">
              <a:buNone/>
            </a:pPr>
            <a:r>
              <a:rPr lang="en-US" sz="1300" dirty="0">
                <a:solidFill>
                  <a:srgbClr val="222222"/>
                </a:solidFill>
                <a:latin typeface="Arial" pitchFamily="34" charset="0"/>
                <a:ea typeface="Arial" pitchFamily="34" charset="-122"/>
                <a:cs typeface="Arial" pitchFamily="34" charset="-120"/>
              </a:rPr>
              <a:t>i5-12500H · RTX 4060 8 GB + Iris Xe · 64 GB RAM</a:t>
            </a:r>
            <a:endParaRPr lang="en-US" sz="1700" dirty="0"/>
          </a:p>
          <a:p>
            <a:pPr marL="0" indent="0">
              <a:buNone/>
            </a:pPr>
            <a:r>
              <a:rPr lang="en-US" sz="1200" dirty="0">
                <a:solidFill>
                  <a:srgbClr val="5F6B76"/>
                </a:solidFill>
                <a:latin typeface="Arial" pitchFamily="34" charset="0"/>
                <a:ea typeface="Arial" pitchFamily="34" charset="-122"/>
                <a:cs typeface="Arial" pitchFamily="34" charset="-120"/>
              </a:rPr>
              <a:t>ASR: whisper.cpp/Vulkan · MT: PyTorch/CUDA · TTS: CPU</a:t>
            </a:r>
            <a:endParaRPr 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2880360"/>
          <a:ext cx="10241280" cy="2560320"/>
        </p:xfrm>
        <a:graphic>
          <a:graphicData uri="http://schemas.openxmlformats.org/drawingml/2006/table">
            <a:tbl>
              <a:tblPr/>
              <a:tblGrid>
                <a:gridCol w="2926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65760">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Dữ liệu</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Dùng cho</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Quy mô</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000000"/>
                          </a:solidFill>
                          <a:latin typeface="Arial" pitchFamily="34" charset="0"/>
                          <a:ea typeface="Arial" pitchFamily="34" charset="-122"/>
                          <a:cs typeface="Arial" pitchFamily="34" charset="-120"/>
                        </a:rPr>
                        <a:t>FLEURS test [3], âm thanh</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Nhận dạng (ASR)</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3.099 bản thu, 10,22 giờ: vi 857 · en 647 · zh 945 · ja 650</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000000"/>
                          </a:solidFill>
                          <a:latin typeface="Arial" pitchFamily="34" charset="0"/>
                          <a:ea typeface="Arial" pitchFamily="34" charset="-122"/>
                          <a:cs typeface="Arial" pitchFamily="34" charset="-120"/>
                        </a:rPr>
                        <a:t>FLEURS test, văn bản</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Dịch máy (MT)</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2.022 cặp câu, sáu chiều</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000000"/>
                          </a:solidFill>
                          <a:latin typeface="Arial" pitchFamily="34" charset="0"/>
                          <a:ea typeface="Arial" pitchFamily="34" charset="-122"/>
                          <a:cs typeface="Arial" pitchFamily="34" charset="-120"/>
                        </a:rPr>
                        <a:t>FLEURS test, âm thanh</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Độ trễ cả chuỗi</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50 mẫu × 6 chiều</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000000"/>
                          </a:solidFill>
                          <a:latin typeface="Arial" pitchFamily="34" charset="0"/>
                          <a:ea typeface="Arial" pitchFamily="34" charset="-122"/>
                          <a:cs typeface="Arial" pitchFamily="34" charset="-120"/>
                        </a:rPr>
                        <a:t>Âm thanh theo nhịp thật</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Chạy liên tục</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60 phút, 877 câu</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000000"/>
                          </a:solidFill>
                          <a:latin typeface="Arial" pitchFamily="34" charset="0"/>
                          <a:ea typeface="Arial" pitchFamily="34" charset="-122"/>
                          <a:cs typeface="Arial" pitchFamily="34" charset="-120"/>
                        </a:rPr>
                        <a:t>3 bản ghi YouTube</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Tách câu</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Bản tin đọc · phỏng vấn tự phát · TEDx</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300" b="1" dirty="0">
                          <a:solidFill>
                            <a:srgbClr val="000000"/>
                          </a:solidFill>
                          <a:latin typeface="Arial" pitchFamily="34" charset="0"/>
                          <a:ea typeface="Arial" pitchFamily="34" charset="-122"/>
                          <a:cs typeface="Arial" pitchFamily="34" charset="-120"/>
                        </a:rPr>
                        <a:t>25 đoạn phỏng vấn</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ASR + MT giọng thật</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300" dirty="0">
                          <a:solidFill>
                            <a:srgbClr val="000000"/>
                          </a:solidFill>
                          <a:latin typeface="Arial" pitchFamily="34" charset="0"/>
                          <a:ea typeface="Arial" pitchFamily="34" charset="-122"/>
                          <a:cs typeface="Arial" pitchFamily="34" charset="-120"/>
                        </a:rPr>
                        <a:t>149 s tiếng nói, câu tham chiếu nghe và sửa tay</a:t>
                      </a:r>
                      <a:endParaRPr lang="en-US" sz="13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7" name="Shape x554"/>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8"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9"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Đo trên hai máy, FLEURS là dữ liệu chính; mọi số liệu chạy lại được từ tệp kết quả gốc</a:t>
            </a:r>
            <a:endParaRPr lang="vi-VN" sz="1500" b="0" i="0" dirty="0">
              <a:solidFill>
                <a:srgbClr val="B8262B"/>
              </a:solidFill>
              <a:latin typeface="Arial"/>
              <a:ea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III. Kết quả thực nghiệm</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2. Nhận dạng tiếng nói trên FLEURS (3.099 bản thu)</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17</a:t>
            </a:r>
            <a:endParaRPr lang="en-US" sz="1100" dirty="0"/>
          </a:p>
        </p:txBody>
      </p:sp>
      <p:graphicFrame>
        <p:nvGraphicFramePr>
          <p:cNvPr id="8" name="Chart 0"/>
          <p:cNvGraphicFramePr/>
          <p:nvPr/>
        </p:nvGraphicFramePr>
        <p:xfrm>
          <a:off x="594360" y="1371600"/>
          <a:ext cx="6309360" cy="4224528"/>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3"/>
          <p:cNvSpPr txBox="1"/>
          <p:nvPr/>
        </p:nvSpPr>
        <p:spPr>
          <a:xfrm>
            <a:off x="7132320" y="1463040"/>
            <a:ext cx="3840480" cy="411480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Tiếng Việt sai gần gấp đôi tiếng Anh: WER </a:t>
            </a:r>
            <a:r>
              <a:rPr lang="en-US" sz="1400" b="1" dirty="0">
                <a:solidFill>
                  <a:srgbClr val="1B517B"/>
                </a:solidFill>
                <a:latin typeface="Arial" pitchFamily="34" charset="0"/>
                <a:ea typeface="Arial" pitchFamily="34" charset="-122"/>
                <a:cs typeface="Arial" pitchFamily="34" charset="-120"/>
              </a:rPr>
              <a:t>8,8–10,4%</a:t>
            </a:r>
            <a:r>
              <a:rPr lang="en-US" sz="1400" b="0" dirty="0">
                <a:solidFill>
                  <a:srgbClr val="222222"/>
                </a:solidFill>
                <a:latin typeface="Arial" pitchFamily="34" charset="0"/>
                <a:ea typeface="Arial" pitchFamily="34" charset="-122"/>
                <a:cs typeface="Arial" pitchFamily="34" charset="-120"/>
              </a:rPr>
              <a:t> so với 4,8–5,0%. FLEURS là giọng đọc rõ, nên đây là mức lỗi thấp nhất có thể kỳ vọng.</a:t>
            </a:r>
            <a:endParaRPr lang="en-US" sz="1400" dirty="0"/>
          </a:p>
          <a:p>
            <a:pPr marL="190500" indent="-1905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Cùng large-v3-turbo, bản q5_0 (whisper.cpp) sai nhiều hơn bản fp16 (faster-whisper) 1,2 điểm WER tiếng Việt, nhưng nhanh gấp đôi (RTF 0,018 so với 0,034).</a:t>
            </a:r>
            <a:endParaRPr lang="en-US" sz="1400" dirty="0"/>
          </a:p>
          <a:p>
            <a:pPr marL="190500" indent="-1905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Tiếng Trung và tiếng Nhật dùng CER vì không tách từ bằng khoảng trắng, như bài báo FLEURS.</a:t>
            </a:r>
            <a:endParaRPr lang="en-US" sz="1400" dirty="0"/>
          </a:p>
          <a:p>
            <a:pPr marL="190500" indent="-190500">
              <a:spcAft>
                <a:spcPts val="1000"/>
              </a:spcAft>
              <a:buSzPct val="100000"/>
              <a:buChar char="•"/>
            </a:pPr>
            <a:r>
              <a:rPr lang="en-US" sz="1400" dirty="0">
                <a:solidFill>
                  <a:srgbClr val="B8262B"/>
                </a:solidFill>
                <a:latin typeface="Arial" pitchFamily="34" charset="0"/>
                <a:ea typeface="Arial" pitchFamily="34" charset="-122"/>
                <a:cs typeface="Arial" pitchFamily="34" charset="-120"/>
              </a:rPr>
              <a:t>Ba runtime không dùng chung tệp mô hình, nên ba cột là ba cấu hình khác nhau.</a:t>
            </a:r>
            <a:endParaRPr lang="en-US" sz="1400" dirty="0"/>
          </a:p>
        </p:txBody>
      </p:sp>
      <p:sp>
        <p:nvSpPr>
          <p:cNvPr id="10" name="Shape x522"/>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1"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2"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Trên giọng đọc, tiếng Việt sai khoảng 1 từ trong 10 (WER 8,8–10,4%), gấp đôi tiếng Anh</a:t>
            </a:r>
            <a:endParaRPr lang="vi-VN" sz="1500" b="0" i="0" dirty="0">
              <a:solidFill>
                <a:srgbClr val="B8262B"/>
              </a:solidFill>
              <a:latin typeface="Arial"/>
              <a:ea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III. Kết quả thực nghiệm</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2. Dịch máy trên FLEURS (NLLB-200 distilled 600M)</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18</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463040"/>
          <a:ext cx="5852160" cy="3328416"/>
        </p:xfrm>
        <a:graphic>
          <a:graphicData uri="http://schemas.openxmlformats.org/drawingml/2006/table">
            <a:tbl>
              <a:tblPr/>
              <a:tblGrid>
                <a:gridCol w="1188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7548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Chiều</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Số câu</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spBLEU</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chrF++</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COMET</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extLst>
                  <a:ext uri="{0D108BD9-81ED-4DB2-BD59-A6C34878D82A}">
                    <a16:rowId xmlns:a16="http://schemas.microsoft.com/office/drawing/2014/main" val="10000"/>
                  </a:ext>
                </a:extLst>
              </a:tr>
              <a:tr h="475488">
                <a:tc>
                  <a:txBody>
                    <a:bodyPr/>
                    <a:lstStyle/>
                    <a:p>
                      <a:pPr marL="0" indent="0" algn="l">
                        <a:buNone/>
                      </a:pPr>
                      <a:r>
                        <a:rPr lang="en-US" sz="1500" b="1" dirty="0">
                          <a:solidFill>
                            <a:srgbClr val="222222"/>
                          </a:solidFill>
                          <a:latin typeface="Arial" pitchFamily="34" charset="0"/>
                          <a:ea typeface="Arial" pitchFamily="34" charset="-122"/>
                          <a:cs typeface="Arial" pitchFamily="34" charset="-120"/>
                        </a:rPr>
                        <a:t>vi→en</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347</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35,79</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57,10</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0,853</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500" b="1" dirty="0">
                          <a:solidFill>
                            <a:srgbClr val="222222"/>
                          </a:solidFill>
                          <a:latin typeface="Arial" pitchFamily="34" charset="0"/>
                          <a:ea typeface="Arial" pitchFamily="34" charset="-122"/>
                          <a:cs typeface="Arial" pitchFamily="34" charset="-120"/>
                        </a:rPr>
                        <a:t>en→vi</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347</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37,13</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54,69</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0,851</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500" b="1" dirty="0">
                          <a:solidFill>
                            <a:srgbClr val="222222"/>
                          </a:solidFill>
                          <a:latin typeface="Arial" pitchFamily="34" charset="0"/>
                          <a:ea typeface="Arial" pitchFamily="34" charset="-122"/>
                          <a:cs typeface="Arial" pitchFamily="34" charset="-120"/>
                        </a:rPr>
                        <a:t>vi→zh</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346</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B8262B"/>
                          </a:solidFill>
                          <a:latin typeface="Arial" pitchFamily="34" charset="0"/>
                          <a:ea typeface="Arial" pitchFamily="34" charset="-122"/>
                          <a:cs typeface="Arial" pitchFamily="34" charset="-120"/>
                        </a:rPr>
                        <a:t>17,15</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BEDED"/>
                    </a:solidFill>
                  </a:tcPr>
                </a:tc>
                <a:tc>
                  <a:txBody>
                    <a:bodyPr/>
                    <a:lstStyle/>
                    <a:p>
                      <a:pPr marL="0" indent="0" algn="ctr">
                        <a:buNone/>
                      </a:pPr>
                      <a:r>
                        <a:rPr lang="en-US" sz="1500" dirty="0">
                          <a:solidFill>
                            <a:srgbClr val="5F6B76"/>
                          </a:solidFill>
                          <a:latin typeface="Arial" pitchFamily="34" charset="0"/>
                          <a:ea typeface="Arial" pitchFamily="34" charset="-122"/>
                          <a:cs typeface="Arial" pitchFamily="34" charset="-120"/>
                        </a:rPr>
                        <a:t>16,14*</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B8262B"/>
                          </a:solidFill>
                          <a:latin typeface="Arial" pitchFamily="34" charset="0"/>
                          <a:ea typeface="Arial" pitchFamily="34" charset="-122"/>
                          <a:cs typeface="Arial" pitchFamily="34" charset="-120"/>
                        </a:rPr>
                        <a:t>0,773</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BEDED"/>
                    </a:solidFill>
                  </a:tcPr>
                </a:tc>
                <a:extLst>
                  <a:ext uri="{0D108BD9-81ED-4DB2-BD59-A6C34878D82A}">
                    <a16:rowId xmlns:a16="http://schemas.microsoft.com/office/drawing/2014/main" val="10003"/>
                  </a:ext>
                </a:extLst>
              </a:tr>
              <a:tr h="475488">
                <a:tc>
                  <a:txBody>
                    <a:bodyPr/>
                    <a:lstStyle/>
                    <a:p>
                      <a:pPr marL="0" indent="0" algn="l">
                        <a:buNone/>
                      </a:pPr>
                      <a:r>
                        <a:rPr lang="en-US" sz="1500" b="1" dirty="0">
                          <a:solidFill>
                            <a:srgbClr val="222222"/>
                          </a:solidFill>
                          <a:latin typeface="Arial" pitchFamily="34" charset="0"/>
                          <a:ea typeface="Arial" pitchFamily="34" charset="-122"/>
                          <a:cs typeface="Arial" pitchFamily="34" charset="-120"/>
                        </a:rPr>
                        <a:t>zh→vi</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346</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22,33</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42,77</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0,821</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500" b="1" dirty="0">
                          <a:solidFill>
                            <a:srgbClr val="222222"/>
                          </a:solidFill>
                          <a:latin typeface="Arial" pitchFamily="34" charset="0"/>
                          <a:ea typeface="Arial" pitchFamily="34" charset="-122"/>
                          <a:cs typeface="Arial" pitchFamily="34" charset="-120"/>
                        </a:rPr>
                        <a:t>vi→ja</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318</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E3A33B"/>
                          </a:solidFill>
                          <a:latin typeface="Arial" pitchFamily="34" charset="0"/>
                          <a:ea typeface="Arial" pitchFamily="34" charset="-122"/>
                          <a:cs typeface="Arial" pitchFamily="34" charset="-120"/>
                        </a:rPr>
                        <a:t>10,96</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5F6B76"/>
                          </a:solidFill>
                          <a:latin typeface="Arial" pitchFamily="34" charset="0"/>
                          <a:ea typeface="Arial" pitchFamily="34" charset="-122"/>
                          <a:cs typeface="Arial" pitchFamily="34" charset="-120"/>
                        </a:rPr>
                        <a:t>19,88*</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0,824</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500" b="1" dirty="0">
                          <a:solidFill>
                            <a:srgbClr val="222222"/>
                          </a:solidFill>
                          <a:latin typeface="Arial" pitchFamily="34" charset="0"/>
                          <a:ea typeface="Arial" pitchFamily="34" charset="-122"/>
                          <a:cs typeface="Arial" pitchFamily="34" charset="-120"/>
                        </a:rPr>
                        <a:t>ja→vi</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318</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19,91</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40,19</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22222"/>
                          </a:solidFill>
                          <a:latin typeface="Arial" pitchFamily="34" charset="0"/>
                          <a:ea typeface="Arial" pitchFamily="34" charset="-122"/>
                          <a:cs typeface="Arial" pitchFamily="34" charset="-120"/>
                        </a:rPr>
                        <a:t>0,819</a:t>
                      </a:r>
                      <a:endParaRPr lang="en-US" sz="15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ext 3"/>
          <p:cNvSpPr txBox="1"/>
          <p:nvPr/>
        </p:nvSpPr>
        <p:spPr>
          <a:xfrm>
            <a:off x="685800" y="4892040"/>
            <a:ext cx="5852160" cy="548640"/>
          </a:xfrm>
          <a:prstGeom prst="rect">
            <a:avLst/>
          </a:prstGeom>
          <a:noFill/>
          <a:ln/>
        </p:spPr>
        <p:txBody>
          <a:bodyPr wrap="square" lIns="0" tIns="0" rIns="0" bIns="0" rtlCol="0" anchor="t"/>
          <a:lstStyle/>
          <a:p>
            <a:pPr marL="0" indent="0">
              <a:buNone/>
            </a:pPr>
            <a:r>
              <a:rPr lang="en-US" sz="1100" i="1" dirty="0">
                <a:solidFill>
                  <a:srgbClr val="5F6B76"/>
                </a:solidFill>
                <a:latin typeface="Arial" pitchFamily="34" charset="0"/>
                <a:ea typeface="Arial" pitchFamily="34" charset="-122"/>
                <a:cs typeface="Arial" pitchFamily="34" charset="-120"/>
              </a:rPr>
              <a:t>* chrF++ của đích zh/ja không so ngang được (không có khoảng trắng); COMET dùng Unbabel/wmt22-comet-da [21]</a:t>
            </a:r>
            <a:endParaRPr lang="en-US" sz="1100" dirty="0"/>
          </a:p>
        </p:txBody>
      </p:sp>
      <p:sp>
        <p:nvSpPr>
          <p:cNvPr id="10" name="Shape 4"/>
          <p:cNvSpPr/>
          <p:nvPr/>
        </p:nvSpPr>
        <p:spPr>
          <a:xfrm>
            <a:off x="6858000" y="1463040"/>
            <a:ext cx="4069080" cy="2240280"/>
          </a:xfrm>
          <a:prstGeom prst="roundRect">
            <a:avLst>
              <a:gd name="adj" fmla="val 3265"/>
            </a:avLst>
          </a:prstGeom>
          <a:solidFill>
            <a:srgbClr val="EEF4F9"/>
          </a:solidFill>
          <a:ln w="12700">
            <a:solidFill>
              <a:srgbClr val="EEF4F9"/>
            </a:solidFill>
            <a:prstDash val="solid"/>
          </a:ln>
        </p:spPr>
        <p:txBody>
          <a:bodyPr/>
          <a:lstStyle/>
          <a:p>
            <a:endParaRPr lang="en-US"/>
          </a:p>
        </p:txBody>
      </p:sp>
      <p:sp>
        <p:nvSpPr>
          <p:cNvPr id="11" name="Text 5"/>
          <p:cNvSpPr txBox="1"/>
          <p:nvPr/>
        </p:nvSpPr>
        <p:spPr>
          <a:xfrm>
            <a:off x="7040880" y="1554480"/>
            <a:ext cx="374904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spBLEU và COMET xếp hạng khác nhau</a:t>
            </a:r>
            <a:endParaRPr lang="en-US" sz="1500" dirty="0"/>
          </a:p>
        </p:txBody>
      </p:sp>
      <p:sp>
        <p:nvSpPr>
          <p:cNvPr id="12" name="Text 6"/>
          <p:cNvSpPr txBox="1"/>
          <p:nvPr/>
        </p:nvSpPr>
        <p:spPr>
          <a:xfrm>
            <a:off x="7040880" y="1938528"/>
            <a:ext cx="3749040" cy="173736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Xếp theo spBLEU thì vi→ja thấp nhất (10,96); xếp theo COMET thì vi→zh thấp nhất (0,773). spBLEU chỉ đếm chữ trùng với một bản dịch mẫu, nên câu đúng nghĩa mà diễn đạt khác vẫn bị điểm thấp; COMET chấm theo nghĩa.</a:t>
            </a:r>
            <a:endParaRPr lang="en-US" sz="1300" dirty="0"/>
          </a:p>
        </p:txBody>
      </p:sp>
      <p:sp>
        <p:nvSpPr>
          <p:cNvPr id="13" name="Shape 7"/>
          <p:cNvSpPr/>
          <p:nvPr/>
        </p:nvSpPr>
        <p:spPr>
          <a:xfrm>
            <a:off x="6858000" y="3886200"/>
            <a:ext cx="4069080" cy="1554480"/>
          </a:xfrm>
          <a:prstGeom prst="roundRect">
            <a:avLst>
              <a:gd name="adj" fmla="val 4706"/>
            </a:avLst>
          </a:prstGeom>
          <a:solidFill>
            <a:srgbClr val="FBEDED"/>
          </a:solidFill>
          <a:ln w="12700">
            <a:solidFill>
              <a:srgbClr val="FBEDED"/>
            </a:solidFill>
            <a:prstDash val="solid"/>
          </a:ln>
        </p:spPr>
        <p:txBody>
          <a:bodyPr/>
          <a:lstStyle/>
          <a:p>
            <a:endParaRPr lang="en-US"/>
          </a:p>
        </p:txBody>
      </p:sp>
      <p:sp>
        <p:nvSpPr>
          <p:cNvPr id="14" name="Text 8"/>
          <p:cNvSpPr txBox="1"/>
          <p:nvPr/>
        </p:nvSpPr>
        <p:spPr>
          <a:xfrm>
            <a:off x="7040880" y="3977640"/>
            <a:ext cx="3749040" cy="1371600"/>
          </a:xfrm>
          <a:prstGeom prst="rect">
            <a:avLst/>
          </a:prstGeom>
          <a:noFill/>
          <a:ln/>
        </p:spPr>
        <p:txBody>
          <a:bodyPr wrap="square" lIns="0" tIns="0" rIns="0" bIns="0" rtlCol="0" anchor="ctr"/>
          <a:lstStyle/>
          <a:p>
            <a:pPr marL="0" indent="0">
              <a:buNone/>
            </a:pPr>
            <a:r>
              <a:rPr lang="en-US" sz="1400" b="1" dirty="0">
                <a:solidFill>
                  <a:srgbClr val="B8262B"/>
                </a:solidFill>
                <a:latin typeface="Arial" pitchFamily="34" charset="0"/>
                <a:ea typeface="Arial" pitchFamily="34" charset="-122"/>
                <a:cs typeface="Arial" pitchFamily="34" charset="-120"/>
              </a:rPr>
              <a:t>Hai độ đo có thể xếp hạng ngược nhau, nên đồ án báo cáo cả hai. Chỗ chúng mâu thuẫn là chỗ phải đọc lại câu dịch thật.</a:t>
            </a:r>
            <a:endParaRPr lang="en-US" sz="1400" dirty="0"/>
          </a:p>
        </p:txBody>
      </p:sp>
      <p:sp>
        <p:nvSpPr>
          <p:cNvPr id="15" name="Shape x525"/>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6"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7"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600" b="1" i="0" dirty="0">
                <a:solidFill>
                  <a:srgbClr val="B8262B"/>
                </a:solidFill>
                <a:latin typeface="Arial"/>
                <a:ea typeface="Arial"/>
                <a:cs typeface="Arial"/>
              </a:rPr>
              <a:t>COMET 0,77–0,85 ở cả sáu chiều; yếu nhất là vi→zh, thấp ở cả spBLEU lẫn COMET</a:t>
            </a:r>
            <a:endParaRPr lang="vi-VN" sz="1600" b="0" i="0" dirty="0">
              <a:solidFill>
                <a:srgbClr val="B8262B"/>
              </a:solidFill>
              <a:latin typeface="Arial"/>
              <a:ea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III. Kết quả thực nghiệm</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3. Độ trễ: hệ số thời gian thực (RTF p90)</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19</a:t>
            </a:r>
            <a:endParaRPr lang="en-US" sz="1100" dirty="0"/>
          </a:p>
        </p:txBody>
      </p:sp>
      <p:graphicFrame>
        <p:nvGraphicFramePr>
          <p:cNvPr id="8" name="Chart 0"/>
          <p:cNvGraphicFramePr/>
          <p:nvPr/>
        </p:nvGraphicFramePr>
        <p:xfrm>
          <a:off x="594360" y="1371600"/>
          <a:ext cx="6583680" cy="4224528"/>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3"/>
          <p:cNvSpPr txBox="1"/>
          <p:nvPr/>
        </p:nvSpPr>
        <p:spPr>
          <a:xfrm>
            <a:off x="7406640" y="1463040"/>
            <a:ext cx="3566160" cy="822960"/>
          </a:xfrm>
          <a:prstGeom prst="rect">
            <a:avLst/>
          </a:prstGeom>
          <a:noFill/>
          <a:ln/>
        </p:spPr>
        <p:txBody>
          <a:bodyPr wrap="square" lIns="0" tIns="0" rIns="0" bIns="0" rtlCol="0" anchor="t"/>
          <a:lstStyle/>
          <a:p>
            <a:pPr marL="0" indent="0">
              <a:buNone/>
            </a:pPr>
            <a:r>
              <a:rPr lang="en-US" sz="1300" b="1" dirty="0">
                <a:solidFill>
                  <a:srgbClr val="222222"/>
                </a:solidFill>
                <a:latin typeface="Arial" pitchFamily="34" charset="0"/>
                <a:ea typeface="Arial" pitchFamily="34" charset="-122"/>
                <a:cs typeface="Arial" pitchFamily="34" charset="-120"/>
              </a:rPr>
              <a:t>RTF = thời gian xử lý / thời lượng âm thanh</a:t>
            </a:r>
            <a:r>
              <a:rPr lang="en-US" sz="1300" dirty="0">
                <a:solidFill>
                  <a:srgbClr val="5F6B76"/>
                </a:solidFill>
                <a:latin typeface="Arial" pitchFamily="34" charset="0"/>
                <a:ea typeface="Arial" pitchFamily="34" charset="-122"/>
                <a:cs typeface="Arial" pitchFamily="34" charset="-120"/>
              </a:rPr>
              <a:t>  (50 mẫu mỗi chiều, đủ chuỗi VAD → ASR → MT → TTS)</a:t>
            </a:r>
            <a:endParaRPr lang="en-US" sz="1300" dirty="0"/>
          </a:p>
        </p:txBody>
      </p:sp>
      <p:sp>
        <p:nvSpPr>
          <p:cNvPr id="10" name="Text 4"/>
          <p:cNvSpPr txBox="1"/>
          <p:nvPr/>
        </p:nvSpPr>
        <p:spPr>
          <a:xfrm>
            <a:off x="7406640" y="2377440"/>
            <a:ext cx="3566160" cy="315468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RTF p90 dưới 1 ở cả sáu chiều trên cả hai máy, tức hệ thống theo kịp luồng nói liên tục.</a:t>
            </a:r>
            <a:endParaRPr lang="en-US" sz="1400" dirty="0"/>
          </a:p>
          <a:p>
            <a:pPr marL="190500" indent="-1905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Với ngưỡng 0,5, máy Windows đạt cả sáu chiều (xấu nhất vi→ja 0,383). Máy macOS đạt hai chiều en→vi và ja→vi; zh→vi trượt sát mép ở 0,509.</a:t>
            </a:r>
            <a:endParaRPr lang="en-US" sz="1400" dirty="0"/>
          </a:p>
          <a:p>
            <a:pPr marL="190500" indent="-1905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Thời gian chờ chốt câu là 200–256 ms, chỉ phụ thuộc ngôn ngữ nguồn và giống nhau trên hai máy.</a:t>
            </a:r>
            <a:endParaRPr lang="en-US" sz="1400" dirty="0"/>
          </a:p>
        </p:txBody>
      </p:sp>
      <p:sp>
        <p:nvSpPr>
          <p:cNvPr id="11" name="Shape x528"/>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2"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3"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Cả sáu chiều theo kịp người nói trên cả hai máy; máy có card đồ họa rời đạt luôn mục tiêu 0,5</a:t>
            </a:r>
            <a:endParaRPr lang="vi-VN" sz="1500" b="0" i="0" dirty="0">
              <a:solidFill>
                <a:srgbClr val="B8262B"/>
              </a:solidFill>
              <a:latin typeface="Arial"/>
              <a:ea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III. Kết quả thực nghiệm</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4. Nhận dạng và dịch trên hội thoại tự phát</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20</a:t>
            </a:r>
            <a:endParaRPr lang="en-US" sz="1100" dirty="0"/>
          </a:p>
        </p:txBody>
      </p:sp>
      <p:sp>
        <p:nvSpPr>
          <p:cNvPr id="8" name="Shape 3"/>
          <p:cNvSpPr/>
          <p:nvPr/>
        </p:nvSpPr>
        <p:spPr>
          <a:xfrm>
            <a:off x="685800" y="1417320"/>
            <a:ext cx="5029200" cy="2148840"/>
          </a:xfrm>
          <a:prstGeom prst="roundRect">
            <a:avLst>
              <a:gd name="adj" fmla="val 3404"/>
            </a:avLst>
          </a:prstGeom>
          <a:solidFill>
            <a:srgbClr val="EEF4F9"/>
          </a:solidFill>
          <a:ln w="12700">
            <a:solidFill>
              <a:srgbClr val="EEF4F9"/>
            </a:solidFill>
            <a:prstDash val="solid"/>
          </a:ln>
        </p:spPr>
        <p:txBody>
          <a:bodyPr/>
          <a:lstStyle/>
          <a:p>
            <a:endParaRPr lang="en-US"/>
          </a:p>
        </p:txBody>
      </p:sp>
      <p:sp>
        <p:nvSpPr>
          <p:cNvPr id="9" name="Text 4"/>
          <p:cNvSpPr txBox="1"/>
          <p:nvPr/>
        </p:nvSpPr>
        <p:spPr>
          <a:xfrm>
            <a:off x="868680" y="1481328"/>
            <a:ext cx="4663440" cy="320040"/>
          </a:xfrm>
          <a:prstGeom prst="rect">
            <a:avLst/>
          </a:prstGeom>
          <a:noFill/>
          <a:ln/>
        </p:spPr>
        <p:txBody>
          <a:bodyPr wrap="square" lIns="0" tIns="0" rIns="0" bIns="0" rtlCol="0" anchor="t"/>
          <a:lstStyle/>
          <a:p>
            <a:pPr marL="0" indent="0">
              <a:buNone/>
            </a:pPr>
            <a:r>
              <a:rPr lang="en-US" sz="1400" b="1" dirty="0">
                <a:solidFill>
                  <a:srgbClr val="1B517B"/>
                </a:solidFill>
                <a:latin typeface="Arial" pitchFamily="34" charset="0"/>
                <a:ea typeface="Arial" pitchFamily="34" charset="-122"/>
                <a:cs typeface="Arial" pitchFamily="34" charset="-120"/>
              </a:rPr>
              <a:t>WER tiếng Việt, cùng mô hình, cùng máy</a:t>
            </a:r>
            <a:endParaRPr lang="en-US" sz="1400" dirty="0"/>
          </a:p>
        </p:txBody>
      </p:sp>
      <p:sp>
        <p:nvSpPr>
          <p:cNvPr id="10" name="Text 5"/>
          <p:cNvSpPr txBox="1"/>
          <p:nvPr/>
        </p:nvSpPr>
        <p:spPr>
          <a:xfrm>
            <a:off x="868680" y="1874520"/>
            <a:ext cx="2011680" cy="1188720"/>
          </a:xfrm>
          <a:prstGeom prst="rect">
            <a:avLst/>
          </a:prstGeom>
          <a:noFill/>
          <a:ln/>
        </p:spPr>
        <p:txBody>
          <a:bodyPr wrap="square" lIns="0" tIns="0" rIns="0" bIns="0" rtlCol="0" anchor="ctr"/>
          <a:lstStyle/>
          <a:p>
            <a:pPr marL="0" indent="0" algn="ctr">
              <a:buNone/>
            </a:pPr>
            <a:r>
              <a:rPr lang="en-US" sz="3600" b="1" dirty="0">
                <a:solidFill>
                  <a:srgbClr val="487BA2"/>
                </a:solidFill>
                <a:latin typeface="Arial" pitchFamily="34" charset="0"/>
                <a:ea typeface="Arial" pitchFamily="34" charset="-122"/>
                <a:cs typeface="Arial" pitchFamily="34" charset="-120"/>
              </a:rPr>
              <a:t>10,4%</a:t>
            </a:r>
            <a:endParaRPr lang="en-US" sz="3600" dirty="0"/>
          </a:p>
          <a:p>
            <a:pPr marL="0" indent="0" algn="ctr">
              <a:buNone/>
            </a:pPr>
            <a:r>
              <a:rPr lang="en-US" sz="1200" b="1" dirty="0">
                <a:solidFill>
                  <a:srgbClr val="5F6B76"/>
                </a:solidFill>
                <a:latin typeface="Arial" pitchFamily="34" charset="0"/>
                <a:ea typeface="Arial" pitchFamily="34" charset="-122"/>
                <a:cs typeface="Arial" pitchFamily="34" charset="-120"/>
              </a:rPr>
              <a:t>FLEURS, 857 câu</a:t>
            </a:r>
            <a:endParaRPr lang="en-US" sz="3600" dirty="0"/>
          </a:p>
        </p:txBody>
      </p:sp>
      <p:pic>
        <p:nvPicPr>
          <p:cNvPr id="11" name="Image 2" descr="preencoded.png"/>
          <p:cNvPicPr>
            <a:picLocks noChangeAspect="1"/>
          </p:cNvPicPr>
          <p:nvPr/>
        </p:nvPicPr>
        <p:blipFill>
          <a:blip r:embed="rId5"/>
          <a:stretch>
            <a:fillRect/>
          </a:stretch>
        </p:blipFill>
        <p:spPr>
          <a:xfrm>
            <a:off x="2971800" y="2240280"/>
            <a:ext cx="457200" cy="457200"/>
          </a:xfrm>
          <a:prstGeom prst="rect">
            <a:avLst/>
          </a:prstGeom>
        </p:spPr>
      </p:pic>
      <p:sp>
        <p:nvSpPr>
          <p:cNvPr id="12" name="Text 6"/>
          <p:cNvSpPr txBox="1"/>
          <p:nvPr/>
        </p:nvSpPr>
        <p:spPr>
          <a:xfrm>
            <a:off x="3520440" y="1874520"/>
            <a:ext cx="2011680" cy="1188720"/>
          </a:xfrm>
          <a:prstGeom prst="rect">
            <a:avLst/>
          </a:prstGeom>
          <a:noFill/>
          <a:ln/>
        </p:spPr>
        <p:txBody>
          <a:bodyPr wrap="square" lIns="0" tIns="0" rIns="0" bIns="0" rtlCol="0" anchor="ctr"/>
          <a:lstStyle/>
          <a:p>
            <a:pPr marL="0" indent="0" algn="ctr">
              <a:buNone/>
            </a:pPr>
            <a:r>
              <a:rPr lang="en-US" sz="3600" b="1" dirty="0">
                <a:solidFill>
                  <a:srgbClr val="B8262B"/>
                </a:solidFill>
                <a:latin typeface="Arial" pitchFamily="34" charset="0"/>
                <a:ea typeface="Arial" pitchFamily="34" charset="-122"/>
                <a:cs typeface="Arial" pitchFamily="34" charset="-120"/>
              </a:rPr>
              <a:t>24,6%</a:t>
            </a:r>
            <a:endParaRPr lang="en-US" sz="3600" dirty="0"/>
          </a:p>
          <a:p>
            <a:pPr marL="0" indent="0" algn="ctr">
              <a:buNone/>
            </a:pPr>
            <a:r>
              <a:rPr lang="en-US" sz="1200" b="1" dirty="0">
                <a:solidFill>
                  <a:srgbClr val="5F6B76"/>
                </a:solidFill>
                <a:latin typeface="Arial" pitchFamily="34" charset="0"/>
                <a:ea typeface="Arial" pitchFamily="34" charset="-122"/>
                <a:cs typeface="Arial" pitchFamily="34" charset="-120"/>
              </a:rPr>
              <a:t>phỏng vấn thật, 25 đoạn</a:t>
            </a:r>
            <a:endParaRPr lang="en-US" sz="3600" dirty="0"/>
          </a:p>
        </p:txBody>
      </p:sp>
      <p:sp>
        <p:nvSpPr>
          <p:cNvPr id="13" name="Text 7"/>
          <p:cNvSpPr txBox="1"/>
          <p:nvPr/>
        </p:nvSpPr>
        <p:spPr>
          <a:xfrm>
            <a:off x="868680" y="3108960"/>
            <a:ext cx="4663440" cy="365760"/>
          </a:xfrm>
          <a:prstGeom prst="rect">
            <a:avLst/>
          </a:prstGeom>
          <a:noFill/>
          <a:ln/>
        </p:spPr>
        <p:txBody>
          <a:bodyPr wrap="square" lIns="0" tIns="0" rIns="0" bIns="0" rtlCol="0" anchor="t"/>
          <a:lstStyle/>
          <a:p>
            <a:pPr marL="0" indent="0" algn="ctr">
              <a:buNone/>
            </a:pPr>
            <a:r>
              <a:rPr lang="en-US" sz="1400" b="1" dirty="0">
                <a:solidFill>
                  <a:srgbClr val="B8262B"/>
                </a:solidFill>
                <a:latin typeface="Arial" pitchFamily="34" charset="0"/>
                <a:ea typeface="Arial" pitchFamily="34" charset="-122"/>
                <a:cs typeface="Arial" pitchFamily="34" charset="-120"/>
              </a:rPr>
              <a:t>Giọng nói tự phát cho WER gấp 2,4 lần giọng đọc</a:t>
            </a:r>
            <a:endParaRPr lang="en-US" sz="1400" dirty="0"/>
          </a:p>
        </p:txBody>
      </p:sp>
      <p:sp>
        <p:nvSpPr>
          <p:cNvPr id="14" name="Text 8"/>
          <p:cNvSpPr txBox="1"/>
          <p:nvPr/>
        </p:nvSpPr>
        <p:spPr>
          <a:xfrm>
            <a:off x="685800" y="3794760"/>
            <a:ext cx="502920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Lỗi chủ yếu: thuật ngữ tiếng Anh đọc theo giọng Việt</a:t>
            </a:r>
            <a:endParaRPr lang="en-US" sz="1500" dirty="0"/>
          </a:p>
        </p:txBody>
      </p:sp>
      <p:sp>
        <p:nvSpPr>
          <p:cNvPr id="15" name="Text 9"/>
          <p:cNvSpPr txBox="1"/>
          <p:nvPr/>
        </p:nvSpPr>
        <p:spPr>
          <a:xfrm>
            <a:off x="685800" y="4206240"/>
            <a:ext cx="5029200" cy="1325880"/>
          </a:xfrm>
          <a:prstGeom prst="rect">
            <a:avLst/>
          </a:prstGeom>
          <a:noFill/>
          <a:ln/>
        </p:spPr>
        <p:txBody>
          <a:bodyPr wrap="square" lIns="0" tIns="0" rIns="0" bIns="0" rtlCol="0" anchor="t"/>
          <a:lstStyle/>
          <a:p>
            <a:pPr marL="190500" indent="-190500">
              <a:spcAft>
                <a:spcPts val="800"/>
              </a:spcAft>
              <a:buSzPct val="100000"/>
              <a:buChar char="•"/>
            </a:pPr>
            <a:r>
              <a:rPr lang="en-US" sz="1300" dirty="0">
                <a:solidFill>
                  <a:srgbClr val="222222"/>
                </a:solidFill>
                <a:latin typeface="Arial" pitchFamily="34" charset="0"/>
                <a:ea typeface="Arial" pitchFamily="34" charset="-122"/>
                <a:cs typeface="Arial" pitchFamily="34" charset="-120"/>
              </a:rPr>
              <a:t>"string" xuất hiện 18 lần, Whisper nghe đúng </a:t>
            </a:r>
            <a:r>
              <a:rPr lang="en-US" sz="1300" b="1" dirty="0">
                <a:solidFill>
                  <a:srgbClr val="B8262B"/>
                </a:solidFill>
                <a:latin typeface="Arial" pitchFamily="34" charset="0"/>
                <a:ea typeface="Arial" pitchFamily="34" charset="-122"/>
                <a:cs typeface="Arial" pitchFamily="34" charset="-120"/>
              </a:rPr>
              <a:t>1 lần</a:t>
            </a:r>
            <a:r>
              <a:rPr lang="en-US" sz="1300" dirty="0">
                <a:solidFill>
                  <a:srgbClr val="222222"/>
                </a:solidFill>
                <a:latin typeface="Arial" pitchFamily="34" charset="0"/>
                <a:ea typeface="Arial" pitchFamily="34" charset="-122"/>
                <a:cs typeface="Arial" pitchFamily="34" charset="-120"/>
              </a:rPr>
              <a:t>; nghe thành "stream" 6 lần, "trên" 5, "chuyên" 3.</a:t>
            </a:r>
            <a:endParaRPr lang="en-US" sz="1300" dirty="0"/>
          </a:p>
          <a:p>
            <a:pPr marL="190500" indent="-190500">
              <a:spcAft>
                <a:spcPts val="800"/>
              </a:spcAft>
              <a:buSzPct val="100000"/>
              <a:buChar char="•"/>
            </a:pPr>
            <a:r>
              <a:rPr lang="en-US" sz="1300" dirty="0">
                <a:solidFill>
                  <a:srgbClr val="222222"/>
                </a:solidFill>
                <a:latin typeface="Arial" pitchFamily="34" charset="0"/>
                <a:ea typeface="Arial" pitchFamily="34" charset="-122"/>
                <a:cs typeface="Arial" pitchFamily="34" charset="-120"/>
              </a:rPr>
              <a:t>Phụ đề tự sinh của YouTube sai đúng kiểu đó: giới hạn chung của nhận dạng đa ngôn ngữ khi chen từ tiếng Anh vào câu tiếng Việt.</a:t>
            </a:r>
            <a:endParaRPr lang="en-US" sz="1300" dirty="0"/>
          </a:p>
        </p:txBody>
      </p:sp>
      <p:sp>
        <p:nvSpPr>
          <p:cNvPr id="16" name="Text 10"/>
          <p:cNvSpPr txBox="1"/>
          <p:nvPr/>
        </p:nvSpPr>
        <p:spPr>
          <a:xfrm>
            <a:off x="6080760" y="1417320"/>
            <a:ext cx="493776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Hai lỗi khâu dịch chỉ lộ ra trên giọng thật</a:t>
            </a:r>
            <a:endParaRPr lang="en-US" sz="1500" dirty="0"/>
          </a:p>
        </p:txBody>
      </p:sp>
      <p:sp>
        <p:nvSpPr>
          <p:cNvPr id="17" name="Shape 11"/>
          <p:cNvSpPr/>
          <p:nvPr/>
        </p:nvSpPr>
        <p:spPr>
          <a:xfrm>
            <a:off x="6080760" y="1874520"/>
            <a:ext cx="4846320" cy="1417320"/>
          </a:xfrm>
          <a:prstGeom prst="roundRect">
            <a:avLst>
              <a:gd name="adj" fmla="val 4324"/>
            </a:avLst>
          </a:prstGeom>
          <a:solidFill>
            <a:srgbClr val="FBEDED"/>
          </a:solidFill>
          <a:ln w="12700">
            <a:solidFill>
              <a:srgbClr val="FBEDED"/>
            </a:solidFill>
            <a:prstDash val="solid"/>
          </a:ln>
        </p:spPr>
        <p:txBody>
          <a:bodyPr/>
          <a:lstStyle/>
          <a:p>
            <a:endParaRPr lang="en-US"/>
          </a:p>
        </p:txBody>
      </p:sp>
      <p:sp>
        <p:nvSpPr>
          <p:cNvPr id="18" name="Text 12"/>
          <p:cNvSpPr txBox="1"/>
          <p:nvPr/>
        </p:nvSpPr>
        <p:spPr>
          <a:xfrm>
            <a:off x="6263640" y="1965960"/>
            <a:ext cx="4480560" cy="347472"/>
          </a:xfrm>
          <a:prstGeom prst="rect">
            <a:avLst/>
          </a:prstGeom>
          <a:noFill/>
          <a:ln/>
        </p:spPr>
        <p:txBody>
          <a:bodyPr wrap="square" lIns="0" tIns="0" rIns="0" bIns="0" rtlCol="0" anchor="t"/>
          <a:lstStyle/>
          <a:p>
            <a:pPr marL="0" indent="0">
              <a:buNone/>
            </a:pPr>
            <a:r>
              <a:rPr lang="en-US" sz="1500" b="1" dirty="0">
                <a:solidFill>
                  <a:srgbClr val="B8262B"/>
                </a:solidFill>
                <a:latin typeface="Arial" pitchFamily="34" charset="0"/>
                <a:ea typeface="Arial" pitchFamily="34" charset="-122"/>
                <a:cs typeface="Arial" pitchFamily="34" charset="-120"/>
              </a:rPr>
              <a:t>Vòng lặp mất kiểm soát</a:t>
            </a:r>
            <a:endParaRPr lang="en-US" sz="1500" dirty="0"/>
          </a:p>
        </p:txBody>
      </p:sp>
      <p:sp>
        <p:nvSpPr>
          <p:cNvPr id="19" name="Text 13"/>
          <p:cNvSpPr txBox="1"/>
          <p:nvPr/>
        </p:nvSpPr>
        <p:spPr>
          <a:xfrm>
            <a:off x="6263640" y="2331720"/>
            <a:ext cx="4480560" cy="96012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2/75 lượt, đều sang tiếng Nhật: câu mở đầu bằng từ đệm ("dạ đúng ạ…") thành "そうだ。" lặp hơn 50 lần. Chỉ có trần 256 token của NLLB chặn lại, và TTS sẽ đọc to toàn bộ.</a:t>
            </a:r>
            <a:endParaRPr lang="en-US" sz="1300" dirty="0"/>
          </a:p>
        </p:txBody>
      </p:sp>
      <p:sp>
        <p:nvSpPr>
          <p:cNvPr id="20" name="Shape 14"/>
          <p:cNvSpPr/>
          <p:nvPr/>
        </p:nvSpPr>
        <p:spPr>
          <a:xfrm>
            <a:off x="6080760" y="3429000"/>
            <a:ext cx="4846320" cy="1417320"/>
          </a:xfrm>
          <a:prstGeom prst="roundRect">
            <a:avLst>
              <a:gd name="adj" fmla="val 4324"/>
            </a:avLst>
          </a:prstGeom>
          <a:solidFill>
            <a:srgbClr val="EEF4F9"/>
          </a:solidFill>
          <a:ln w="12700">
            <a:solidFill>
              <a:srgbClr val="EEF4F9"/>
            </a:solidFill>
            <a:prstDash val="solid"/>
          </a:ln>
        </p:spPr>
        <p:txBody>
          <a:bodyPr/>
          <a:lstStyle/>
          <a:p>
            <a:endParaRPr lang="en-US"/>
          </a:p>
        </p:txBody>
      </p:sp>
      <p:sp>
        <p:nvSpPr>
          <p:cNvPr id="21" name="Text 15"/>
          <p:cNvSpPr txBox="1"/>
          <p:nvPr/>
        </p:nvSpPr>
        <p:spPr>
          <a:xfrm>
            <a:off x="6263640" y="3520440"/>
            <a:ext cx="4480560" cy="347472"/>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Dịch nghĩa đen thuật ngữ</a:t>
            </a:r>
            <a:endParaRPr lang="en-US" sz="1500" dirty="0"/>
          </a:p>
        </p:txBody>
      </p:sp>
      <p:sp>
        <p:nvSpPr>
          <p:cNvPr id="22" name="Text 16"/>
          <p:cNvSpPr txBox="1"/>
          <p:nvPr/>
        </p:nvSpPr>
        <p:spPr>
          <a:xfrm>
            <a:off x="6263640" y="3886200"/>
            <a:ext cx="4480560" cy="9144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Đích tiếng Trung: "spring" thành 春天 (mùa xuân).</a:t>
            </a:r>
            <a:endParaRPr lang="en-US" sz="1300" dirty="0"/>
          </a:p>
          <a:p>
            <a:pPr marL="0" indent="0">
              <a:buNone/>
            </a:pPr>
            <a:r>
              <a:rPr lang="en-US" sz="1300" dirty="0">
                <a:solidFill>
                  <a:srgbClr val="222222"/>
                </a:solidFill>
                <a:latin typeface="Arial" pitchFamily="34" charset="0"/>
                <a:ea typeface="Arial" pitchFamily="34" charset="-122"/>
                <a:cs typeface="Arial" pitchFamily="34" charset="-120"/>
              </a:rPr>
              <a:t>Đích tiếng Nhật: "spring" thành 春 trong "春のバッファー".</a:t>
            </a:r>
            <a:endParaRPr lang="en-US" sz="1300" dirty="0"/>
          </a:p>
          <a:p>
            <a:pPr marL="0" indent="0">
              <a:buNone/>
            </a:pPr>
            <a:r>
              <a:rPr lang="en-US" sz="1300" dirty="0">
                <a:solidFill>
                  <a:srgbClr val="222222"/>
                </a:solidFill>
                <a:latin typeface="Arial" pitchFamily="34" charset="0"/>
                <a:ea typeface="Arial" pitchFamily="34" charset="-122"/>
                <a:cs typeface="Arial" pitchFamily="34" charset="-120"/>
              </a:rPr>
              <a:t>NLLB không có khái niệm thuật ngữ cần giữ nguyên.</a:t>
            </a:r>
            <a:endParaRPr lang="en-US" sz="1300" dirty="0"/>
          </a:p>
        </p:txBody>
      </p:sp>
      <p:sp>
        <p:nvSpPr>
          <p:cNvPr id="23" name="Text 17"/>
          <p:cNvSpPr txBox="1"/>
          <p:nvPr/>
        </p:nvSpPr>
        <p:spPr>
          <a:xfrm>
            <a:off x="6080760" y="4956048"/>
            <a:ext cx="4846320" cy="548640"/>
          </a:xfrm>
          <a:prstGeom prst="rect">
            <a:avLst/>
          </a:prstGeom>
          <a:noFill/>
          <a:ln/>
        </p:spPr>
        <p:txBody>
          <a:bodyPr wrap="square" lIns="0" tIns="0" rIns="0" bIns="0" rtlCol="0" anchor="t"/>
          <a:lstStyle/>
          <a:p>
            <a:pPr marL="0" indent="0">
              <a:buNone/>
            </a:pPr>
            <a:r>
              <a:rPr lang="en-US" sz="1200" i="1" dirty="0">
                <a:solidFill>
                  <a:srgbClr val="5F6B76"/>
                </a:solidFill>
                <a:latin typeface="Arial" pitchFamily="34" charset="0"/>
                <a:ea typeface="Arial" pitchFamily="34" charset="-122"/>
                <a:cs typeface="Arial" pitchFamily="34" charset="-120"/>
              </a:rPr>
              <a:t>Quy mô nhỏ (1 bản ghi, 25 đoạn), nên chỉ cho biết độ lớn của khoảng cách; số chính vẫn là các bảng FLEURS.</a:t>
            </a:r>
            <a:endParaRPr lang="en-US" sz="1200" dirty="0"/>
          </a:p>
        </p:txBody>
      </p:sp>
      <p:sp>
        <p:nvSpPr>
          <p:cNvPr id="24" name="Shape x531"/>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25"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6"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600" b="1" i="0" dirty="0">
                <a:solidFill>
                  <a:srgbClr val="B8262B"/>
                </a:solidFill>
                <a:latin typeface="Arial"/>
                <a:ea typeface="Arial"/>
                <a:cs typeface="Arial"/>
              </a:rPr>
              <a:t>Giọng nói tự nhiên có WER gấp 2,4 lần giọng đọc; lỗi chính là thuật ngữ tiếng Anh</a:t>
            </a:r>
            <a:endParaRPr lang="vi-VN" sz="1600" b="0" i="0" dirty="0">
              <a:solidFill>
                <a:srgbClr val="B8262B"/>
              </a:solidFill>
              <a:latin typeface="Arial"/>
              <a:ea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III. Kết quả thực nghiệm</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5. Đối chiếu với yêu cầu phi chức năng</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21</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10241280" cy="4123944"/>
        </p:xfrm>
        <a:graphic>
          <a:graphicData uri="http://schemas.openxmlformats.org/drawingml/2006/table">
            <a:tbl>
              <a:tblPr/>
              <a:tblGrid>
                <a:gridCol w="393192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74904">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Yêu cầu</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Kết quả</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Đánh giá</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extLst>
                  <a:ext uri="{0D108BD9-81ED-4DB2-BD59-A6C34878D82A}">
                    <a16:rowId xmlns:a16="http://schemas.microsoft.com/office/drawing/2014/main" val="10000"/>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Phát hiện kết thúc câu &lt; 700 ms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Chờ chốt 200–256 ms (FLEURS), 0,20–0,36 s (giọng thật)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ASR một câu ngắn &lt; 1.500 ms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991–1.060 ms (macOS), 362–480 ms (Windows), câu 3 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2"/>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Dịch &lt; 1.000 ms; TTS &lt; 1.500 ms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MT 460–579 ms; TTS 141–969 ms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3"/>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Tổng chiều đi &lt; 4 s; phụ đề chiều về &lt; 3 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1,8–2,6 s; ASR + MT &lt; 1,2 s trên Windows</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4"/>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Chạy 60 phút, bộ nhớ không tăng đều</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877 câu, 0 lỗi, +12 MB</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5"/>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Một mô hình lỗi không làm mất cả phiên</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Câu lỗi chuyển Error, phiên chạy tiếp (kiểm thử đơn vị)</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6"/>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Offline sau khi cài mô hình</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Không có lời gọi mạng trên đường dịch; tài liệu API đóng gói sẵn</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7"/>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Không gửi, không lưu âm thanh; tắt được lịch sử</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Âm thanh chỉ qua 127.0.0.1; lịch sử chỉ lưu văn bản</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8"/>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Windows 11 và macOS Apple Silicon</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Có bộ cài và số đo trên cả hai</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9"/>
                  </a:ext>
                </a:extLst>
              </a:tr>
              <a:tr h="374904">
                <a:tc>
                  <a:txBody>
                    <a:bodyPr/>
                    <a:lstStyle/>
                    <a:p>
                      <a:pPr marL="0" indent="0">
                        <a:buNone/>
                      </a:pPr>
                      <a:r>
                        <a:rPr lang="en-US" sz="1250" b="1" dirty="0">
                          <a:solidFill>
                            <a:srgbClr val="000000"/>
                          </a:solidFill>
                          <a:latin typeface="Arial" pitchFamily="34" charset="0"/>
                          <a:ea typeface="Arial" pitchFamily="34" charset="-122"/>
                          <a:cs typeface="Arial" pitchFamily="34" charset="-120"/>
                        </a:rPr>
                        <a:t>Đổi runtime không sửa chuỗi xử lý</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250" dirty="0">
                          <a:solidFill>
                            <a:srgbClr val="000000"/>
                          </a:solidFill>
                          <a:latin typeface="Arial" pitchFamily="34" charset="0"/>
                          <a:ea typeface="Arial" pitchFamily="34" charset="-122"/>
                          <a:cs typeface="Arial" pitchFamily="34" charset="-120"/>
                        </a:rPr>
                        <a:t>Thêm MLX, faster-whisper không sửa dòng nào</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250" b="1" dirty="0">
                          <a:solidFill>
                            <a:srgbClr val="2E8B57"/>
                          </a:solidFill>
                          <a:latin typeface="Arial" pitchFamily="34" charset="0"/>
                          <a:ea typeface="Arial" pitchFamily="34" charset="-122"/>
                          <a:cs typeface="Arial" pitchFamily="34" charset="-120"/>
                        </a:rPr>
                        <a:t>Đạt</a:t>
                      </a:r>
                      <a:endParaRPr lang="en-US" sz="125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9" name="Shape x534"/>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0"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1"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Đạt cả 10 yêu cầu; riêng chạy offline mới đạt theo thiết kế, chưa có bài thử ngắt mạng</a:t>
            </a:r>
            <a:endParaRPr lang="vi-VN" sz="1500" b="0" i="0" dirty="0">
              <a:solidFill>
                <a:srgbClr val="B8262B"/>
              </a:solidFill>
              <a:latin typeface="Arial"/>
              <a:ea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IV. Kết luận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1. Kết quả đạt được</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22</a:t>
            </a:r>
            <a:endParaRPr lang="en-US" sz="1100" dirty="0"/>
          </a:p>
        </p:txBody>
      </p:sp>
      <p:sp>
        <p:nvSpPr>
          <p:cNvPr id="8" name="Shape 3"/>
          <p:cNvSpPr/>
          <p:nvPr/>
        </p:nvSpPr>
        <p:spPr>
          <a:xfrm>
            <a:off x="731520" y="1444752"/>
            <a:ext cx="530352" cy="530352"/>
          </a:xfrm>
          <a:prstGeom prst="ellipse">
            <a:avLst/>
          </a:prstGeom>
          <a:solidFill>
            <a:srgbClr val="1B517B"/>
          </a:solidFill>
          <a:ln w="12700">
            <a:solidFill>
              <a:srgbClr val="1B517B"/>
            </a:solidFill>
            <a:prstDash val="solid"/>
          </a:ln>
        </p:spPr>
        <p:txBody>
          <a:bodyPr/>
          <a:lstStyle/>
          <a:p>
            <a:endParaRPr lang="en-US"/>
          </a:p>
        </p:txBody>
      </p:sp>
      <p:pic>
        <p:nvPicPr>
          <p:cNvPr id="9" name="Image 2" descr="preencoded.png"/>
          <p:cNvPicPr>
            <a:picLocks noChangeAspect="1"/>
          </p:cNvPicPr>
          <p:nvPr/>
        </p:nvPicPr>
        <p:blipFill>
          <a:blip r:embed="rId5"/>
          <a:stretch>
            <a:fillRect/>
          </a:stretch>
        </p:blipFill>
        <p:spPr>
          <a:xfrm>
            <a:off x="858804" y="1572036"/>
            <a:ext cx="275783" cy="275783"/>
          </a:xfrm>
          <a:prstGeom prst="rect">
            <a:avLst/>
          </a:prstGeom>
        </p:spPr>
      </p:pic>
      <p:sp>
        <p:nvSpPr>
          <p:cNvPr id="10" name="Text 4"/>
          <p:cNvSpPr txBox="1"/>
          <p:nvPr/>
        </p:nvSpPr>
        <p:spPr>
          <a:xfrm>
            <a:off x="1463040" y="1371600"/>
            <a:ext cx="9418320" cy="329184"/>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Chuỗi xử lý bốn khâu, thay được từng khâu</a:t>
            </a:r>
            <a:endParaRPr lang="en-US" sz="1600" dirty="0"/>
          </a:p>
        </p:txBody>
      </p:sp>
      <p:sp>
        <p:nvSpPr>
          <p:cNvPr id="11" name="Text 5"/>
          <p:cNvSpPr txBox="1"/>
          <p:nvPr/>
        </p:nvSpPr>
        <p:spPr>
          <a:xfrm>
            <a:off x="1463040" y="1709928"/>
            <a:ext cx="9326880" cy="4572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6 chiều dịch Việt ↔ Anh / Nhật / Trung; 3 runtime ASR thay thế nhau, thêm vào không sửa chuỗi xử lý.</a:t>
            </a:r>
            <a:endParaRPr lang="en-US" sz="1300" dirty="0"/>
          </a:p>
        </p:txBody>
      </p:sp>
      <p:sp>
        <p:nvSpPr>
          <p:cNvPr id="12" name="Shape 6"/>
          <p:cNvSpPr/>
          <p:nvPr/>
        </p:nvSpPr>
        <p:spPr>
          <a:xfrm>
            <a:off x="731520" y="2295144"/>
            <a:ext cx="530352" cy="530352"/>
          </a:xfrm>
          <a:prstGeom prst="ellipse">
            <a:avLst/>
          </a:prstGeom>
          <a:solidFill>
            <a:srgbClr val="1B517B"/>
          </a:solidFill>
          <a:ln w="12700">
            <a:solidFill>
              <a:srgbClr val="1B517B"/>
            </a:solidFill>
            <a:prstDash val="solid"/>
          </a:ln>
        </p:spPr>
        <p:txBody>
          <a:bodyPr/>
          <a:lstStyle/>
          <a:p>
            <a:endParaRPr lang="en-US"/>
          </a:p>
        </p:txBody>
      </p:sp>
      <p:pic>
        <p:nvPicPr>
          <p:cNvPr id="13" name="Image 3" descr="preencoded.png"/>
          <p:cNvPicPr>
            <a:picLocks noChangeAspect="1"/>
          </p:cNvPicPr>
          <p:nvPr/>
        </p:nvPicPr>
        <p:blipFill>
          <a:blip r:embed="rId6"/>
          <a:stretch>
            <a:fillRect/>
          </a:stretch>
        </p:blipFill>
        <p:spPr>
          <a:xfrm>
            <a:off x="858804" y="2422428"/>
            <a:ext cx="275783" cy="275783"/>
          </a:xfrm>
          <a:prstGeom prst="rect">
            <a:avLst/>
          </a:prstGeom>
        </p:spPr>
      </p:pic>
      <p:sp>
        <p:nvSpPr>
          <p:cNvPr id="14" name="Text 7"/>
          <p:cNvSpPr txBox="1"/>
          <p:nvPr/>
        </p:nvSpPr>
        <p:spPr>
          <a:xfrm>
            <a:off x="1463040" y="2221992"/>
            <a:ext cx="9418320" cy="329184"/>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Hai nguồn âm thanh, không vòng lặp</a:t>
            </a:r>
            <a:endParaRPr lang="en-US" sz="1600" dirty="0"/>
          </a:p>
        </p:txBody>
      </p:sp>
      <p:sp>
        <p:nvSpPr>
          <p:cNvPr id="15" name="Text 8"/>
          <p:cNvSpPr txBox="1"/>
          <p:nvPr/>
        </p:nvSpPr>
        <p:spPr>
          <a:xfrm>
            <a:off x="1463040" y="2560320"/>
            <a:ext cx="9326880" cy="4572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Micro và âm thanh hệ thống thu đồng thời, tách bạch; bản dịch đang phát không bị thu ngược.</a:t>
            </a:r>
            <a:endParaRPr lang="en-US" sz="1300" dirty="0"/>
          </a:p>
        </p:txBody>
      </p:sp>
      <p:sp>
        <p:nvSpPr>
          <p:cNvPr id="16" name="Shape 9"/>
          <p:cNvSpPr/>
          <p:nvPr/>
        </p:nvSpPr>
        <p:spPr>
          <a:xfrm>
            <a:off x="731520" y="3145536"/>
            <a:ext cx="530352" cy="530352"/>
          </a:xfrm>
          <a:prstGeom prst="ellipse">
            <a:avLst/>
          </a:prstGeom>
          <a:solidFill>
            <a:srgbClr val="1B517B"/>
          </a:solidFill>
          <a:ln w="12700">
            <a:solidFill>
              <a:srgbClr val="1B517B"/>
            </a:solidFill>
            <a:prstDash val="solid"/>
          </a:ln>
        </p:spPr>
        <p:txBody>
          <a:bodyPr/>
          <a:lstStyle/>
          <a:p>
            <a:endParaRPr lang="en-US"/>
          </a:p>
        </p:txBody>
      </p:sp>
      <p:pic>
        <p:nvPicPr>
          <p:cNvPr id="17" name="Image 4" descr="preencoded.png"/>
          <p:cNvPicPr>
            <a:picLocks noChangeAspect="1"/>
          </p:cNvPicPr>
          <p:nvPr/>
        </p:nvPicPr>
        <p:blipFill>
          <a:blip r:embed="rId7"/>
          <a:stretch>
            <a:fillRect/>
          </a:stretch>
        </p:blipFill>
        <p:spPr>
          <a:xfrm>
            <a:off x="858804" y="3272820"/>
            <a:ext cx="275783" cy="275783"/>
          </a:xfrm>
          <a:prstGeom prst="rect">
            <a:avLst/>
          </a:prstGeom>
        </p:spPr>
      </p:pic>
      <p:sp>
        <p:nvSpPr>
          <p:cNvPr id="18" name="Text 10"/>
          <p:cNvSpPr txBox="1"/>
          <p:nvPr/>
        </p:nvSpPr>
        <p:spPr>
          <a:xfrm>
            <a:off x="1463040" y="3072384"/>
            <a:ext cx="9418320" cy="329184"/>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Chạy trên hai nền tảng</a:t>
            </a:r>
            <a:endParaRPr lang="en-US" sz="1600" dirty="0"/>
          </a:p>
        </p:txBody>
      </p:sp>
      <p:sp>
        <p:nvSpPr>
          <p:cNvPr id="19" name="Text 11"/>
          <p:cNvSpPr txBox="1"/>
          <p:nvPr/>
        </p:nvSpPr>
        <p:spPr>
          <a:xfrm>
            <a:off x="1463040" y="3410712"/>
            <a:ext cx="9326880" cy="4572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Bộ cài tự chứa cho Windows 11 và macOS Apple Silicon; whisper.cpp chạy GPU qua Vulkan với +18 MB.</a:t>
            </a:r>
            <a:endParaRPr lang="en-US" sz="1300" dirty="0"/>
          </a:p>
        </p:txBody>
      </p:sp>
      <p:sp>
        <p:nvSpPr>
          <p:cNvPr id="20" name="Shape 12"/>
          <p:cNvSpPr/>
          <p:nvPr/>
        </p:nvSpPr>
        <p:spPr>
          <a:xfrm>
            <a:off x="731520" y="3995928"/>
            <a:ext cx="530352" cy="530352"/>
          </a:xfrm>
          <a:prstGeom prst="ellipse">
            <a:avLst/>
          </a:prstGeom>
          <a:solidFill>
            <a:srgbClr val="1B517B"/>
          </a:solidFill>
          <a:ln w="12700">
            <a:solidFill>
              <a:srgbClr val="1B517B"/>
            </a:solidFill>
            <a:prstDash val="solid"/>
          </a:ln>
        </p:spPr>
        <p:txBody>
          <a:bodyPr/>
          <a:lstStyle/>
          <a:p>
            <a:endParaRPr lang="en-US"/>
          </a:p>
        </p:txBody>
      </p:sp>
      <p:pic>
        <p:nvPicPr>
          <p:cNvPr id="21" name="Image 5" descr="preencoded.png"/>
          <p:cNvPicPr>
            <a:picLocks noChangeAspect="1"/>
          </p:cNvPicPr>
          <p:nvPr/>
        </p:nvPicPr>
        <p:blipFill>
          <a:blip r:embed="rId8"/>
          <a:stretch>
            <a:fillRect/>
          </a:stretch>
        </p:blipFill>
        <p:spPr>
          <a:xfrm>
            <a:off x="858804" y="4123212"/>
            <a:ext cx="275783" cy="275783"/>
          </a:xfrm>
          <a:prstGeom prst="rect">
            <a:avLst/>
          </a:prstGeom>
        </p:spPr>
      </p:pic>
      <p:sp>
        <p:nvSpPr>
          <p:cNvPr id="22" name="Text 13"/>
          <p:cNvSpPr txBox="1"/>
          <p:nvPr/>
        </p:nvSpPr>
        <p:spPr>
          <a:xfrm>
            <a:off x="1463040" y="3922776"/>
            <a:ext cx="9418320" cy="329184"/>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Đánh giá bằng độ đo chuẩn trên FLEURS</a:t>
            </a:r>
            <a:endParaRPr lang="en-US" sz="1600" dirty="0"/>
          </a:p>
        </p:txBody>
      </p:sp>
      <p:sp>
        <p:nvSpPr>
          <p:cNvPr id="23" name="Text 14"/>
          <p:cNvSpPr txBox="1"/>
          <p:nvPr/>
        </p:nvSpPr>
        <p:spPr>
          <a:xfrm>
            <a:off x="1463040" y="4261104"/>
            <a:ext cx="9326880" cy="4572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WER vi 8,8–10,4%, en 4,8–5,0%; CER zh/ja &lt; 9%; COMET 0,77–0,85; Windows: cả 6 chiều RTF p90 ≤ 0,5; 60 phút không lỗi.</a:t>
            </a:r>
            <a:endParaRPr lang="en-US" sz="1300" dirty="0"/>
          </a:p>
        </p:txBody>
      </p:sp>
      <p:sp>
        <p:nvSpPr>
          <p:cNvPr id="24" name="Shape 15"/>
          <p:cNvSpPr/>
          <p:nvPr/>
        </p:nvSpPr>
        <p:spPr>
          <a:xfrm>
            <a:off x="731520" y="4846320"/>
            <a:ext cx="530352" cy="530352"/>
          </a:xfrm>
          <a:prstGeom prst="ellipse">
            <a:avLst/>
          </a:prstGeom>
          <a:solidFill>
            <a:srgbClr val="1B517B"/>
          </a:solidFill>
          <a:ln w="12700">
            <a:solidFill>
              <a:srgbClr val="1B517B"/>
            </a:solidFill>
            <a:prstDash val="solid"/>
          </a:ln>
        </p:spPr>
        <p:txBody>
          <a:bodyPr/>
          <a:lstStyle/>
          <a:p>
            <a:endParaRPr lang="en-US"/>
          </a:p>
        </p:txBody>
      </p:sp>
      <p:pic>
        <p:nvPicPr>
          <p:cNvPr id="25" name="Image 6" descr="preencoded.png"/>
          <p:cNvPicPr>
            <a:picLocks noChangeAspect="1"/>
          </p:cNvPicPr>
          <p:nvPr/>
        </p:nvPicPr>
        <p:blipFill>
          <a:blip r:embed="rId9"/>
          <a:stretch>
            <a:fillRect/>
          </a:stretch>
        </p:blipFill>
        <p:spPr>
          <a:xfrm>
            <a:off x="858804" y="4973604"/>
            <a:ext cx="275783" cy="275783"/>
          </a:xfrm>
          <a:prstGeom prst="rect">
            <a:avLst/>
          </a:prstGeom>
        </p:spPr>
      </p:pic>
      <p:sp>
        <p:nvSpPr>
          <p:cNvPr id="26" name="Text 16"/>
          <p:cNvSpPr txBox="1"/>
          <p:nvPr/>
        </p:nvSpPr>
        <p:spPr>
          <a:xfrm>
            <a:off x="1463040" y="4773168"/>
            <a:ext cx="9418320" cy="329184"/>
          </a:xfrm>
          <a:prstGeom prst="rect">
            <a:avLst/>
          </a:prstGeom>
          <a:noFill/>
          <a:ln/>
        </p:spPr>
        <p:txBody>
          <a:bodyPr wrap="square" lIns="0" tIns="0" rIns="0" bIns="0" rtlCol="0" anchor="t"/>
          <a:lstStyle/>
          <a:p>
            <a:pPr marL="0" indent="0">
              <a:buNone/>
            </a:pPr>
            <a:r>
              <a:rPr lang="en-US" sz="1600" b="1" dirty="0">
                <a:solidFill>
                  <a:srgbClr val="1B517B"/>
                </a:solidFill>
                <a:latin typeface="Arial" pitchFamily="34" charset="0"/>
                <a:ea typeface="Arial" pitchFamily="34" charset="-122"/>
                <a:cs typeface="Arial" pitchFamily="34" charset="-120"/>
              </a:rPr>
              <a:t>Đo cả trên giọng thật</a:t>
            </a:r>
            <a:endParaRPr lang="en-US" sz="1600" dirty="0"/>
          </a:p>
        </p:txBody>
      </p:sp>
      <p:sp>
        <p:nvSpPr>
          <p:cNvPr id="27" name="Text 17"/>
          <p:cNvSpPr txBox="1"/>
          <p:nvPr/>
        </p:nvSpPr>
        <p:spPr>
          <a:xfrm>
            <a:off x="1463040" y="5111496"/>
            <a:ext cx="9326880" cy="45720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Phỏng vấn thật: WER vi 24,6% so với 10,4% trên FLEURS; bộ tách câu đưa câu p90 của bản tin từ 12,5 s xuống 5,9 s.</a:t>
            </a:r>
            <a:endParaRPr lang="en-US" sz="1300" dirty="0"/>
          </a:p>
        </p:txBody>
      </p:sp>
      <p:sp>
        <p:nvSpPr>
          <p:cNvPr id="28" name="Shape x537"/>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29"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30"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Ứng dụng dịch hai chiều chạy trọn trên laptop, đo từng khâu trên FLEURS và trên giọng thật</a:t>
            </a:r>
            <a:endParaRPr lang="vi-VN" sz="1500" b="0" i="0" dirty="0">
              <a:solidFill>
                <a:srgbClr val="B8262B"/>
              </a:solidFill>
              <a:latin typeface="Arial"/>
              <a:ea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IV. Kết luận</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2. Hạn chế và hướng phát triển</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23</a:t>
            </a:r>
            <a:endParaRPr lang="en-US" sz="1100" dirty="0"/>
          </a:p>
        </p:txBody>
      </p:sp>
      <p:sp>
        <p:nvSpPr>
          <p:cNvPr id="8" name="Text 3"/>
          <p:cNvSpPr txBox="1"/>
          <p:nvPr/>
        </p:nvSpPr>
        <p:spPr>
          <a:xfrm>
            <a:off x="685800" y="1371600"/>
            <a:ext cx="4754880" cy="365760"/>
          </a:xfrm>
          <a:prstGeom prst="rect">
            <a:avLst/>
          </a:prstGeom>
          <a:noFill/>
          <a:ln/>
        </p:spPr>
        <p:txBody>
          <a:bodyPr wrap="square" lIns="0" tIns="0" rIns="0" bIns="0" rtlCol="0" anchor="t"/>
          <a:lstStyle/>
          <a:p>
            <a:pPr marL="0" indent="0">
              <a:buNone/>
            </a:pPr>
            <a:r>
              <a:rPr lang="en-US" sz="1700" b="1" dirty="0">
                <a:solidFill>
                  <a:srgbClr val="B8262B"/>
                </a:solidFill>
                <a:latin typeface="Arial" pitchFamily="34" charset="0"/>
                <a:ea typeface="Arial" pitchFamily="34" charset="-122"/>
                <a:cs typeface="Arial" pitchFamily="34" charset="-120"/>
              </a:rPr>
              <a:t>Hạn chế</a:t>
            </a:r>
            <a:endParaRPr lang="en-US" sz="1700" dirty="0"/>
          </a:p>
        </p:txBody>
      </p:sp>
      <p:sp>
        <p:nvSpPr>
          <p:cNvPr id="9" name="Text 4"/>
          <p:cNvSpPr txBox="1"/>
          <p:nvPr/>
        </p:nvSpPr>
        <p:spPr>
          <a:xfrm>
            <a:off x="6263640" y="1371600"/>
            <a:ext cx="4663440" cy="365760"/>
          </a:xfrm>
          <a:prstGeom prst="rect">
            <a:avLst/>
          </a:prstGeom>
          <a:noFill/>
          <a:ln/>
        </p:spPr>
        <p:txBody>
          <a:bodyPr wrap="square" lIns="0" tIns="0" rIns="0" bIns="0" rtlCol="0" anchor="t"/>
          <a:lstStyle/>
          <a:p>
            <a:pPr marL="0" indent="0">
              <a:buNone/>
            </a:pPr>
            <a:r>
              <a:rPr lang="en-US" sz="1700" b="1" dirty="0">
                <a:solidFill>
                  <a:srgbClr val="2E8B57"/>
                </a:solidFill>
                <a:latin typeface="Arial" pitchFamily="34" charset="0"/>
                <a:ea typeface="Arial" pitchFamily="34" charset="-122"/>
                <a:cs typeface="Arial" pitchFamily="34" charset="-120"/>
              </a:rPr>
              <a:t>Hướng phát triển</a:t>
            </a:r>
            <a:endParaRPr lang="en-US" sz="1700" dirty="0"/>
          </a:p>
        </p:txBody>
      </p:sp>
      <p:sp>
        <p:nvSpPr>
          <p:cNvPr id="10" name="Shape 5"/>
          <p:cNvSpPr/>
          <p:nvPr/>
        </p:nvSpPr>
        <p:spPr>
          <a:xfrm>
            <a:off x="685800" y="1783080"/>
            <a:ext cx="4937760" cy="658368"/>
          </a:xfrm>
          <a:prstGeom prst="roundRect">
            <a:avLst>
              <a:gd name="adj" fmla="val 10000"/>
            </a:avLst>
          </a:prstGeom>
          <a:solidFill>
            <a:srgbClr val="FBEDED"/>
          </a:solidFill>
          <a:ln w="12700">
            <a:solidFill>
              <a:srgbClr val="FBEDED"/>
            </a:solidFill>
            <a:prstDash val="solid"/>
          </a:ln>
        </p:spPr>
        <p:txBody>
          <a:bodyPr/>
          <a:lstStyle/>
          <a:p>
            <a:endParaRPr lang="en-US"/>
          </a:p>
        </p:txBody>
      </p:sp>
      <p:sp>
        <p:nvSpPr>
          <p:cNvPr id="11" name="Text 6"/>
          <p:cNvSpPr txBox="1"/>
          <p:nvPr/>
        </p:nvSpPr>
        <p:spPr>
          <a:xfrm>
            <a:off x="822960" y="1783080"/>
            <a:ext cx="470916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Thuật ngữ tiếng Anh trong câu tiếng Việt: "string" đúng 1/18 lần</a:t>
            </a:r>
            <a:endParaRPr lang="en-US" sz="1300" dirty="0"/>
          </a:p>
        </p:txBody>
      </p:sp>
      <p:pic>
        <p:nvPicPr>
          <p:cNvPr id="12" name="Image 2" descr="preencoded.png"/>
          <p:cNvPicPr>
            <a:picLocks noChangeAspect="1"/>
          </p:cNvPicPr>
          <p:nvPr/>
        </p:nvPicPr>
        <p:blipFill>
          <a:blip r:embed="rId5"/>
          <a:stretch>
            <a:fillRect/>
          </a:stretch>
        </p:blipFill>
        <p:spPr>
          <a:xfrm>
            <a:off x="5760720" y="1947672"/>
            <a:ext cx="347472" cy="329184"/>
          </a:xfrm>
          <a:prstGeom prst="rect">
            <a:avLst/>
          </a:prstGeom>
        </p:spPr>
      </p:pic>
      <p:sp>
        <p:nvSpPr>
          <p:cNvPr id="13" name="Shape 7"/>
          <p:cNvSpPr/>
          <p:nvPr/>
        </p:nvSpPr>
        <p:spPr>
          <a:xfrm>
            <a:off x="6263640" y="1783080"/>
            <a:ext cx="4663440" cy="658368"/>
          </a:xfrm>
          <a:prstGeom prst="roundRect">
            <a:avLst>
              <a:gd name="adj" fmla="val 10000"/>
            </a:avLst>
          </a:prstGeom>
          <a:solidFill>
            <a:srgbClr val="E8F4EC"/>
          </a:solidFill>
          <a:ln w="12700">
            <a:solidFill>
              <a:srgbClr val="E8F4EC"/>
            </a:solidFill>
            <a:prstDash val="solid"/>
          </a:ln>
        </p:spPr>
        <p:txBody>
          <a:bodyPr/>
          <a:lstStyle/>
          <a:p>
            <a:endParaRPr lang="en-US"/>
          </a:p>
        </p:txBody>
      </p:sp>
      <p:sp>
        <p:nvSpPr>
          <p:cNvPr id="14" name="Text 8"/>
          <p:cNvSpPr txBox="1"/>
          <p:nvPr/>
        </p:nvSpPr>
        <p:spPr>
          <a:xfrm>
            <a:off x="6400800" y="1783080"/>
            <a:ext cx="443484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Danh sách thuật ngữ: gợi ý cho Whisper (initial_prompt) và giữ nguyên khi dịch</a:t>
            </a:r>
            <a:endParaRPr lang="en-US" sz="1300" dirty="0"/>
          </a:p>
        </p:txBody>
      </p:sp>
      <p:sp>
        <p:nvSpPr>
          <p:cNvPr id="15" name="Shape 9"/>
          <p:cNvSpPr/>
          <p:nvPr/>
        </p:nvSpPr>
        <p:spPr>
          <a:xfrm>
            <a:off x="685800" y="2514600"/>
            <a:ext cx="4937760" cy="658368"/>
          </a:xfrm>
          <a:prstGeom prst="roundRect">
            <a:avLst>
              <a:gd name="adj" fmla="val 10000"/>
            </a:avLst>
          </a:prstGeom>
          <a:solidFill>
            <a:srgbClr val="FBEDED"/>
          </a:solidFill>
          <a:ln w="12700">
            <a:solidFill>
              <a:srgbClr val="FBEDED"/>
            </a:solidFill>
            <a:prstDash val="solid"/>
          </a:ln>
        </p:spPr>
        <p:txBody>
          <a:bodyPr/>
          <a:lstStyle/>
          <a:p>
            <a:endParaRPr lang="en-US"/>
          </a:p>
        </p:txBody>
      </p:sp>
      <p:sp>
        <p:nvSpPr>
          <p:cNvPr id="16" name="Text 10"/>
          <p:cNvSpPr txBox="1"/>
          <p:nvPr/>
        </p:nvSpPr>
        <p:spPr>
          <a:xfrm>
            <a:off x="822960" y="2514600"/>
            <a:ext cx="470916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NLLB rơi vào vòng lặp (2/75 lượt), dịch nghĩa đen thuật ngữ</a:t>
            </a:r>
            <a:endParaRPr lang="en-US" sz="1300" dirty="0"/>
          </a:p>
        </p:txBody>
      </p:sp>
      <p:pic>
        <p:nvPicPr>
          <p:cNvPr id="17" name="Image 3" descr="preencoded.png"/>
          <p:cNvPicPr>
            <a:picLocks noChangeAspect="1"/>
          </p:cNvPicPr>
          <p:nvPr/>
        </p:nvPicPr>
        <p:blipFill>
          <a:blip r:embed="rId5"/>
          <a:stretch>
            <a:fillRect/>
          </a:stretch>
        </p:blipFill>
        <p:spPr>
          <a:xfrm>
            <a:off x="5760720" y="2679192"/>
            <a:ext cx="347472" cy="329184"/>
          </a:xfrm>
          <a:prstGeom prst="rect">
            <a:avLst/>
          </a:prstGeom>
        </p:spPr>
      </p:pic>
      <p:sp>
        <p:nvSpPr>
          <p:cNvPr id="18" name="Shape 11"/>
          <p:cNvSpPr/>
          <p:nvPr/>
        </p:nvSpPr>
        <p:spPr>
          <a:xfrm>
            <a:off x="6263640" y="2514600"/>
            <a:ext cx="4663440" cy="658368"/>
          </a:xfrm>
          <a:prstGeom prst="roundRect">
            <a:avLst>
              <a:gd name="adj" fmla="val 10000"/>
            </a:avLst>
          </a:prstGeom>
          <a:solidFill>
            <a:srgbClr val="E8F4EC"/>
          </a:solidFill>
          <a:ln w="12700">
            <a:solidFill>
              <a:srgbClr val="E8F4EC"/>
            </a:solidFill>
            <a:prstDash val="solid"/>
          </a:ln>
        </p:spPr>
        <p:txBody>
          <a:bodyPr/>
          <a:lstStyle/>
          <a:p>
            <a:endParaRPr lang="en-US"/>
          </a:p>
        </p:txBody>
      </p:sp>
      <p:sp>
        <p:nvSpPr>
          <p:cNvPr id="19" name="Text 12"/>
          <p:cNvSpPr txBox="1"/>
          <p:nvPr/>
        </p:nvSpPr>
        <p:spPr>
          <a:xfrm>
            <a:off x="6400800" y="2514600"/>
            <a:ext cx="443484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Chặn lặp bằng tham số sinh hoặc bộ lọc sau dịch, rồi chạy lại bộ đánh giá MT</a:t>
            </a:r>
            <a:endParaRPr lang="en-US" sz="1300" dirty="0"/>
          </a:p>
        </p:txBody>
      </p:sp>
      <p:sp>
        <p:nvSpPr>
          <p:cNvPr id="20" name="Shape 13"/>
          <p:cNvSpPr/>
          <p:nvPr/>
        </p:nvSpPr>
        <p:spPr>
          <a:xfrm>
            <a:off x="685800" y="3246120"/>
            <a:ext cx="4937760" cy="658368"/>
          </a:xfrm>
          <a:prstGeom prst="roundRect">
            <a:avLst>
              <a:gd name="adj" fmla="val 10000"/>
            </a:avLst>
          </a:prstGeom>
          <a:solidFill>
            <a:srgbClr val="FBEDED"/>
          </a:solidFill>
          <a:ln w="12700">
            <a:solidFill>
              <a:srgbClr val="FBEDED"/>
            </a:solidFill>
            <a:prstDash val="solid"/>
          </a:ln>
        </p:spPr>
        <p:txBody>
          <a:bodyPr/>
          <a:lstStyle/>
          <a:p>
            <a:endParaRPr lang="en-US"/>
          </a:p>
        </p:txBody>
      </p:sp>
      <p:sp>
        <p:nvSpPr>
          <p:cNvPr id="21" name="Text 14"/>
          <p:cNvSpPr txBox="1"/>
          <p:nvPr/>
        </p:nvSpPr>
        <p:spPr>
          <a:xfrm>
            <a:off x="822960" y="3246120"/>
            <a:ext cx="470916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TTS đích ja/zh chậm, chạy CPU, ~2/3 thời gian chuỗi</a:t>
            </a:r>
            <a:endParaRPr lang="en-US" sz="1300" dirty="0"/>
          </a:p>
        </p:txBody>
      </p:sp>
      <p:pic>
        <p:nvPicPr>
          <p:cNvPr id="22" name="Image 4" descr="preencoded.png"/>
          <p:cNvPicPr>
            <a:picLocks noChangeAspect="1"/>
          </p:cNvPicPr>
          <p:nvPr/>
        </p:nvPicPr>
        <p:blipFill>
          <a:blip r:embed="rId5"/>
          <a:stretch>
            <a:fillRect/>
          </a:stretch>
        </p:blipFill>
        <p:spPr>
          <a:xfrm>
            <a:off x="5760720" y="3410712"/>
            <a:ext cx="347472" cy="329184"/>
          </a:xfrm>
          <a:prstGeom prst="rect">
            <a:avLst/>
          </a:prstGeom>
        </p:spPr>
      </p:pic>
      <p:sp>
        <p:nvSpPr>
          <p:cNvPr id="23" name="Shape 15"/>
          <p:cNvSpPr/>
          <p:nvPr/>
        </p:nvSpPr>
        <p:spPr>
          <a:xfrm>
            <a:off x="6263640" y="3246120"/>
            <a:ext cx="4663440" cy="658368"/>
          </a:xfrm>
          <a:prstGeom prst="roundRect">
            <a:avLst>
              <a:gd name="adj" fmla="val 10000"/>
            </a:avLst>
          </a:prstGeom>
          <a:solidFill>
            <a:srgbClr val="E8F4EC"/>
          </a:solidFill>
          <a:ln w="12700">
            <a:solidFill>
              <a:srgbClr val="E8F4EC"/>
            </a:solidFill>
            <a:prstDash val="solid"/>
          </a:ln>
        </p:spPr>
        <p:txBody>
          <a:bodyPr/>
          <a:lstStyle/>
          <a:p>
            <a:endParaRPr lang="en-US"/>
          </a:p>
        </p:txBody>
      </p:sp>
      <p:sp>
        <p:nvSpPr>
          <p:cNvPr id="24" name="Text 16"/>
          <p:cNvSpPr txBox="1"/>
          <p:nvPr/>
        </p:nvSpPr>
        <p:spPr>
          <a:xfrm>
            <a:off x="6400800" y="3246120"/>
            <a:ext cx="443484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Đưa TTS lên GPU cho hai đích tiếng Nhật và tiếng Trung</a:t>
            </a:r>
            <a:endParaRPr lang="en-US" sz="1300" dirty="0"/>
          </a:p>
        </p:txBody>
      </p:sp>
      <p:sp>
        <p:nvSpPr>
          <p:cNvPr id="25" name="Shape 17"/>
          <p:cNvSpPr/>
          <p:nvPr/>
        </p:nvSpPr>
        <p:spPr>
          <a:xfrm>
            <a:off x="685800" y="3977640"/>
            <a:ext cx="4937760" cy="658368"/>
          </a:xfrm>
          <a:prstGeom prst="roundRect">
            <a:avLst>
              <a:gd name="adj" fmla="val 10000"/>
            </a:avLst>
          </a:prstGeom>
          <a:solidFill>
            <a:srgbClr val="FBEDED"/>
          </a:solidFill>
          <a:ln w="12700">
            <a:solidFill>
              <a:srgbClr val="FBEDED"/>
            </a:solidFill>
            <a:prstDash val="solid"/>
          </a:ln>
        </p:spPr>
        <p:txBody>
          <a:bodyPr/>
          <a:lstStyle/>
          <a:p>
            <a:endParaRPr lang="en-US"/>
          </a:p>
        </p:txBody>
      </p:sp>
      <p:sp>
        <p:nvSpPr>
          <p:cNvPr id="26" name="Text 18"/>
          <p:cNvSpPr txBox="1"/>
          <p:nvPr/>
        </p:nvSpPr>
        <p:spPr>
          <a:xfrm>
            <a:off x="822960" y="3977640"/>
            <a:ext cx="470916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Đo giọng thật quy mô nhỏ; chưa đo trên máy chỉ có CPU</a:t>
            </a:r>
            <a:endParaRPr lang="en-US" sz="1300" dirty="0"/>
          </a:p>
        </p:txBody>
      </p:sp>
      <p:pic>
        <p:nvPicPr>
          <p:cNvPr id="27" name="Image 5" descr="preencoded.png"/>
          <p:cNvPicPr>
            <a:picLocks noChangeAspect="1"/>
          </p:cNvPicPr>
          <p:nvPr/>
        </p:nvPicPr>
        <p:blipFill>
          <a:blip r:embed="rId5"/>
          <a:stretch>
            <a:fillRect/>
          </a:stretch>
        </p:blipFill>
        <p:spPr>
          <a:xfrm>
            <a:off x="5760720" y="4142232"/>
            <a:ext cx="347472" cy="329184"/>
          </a:xfrm>
          <a:prstGeom prst="rect">
            <a:avLst/>
          </a:prstGeom>
        </p:spPr>
      </p:pic>
      <p:sp>
        <p:nvSpPr>
          <p:cNvPr id="28" name="Shape 19"/>
          <p:cNvSpPr/>
          <p:nvPr/>
        </p:nvSpPr>
        <p:spPr>
          <a:xfrm>
            <a:off x="6263640" y="3977640"/>
            <a:ext cx="4663440" cy="658368"/>
          </a:xfrm>
          <a:prstGeom prst="roundRect">
            <a:avLst>
              <a:gd name="adj" fmla="val 10000"/>
            </a:avLst>
          </a:prstGeom>
          <a:solidFill>
            <a:srgbClr val="E8F4EC"/>
          </a:solidFill>
          <a:ln w="12700">
            <a:solidFill>
              <a:srgbClr val="E8F4EC"/>
            </a:solidFill>
            <a:prstDash val="solid"/>
          </a:ln>
        </p:spPr>
        <p:txBody>
          <a:bodyPr/>
          <a:lstStyle/>
          <a:p>
            <a:endParaRPr lang="en-US"/>
          </a:p>
        </p:txBody>
      </p:sp>
      <p:sp>
        <p:nvSpPr>
          <p:cNvPr id="29" name="Text 20"/>
          <p:cNvSpPr txBox="1"/>
          <p:nvPr/>
        </p:nvSpPr>
        <p:spPr>
          <a:xfrm>
            <a:off x="6400800" y="3977640"/>
            <a:ext cx="443484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Nhiều bản ghi, nhiều chủ đề, hai người nghe độc lập; thêm cấu hình máy yếu</a:t>
            </a:r>
            <a:endParaRPr lang="en-US" sz="1300" dirty="0"/>
          </a:p>
        </p:txBody>
      </p:sp>
      <p:sp>
        <p:nvSpPr>
          <p:cNvPr id="30" name="Shape 21"/>
          <p:cNvSpPr/>
          <p:nvPr/>
        </p:nvSpPr>
        <p:spPr>
          <a:xfrm>
            <a:off x="685800" y="4709160"/>
            <a:ext cx="4937760" cy="658368"/>
          </a:xfrm>
          <a:prstGeom prst="roundRect">
            <a:avLst>
              <a:gd name="adj" fmla="val 10000"/>
            </a:avLst>
          </a:prstGeom>
          <a:solidFill>
            <a:srgbClr val="FBEDED"/>
          </a:solidFill>
          <a:ln w="12700">
            <a:solidFill>
              <a:srgbClr val="FBEDED"/>
            </a:solidFill>
            <a:prstDash val="solid"/>
          </a:ln>
        </p:spPr>
        <p:txBody>
          <a:bodyPr/>
          <a:lstStyle/>
          <a:p>
            <a:endParaRPr lang="en-US"/>
          </a:p>
        </p:txBody>
      </p:sp>
      <p:sp>
        <p:nvSpPr>
          <p:cNvPr id="31" name="Text 22"/>
          <p:cNvSpPr txBox="1"/>
          <p:nvPr/>
        </p:nvSpPr>
        <p:spPr>
          <a:xfrm>
            <a:off x="822960" y="4709160"/>
            <a:ext cx="470916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NLLB-200 giấy phép phi thương mại (CC-BY-NC-4.0)</a:t>
            </a:r>
            <a:endParaRPr lang="en-US" sz="1300" dirty="0"/>
          </a:p>
        </p:txBody>
      </p:sp>
      <p:pic>
        <p:nvPicPr>
          <p:cNvPr id="32" name="Image 6" descr="preencoded.png"/>
          <p:cNvPicPr>
            <a:picLocks noChangeAspect="1"/>
          </p:cNvPicPr>
          <p:nvPr/>
        </p:nvPicPr>
        <p:blipFill>
          <a:blip r:embed="rId5"/>
          <a:stretch>
            <a:fillRect/>
          </a:stretch>
        </p:blipFill>
        <p:spPr>
          <a:xfrm>
            <a:off x="5760720" y="4873752"/>
            <a:ext cx="347472" cy="329184"/>
          </a:xfrm>
          <a:prstGeom prst="rect">
            <a:avLst/>
          </a:prstGeom>
        </p:spPr>
      </p:pic>
      <p:sp>
        <p:nvSpPr>
          <p:cNvPr id="33" name="Shape 23"/>
          <p:cNvSpPr/>
          <p:nvPr/>
        </p:nvSpPr>
        <p:spPr>
          <a:xfrm>
            <a:off x="6263640" y="4709160"/>
            <a:ext cx="4663440" cy="658368"/>
          </a:xfrm>
          <a:prstGeom prst="roundRect">
            <a:avLst>
              <a:gd name="adj" fmla="val 10000"/>
            </a:avLst>
          </a:prstGeom>
          <a:solidFill>
            <a:srgbClr val="E8F4EC"/>
          </a:solidFill>
          <a:ln w="12700">
            <a:solidFill>
              <a:srgbClr val="E8F4EC"/>
            </a:solidFill>
            <a:prstDash val="solid"/>
          </a:ln>
        </p:spPr>
        <p:txBody>
          <a:bodyPr/>
          <a:lstStyle/>
          <a:p>
            <a:endParaRPr lang="en-US"/>
          </a:p>
        </p:txBody>
      </p:sp>
      <p:sp>
        <p:nvSpPr>
          <p:cNvPr id="34" name="Text 24"/>
          <p:cNvSpPr txBox="1"/>
          <p:nvPr/>
        </p:nvSpPr>
        <p:spPr>
          <a:xfrm>
            <a:off x="6400800" y="4709160"/>
            <a:ext cx="4434840" cy="65836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Thử mô hình dịch khác trên cùng bộ đánh giá, như đã làm với ASR</a:t>
            </a:r>
            <a:endParaRPr lang="en-US" sz="1300" dirty="0"/>
          </a:p>
        </p:txBody>
      </p:sp>
      <p:sp>
        <p:nvSpPr>
          <p:cNvPr id="35" name="Shape x540"/>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36"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37"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Hạn chế lớn nhất là thuật ngữ tiếng Anh trong câu tiếng Việt; bước tiếp theo là danh sách thuật ngữ</a:t>
            </a:r>
            <a:endParaRPr lang="vi-VN" sz="1500" b="0" i="0" dirty="0">
              <a:solidFill>
                <a:srgbClr val="B8262B"/>
              </a:solidFill>
              <a:latin typeface="Arial"/>
              <a:ea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2926080" y="2331720"/>
            <a:ext cx="6309360" cy="1188720"/>
          </a:xfrm>
          <a:prstGeom prst="rect">
            <a:avLst/>
          </a:prstGeom>
          <a:noFill/>
          <a:ln/>
        </p:spPr>
        <p:txBody>
          <a:bodyPr wrap="square" lIns="0" tIns="0" rIns="0" bIns="0" rtlCol="0" anchor="ctr"/>
          <a:lstStyle/>
          <a:p>
            <a:pPr marL="0" indent="0" algn="ctr">
              <a:buNone/>
            </a:pPr>
            <a:r>
              <a:rPr lang="en-US" sz="6600" b="1" dirty="0">
                <a:solidFill>
                  <a:srgbClr val="487BA2"/>
                </a:solidFill>
                <a:latin typeface="Arial" pitchFamily="34" charset="0"/>
                <a:ea typeface="Arial" pitchFamily="34" charset="-122"/>
                <a:cs typeface="Arial" pitchFamily="34" charset="-120"/>
              </a:rPr>
              <a:t>DEMO</a:t>
            </a:r>
            <a:endParaRPr lang="en-US" sz="6600" dirty="0"/>
          </a:p>
        </p:txBody>
      </p:sp>
      <p:sp>
        <p:nvSpPr>
          <p:cNvPr id="4" name="Text 1"/>
          <p:cNvSpPr txBox="1"/>
          <p:nvPr/>
        </p:nvSpPr>
        <p:spPr>
          <a:xfrm>
            <a:off x="3108960" y="3566160"/>
            <a:ext cx="5943600" cy="1005840"/>
          </a:xfrm>
          <a:prstGeom prst="rect">
            <a:avLst/>
          </a:prstGeom>
          <a:noFill/>
          <a:ln/>
        </p:spPr>
        <p:txBody>
          <a:bodyPr wrap="square" lIns="0" tIns="0" rIns="0" bIns="0" rtlCol="0" anchor="t"/>
          <a:lstStyle/>
          <a:p>
            <a:pPr marL="0" indent="0" algn="ctr">
              <a:buNone/>
            </a:pPr>
            <a:r>
              <a:rPr lang="en-US" sz="1600" dirty="0">
                <a:solidFill>
                  <a:srgbClr val="1B517B"/>
                </a:solidFill>
                <a:latin typeface="Arial" pitchFamily="34" charset="0"/>
                <a:ea typeface="Arial" pitchFamily="34" charset="-122"/>
                <a:cs typeface="Arial" pitchFamily="34" charset="-120"/>
              </a:rPr>
              <a:t>Nói tiếng Việt, nghe bản dịch tiếng Anh</a:t>
            </a:r>
            <a:endParaRPr lang="en-US" sz="1600" dirty="0"/>
          </a:p>
          <a:p>
            <a:pPr marL="0" indent="0" algn="ctr">
              <a:buNone/>
            </a:pPr>
            <a:r>
              <a:rPr lang="en-US" sz="1600" dirty="0">
                <a:solidFill>
                  <a:srgbClr val="1B517B"/>
                </a:solidFill>
                <a:latin typeface="Arial" pitchFamily="34" charset="0"/>
                <a:ea typeface="Arial" pitchFamily="34" charset="-122"/>
                <a:cs typeface="Arial" pitchFamily="34" charset="-120"/>
              </a:rPr>
              <a:t>Phụ đề cho video tiếng Anh · Tắt mạng vẫn chạy</a:t>
            </a:r>
            <a:endParaRPr lang="en-US" sz="1600" dirty="0"/>
          </a:p>
        </p:txBody>
      </p:sp>
      <p:sp>
        <p:nvSpPr>
          <p:cNvPr id="5" name="Text 2"/>
          <p:cNvSpPr txBox="1"/>
          <p:nvPr/>
        </p:nvSpPr>
        <p:spPr>
          <a:xfrm>
            <a:off x="11292840" y="6355080"/>
            <a:ext cx="548640" cy="274320"/>
          </a:xfrm>
          <a:prstGeom prst="rect">
            <a:avLst/>
          </a:prstGeom>
          <a:noFill/>
          <a:ln/>
        </p:spPr>
        <p:txBody>
          <a:bodyPr wrap="square" lIns="0" tIns="0" rIns="0" bIns="0" rtlCol="0" anchor="t"/>
          <a:lstStyle/>
          <a:p>
            <a:pPr marL="0" indent="0" algn="r">
              <a:buNone/>
            </a:pPr>
            <a:r>
              <a:rPr lang="en-US" sz="1100" dirty="0">
                <a:solidFill>
                  <a:srgbClr val="FFFFFF"/>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2926080" y="2377440"/>
            <a:ext cx="6309360" cy="1920240"/>
          </a:xfrm>
          <a:prstGeom prst="rect">
            <a:avLst/>
          </a:prstGeom>
          <a:noFill/>
          <a:ln/>
        </p:spPr>
        <p:txBody>
          <a:bodyPr wrap="square" lIns="0" tIns="0" rIns="0" bIns="0" rtlCol="0" anchor="ctr"/>
          <a:lstStyle/>
          <a:p>
            <a:pPr marL="0" indent="0" algn="ctr">
              <a:buNone/>
            </a:pPr>
            <a:r>
              <a:rPr lang="en-US" sz="5400" b="1" dirty="0">
                <a:solidFill>
                  <a:srgbClr val="487BA2"/>
                </a:solidFill>
                <a:latin typeface="Arial" pitchFamily="34" charset="0"/>
                <a:ea typeface="Arial" pitchFamily="34" charset="-122"/>
                <a:cs typeface="Arial" pitchFamily="34" charset="-120"/>
              </a:rPr>
              <a:t>Q&amp;A</a:t>
            </a:r>
            <a:endParaRPr lang="en-US" sz="5400" dirty="0"/>
          </a:p>
        </p:txBody>
      </p:sp>
      <p:sp>
        <p:nvSpPr>
          <p:cNvPr id="4" name="Text 1"/>
          <p:cNvSpPr txBox="1"/>
          <p:nvPr/>
        </p:nvSpPr>
        <p:spPr>
          <a:xfrm>
            <a:off x="11292840" y="6355080"/>
            <a:ext cx="548640" cy="274320"/>
          </a:xfrm>
          <a:prstGeom prst="rect">
            <a:avLst/>
          </a:prstGeom>
          <a:noFill/>
          <a:ln/>
        </p:spPr>
        <p:txBody>
          <a:bodyPr wrap="square" lIns="0" tIns="0" rIns="0" bIns="0" rtlCol="0" anchor="t"/>
          <a:lstStyle/>
          <a:p>
            <a:pPr marL="0" indent="0" algn="r">
              <a:buNone/>
            </a:pPr>
            <a:r>
              <a:rPr lang="en-US" sz="1100" dirty="0">
                <a:solidFill>
                  <a:srgbClr val="FFFFFF"/>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2926080" y="2377440"/>
            <a:ext cx="6309360" cy="1920240"/>
          </a:xfrm>
          <a:prstGeom prst="rect">
            <a:avLst/>
          </a:prstGeom>
          <a:noFill/>
          <a:ln/>
        </p:spPr>
        <p:txBody>
          <a:bodyPr wrap="square" lIns="0" tIns="0" rIns="0" bIns="0" rtlCol="0" anchor="ctr"/>
          <a:lstStyle/>
          <a:p>
            <a:pPr marL="0" indent="0" algn="ctr">
              <a:buNone/>
            </a:pPr>
            <a:r>
              <a:rPr lang="en-US" sz="4400" b="1" dirty="0">
                <a:solidFill>
                  <a:srgbClr val="487BA2"/>
                </a:solidFill>
                <a:latin typeface="Arial" pitchFamily="34" charset="0"/>
                <a:ea typeface="Arial" pitchFamily="34" charset="-122"/>
                <a:cs typeface="Arial" pitchFamily="34" charset="-120"/>
              </a:rPr>
              <a:t>Cảm ơn quý Thầy Cô</a:t>
            </a:r>
            <a:endParaRPr lang="en-US" sz="4400" dirty="0"/>
          </a:p>
          <a:p>
            <a:pPr marL="0" indent="0" algn="ctr">
              <a:buNone/>
            </a:pPr>
            <a:r>
              <a:rPr lang="en-US" sz="4400" b="1" dirty="0">
                <a:solidFill>
                  <a:srgbClr val="487BA2"/>
                </a:solidFill>
                <a:latin typeface="Arial" pitchFamily="34" charset="0"/>
                <a:ea typeface="Arial" pitchFamily="34" charset="-122"/>
                <a:cs typeface="Arial" pitchFamily="34" charset="-120"/>
              </a:rPr>
              <a:t>đã lắng nghe</a:t>
            </a:r>
            <a:endParaRPr lang="en-US" sz="4400" dirty="0"/>
          </a:p>
        </p:txBody>
      </p:sp>
      <p:sp>
        <p:nvSpPr>
          <p:cNvPr id="4" name="Text 1"/>
          <p:cNvSpPr txBox="1"/>
          <p:nvPr/>
        </p:nvSpPr>
        <p:spPr>
          <a:xfrm>
            <a:off x="11292840" y="6355080"/>
            <a:ext cx="548640" cy="274320"/>
          </a:xfrm>
          <a:prstGeom prst="rect">
            <a:avLst/>
          </a:prstGeom>
          <a:noFill/>
          <a:ln/>
        </p:spPr>
        <p:txBody>
          <a:bodyPr wrap="square" lIns="0" tIns="0" rIns="0" bIns="0" rtlCol="0" anchor="t"/>
          <a:lstStyle/>
          <a:p>
            <a:pPr marL="0" indent="0" algn="r">
              <a:buNone/>
            </a:pPr>
            <a:r>
              <a:rPr lang="en-US" sz="1100" dirty="0">
                <a:solidFill>
                  <a:srgbClr val="FFFFFF"/>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Mục lục: gõ số trang rồi Enter để nhảy tới slide đó</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27</a:t>
            </a:r>
            <a:endParaRPr lang="en-US" sz="1100" dirty="0"/>
          </a:p>
        </p:txBody>
      </p:sp>
      <p:sp>
        <p:nvSpPr>
          <p:cNvPr id="8" name="Shape x681"/>
          <p:cNvSpPr/>
          <p:nvPr/>
        </p:nvSpPr>
        <p:spPr>
          <a:xfrm>
            <a:off x="685800" y="1463040"/>
            <a:ext cx="3291840" cy="3108960"/>
          </a:xfrm>
          <a:prstGeom prst="roundRect">
            <a:avLst>
              <a:gd name="adj" fmla="val 3556"/>
            </a:avLst>
          </a:prstGeom>
          <a:solidFill>
            <a:srgbClr val="EEF4F9"/>
          </a:solidFill>
          <a:ln w="12700">
            <a:solidFill>
              <a:srgbClr val="EEF4F9"/>
            </a:solidFill>
            <a:prstDash val="solid"/>
          </a:ln>
        </p:spPr>
        <p:txBody>
          <a:bodyPr wrap="square" lIns="182880" tIns="182880" rIns="182880" bIns="182880" rtlCol="0" anchor="t"/>
          <a:lstStyle/>
          <a:p>
            <a:pPr marL="0" indent="0" algn="l">
              <a:spcAft>
                <a:spcPts val="800"/>
              </a:spcAft>
              <a:buNone/>
            </a:pPr>
            <a:r>
              <a:rPr lang="vi-VN" sz="1600" b="1" i="0" dirty="0">
                <a:solidFill>
                  <a:srgbClr val="1B517B"/>
                </a:solidFill>
                <a:latin typeface="Arial"/>
                <a:ea typeface="Arial"/>
                <a:cs typeface="Arial"/>
              </a:rPr>
              <a:t>Thuật ngữ</a:t>
            </a:r>
            <a:endParaRPr lang="vi-VN" sz="1600" b="0" i="0" dirty="0">
              <a:solidFill>
                <a:srgbClr val="1B517B"/>
              </a:solidFill>
              <a:latin typeface="Arial"/>
              <a:ea typeface="Arial"/>
              <a:cs typeface="Arial"/>
            </a:endParaRPr>
          </a:p>
          <a:p>
            <a:pPr marL="0" indent="0" algn="l">
              <a:spcAft>
                <a:spcPts val="500"/>
              </a:spcAft>
              <a:buNone/>
            </a:pPr>
            <a:r>
              <a:rPr lang="vi-VN" sz="1300" b="1" i="0" dirty="0">
                <a:solidFill>
                  <a:srgbClr val="B8262B"/>
                </a:solidFill>
                <a:latin typeface="Arial"/>
                <a:ea typeface="Arial"/>
                <a:cs typeface="Arial"/>
              </a:rPr>
              <a:t>28  </a:t>
            </a:r>
            <a:r>
              <a:rPr lang="vi-VN" sz="1300" b="0" i="0" dirty="0">
                <a:solidFill>
                  <a:srgbClr val="222222"/>
                </a:solidFill>
                <a:latin typeface="Arial"/>
                <a:ea typeface="Arial"/>
                <a:cs typeface="Arial"/>
              </a:rPr>
              <a:t>VAD: phát hiện giọng nói</a:t>
            </a:r>
          </a:p>
          <a:p>
            <a:pPr marL="0" indent="0" algn="l">
              <a:spcAft>
                <a:spcPts val="500"/>
              </a:spcAft>
              <a:buNone/>
            </a:pPr>
            <a:r>
              <a:rPr lang="vi-VN" sz="1300" b="1" i="0" dirty="0">
                <a:solidFill>
                  <a:srgbClr val="B8262B"/>
                </a:solidFill>
                <a:latin typeface="Arial"/>
                <a:ea typeface="Arial"/>
                <a:cs typeface="Arial"/>
              </a:rPr>
              <a:t>29  </a:t>
            </a:r>
            <a:r>
              <a:rPr lang="vi-VN" sz="1300" b="0" i="0" dirty="0">
                <a:solidFill>
                  <a:srgbClr val="222222"/>
                </a:solidFill>
                <a:latin typeface="Arial"/>
                <a:ea typeface="Arial"/>
                <a:cs typeface="Arial"/>
              </a:rPr>
              <a:t>ASR: nhận dạng tiếng nói</a:t>
            </a:r>
          </a:p>
          <a:p>
            <a:pPr marL="0" indent="0" algn="l">
              <a:spcAft>
                <a:spcPts val="500"/>
              </a:spcAft>
              <a:buNone/>
            </a:pPr>
            <a:r>
              <a:rPr lang="vi-VN" sz="1300" b="1" i="0" dirty="0">
                <a:solidFill>
                  <a:srgbClr val="B8262B"/>
                </a:solidFill>
                <a:latin typeface="Arial"/>
                <a:ea typeface="Arial"/>
                <a:cs typeface="Arial"/>
              </a:rPr>
              <a:t>30  </a:t>
            </a:r>
            <a:r>
              <a:rPr lang="vi-VN" sz="1300" b="0" i="0" dirty="0">
                <a:solidFill>
                  <a:srgbClr val="222222"/>
                </a:solidFill>
                <a:latin typeface="Arial"/>
                <a:ea typeface="Arial"/>
                <a:cs typeface="Arial"/>
              </a:rPr>
              <a:t>MT: dịch máy</a:t>
            </a:r>
          </a:p>
          <a:p>
            <a:pPr marL="0" indent="0" algn="l">
              <a:spcAft>
                <a:spcPts val="500"/>
              </a:spcAft>
              <a:buNone/>
            </a:pPr>
            <a:r>
              <a:rPr lang="vi-VN" sz="1300" b="1" i="0" dirty="0">
                <a:solidFill>
                  <a:srgbClr val="B8262B"/>
                </a:solidFill>
                <a:latin typeface="Arial"/>
                <a:ea typeface="Arial"/>
                <a:cs typeface="Arial"/>
              </a:rPr>
              <a:t>31  </a:t>
            </a:r>
            <a:r>
              <a:rPr lang="vi-VN" sz="1300" b="0" i="0" dirty="0">
                <a:solidFill>
                  <a:srgbClr val="222222"/>
                </a:solidFill>
                <a:latin typeface="Arial"/>
                <a:ea typeface="Arial"/>
                <a:cs typeface="Arial"/>
              </a:rPr>
              <a:t>TTS: tổng hợp tiếng nói</a:t>
            </a:r>
          </a:p>
          <a:p>
            <a:pPr marL="0" indent="0" algn="l">
              <a:spcAft>
                <a:spcPts val="500"/>
              </a:spcAft>
              <a:buNone/>
            </a:pPr>
            <a:r>
              <a:rPr lang="vi-VN" sz="1300" b="1" i="0" dirty="0">
                <a:solidFill>
                  <a:srgbClr val="B8262B"/>
                </a:solidFill>
                <a:latin typeface="Arial"/>
                <a:ea typeface="Arial"/>
                <a:cs typeface="Arial"/>
              </a:rPr>
              <a:t>32  </a:t>
            </a:r>
            <a:r>
              <a:rPr lang="vi-VN" sz="1300" b="0" i="0" dirty="0">
                <a:solidFill>
                  <a:srgbClr val="222222"/>
                </a:solidFill>
                <a:latin typeface="Arial"/>
                <a:ea typeface="Arial"/>
                <a:cs typeface="Arial"/>
              </a:rPr>
              <a:t>Thuật ngữ kỹ thuật khác</a:t>
            </a:r>
          </a:p>
        </p:txBody>
      </p:sp>
      <p:sp>
        <p:nvSpPr>
          <p:cNvPr id="9" name="Shape x682"/>
          <p:cNvSpPr/>
          <p:nvPr/>
        </p:nvSpPr>
        <p:spPr>
          <a:xfrm>
            <a:off x="4160520" y="1463040"/>
            <a:ext cx="3291840" cy="3108960"/>
          </a:xfrm>
          <a:prstGeom prst="roundRect">
            <a:avLst>
              <a:gd name="adj" fmla="val 3556"/>
            </a:avLst>
          </a:prstGeom>
          <a:solidFill>
            <a:srgbClr val="EEF4F9"/>
          </a:solidFill>
          <a:ln w="12700">
            <a:solidFill>
              <a:srgbClr val="EEF4F9"/>
            </a:solidFill>
            <a:prstDash val="solid"/>
          </a:ln>
        </p:spPr>
        <p:txBody>
          <a:bodyPr wrap="square" lIns="182880" tIns="182880" rIns="182880" bIns="182880" rtlCol="0" anchor="t"/>
          <a:lstStyle/>
          <a:p>
            <a:pPr marL="0" indent="0" algn="l">
              <a:spcAft>
                <a:spcPts val="800"/>
              </a:spcAft>
              <a:buNone/>
            </a:pPr>
            <a:r>
              <a:rPr lang="vi-VN" sz="1600" b="1" i="0" dirty="0">
                <a:solidFill>
                  <a:srgbClr val="1B517B"/>
                </a:solidFill>
                <a:latin typeface="Arial"/>
                <a:ea typeface="Arial"/>
                <a:cs typeface="Arial"/>
              </a:rPr>
              <a:t>Dữ liệu và độ đo</a:t>
            </a:r>
            <a:endParaRPr lang="vi-VN" sz="1600" b="0" i="0" dirty="0">
              <a:solidFill>
                <a:srgbClr val="1B517B"/>
              </a:solidFill>
              <a:latin typeface="Arial"/>
              <a:ea typeface="Arial"/>
              <a:cs typeface="Arial"/>
            </a:endParaRPr>
          </a:p>
          <a:p>
            <a:pPr marL="0" indent="0" algn="l">
              <a:spcAft>
                <a:spcPts val="500"/>
              </a:spcAft>
              <a:buNone/>
            </a:pPr>
            <a:r>
              <a:rPr lang="vi-VN" sz="1300" b="1" i="0" dirty="0">
                <a:solidFill>
                  <a:srgbClr val="B8262B"/>
                </a:solidFill>
                <a:latin typeface="Arial"/>
                <a:ea typeface="Arial"/>
                <a:cs typeface="Arial"/>
              </a:rPr>
              <a:t>33  </a:t>
            </a:r>
            <a:r>
              <a:rPr lang="vi-VN" sz="1300" b="0" i="0" dirty="0">
                <a:solidFill>
                  <a:srgbClr val="222222"/>
                </a:solidFill>
                <a:latin typeface="Arial"/>
                <a:ea typeface="Arial"/>
                <a:cs typeface="Arial"/>
              </a:rPr>
              <a:t>Bộ dữ liệu FLEURS</a:t>
            </a:r>
          </a:p>
          <a:p>
            <a:pPr marL="0" indent="0" algn="l">
              <a:spcAft>
                <a:spcPts val="500"/>
              </a:spcAft>
              <a:buNone/>
            </a:pPr>
            <a:r>
              <a:rPr lang="vi-VN" sz="1300" b="1" i="0" dirty="0">
                <a:solidFill>
                  <a:srgbClr val="B8262B"/>
                </a:solidFill>
                <a:latin typeface="Arial"/>
                <a:ea typeface="Arial"/>
                <a:cs typeface="Arial"/>
              </a:rPr>
              <a:t>34  </a:t>
            </a:r>
            <a:r>
              <a:rPr lang="vi-VN" sz="1300" b="0" i="0" dirty="0">
                <a:solidFill>
                  <a:srgbClr val="222222"/>
                </a:solidFill>
                <a:latin typeface="Arial"/>
                <a:ea typeface="Arial"/>
                <a:cs typeface="Arial"/>
              </a:rPr>
              <a:t>WER và CER</a:t>
            </a:r>
          </a:p>
          <a:p>
            <a:pPr marL="0" indent="0" algn="l">
              <a:spcAft>
                <a:spcPts val="500"/>
              </a:spcAft>
              <a:buNone/>
            </a:pPr>
            <a:r>
              <a:rPr lang="vi-VN" sz="1300" b="1" i="0" dirty="0">
                <a:solidFill>
                  <a:srgbClr val="B8262B"/>
                </a:solidFill>
                <a:latin typeface="Arial"/>
                <a:ea typeface="Arial"/>
                <a:cs typeface="Arial"/>
              </a:rPr>
              <a:t>35  </a:t>
            </a:r>
            <a:r>
              <a:rPr lang="vi-VN" sz="1300" b="0" i="0" dirty="0">
                <a:solidFill>
                  <a:srgbClr val="222222"/>
                </a:solidFill>
                <a:latin typeface="Arial"/>
                <a:ea typeface="Arial"/>
                <a:cs typeface="Arial"/>
              </a:rPr>
              <a:t>spBLEU và chrF++</a:t>
            </a:r>
          </a:p>
          <a:p>
            <a:pPr marL="0" indent="0" algn="l">
              <a:spcAft>
                <a:spcPts val="500"/>
              </a:spcAft>
              <a:buNone/>
            </a:pPr>
            <a:r>
              <a:rPr lang="vi-VN" sz="1300" b="1" i="0" dirty="0">
                <a:solidFill>
                  <a:srgbClr val="B8262B"/>
                </a:solidFill>
                <a:latin typeface="Arial"/>
                <a:ea typeface="Arial"/>
                <a:cs typeface="Arial"/>
              </a:rPr>
              <a:t>36  </a:t>
            </a:r>
            <a:r>
              <a:rPr lang="vi-VN" sz="1300" b="0" i="0" dirty="0">
                <a:solidFill>
                  <a:srgbClr val="222222"/>
                </a:solidFill>
                <a:latin typeface="Arial"/>
                <a:ea typeface="Arial"/>
                <a:cs typeface="Arial"/>
              </a:rPr>
              <a:t>COMET</a:t>
            </a:r>
          </a:p>
          <a:p>
            <a:pPr marL="0" indent="0" algn="l">
              <a:spcAft>
                <a:spcPts val="500"/>
              </a:spcAft>
              <a:buNone/>
            </a:pPr>
            <a:r>
              <a:rPr lang="vi-VN" sz="1300" b="1" i="0" dirty="0">
                <a:solidFill>
                  <a:srgbClr val="B8262B"/>
                </a:solidFill>
                <a:latin typeface="Arial"/>
                <a:ea typeface="Arial"/>
                <a:cs typeface="Arial"/>
              </a:rPr>
              <a:t>37  </a:t>
            </a:r>
            <a:r>
              <a:rPr lang="vi-VN" sz="1300" b="0" i="0" dirty="0">
                <a:solidFill>
                  <a:srgbClr val="222222"/>
                </a:solidFill>
                <a:latin typeface="Arial"/>
                <a:ea typeface="Arial"/>
                <a:cs typeface="Arial"/>
              </a:rPr>
              <a:t>RTF và p90</a:t>
            </a:r>
          </a:p>
        </p:txBody>
      </p:sp>
      <p:sp>
        <p:nvSpPr>
          <p:cNvPr id="10" name="Shape x683"/>
          <p:cNvSpPr/>
          <p:nvPr/>
        </p:nvSpPr>
        <p:spPr>
          <a:xfrm>
            <a:off x="7635240" y="1463040"/>
            <a:ext cx="3291840" cy="3108960"/>
          </a:xfrm>
          <a:prstGeom prst="roundRect">
            <a:avLst>
              <a:gd name="adj" fmla="val 3556"/>
            </a:avLst>
          </a:prstGeom>
          <a:solidFill>
            <a:srgbClr val="EEF4F9"/>
          </a:solidFill>
          <a:ln w="12700">
            <a:solidFill>
              <a:srgbClr val="EEF4F9"/>
            </a:solidFill>
            <a:prstDash val="solid"/>
          </a:ln>
        </p:spPr>
        <p:txBody>
          <a:bodyPr wrap="square" lIns="182880" tIns="182880" rIns="182880" bIns="182880" rtlCol="0" anchor="t"/>
          <a:lstStyle/>
          <a:p>
            <a:pPr marL="0" indent="0" algn="l">
              <a:spcAft>
                <a:spcPts val="800"/>
              </a:spcAft>
              <a:buNone/>
            </a:pPr>
            <a:r>
              <a:rPr lang="vi-VN" sz="1600" b="1" i="0" dirty="0">
                <a:solidFill>
                  <a:srgbClr val="1B517B"/>
                </a:solidFill>
                <a:latin typeface="Arial"/>
                <a:ea typeface="Arial"/>
                <a:cs typeface="Arial"/>
              </a:rPr>
              <a:t>Câu hỏi và chi tiết</a:t>
            </a:r>
            <a:endParaRPr lang="vi-VN" sz="1600" b="0" i="0" dirty="0">
              <a:solidFill>
                <a:srgbClr val="1B517B"/>
              </a:solidFill>
              <a:latin typeface="Arial"/>
              <a:ea typeface="Arial"/>
              <a:cs typeface="Arial"/>
            </a:endParaRPr>
          </a:p>
          <a:p>
            <a:pPr marL="0" indent="0" algn="l">
              <a:spcAft>
                <a:spcPts val="500"/>
              </a:spcAft>
              <a:buNone/>
            </a:pPr>
            <a:r>
              <a:rPr lang="vi-VN" sz="1300" b="1" i="0" dirty="0">
                <a:solidFill>
                  <a:srgbClr val="B8262B"/>
                </a:solidFill>
                <a:latin typeface="Arial"/>
                <a:ea typeface="Arial"/>
                <a:cs typeface="Arial"/>
              </a:rPr>
              <a:t>38  </a:t>
            </a:r>
            <a:r>
              <a:rPr lang="vi-VN" sz="1300" b="0" i="0" dirty="0">
                <a:solidFill>
                  <a:srgbClr val="222222"/>
                </a:solidFill>
                <a:latin typeface="Arial"/>
                <a:ea typeface="Arial"/>
                <a:cs typeface="Arial"/>
              </a:rPr>
              <a:t>Thêm ngôn ngữ khác</a:t>
            </a:r>
          </a:p>
          <a:p>
            <a:pPr marL="0" indent="0" algn="l">
              <a:spcAft>
                <a:spcPts val="500"/>
              </a:spcAft>
              <a:buNone/>
            </a:pPr>
            <a:r>
              <a:rPr lang="vi-VN" sz="1300" b="1" i="0" dirty="0">
                <a:solidFill>
                  <a:srgbClr val="B8262B"/>
                </a:solidFill>
                <a:latin typeface="Arial"/>
                <a:ea typeface="Arial"/>
                <a:cs typeface="Arial"/>
              </a:rPr>
              <a:t>39  </a:t>
            </a:r>
            <a:r>
              <a:rPr lang="vi-VN" sz="1300" b="0" i="0" dirty="0">
                <a:solidFill>
                  <a:srgbClr val="222222"/>
                </a:solidFill>
                <a:latin typeface="Arial"/>
                <a:ea typeface="Arial"/>
                <a:cs typeface="Arial"/>
              </a:rPr>
              <a:t>Mô hình end-to-end, LLM</a:t>
            </a:r>
          </a:p>
          <a:p>
            <a:pPr marL="0" indent="0" algn="l">
              <a:spcAft>
                <a:spcPts val="500"/>
              </a:spcAft>
              <a:buNone/>
            </a:pPr>
            <a:r>
              <a:rPr lang="vi-VN" sz="1300" b="1" i="0" dirty="0">
                <a:solidFill>
                  <a:srgbClr val="B8262B"/>
                </a:solidFill>
                <a:latin typeface="Arial"/>
                <a:ea typeface="Arial"/>
                <a:cs typeface="Arial"/>
              </a:rPr>
              <a:t>40  </a:t>
            </a:r>
            <a:r>
              <a:rPr lang="vi-VN" sz="1300" b="0" i="0" dirty="0">
                <a:solidFill>
                  <a:srgbClr val="222222"/>
                </a:solidFill>
                <a:latin typeface="Arial"/>
                <a:ea typeface="Arial"/>
                <a:cs typeface="Arial"/>
              </a:rPr>
              <a:t>Lựa chọn mô hình, preset</a:t>
            </a:r>
          </a:p>
          <a:p>
            <a:pPr marL="0" indent="0" algn="l">
              <a:spcAft>
                <a:spcPts val="500"/>
              </a:spcAft>
              <a:buNone/>
            </a:pPr>
            <a:r>
              <a:rPr lang="vi-VN" sz="1300" b="1" i="0" dirty="0">
                <a:solidFill>
                  <a:srgbClr val="B8262B"/>
                </a:solidFill>
                <a:latin typeface="Arial"/>
                <a:ea typeface="Arial"/>
                <a:cs typeface="Arial"/>
              </a:rPr>
              <a:t>41  </a:t>
            </a:r>
            <a:r>
              <a:rPr lang="vi-VN" sz="1300" b="0" i="0" dirty="0">
                <a:solidFill>
                  <a:srgbClr val="222222"/>
                </a:solidFill>
                <a:latin typeface="Arial"/>
                <a:ea typeface="Arial"/>
                <a:cs typeface="Arial"/>
              </a:rPr>
              <a:t>Nạp mô hình, GPU Windows</a:t>
            </a:r>
          </a:p>
          <a:p>
            <a:pPr marL="0" indent="0" algn="l">
              <a:spcAft>
                <a:spcPts val="500"/>
              </a:spcAft>
              <a:buNone/>
            </a:pPr>
            <a:r>
              <a:rPr lang="vi-VN" sz="1300" b="1" i="0" dirty="0">
                <a:solidFill>
                  <a:srgbClr val="B8262B"/>
                </a:solidFill>
                <a:latin typeface="Arial"/>
                <a:ea typeface="Arial"/>
                <a:cs typeface="Arial"/>
              </a:rPr>
              <a:t>42  </a:t>
            </a:r>
            <a:r>
              <a:rPr lang="vi-VN" sz="1300" b="0" i="0" dirty="0">
                <a:solidFill>
                  <a:srgbClr val="222222"/>
                </a:solidFill>
                <a:latin typeface="Arial"/>
                <a:ea typeface="Arial"/>
                <a:cs typeface="Arial"/>
              </a:rPr>
              <a:t>Điểm nghẽn TTS</a:t>
            </a:r>
          </a:p>
          <a:p>
            <a:pPr marL="0" indent="0" algn="l">
              <a:spcAft>
                <a:spcPts val="500"/>
              </a:spcAft>
              <a:buNone/>
            </a:pPr>
            <a:r>
              <a:rPr lang="vi-VN" sz="1300" b="1" i="0" dirty="0">
                <a:solidFill>
                  <a:srgbClr val="B8262B"/>
                </a:solidFill>
                <a:latin typeface="Arial"/>
                <a:ea typeface="Arial"/>
                <a:cs typeface="Arial"/>
              </a:rPr>
              <a:t>43  </a:t>
            </a:r>
            <a:r>
              <a:rPr lang="vi-VN" sz="1300" b="0" i="0" dirty="0">
                <a:solidFill>
                  <a:srgbClr val="222222"/>
                </a:solidFill>
                <a:latin typeface="Arial"/>
                <a:ea typeface="Arial"/>
                <a:cs typeface="Arial"/>
              </a:rPr>
              <a:t>Câu 3 s và chạy 60 phút</a:t>
            </a:r>
          </a:p>
          <a:p>
            <a:pPr marL="0" indent="0" algn="l">
              <a:spcAft>
                <a:spcPts val="500"/>
              </a:spcAft>
              <a:buNone/>
            </a:pPr>
            <a:r>
              <a:rPr lang="vi-VN" sz="1300" b="1" i="0" dirty="0">
                <a:solidFill>
                  <a:srgbClr val="B8262B"/>
                </a:solidFill>
                <a:latin typeface="Arial"/>
                <a:ea typeface="Arial"/>
                <a:cs typeface="Arial"/>
              </a:rPr>
              <a:t>44  </a:t>
            </a:r>
            <a:r>
              <a:rPr lang="vi-VN" sz="1300" b="0" i="0" dirty="0">
                <a:solidFill>
                  <a:srgbClr val="222222"/>
                </a:solidFill>
                <a:latin typeface="Arial"/>
                <a:ea typeface="Arial"/>
                <a:cs typeface="Arial"/>
              </a:rPr>
              <a:t>Tách câu trên giọng thật</a:t>
            </a:r>
          </a:p>
          <a:p>
            <a:pPr marL="0" indent="0" algn="l">
              <a:spcAft>
                <a:spcPts val="500"/>
              </a:spcAft>
              <a:buNone/>
            </a:pPr>
            <a:r>
              <a:rPr lang="vi-VN" sz="1300" b="1" i="0" dirty="0">
                <a:solidFill>
                  <a:srgbClr val="B8262B"/>
                </a:solidFill>
                <a:latin typeface="Arial"/>
                <a:ea typeface="Arial"/>
                <a:cs typeface="Arial"/>
              </a:rPr>
              <a:t>45  </a:t>
            </a:r>
            <a:r>
              <a:rPr lang="vi-VN" sz="1300" b="0" i="0" dirty="0">
                <a:solidFill>
                  <a:srgbClr val="222222"/>
                </a:solidFill>
                <a:latin typeface="Arial"/>
                <a:ea typeface="Arial"/>
                <a:cs typeface="Arial"/>
              </a:rPr>
              <a:t>Tài liệu tham khảo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VAD (Voice Activity Detection): phát hiện giọng nói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28</a:t>
            </a:r>
            <a:endParaRPr lang="en-US" sz="1100" dirty="0"/>
          </a:p>
        </p:txBody>
      </p:sp>
      <p:sp>
        <p:nvSpPr>
          <p:cNvPr id="8" name="Text x557"/>
          <p:cNvSpPr txBox="1"/>
          <p:nvPr/>
        </p:nvSpPr>
        <p:spPr>
          <a:xfrm>
            <a:off x="685800" y="1417320"/>
            <a:ext cx="10241280" cy="274320"/>
          </a:xfrm>
          <a:prstGeom prst="rect">
            <a:avLst/>
          </a:prstGeom>
          <a:noFill/>
          <a:ln>
            <a:noFill/>
          </a:ln>
        </p:spPr>
        <p:txBody>
          <a:bodyPr wrap="square" lIns="0" tIns="0" rIns="0" bIns="0" rtlCol="0" anchor="t"/>
          <a:lstStyle/>
          <a:p>
            <a:pPr marL="0" indent="0" algn="l">
              <a:buNone/>
            </a:pPr>
            <a:r>
              <a:rPr lang="vi-VN" sz="1200" b="0" i="1" dirty="0">
                <a:solidFill>
                  <a:srgbClr val="5F6B76"/>
                </a:solidFill>
                <a:latin typeface="Arial"/>
                <a:ea typeface="Arial"/>
                <a:cs typeface="Arial"/>
              </a:rPr>
              <a:t>Dòng âm thanh vào bộ tách câu (minh họa)</a:t>
            </a:r>
            <a:endParaRPr lang="vi-VN" sz="1200" b="0" i="0" dirty="0">
              <a:solidFill>
                <a:srgbClr val="5F6B76"/>
              </a:solidFill>
              <a:latin typeface="Arial"/>
              <a:ea typeface="Arial"/>
              <a:cs typeface="Arial"/>
            </a:endParaRPr>
          </a:p>
        </p:txBody>
      </p:sp>
      <p:sp>
        <p:nvSpPr>
          <p:cNvPr id="9" name="Shape x558"/>
          <p:cNvSpPr/>
          <p:nvPr/>
        </p:nvSpPr>
        <p:spPr>
          <a:xfrm>
            <a:off x="685800" y="1783080"/>
            <a:ext cx="731520" cy="502920"/>
          </a:xfrm>
          <a:prstGeom prst="rect">
            <a:avLst/>
          </a:prstGeom>
          <a:solidFill>
            <a:srgbClr val="DCE8F2"/>
          </a:solidFill>
          <a:ln>
            <a:noFill/>
          </a:ln>
        </p:spPr>
        <p:txBody>
          <a:bodyPr wrap="square" lIns="73152" tIns="73152" rIns="73152" bIns="73152" rtlCol="0" anchor="ctr"/>
          <a:lstStyle/>
          <a:p>
            <a:pPr marL="0" indent="0" algn="ctr">
              <a:buNone/>
            </a:pPr>
            <a:r>
              <a:rPr lang="vi-VN" sz="1100" b="0" i="0" dirty="0">
                <a:solidFill>
                  <a:srgbClr val="5F6B76"/>
                </a:solidFill>
                <a:latin typeface="Arial"/>
                <a:ea typeface="Arial"/>
                <a:cs typeface="Arial"/>
              </a:rPr>
              <a:t>im lặng</a:t>
            </a:r>
          </a:p>
        </p:txBody>
      </p:sp>
      <p:sp>
        <p:nvSpPr>
          <p:cNvPr id="10" name="Shape x559"/>
          <p:cNvSpPr/>
          <p:nvPr/>
        </p:nvSpPr>
        <p:spPr>
          <a:xfrm>
            <a:off x="1417320" y="1783080"/>
            <a:ext cx="2926080" cy="502920"/>
          </a:xfrm>
          <a:prstGeom prst="rect">
            <a:avLst/>
          </a:prstGeom>
          <a:solidFill>
            <a:srgbClr val="1B517B"/>
          </a:solidFill>
          <a:ln>
            <a:noFill/>
          </a:ln>
        </p:spPr>
        <p:txBody>
          <a:bodyPr wrap="square" lIns="73152" tIns="73152" rIns="73152" bIns="73152" rtlCol="0" anchor="ctr"/>
          <a:lstStyle/>
          <a:p>
            <a:pPr marL="0" indent="0" algn="ctr">
              <a:buNone/>
            </a:pPr>
            <a:r>
              <a:rPr lang="vi-VN" sz="1300" b="1" i="0" dirty="0">
                <a:solidFill>
                  <a:srgbClr val="FFFFFF"/>
                </a:solidFill>
                <a:latin typeface="Arial"/>
                <a:ea typeface="Arial"/>
                <a:cs typeface="Arial"/>
              </a:rPr>
              <a:t>giọng nói · câu 1</a:t>
            </a:r>
            <a:endParaRPr lang="vi-VN" sz="1300" b="0" i="0" dirty="0">
              <a:solidFill>
                <a:srgbClr val="FFFFFF"/>
              </a:solidFill>
              <a:latin typeface="Arial"/>
              <a:ea typeface="Arial"/>
              <a:cs typeface="Arial"/>
            </a:endParaRPr>
          </a:p>
        </p:txBody>
      </p:sp>
      <p:sp>
        <p:nvSpPr>
          <p:cNvPr id="11" name="Shape x560"/>
          <p:cNvSpPr/>
          <p:nvPr/>
        </p:nvSpPr>
        <p:spPr>
          <a:xfrm>
            <a:off x="4599432" y="1691640"/>
            <a:ext cx="45720" cy="685800"/>
          </a:xfrm>
          <a:prstGeom prst="rect">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2" name="Text x561"/>
          <p:cNvSpPr txBox="1"/>
          <p:nvPr/>
        </p:nvSpPr>
        <p:spPr>
          <a:xfrm>
            <a:off x="4069080" y="2395728"/>
            <a:ext cx="1097280" cy="274320"/>
          </a:xfrm>
          <a:prstGeom prst="rect">
            <a:avLst/>
          </a:prstGeom>
          <a:noFill/>
          <a:ln>
            <a:noFill/>
          </a:ln>
        </p:spPr>
        <p:txBody>
          <a:bodyPr wrap="square" lIns="0" tIns="0" rIns="0" bIns="0" rtlCol="0" anchor="t"/>
          <a:lstStyle/>
          <a:p>
            <a:pPr marL="0" indent="0" algn="ctr">
              <a:buNone/>
            </a:pPr>
            <a:r>
              <a:rPr lang="vi-VN" sz="1100" b="1" i="0" dirty="0">
                <a:solidFill>
                  <a:srgbClr val="B8262B"/>
                </a:solidFill>
                <a:latin typeface="Arial"/>
                <a:ea typeface="Arial"/>
                <a:cs typeface="Arial"/>
              </a:rPr>
              <a:t>chốt câu</a:t>
            </a:r>
            <a:endParaRPr lang="vi-VN" sz="1100" b="0" i="0" dirty="0">
              <a:solidFill>
                <a:srgbClr val="B8262B"/>
              </a:solidFill>
              <a:latin typeface="Arial"/>
              <a:ea typeface="Arial"/>
              <a:cs typeface="Arial"/>
            </a:endParaRPr>
          </a:p>
        </p:txBody>
      </p:sp>
      <p:sp>
        <p:nvSpPr>
          <p:cNvPr id="13" name="Shape x562"/>
          <p:cNvSpPr/>
          <p:nvPr/>
        </p:nvSpPr>
        <p:spPr>
          <a:xfrm>
            <a:off x="4343400" y="1783080"/>
            <a:ext cx="548640" cy="502920"/>
          </a:xfrm>
          <a:prstGeom prst="rect">
            <a:avLst/>
          </a:prstGeom>
          <a:solidFill>
            <a:srgbClr val="DCE8F2"/>
          </a:solidFill>
          <a:ln>
            <a:noFill/>
          </a:ln>
        </p:spPr>
        <p:txBody>
          <a:bodyPr wrap="square" lIns="73152" tIns="73152" rIns="73152" bIns="73152" rtlCol="0" anchor="ctr"/>
          <a:lstStyle/>
          <a:p>
            <a:pPr marL="0" indent="0" algn="ctr">
              <a:buNone/>
            </a:pPr>
            <a:endParaRPr lang="vi-VN" sz="1100" b="0" i="0" dirty="0">
              <a:solidFill>
                <a:srgbClr val="5F6B76"/>
              </a:solidFill>
              <a:latin typeface="Arial"/>
              <a:ea typeface="Arial"/>
              <a:cs typeface="Arial"/>
            </a:endParaRPr>
          </a:p>
        </p:txBody>
      </p:sp>
      <p:sp>
        <p:nvSpPr>
          <p:cNvPr id="14" name="Shape x563"/>
          <p:cNvSpPr/>
          <p:nvPr/>
        </p:nvSpPr>
        <p:spPr>
          <a:xfrm>
            <a:off x="4892040" y="1783080"/>
            <a:ext cx="2194560" cy="502920"/>
          </a:xfrm>
          <a:prstGeom prst="rect">
            <a:avLst/>
          </a:prstGeom>
          <a:solidFill>
            <a:srgbClr val="1B517B"/>
          </a:solidFill>
          <a:ln>
            <a:noFill/>
          </a:ln>
        </p:spPr>
        <p:txBody>
          <a:bodyPr wrap="square" lIns="73152" tIns="73152" rIns="73152" bIns="73152" rtlCol="0" anchor="ctr"/>
          <a:lstStyle/>
          <a:p>
            <a:pPr marL="0" indent="0" algn="ctr">
              <a:buNone/>
            </a:pPr>
            <a:r>
              <a:rPr lang="vi-VN" sz="1300" b="1" i="0" dirty="0">
                <a:solidFill>
                  <a:srgbClr val="FFFFFF"/>
                </a:solidFill>
                <a:latin typeface="Arial"/>
                <a:ea typeface="Arial"/>
                <a:cs typeface="Arial"/>
              </a:rPr>
              <a:t>giọng nói · câu 2</a:t>
            </a:r>
            <a:endParaRPr lang="vi-VN" sz="1300" b="0" i="0" dirty="0">
              <a:solidFill>
                <a:srgbClr val="FFFFFF"/>
              </a:solidFill>
              <a:latin typeface="Arial"/>
              <a:ea typeface="Arial"/>
              <a:cs typeface="Arial"/>
            </a:endParaRPr>
          </a:p>
        </p:txBody>
      </p:sp>
      <p:sp>
        <p:nvSpPr>
          <p:cNvPr id="15" name="Shape x564"/>
          <p:cNvSpPr/>
          <p:nvPr/>
        </p:nvSpPr>
        <p:spPr>
          <a:xfrm>
            <a:off x="7342632" y="1691640"/>
            <a:ext cx="45720" cy="685800"/>
          </a:xfrm>
          <a:prstGeom prst="rect">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6" name="Text x565"/>
          <p:cNvSpPr txBox="1"/>
          <p:nvPr/>
        </p:nvSpPr>
        <p:spPr>
          <a:xfrm>
            <a:off x="6812280" y="2395728"/>
            <a:ext cx="1097280" cy="274320"/>
          </a:xfrm>
          <a:prstGeom prst="rect">
            <a:avLst/>
          </a:prstGeom>
          <a:noFill/>
          <a:ln>
            <a:noFill/>
          </a:ln>
        </p:spPr>
        <p:txBody>
          <a:bodyPr wrap="square" lIns="0" tIns="0" rIns="0" bIns="0" rtlCol="0" anchor="t"/>
          <a:lstStyle/>
          <a:p>
            <a:pPr marL="0" indent="0" algn="ctr">
              <a:buNone/>
            </a:pPr>
            <a:r>
              <a:rPr lang="vi-VN" sz="1100" b="1" i="0" dirty="0">
                <a:solidFill>
                  <a:srgbClr val="B8262B"/>
                </a:solidFill>
                <a:latin typeface="Arial"/>
                <a:ea typeface="Arial"/>
                <a:cs typeface="Arial"/>
              </a:rPr>
              <a:t>chốt câu</a:t>
            </a:r>
            <a:endParaRPr lang="vi-VN" sz="1100" b="0" i="0" dirty="0">
              <a:solidFill>
                <a:srgbClr val="B8262B"/>
              </a:solidFill>
              <a:latin typeface="Arial"/>
              <a:ea typeface="Arial"/>
              <a:cs typeface="Arial"/>
            </a:endParaRPr>
          </a:p>
        </p:txBody>
      </p:sp>
      <p:sp>
        <p:nvSpPr>
          <p:cNvPr id="17" name="Shape x566"/>
          <p:cNvSpPr/>
          <p:nvPr/>
        </p:nvSpPr>
        <p:spPr>
          <a:xfrm>
            <a:off x="7086600" y="1783080"/>
            <a:ext cx="457200" cy="502920"/>
          </a:xfrm>
          <a:prstGeom prst="rect">
            <a:avLst/>
          </a:prstGeom>
          <a:solidFill>
            <a:srgbClr val="DCE8F2"/>
          </a:solidFill>
          <a:ln>
            <a:noFill/>
          </a:ln>
        </p:spPr>
        <p:txBody>
          <a:bodyPr wrap="square" lIns="73152" tIns="73152" rIns="73152" bIns="73152" rtlCol="0" anchor="ctr"/>
          <a:lstStyle/>
          <a:p>
            <a:pPr marL="0" indent="0" algn="ctr">
              <a:buNone/>
            </a:pPr>
            <a:endParaRPr lang="vi-VN" sz="1100" b="0" i="0" dirty="0">
              <a:solidFill>
                <a:srgbClr val="5F6B76"/>
              </a:solidFill>
              <a:latin typeface="Arial"/>
              <a:ea typeface="Arial"/>
              <a:cs typeface="Arial"/>
            </a:endParaRPr>
          </a:p>
        </p:txBody>
      </p:sp>
      <p:sp>
        <p:nvSpPr>
          <p:cNvPr id="18" name="Shape x567"/>
          <p:cNvSpPr/>
          <p:nvPr/>
        </p:nvSpPr>
        <p:spPr>
          <a:xfrm>
            <a:off x="7543800" y="1783080"/>
            <a:ext cx="2011680" cy="502920"/>
          </a:xfrm>
          <a:prstGeom prst="rect">
            <a:avLst/>
          </a:prstGeom>
          <a:solidFill>
            <a:srgbClr val="1B517B"/>
          </a:solidFill>
          <a:ln>
            <a:noFill/>
          </a:ln>
        </p:spPr>
        <p:txBody>
          <a:bodyPr wrap="square" lIns="73152" tIns="73152" rIns="73152" bIns="73152" rtlCol="0" anchor="ctr"/>
          <a:lstStyle/>
          <a:p>
            <a:pPr marL="0" indent="0" algn="ctr">
              <a:buNone/>
            </a:pPr>
            <a:r>
              <a:rPr lang="vi-VN" sz="1300" b="1" i="0" dirty="0">
                <a:solidFill>
                  <a:srgbClr val="FFFFFF"/>
                </a:solidFill>
                <a:latin typeface="Arial"/>
                <a:ea typeface="Arial"/>
                <a:cs typeface="Arial"/>
              </a:rPr>
              <a:t>giọng nói · câu 3</a:t>
            </a:r>
            <a:endParaRPr lang="vi-VN" sz="1300" b="0" i="0" dirty="0">
              <a:solidFill>
                <a:srgbClr val="FFFFFF"/>
              </a:solidFill>
              <a:latin typeface="Arial"/>
              <a:ea typeface="Arial"/>
              <a:cs typeface="Arial"/>
            </a:endParaRPr>
          </a:p>
        </p:txBody>
      </p:sp>
      <p:sp>
        <p:nvSpPr>
          <p:cNvPr id="19" name="Shape x568"/>
          <p:cNvSpPr/>
          <p:nvPr/>
        </p:nvSpPr>
        <p:spPr>
          <a:xfrm>
            <a:off x="9811512" y="1691640"/>
            <a:ext cx="45720" cy="685800"/>
          </a:xfrm>
          <a:prstGeom prst="rect">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0" name="Text x569"/>
          <p:cNvSpPr txBox="1"/>
          <p:nvPr/>
        </p:nvSpPr>
        <p:spPr>
          <a:xfrm>
            <a:off x="9281160" y="2395728"/>
            <a:ext cx="1097280" cy="274320"/>
          </a:xfrm>
          <a:prstGeom prst="rect">
            <a:avLst/>
          </a:prstGeom>
          <a:noFill/>
          <a:ln>
            <a:noFill/>
          </a:ln>
        </p:spPr>
        <p:txBody>
          <a:bodyPr wrap="square" lIns="0" tIns="0" rIns="0" bIns="0" rtlCol="0" anchor="t"/>
          <a:lstStyle/>
          <a:p>
            <a:pPr marL="0" indent="0" algn="ctr">
              <a:buNone/>
            </a:pPr>
            <a:r>
              <a:rPr lang="vi-VN" sz="1100" b="1" i="0" dirty="0">
                <a:solidFill>
                  <a:srgbClr val="B8262B"/>
                </a:solidFill>
                <a:latin typeface="Arial"/>
                <a:ea typeface="Arial"/>
                <a:cs typeface="Arial"/>
              </a:rPr>
              <a:t>chốt câu</a:t>
            </a:r>
            <a:endParaRPr lang="vi-VN" sz="1100" b="0" i="0" dirty="0">
              <a:solidFill>
                <a:srgbClr val="B8262B"/>
              </a:solidFill>
              <a:latin typeface="Arial"/>
              <a:ea typeface="Arial"/>
              <a:cs typeface="Arial"/>
            </a:endParaRPr>
          </a:p>
        </p:txBody>
      </p:sp>
      <p:sp>
        <p:nvSpPr>
          <p:cNvPr id="21" name="Shape x570"/>
          <p:cNvSpPr/>
          <p:nvPr/>
        </p:nvSpPr>
        <p:spPr>
          <a:xfrm>
            <a:off x="9555480" y="1783080"/>
            <a:ext cx="1371600" cy="502920"/>
          </a:xfrm>
          <a:prstGeom prst="rect">
            <a:avLst/>
          </a:prstGeom>
          <a:solidFill>
            <a:srgbClr val="DCE8F2"/>
          </a:solidFill>
          <a:ln>
            <a:noFill/>
          </a:ln>
        </p:spPr>
        <p:txBody>
          <a:bodyPr wrap="square" lIns="73152" tIns="73152" rIns="73152" bIns="73152" rtlCol="0" anchor="ctr"/>
          <a:lstStyle/>
          <a:p>
            <a:pPr marL="0" indent="0" algn="ctr">
              <a:buNone/>
            </a:pPr>
            <a:r>
              <a:rPr lang="vi-VN" sz="1100" b="0" i="0" dirty="0">
                <a:solidFill>
                  <a:srgbClr val="5F6B76"/>
                </a:solidFill>
                <a:latin typeface="Arial"/>
                <a:ea typeface="Arial"/>
                <a:cs typeface="Arial"/>
              </a:rPr>
              <a:t>im lặng</a:t>
            </a:r>
          </a:p>
        </p:txBody>
      </p:sp>
      <p:sp>
        <p:nvSpPr>
          <p:cNvPr id="22" name="Shape x571"/>
          <p:cNvSpPr/>
          <p:nvPr/>
        </p:nvSpPr>
        <p:spPr>
          <a:xfrm>
            <a:off x="685800" y="2880360"/>
            <a:ext cx="3291840" cy="269748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Là gì</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Phân loại từng khung âm thanh ngắn: có người đang nói hay không. VAD không nhận dạng nội dung.</a:t>
            </a:r>
          </a:p>
          <a:p>
            <a:pPr marL="0" indent="0" algn="l">
              <a:spcAft>
                <a:spcPts val="500"/>
              </a:spcAft>
              <a:buNone/>
            </a:pPr>
            <a:r>
              <a:rPr lang="vi-VN" sz="1400" b="0" i="0" dirty="0">
                <a:solidFill>
                  <a:srgbClr val="222222"/>
                </a:solidFill>
                <a:latin typeface="Arial"/>
                <a:ea typeface="Arial"/>
                <a:cs typeface="Arial"/>
              </a:rPr>
              <a:t>Vào: PCM 16 kHz, mỗi khung 32 ms.</a:t>
            </a:r>
          </a:p>
          <a:p>
            <a:pPr marL="0" indent="0" algn="l">
              <a:spcAft>
                <a:spcPts val="500"/>
              </a:spcAft>
              <a:buNone/>
            </a:pPr>
            <a:r>
              <a:rPr lang="vi-VN" sz="1400" b="0" i="0" dirty="0">
                <a:solidFill>
                  <a:srgbClr val="222222"/>
                </a:solidFill>
                <a:latin typeface="Arial"/>
                <a:ea typeface="Arial"/>
                <a:cs typeface="Arial"/>
              </a:rPr>
              <a:t>Ra: xác suất có giọng nói (0 đến 1).</a:t>
            </a:r>
          </a:p>
        </p:txBody>
      </p:sp>
      <p:sp>
        <p:nvSpPr>
          <p:cNvPr id="23" name="Shape x572"/>
          <p:cNvSpPr/>
          <p:nvPr/>
        </p:nvSpPr>
        <p:spPr>
          <a:xfrm>
            <a:off x="4160520" y="2880360"/>
            <a:ext cx="3291840" cy="269748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Trong đồ án</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Silero VAD chạy trên CPU. Bộ tách câu gom các khung có giọng thành một câu và chốt câu khi:</a:t>
            </a:r>
          </a:p>
          <a:p>
            <a:pPr marL="201168" indent="-201168" algn="l">
              <a:buFont typeface="Arial"/>
              <a:buChar char="•"/>
            </a:pPr>
            <a:r>
              <a:rPr lang="vi-VN" sz="1400" b="0" i="0" dirty="0">
                <a:solidFill>
                  <a:srgbClr val="222222"/>
                </a:solidFill>
                <a:latin typeface="Arial"/>
                <a:ea typeface="Arial"/>
                <a:cs typeface="Arial"/>
              </a:rPr>
              <a:t>im lặng 320 ms với câu ngắn</a:t>
            </a:r>
          </a:p>
          <a:p>
            <a:pPr marL="201168" indent="-201168" algn="l">
              <a:buFont typeface="Arial"/>
              <a:buChar char="•"/>
            </a:pPr>
            <a:r>
              <a:rPr lang="vi-VN" sz="1400" b="0" i="0" dirty="0">
                <a:solidFill>
                  <a:srgbClr val="222222"/>
                </a:solidFill>
                <a:latin typeface="Arial"/>
                <a:ea typeface="Arial"/>
                <a:cs typeface="Arial"/>
              </a:rPr>
              <a:t>hụt hơi 140 ms khi câu &gt; 3,5 s</a:t>
            </a:r>
          </a:p>
          <a:p>
            <a:pPr marL="201168" indent="-201168" algn="l">
              <a:buFont typeface="Arial"/>
              <a:buChar char="•"/>
            </a:pPr>
            <a:r>
              <a:rPr lang="vi-VN" sz="1400" b="0" i="0" dirty="0">
                <a:solidFill>
                  <a:srgbClr val="222222"/>
                </a:solidFill>
                <a:latin typeface="Arial"/>
                <a:ea typeface="Arial"/>
                <a:cs typeface="Arial"/>
              </a:rPr>
              <a:t>chạm trần 6 s (preset Cân bằng)</a:t>
            </a:r>
          </a:p>
        </p:txBody>
      </p:sp>
      <p:sp>
        <p:nvSpPr>
          <p:cNvPr id="24" name="Shape x573"/>
          <p:cNvSpPr/>
          <p:nvPr/>
        </p:nvSpPr>
        <p:spPr>
          <a:xfrm>
            <a:off x="7635240" y="2880360"/>
            <a:ext cx="3291840" cy="269748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Vì sao cần</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Whisper cần nhận trọn một câu. Đưa đoạn im lặng vào thì Whisper hay bịa ra câu kiểu "Cảm ơn đã xem video".</a:t>
            </a:r>
          </a:p>
          <a:p>
            <a:pPr marL="0" indent="0" algn="l">
              <a:spcAft>
                <a:spcPts val="500"/>
              </a:spcAft>
              <a:buNone/>
            </a:pPr>
            <a:r>
              <a:rPr lang="vi-VN" sz="1400" b="0" i="0" dirty="0">
                <a:solidFill>
                  <a:srgbClr val="222222"/>
                </a:solidFill>
                <a:latin typeface="Arial"/>
                <a:ea typeface="Arial"/>
                <a:cs typeface="Arial"/>
              </a:rPr>
              <a:t>VAD bỏ phần im lặng và quyết định lúc nào gửi câu đi dịch.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ASR (Automatic Speech Recognition): nhận dạng tiếng nói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29</a:t>
            </a:r>
            <a:endParaRPr lang="en-US" sz="1100" dirty="0"/>
          </a:p>
        </p:txBody>
      </p:sp>
      <p:sp>
        <p:nvSpPr>
          <p:cNvPr id="8" name="Shape x574"/>
          <p:cNvSpPr/>
          <p:nvPr/>
        </p:nvSpPr>
        <p:spPr>
          <a:xfrm>
            <a:off x="685800" y="1463040"/>
            <a:ext cx="1755648" cy="777240"/>
          </a:xfrm>
          <a:prstGeom prst="roundRect">
            <a:avLst>
              <a:gd name="adj" fmla="val 3556"/>
            </a:avLst>
          </a:prstGeom>
          <a:solidFill>
            <a:srgbClr val="DCE8F2"/>
          </a:solidFill>
          <a:ln w="12700">
            <a:solidFill>
              <a:srgbClr val="DCE8F2"/>
            </a:solidFill>
            <a:prstDash val="solid"/>
          </a:ln>
        </p:spPr>
        <p:txBody>
          <a:bodyPr wrap="square" lIns="54864" tIns="54864" rIns="54864" bIns="54864" rtlCol="0" anchor="ctr"/>
          <a:lstStyle/>
          <a:p>
            <a:pPr marL="0" indent="0" algn="ctr">
              <a:buNone/>
            </a:pPr>
            <a:r>
              <a:rPr lang="vi-VN" sz="1500" b="1" i="0" dirty="0">
                <a:solidFill>
                  <a:srgbClr val="1B517B"/>
                </a:solidFill>
                <a:latin typeface="Arial"/>
                <a:ea typeface="Arial"/>
                <a:cs typeface="Arial"/>
              </a:rPr>
              <a:t>Âm thanh</a:t>
            </a:r>
            <a:endParaRPr lang="vi-VN" sz="1500" b="0" i="0" dirty="0">
              <a:solidFill>
                <a:srgbClr val="1B517B"/>
              </a:solidFill>
              <a:latin typeface="Arial"/>
              <a:ea typeface="Arial"/>
              <a:cs typeface="Arial"/>
            </a:endParaRPr>
          </a:p>
          <a:p>
            <a:pPr marL="0" indent="0" algn="ctr">
              <a:buNone/>
            </a:pPr>
            <a:r>
              <a:rPr lang="vi-VN" sz="1200" b="0" i="0" dirty="0">
                <a:solidFill>
                  <a:srgbClr val="1B517B"/>
                </a:solidFill>
                <a:latin typeface="Arial"/>
                <a:ea typeface="Arial"/>
                <a:cs typeface="Arial"/>
              </a:rPr>
              <a:t>một câu, 16 kHz</a:t>
            </a:r>
          </a:p>
        </p:txBody>
      </p:sp>
      <p:sp>
        <p:nvSpPr>
          <p:cNvPr id="9" name="Shape x575"/>
          <p:cNvSpPr/>
          <p:nvPr/>
        </p:nvSpPr>
        <p:spPr>
          <a:xfrm>
            <a:off x="2478024"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0" name="Shape x576"/>
          <p:cNvSpPr/>
          <p:nvPr/>
        </p:nvSpPr>
        <p:spPr>
          <a:xfrm>
            <a:off x="2807208" y="1463040"/>
            <a:ext cx="1755648"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Phổ log-Mel</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năng lượng theo tần số</a:t>
            </a:r>
          </a:p>
        </p:txBody>
      </p:sp>
      <p:sp>
        <p:nvSpPr>
          <p:cNvPr id="11" name="Shape x577"/>
          <p:cNvSpPr/>
          <p:nvPr/>
        </p:nvSpPr>
        <p:spPr>
          <a:xfrm>
            <a:off x="4599432"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2" name="Shape x578"/>
          <p:cNvSpPr/>
          <p:nvPr/>
        </p:nvSpPr>
        <p:spPr>
          <a:xfrm>
            <a:off x="4928616" y="1463040"/>
            <a:ext cx="1755648"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Encoder</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đọc cả câu</a:t>
            </a:r>
          </a:p>
        </p:txBody>
      </p:sp>
      <p:sp>
        <p:nvSpPr>
          <p:cNvPr id="13" name="Shape x579"/>
          <p:cNvSpPr/>
          <p:nvPr/>
        </p:nvSpPr>
        <p:spPr>
          <a:xfrm>
            <a:off x="6720840"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4" name="Shape x580"/>
          <p:cNvSpPr/>
          <p:nvPr/>
        </p:nvSpPr>
        <p:spPr>
          <a:xfrm>
            <a:off x="7050024" y="1463040"/>
            <a:ext cx="1755648"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Decoder</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sinh văn bản từng token</a:t>
            </a:r>
          </a:p>
        </p:txBody>
      </p:sp>
      <p:sp>
        <p:nvSpPr>
          <p:cNvPr id="15" name="Shape x581"/>
          <p:cNvSpPr/>
          <p:nvPr/>
        </p:nvSpPr>
        <p:spPr>
          <a:xfrm>
            <a:off x="8842248"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6" name="Shape x582"/>
          <p:cNvSpPr/>
          <p:nvPr/>
        </p:nvSpPr>
        <p:spPr>
          <a:xfrm>
            <a:off x="9171432" y="1463040"/>
            <a:ext cx="1755648" cy="777240"/>
          </a:xfrm>
          <a:prstGeom prst="roundRect">
            <a:avLst>
              <a:gd name="adj" fmla="val 3556"/>
            </a:avLst>
          </a:prstGeom>
          <a:solidFill>
            <a:srgbClr val="DCE8F2"/>
          </a:solidFill>
          <a:ln w="12700">
            <a:solidFill>
              <a:srgbClr val="DCE8F2"/>
            </a:solidFill>
            <a:prstDash val="solid"/>
          </a:ln>
        </p:spPr>
        <p:txBody>
          <a:bodyPr wrap="square" lIns="54864" tIns="54864" rIns="54864" bIns="54864" rtlCol="0" anchor="ctr"/>
          <a:lstStyle/>
          <a:p>
            <a:pPr marL="0" indent="0" algn="ctr">
              <a:buNone/>
            </a:pPr>
            <a:r>
              <a:rPr lang="vi-VN" sz="1500" b="1" i="0" dirty="0">
                <a:solidFill>
                  <a:srgbClr val="1B517B"/>
                </a:solidFill>
                <a:latin typeface="Arial"/>
                <a:ea typeface="Arial"/>
                <a:cs typeface="Arial"/>
              </a:rPr>
              <a:t>Văn bản</a:t>
            </a:r>
            <a:endParaRPr lang="vi-VN" sz="1500" b="0" i="0" dirty="0">
              <a:solidFill>
                <a:srgbClr val="1B517B"/>
              </a:solidFill>
              <a:latin typeface="Arial"/>
              <a:ea typeface="Arial"/>
              <a:cs typeface="Arial"/>
            </a:endParaRPr>
          </a:p>
          <a:p>
            <a:pPr marL="0" indent="0" algn="ctr">
              <a:buNone/>
            </a:pPr>
            <a:r>
              <a:rPr lang="vi-VN" sz="1200" b="0" i="0" dirty="0">
                <a:solidFill>
                  <a:srgbClr val="1B517B"/>
                </a:solidFill>
                <a:latin typeface="Arial"/>
                <a:ea typeface="Arial"/>
                <a:cs typeface="Arial"/>
              </a:rPr>
              <a:t>cùng ngôn ngữ</a:t>
            </a:r>
          </a:p>
        </p:txBody>
      </p:sp>
      <p:sp>
        <p:nvSpPr>
          <p:cNvPr id="17" name="Text x583"/>
          <p:cNvSpPr txBox="1"/>
          <p:nvPr/>
        </p:nvSpPr>
        <p:spPr>
          <a:xfrm>
            <a:off x="685800" y="2331720"/>
            <a:ext cx="10241280" cy="320040"/>
          </a:xfrm>
          <a:prstGeom prst="rect">
            <a:avLst/>
          </a:prstGeom>
          <a:noFill/>
          <a:ln>
            <a:noFill/>
          </a:ln>
        </p:spPr>
        <p:txBody>
          <a:bodyPr wrap="square" lIns="0" tIns="0" rIns="0" bIns="0" rtlCol="0" anchor="t"/>
          <a:lstStyle/>
          <a:p>
            <a:pPr marL="0" indent="0" algn="ctr">
              <a:buNone/>
            </a:pPr>
            <a:r>
              <a:rPr lang="vi-VN" sz="1200" b="0" i="1" dirty="0">
                <a:solidFill>
                  <a:srgbClr val="5F6B76"/>
                </a:solidFill>
                <a:latin typeface="Arial"/>
                <a:ea typeface="Arial"/>
                <a:cs typeface="Arial"/>
              </a:rPr>
              <a:t>Whisper [19]: mô hình Transformer encoder-decoder của OpenAI, nhận dạng khoảng 100 ngôn ngữ</a:t>
            </a:r>
            <a:endParaRPr lang="vi-VN" sz="1200" b="0" i="0" dirty="0">
              <a:solidFill>
                <a:srgbClr val="5F6B76"/>
              </a:solidFill>
              <a:latin typeface="Arial"/>
              <a:ea typeface="Arial"/>
              <a:cs typeface="Arial"/>
            </a:endParaRPr>
          </a:p>
        </p:txBody>
      </p:sp>
      <p:sp>
        <p:nvSpPr>
          <p:cNvPr id="18" name="Shape x584"/>
          <p:cNvSpPr/>
          <p:nvPr/>
        </p:nvSpPr>
        <p:spPr>
          <a:xfrm>
            <a:off x="68580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Là gì</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Chuyển giọng nói thành văn bản cùng ngôn ngữ. Đây là khâu thứ hai, nhận câu do VAD cắt ra.</a:t>
            </a:r>
          </a:p>
          <a:p>
            <a:pPr marL="0" indent="0" algn="l">
              <a:spcAft>
                <a:spcPts val="500"/>
              </a:spcAft>
              <a:buNone/>
            </a:pPr>
            <a:r>
              <a:rPr lang="vi-VN" sz="1400" b="0" i="0" dirty="0">
                <a:solidFill>
                  <a:srgbClr val="222222"/>
                </a:solidFill>
                <a:latin typeface="Arial"/>
                <a:ea typeface="Arial"/>
                <a:cs typeface="Arial"/>
              </a:rPr>
              <a:t>Một bộ lọc sau ASR bỏ những câu Whisper bịa ra khi gặp tiếng ồn.</a:t>
            </a:r>
          </a:p>
        </p:txBody>
      </p:sp>
      <p:sp>
        <p:nvSpPr>
          <p:cNvPr id="19" name="Shape x585"/>
          <p:cNvSpPr/>
          <p:nvPr/>
        </p:nvSpPr>
        <p:spPr>
          <a:xfrm>
            <a:off x="416052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Trong đồ án</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Preset Cân bằng dùng large-v3-turbo lượng tử 5 bit (q5_0). Bản turbo giảm decoder từ 32 xuống 4 lớp nên nhanh hơn nhiều so với large-v3.</a:t>
            </a:r>
          </a:p>
          <a:p>
            <a:pPr marL="0" indent="0" algn="l">
              <a:spcAft>
                <a:spcPts val="500"/>
              </a:spcAft>
              <a:buNone/>
            </a:pPr>
            <a:r>
              <a:rPr lang="vi-VN" sz="1400" b="0" i="0" dirty="0">
                <a:solidFill>
                  <a:srgbClr val="222222"/>
                </a:solidFill>
                <a:latin typeface="Arial"/>
                <a:ea typeface="Arial"/>
                <a:cs typeface="Arial"/>
              </a:rPr>
              <a:t>Ba runtime theo phần cứng: whisper.cpp (Vulkan, Metal), faster-whisper (CUDA), MLX (Apple).</a:t>
            </a:r>
          </a:p>
        </p:txBody>
      </p:sp>
      <p:sp>
        <p:nvSpPr>
          <p:cNvPr id="20" name="Shape x586"/>
          <p:cNvSpPr/>
          <p:nvPr/>
        </p:nvSpPr>
        <p:spPr>
          <a:xfrm>
            <a:off x="763524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Đo bằng</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WER cho tiếng Việt, tiếng Anh; CER cho tiếng Trung, tiếng Nhật.</a:t>
            </a:r>
          </a:p>
          <a:p>
            <a:pPr marL="0" indent="0" algn="l">
              <a:spcAft>
                <a:spcPts val="500"/>
              </a:spcAft>
              <a:buNone/>
            </a:pPr>
            <a:r>
              <a:rPr lang="vi-VN" sz="1400" b="0" i="0" dirty="0">
                <a:solidFill>
                  <a:srgbClr val="222222"/>
                </a:solidFill>
                <a:latin typeface="Arial"/>
                <a:ea typeface="Arial"/>
                <a:cs typeface="Arial"/>
              </a:rPr>
              <a:t>3.099 bản thu FLEURS: WER vi 8,8–10,4%, en 4,8–5,0%; CER zh, ja dưới 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MT (Machine Translation): dịch máy</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30</a:t>
            </a:r>
            <a:endParaRPr lang="en-US" sz="1100" dirty="0"/>
          </a:p>
        </p:txBody>
      </p:sp>
      <p:sp>
        <p:nvSpPr>
          <p:cNvPr id="8" name="Shape x587"/>
          <p:cNvSpPr/>
          <p:nvPr/>
        </p:nvSpPr>
        <p:spPr>
          <a:xfrm>
            <a:off x="685800" y="1463040"/>
            <a:ext cx="2286000" cy="777240"/>
          </a:xfrm>
          <a:prstGeom prst="roundRect">
            <a:avLst>
              <a:gd name="adj" fmla="val 3556"/>
            </a:avLst>
          </a:prstGeom>
          <a:solidFill>
            <a:srgbClr val="DCE8F2"/>
          </a:solidFill>
          <a:ln w="12700">
            <a:solidFill>
              <a:srgbClr val="DCE8F2"/>
            </a:solidFill>
            <a:prstDash val="solid"/>
          </a:ln>
        </p:spPr>
        <p:txBody>
          <a:bodyPr wrap="square" lIns="54864" tIns="54864" rIns="54864" bIns="54864" rtlCol="0" anchor="ctr"/>
          <a:lstStyle/>
          <a:p>
            <a:pPr marL="0" indent="0" algn="ctr">
              <a:buNone/>
            </a:pPr>
            <a:r>
              <a:rPr lang="vi-VN" sz="1500" b="1" i="0" dirty="0">
                <a:solidFill>
                  <a:srgbClr val="1B517B"/>
                </a:solidFill>
                <a:latin typeface="Arial"/>
                <a:ea typeface="Arial"/>
                <a:cs typeface="Arial"/>
              </a:rPr>
              <a:t>Câu tiếng Việt</a:t>
            </a:r>
            <a:endParaRPr lang="vi-VN" sz="1500" b="0" i="0" dirty="0">
              <a:solidFill>
                <a:srgbClr val="1B517B"/>
              </a:solidFill>
              <a:latin typeface="Arial"/>
              <a:ea typeface="Arial"/>
              <a:cs typeface="Arial"/>
            </a:endParaRPr>
          </a:p>
          <a:p>
            <a:pPr marL="0" indent="0" algn="ctr">
              <a:buNone/>
            </a:pPr>
            <a:r>
              <a:rPr lang="vi-VN" sz="1200" b="0" i="0" dirty="0">
                <a:solidFill>
                  <a:srgbClr val="1B517B"/>
                </a:solidFill>
                <a:latin typeface="Arial"/>
                <a:ea typeface="Arial"/>
                <a:cs typeface="Arial"/>
              </a:rPr>
              <a:t>gắn mã nguồn vie_Latn</a:t>
            </a:r>
          </a:p>
        </p:txBody>
      </p:sp>
      <p:sp>
        <p:nvSpPr>
          <p:cNvPr id="9" name="Shape x588"/>
          <p:cNvSpPr/>
          <p:nvPr/>
        </p:nvSpPr>
        <p:spPr>
          <a:xfrm>
            <a:off x="3008376"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0" name="Shape x589"/>
          <p:cNvSpPr/>
          <p:nvPr/>
        </p:nvSpPr>
        <p:spPr>
          <a:xfrm>
            <a:off x="3337560" y="1463040"/>
            <a:ext cx="2286000"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Encoder</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mã hóa câu nguồn</a:t>
            </a:r>
          </a:p>
        </p:txBody>
      </p:sp>
      <p:sp>
        <p:nvSpPr>
          <p:cNvPr id="11" name="Shape x590"/>
          <p:cNvSpPr/>
          <p:nvPr/>
        </p:nvSpPr>
        <p:spPr>
          <a:xfrm>
            <a:off x="5660136"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2" name="Shape x591"/>
          <p:cNvSpPr/>
          <p:nvPr/>
        </p:nvSpPr>
        <p:spPr>
          <a:xfrm>
            <a:off x="5989320" y="1463040"/>
            <a:ext cx="2286000"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Decoder</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bắt đầu bằng mã đích jpn_Jpan</a:t>
            </a:r>
          </a:p>
        </p:txBody>
      </p:sp>
      <p:sp>
        <p:nvSpPr>
          <p:cNvPr id="13" name="Shape x592"/>
          <p:cNvSpPr/>
          <p:nvPr/>
        </p:nvSpPr>
        <p:spPr>
          <a:xfrm>
            <a:off x="8311896"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4" name="Shape x593"/>
          <p:cNvSpPr/>
          <p:nvPr/>
        </p:nvSpPr>
        <p:spPr>
          <a:xfrm>
            <a:off x="8641080" y="1463040"/>
            <a:ext cx="2286000" cy="777240"/>
          </a:xfrm>
          <a:prstGeom prst="roundRect">
            <a:avLst>
              <a:gd name="adj" fmla="val 3556"/>
            </a:avLst>
          </a:prstGeom>
          <a:solidFill>
            <a:srgbClr val="DCE8F2"/>
          </a:solidFill>
          <a:ln w="12700">
            <a:solidFill>
              <a:srgbClr val="DCE8F2"/>
            </a:solidFill>
            <a:prstDash val="solid"/>
          </a:ln>
        </p:spPr>
        <p:txBody>
          <a:bodyPr wrap="square" lIns="54864" tIns="54864" rIns="54864" bIns="54864" rtlCol="0" anchor="ctr"/>
          <a:lstStyle/>
          <a:p>
            <a:pPr marL="0" indent="0" algn="ctr">
              <a:buNone/>
            </a:pPr>
            <a:r>
              <a:rPr lang="vi-VN" sz="1500" b="1" i="0" dirty="0">
                <a:solidFill>
                  <a:srgbClr val="1B517B"/>
                </a:solidFill>
                <a:latin typeface="Arial"/>
                <a:ea typeface="Arial"/>
                <a:cs typeface="Arial"/>
              </a:rPr>
              <a:t>Câu tiếng Nhật</a:t>
            </a:r>
            <a:endParaRPr lang="vi-VN" sz="1500" b="0" i="0" dirty="0">
              <a:solidFill>
                <a:srgbClr val="1B517B"/>
              </a:solidFill>
              <a:latin typeface="Arial"/>
              <a:ea typeface="Arial"/>
              <a:cs typeface="Arial"/>
            </a:endParaRPr>
          </a:p>
          <a:p>
            <a:pPr marL="0" indent="0" algn="ctr">
              <a:buNone/>
            </a:pPr>
            <a:r>
              <a:rPr lang="vi-VN" sz="1200" b="0" i="0" dirty="0">
                <a:solidFill>
                  <a:srgbClr val="1B517B"/>
                </a:solidFill>
                <a:latin typeface="Arial"/>
                <a:ea typeface="Arial"/>
                <a:cs typeface="Arial"/>
              </a:rPr>
              <a:t>bản dịch</a:t>
            </a:r>
          </a:p>
        </p:txBody>
      </p:sp>
      <p:sp>
        <p:nvSpPr>
          <p:cNvPr id="15" name="Text x594"/>
          <p:cNvSpPr txBox="1"/>
          <p:nvPr/>
        </p:nvSpPr>
        <p:spPr>
          <a:xfrm>
            <a:off x="685800" y="2331720"/>
            <a:ext cx="10241280" cy="320040"/>
          </a:xfrm>
          <a:prstGeom prst="rect">
            <a:avLst/>
          </a:prstGeom>
          <a:noFill/>
          <a:ln>
            <a:noFill/>
          </a:ln>
        </p:spPr>
        <p:txBody>
          <a:bodyPr wrap="square" lIns="0" tIns="0" rIns="0" bIns="0" rtlCol="0" anchor="t"/>
          <a:lstStyle/>
          <a:p>
            <a:pPr marL="0" indent="0" algn="ctr">
              <a:buNone/>
            </a:pPr>
            <a:r>
              <a:rPr lang="vi-VN" sz="1200" b="0" i="1" dirty="0">
                <a:solidFill>
                  <a:srgbClr val="5F6B76"/>
                </a:solidFill>
                <a:latin typeface="Arial"/>
                <a:ea typeface="Arial"/>
                <a:cs typeface="Arial"/>
              </a:rPr>
              <a:t>Mã ngôn ngữ đích quyết định decoder sinh ra tiếng nào, nên Việt sang Nhật dịch thẳng, không qua tiếng Anh</a:t>
            </a:r>
            <a:endParaRPr lang="vi-VN" sz="1200" b="0" i="0" dirty="0">
              <a:solidFill>
                <a:srgbClr val="5F6B76"/>
              </a:solidFill>
              <a:latin typeface="Arial"/>
              <a:ea typeface="Arial"/>
              <a:cs typeface="Arial"/>
            </a:endParaRPr>
          </a:p>
        </p:txBody>
      </p:sp>
      <p:sp>
        <p:nvSpPr>
          <p:cNvPr id="16" name="Shape x595"/>
          <p:cNvSpPr/>
          <p:nvPr/>
        </p:nvSpPr>
        <p:spPr>
          <a:xfrm>
            <a:off x="68580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Là gì</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Dịch văn bản từ ngôn ngữ nguồn sang ngôn ngữ đích. Khâu này nhận văn bản do ASR chép ra.</a:t>
            </a:r>
          </a:p>
          <a:p>
            <a:pPr marL="0" indent="0" algn="l">
              <a:spcAft>
                <a:spcPts val="500"/>
              </a:spcAft>
              <a:buNone/>
            </a:pPr>
            <a:r>
              <a:rPr lang="vi-VN" sz="1400" b="0" i="0" dirty="0">
                <a:solidFill>
                  <a:srgbClr val="222222"/>
                </a:solidFill>
                <a:latin typeface="Arial"/>
                <a:ea typeface="Arial"/>
                <a:cs typeface="Arial"/>
              </a:rPr>
              <a:t>Mã dùng trong đồ án: vie_Latn, eng_Latn, jpn_Jpan, zho_Hans.</a:t>
            </a:r>
          </a:p>
        </p:txBody>
      </p:sp>
      <p:sp>
        <p:nvSpPr>
          <p:cNvPr id="17" name="Shape x596"/>
          <p:cNvSpPr/>
          <p:nvPr/>
        </p:nvSpPr>
        <p:spPr>
          <a:xfrm>
            <a:off x="416052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NLLB-200</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Mô hình dịch của Meta (2022): một mô hình cho 200 ngôn ngữ [4].</a:t>
            </a:r>
          </a:p>
          <a:p>
            <a:pPr marL="0" indent="0" algn="l">
              <a:spcAft>
                <a:spcPts val="500"/>
              </a:spcAft>
              <a:buNone/>
            </a:pPr>
            <a:r>
              <a:rPr lang="vi-VN" sz="1400" b="0" i="0" dirty="0">
                <a:solidFill>
                  <a:srgbClr val="222222"/>
                </a:solidFill>
                <a:latin typeface="Arial"/>
                <a:ea typeface="Arial"/>
                <a:cs typeface="Arial"/>
              </a:rPr>
              <a:t>Bản distilled 600M (600 triệu tham số) được chưng cất từ mô hình 54,5 tỷ tham số, đủ nhẹ để chạy trên laptop. Giấy phép CC-BY-NC-4.0.</a:t>
            </a:r>
          </a:p>
        </p:txBody>
      </p:sp>
      <p:sp>
        <p:nvSpPr>
          <p:cNvPr id="18" name="Shape x597"/>
          <p:cNvSpPr/>
          <p:nvPr/>
        </p:nvSpPr>
        <p:spPr>
          <a:xfrm>
            <a:off x="763524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Trong đồ án và cách đo</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Chạy PyTorch trên CUDA (Windows) hoặc MPS (Mac).</a:t>
            </a:r>
          </a:p>
          <a:p>
            <a:pPr marL="0" indent="0" algn="l">
              <a:spcAft>
                <a:spcPts val="500"/>
              </a:spcAft>
              <a:buNone/>
            </a:pPr>
            <a:r>
              <a:rPr lang="vi-VN" sz="1400" b="0" i="0" dirty="0">
                <a:solidFill>
                  <a:srgbClr val="222222"/>
                </a:solidFill>
                <a:latin typeface="Arial"/>
                <a:ea typeface="Arial"/>
                <a:cs typeface="Arial"/>
              </a:rPr>
              <a:t>Đo trên văn bản FLEURS, không qua ASR: spBLEU, chrF++ và COMET. COMET 0,77–0,85 ở sáu chiều.</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TTS (Text-to-Speech): tổng hợp tiếng nói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31</a:t>
            </a:r>
            <a:endParaRPr lang="en-US" sz="1100" dirty="0"/>
          </a:p>
        </p:txBody>
      </p:sp>
      <p:sp>
        <p:nvSpPr>
          <p:cNvPr id="8" name="Shape x598"/>
          <p:cNvSpPr/>
          <p:nvPr/>
        </p:nvSpPr>
        <p:spPr>
          <a:xfrm>
            <a:off x="685800" y="1463040"/>
            <a:ext cx="1755648" cy="777240"/>
          </a:xfrm>
          <a:prstGeom prst="roundRect">
            <a:avLst>
              <a:gd name="adj" fmla="val 3556"/>
            </a:avLst>
          </a:prstGeom>
          <a:solidFill>
            <a:srgbClr val="DCE8F2"/>
          </a:solidFill>
          <a:ln w="12700">
            <a:solidFill>
              <a:srgbClr val="DCE8F2"/>
            </a:solidFill>
            <a:prstDash val="solid"/>
          </a:ln>
        </p:spPr>
        <p:txBody>
          <a:bodyPr wrap="square" lIns="54864" tIns="54864" rIns="54864" bIns="54864" rtlCol="0" anchor="ctr"/>
          <a:lstStyle/>
          <a:p>
            <a:pPr marL="0" indent="0" algn="ctr">
              <a:buNone/>
            </a:pPr>
            <a:r>
              <a:rPr lang="vi-VN" sz="1500" b="1" i="0" dirty="0">
                <a:solidFill>
                  <a:srgbClr val="1B517B"/>
                </a:solidFill>
                <a:latin typeface="Arial"/>
                <a:ea typeface="Arial"/>
                <a:cs typeface="Arial"/>
              </a:rPr>
              <a:t>Bản dịch</a:t>
            </a:r>
            <a:endParaRPr lang="vi-VN" sz="1500" b="0" i="0" dirty="0">
              <a:solidFill>
                <a:srgbClr val="1B517B"/>
              </a:solidFill>
              <a:latin typeface="Arial"/>
              <a:ea typeface="Arial"/>
              <a:cs typeface="Arial"/>
            </a:endParaRPr>
          </a:p>
          <a:p>
            <a:pPr marL="0" indent="0" algn="ctr">
              <a:buNone/>
            </a:pPr>
            <a:r>
              <a:rPr lang="vi-VN" sz="1200" b="0" i="0" dirty="0">
                <a:solidFill>
                  <a:srgbClr val="1B517B"/>
                </a:solidFill>
                <a:latin typeface="Arial"/>
                <a:ea typeface="Arial"/>
                <a:cs typeface="Arial"/>
              </a:rPr>
              <a:t>văn bản</a:t>
            </a:r>
          </a:p>
        </p:txBody>
      </p:sp>
      <p:sp>
        <p:nvSpPr>
          <p:cNvPr id="9" name="Shape x599"/>
          <p:cNvSpPr/>
          <p:nvPr/>
        </p:nvSpPr>
        <p:spPr>
          <a:xfrm>
            <a:off x="2478024"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0" name="Shape x600"/>
          <p:cNvSpPr/>
          <p:nvPr/>
        </p:nvSpPr>
        <p:spPr>
          <a:xfrm>
            <a:off x="2807208" y="1463040"/>
            <a:ext cx="1755648"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Chuẩn hóa</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số, ký hiệu</a:t>
            </a:r>
          </a:p>
        </p:txBody>
      </p:sp>
      <p:sp>
        <p:nvSpPr>
          <p:cNvPr id="11" name="Shape x601"/>
          <p:cNvSpPr/>
          <p:nvPr/>
        </p:nvSpPr>
        <p:spPr>
          <a:xfrm>
            <a:off x="4599432"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2" name="Shape x602"/>
          <p:cNvSpPr/>
          <p:nvPr/>
        </p:nvSpPr>
        <p:spPr>
          <a:xfrm>
            <a:off x="4928616" y="1463040"/>
            <a:ext cx="1755648"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Âm vị</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chữ thành âm (G2P)</a:t>
            </a:r>
          </a:p>
        </p:txBody>
      </p:sp>
      <p:sp>
        <p:nvSpPr>
          <p:cNvPr id="13" name="Shape x603"/>
          <p:cNvSpPr/>
          <p:nvPr/>
        </p:nvSpPr>
        <p:spPr>
          <a:xfrm>
            <a:off x="6720840"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4" name="Shape x604"/>
          <p:cNvSpPr/>
          <p:nvPr/>
        </p:nvSpPr>
        <p:spPr>
          <a:xfrm>
            <a:off x="7050024" y="1463040"/>
            <a:ext cx="1755648" cy="777240"/>
          </a:xfrm>
          <a:prstGeom prst="roundRect">
            <a:avLst>
              <a:gd name="adj" fmla="val 3556"/>
            </a:avLst>
          </a:prstGeom>
          <a:solidFill>
            <a:srgbClr val="1B517B"/>
          </a:solidFill>
          <a:ln w="12700">
            <a:solidFill>
              <a:srgbClr val="1B517B"/>
            </a:solidFill>
            <a:prstDash val="solid"/>
          </a:ln>
        </p:spPr>
        <p:txBody>
          <a:bodyPr wrap="square" lIns="54864" tIns="54864" rIns="54864" bIns="54864" rtlCol="0" anchor="ctr"/>
          <a:lstStyle/>
          <a:p>
            <a:pPr marL="0" indent="0" algn="ctr">
              <a:buNone/>
            </a:pPr>
            <a:r>
              <a:rPr lang="vi-VN" sz="1500" b="1" i="0" dirty="0">
                <a:solidFill>
                  <a:srgbClr val="FFFFFF"/>
                </a:solidFill>
                <a:latin typeface="Arial"/>
                <a:ea typeface="Arial"/>
                <a:cs typeface="Arial"/>
              </a:rPr>
              <a:t>Mô hình giọng</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VITS hoặc Kokoro</a:t>
            </a:r>
          </a:p>
        </p:txBody>
      </p:sp>
      <p:sp>
        <p:nvSpPr>
          <p:cNvPr id="15" name="Shape x605"/>
          <p:cNvSpPr/>
          <p:nvPr/>
        </p:nvSpPr>
        <p:spPr>
          <a:xfrm>
            <a:off x="8842248" y="1851660"/>
            <a:ext cx="29260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6" name="Shape x606"/>
          <p:cNvSpPr/>
          <p:nvPr/>
        </p:nvSpPr>
        <p:spPr>
          <a:xfrm>
            <a:off x="9171432" y="1463040"/>
            <a:ext cx="1755648" cy="777240"/>
          </a:xfrm>
          <a:prstGeom prst="roundRect">
            <a:avLst>
              <a:gd name="adj" fmla="val 3556"/>
            </a:avLst>
          </a:prstGeom>
          <a:solidFill>
            <a:srgbClr val="DCE8F2"/>
          </a:solidFill>
          <a:ln w="12700">
            <a:solidFill>
              <a:srgbClr val="DCE8F2"/>
            </a:solidFill>
            <a:prstDash val="solid"/>
          </a:ln>
        </p:spPr>
        <p:txBody>
          <a:bodyPr wrap="square" lIns="54864" tIns="54864" rIns="54864" bIns="54864" rtlCol="0" anchor="ctr"/>
          <a:lstStyle/>
          <a:p>
            <a:pPr marL="0" indent="0" algn="ctr">
              <a:buNone/>
            </a:pPr>
            <a:r>
              <a:rPr lang="vi-VN" sz="1500" b="1" i="0" dirty="0">
                <a:solidFill>
                  <a:srgbClr val="1B517B"/>
                </a:solidFill>
                <a:latin typeface="Arial"/>
                <a:ea typeface="Arial"/>
                <a:cs typeface="Arial"/>
              </a:rPr>
              <a:t>Âm thanh</a:t>
            </a:r>
            <a:endParaRPr lang="vi-VN" sz="1500" b="0" i="0" dirty="0">
              <a:solidFill>
                <a:srgbClr val="1B517B"/>
              </a:solidFill>
              <a:latin typeface="Arial"/>
              <a:ea typeface="Arial"/>
              <a:cs typeface="Arial"/>
            </a:endParaRPr>
          </a:p>
          <a:p>
            <a:pPr marL="0" indent="0" algn="ctr">
              <a:buNone/>
            </a:pPr>
            <a:r>
              <a:rPr lang="vi-VN" sz="1200" b="0" i="0" dirty="0">
                <a:solidFill>
                  <a:srgbClr val="1B517B"/>
                </a:solidFill>
                <a:latin typeface="Arial"/>
                <a:ea typeface="Arial"/>
                <a:cs typeface="Arial"/>
              </a:rPr>
              <a:t>phát ra loa</a:t>
            </a:r>
          </a:p>
        </p:txBody>
      </p:sp>
      <p:sp>
        <p:nvSpPr>
          <p:cNvPr id="17" name="Text x607"/>
          <p:cNvSpPr txBox="1"/>
          <p:nvPr/>
        </p:nvSpPr>
        <p:spPr>
          <a:xfrm>
            <a:off x="685800" y="2331720"/>
            <a:ext cx="10241280" cy="320040"/>
          </a:xfrm>
          <a:prstGeom prst="rect">
            <a:avLst/>
          </a:prstGeom>
          <a:noFill/>
          <a:ln>
            <a:noFill/>
          </a:ln>
        </p:spPr>
        <p:txBody>
          <a:bodyPr wrap="square" lIns="0" tIns="0" rIns="0" bIns="0" rtlCol="0" anchor="t"/>
          <a:lstStyle/>
          <a:p>
            <a:pPr marL="0" indent="0" algn="ctr">
              <a:buNone/>
            </a:pPr>
            <a:r>
              <a:rPr lang="vi-VN" sz="1200" b="0" i="1" dirty="0">
                <a:solidFill>
                  <a:srgbClr val="5F6B76"/>
                </a:solidFill>
                <a:latin typeface="Arial"/>
                <a:ea typeface="Arial"/>
                <a:cs typeface="Arial"/>
              </a:rPr>
              <a:t>Các bước chung của một hệ TTS</a:t>
            </a:r>
            <a:endParaRPr lang="vi-VN" sz="1200" b="0" i="0" dirty="0">
              <a:solidFill>
                <a:srgbClr val="5F6B76"/>
              </a:solidFill>
              <a:latin typeface="Arial"/>
              <a:ea typeface="Arial"/>
              <a:cs typeface="Arial"/>
            </a:endParaRPr>
          </a:p>
        </p:txBody>
      </p:sp>
      <p:sp>
        <p:nvSpPr>
          <p:cNvPr id="18" name="Shape x608"/>
          <p:cNvSpPr/>
          <p:nvPr/>
        </p:nvSpPr>
        <p:spPr>
          <a:xfrm>
            <a:off x="68580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Là gì</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Đọc văn bản thành giọng nói. Chỉ chạy ở chiều micro: đọc bản dịch câu người dùng vừa nói, ra loa cho người đối diện nghe.</a:t>
            </a:r>
          </a:p>
          <a:p>
            <a:pPr marL="0" indent="0" algn="l">
              <a:spcAft>
                <a:spcPts val="500"/>
              </a:spcAft>
              <a:buNone/>
            </a:pPr>
            <a:r>
              <a:rPr lang="vi-VN" sz="1400" b="0" i="0" dirty="0">
                <a:solidFill>
                  <a:srgbClr val="222222"/>
                </a:solidFill>
                <a:latin typeface="Arial"/>
                <a:ea typeface="Arial"/>
                <a:cs typeface="Arial"/>
              </a:rPr>
              <a:t>Chiều âm thanh hệ thống chỉ hiện phụ đề, để ứng dụng không thu lại giọng đọc của chính nó.</a:t>
            </a:r>
          </a:p>
        </p:txBody>
      </p:sp>
      <p:sp>
        <p:nvSpPr>
          <p:cNvPr id="19" name="Shape x609"/>
          <p:cNvSpPr/>
          <p:nvPr/>
        </p:nvSpPr>
        <p:spPr>
          <a:xfrm>
            <a:off x="4160520" y="2834640"/>
            <a:ext cx="3291840" cy="283464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Trong đồ án</a:t>
            </a:r>
            <a:endParaRPr lang="vi-VN" sz="1600" b="0" i="0" dirty="0">
              <a:solidFill>
                <a:srgbClr val="1B517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sherpa-onnx chạy giọng VITS cho tiếng Việt, Anh, Trung, hoàn toàn offline.</a:t>
            </a:r>
          </a:p>
          <a:p>
            <a:pPr marL="0" indent="0" algn="l">
              <a:spcAft>
                <a:spcPts val="500"/>
              </a:spcAft>
              <a:buNone/>
            </a:pPr>
            <a:r>
              <a:rPr lang="vi-VN" sz="1400" b="0" i="0" dirty="0">
                <a:solidFill>
                  <a:srgbClr val="222222"/>
                </a:solidFill>
                <a:latin typeface="Arial"/>
                <a:ea typeface="Arial"/>
                <a:cs typeface="Arial"/>
              </a:rPr>
              <a:t>Tiếng Nhật: sherpa-onnx không xử lý được chữ Nhật, nên em dùng Kokoro; OpenJTalk chuyển chữ Nhật thành âm vị. LanguageRoutedTts chọn engine theo ngôn ngữ đích.</a:t>
            </a:r>
          </a:p>
        </p:txBody>
      </p:sp>
      <p:sp>
        <p:nvSpPr>
          <p:cNvPr id="20" name="Shape x610"/>
          <p:cNvSpPr/>
          <p:nvPr/>
        </p:nvSpPr>
        <p:spPr>
          <a:xfrm>
            <a:off x="7635240" y="2834640"/>
            <a:ext cx="3291840" cy="2834640"/>
          </a:xfrm>
          <a:prstGeom prst="roundRect">
            <a:avLst>
              <a:gd name="adj" fmla="val 3556"/>
            </a:avLst>
          </a:prstGeom>
          <a:solidFill>
            <a:srgbClr val="FBEDED"/>
          </a:solidFill>
          <a:ln w="12700">
            <a:solidFill>
              <a:srgbClr val="FBEDED"/>
            </a:solidFill>
            <a:prstDash val="solid"/>
          </a:ln>
        </p:spPr>
        <p:txBody>
          <a:bodyPr wrap="square" lIns="155448" tIns="155448" rIns="155448" bIns="155448" rtlCol="0" anchor="t"/>
          <a:lstStyle/>
          <a:p>
            <a:pPr marL="0" indent="0" algn="l">
              <a:spcAft>
                <a:spcPts val="600"/>
              </a:spcAft>
              <a:buNone/>
            </a:pPr>
            <a:r>
              <a:rPr lang="vi-VN" sz="1600" b="1" i="0" dirty="0">
                <a:solidFill>
                  <a:srgbClr val="B8262B"/>
                </a:solidFill>
                <a:latin typeface="Arial"/>
                <a:ea typeface="Arial"/>
                <a:cs typeface="Arial"/>
              </a:rPr>
              <a:t>Giới hạn</a:t>
            </a:r>
            <a:endParaRPr lang="vi-VN" sz="1600" b="0" i="0" dirty="0">
              <a:solidFill>
                <a:srgbClr val="B8262B"/>
              </a:solidFill>
              <a:latin typeface="Arial"/>
              <a:ea typeface="Arial"/>
              <a:cs typeface="Arial"/>
            </a:endParaRPr>
          </a:p>
          <a:p>
            <a:pPr marL="0" indent="0" algn="l">
              <a:spcAft>
                <a:spcPts val="500"/>
              </a:spcAft>
              <a:buNone/>
            </a:pPr>
            <a:r>
              <a:rPr lang="vi-VN" sz="1400" b="0" i="0" dirty="0">
                <a:solidFill>
                  <a:srgbClr val="222222"/>
                </a:solidFill>
                <a:latin typeface="Arial"/>
                <a:ea typeface="Arial"/>
                <a:cs typeface="Arial"/>
              </a:rPr>
              <a:t>TTS chạy trên CPU.</a:t>
            </a:r>
          </a:p>
          <a:p>
            <a:pPr marL="0" indent="0" algn="l">
              <a:spcAft>
                <a:spcPts val="500"/>
              </a:spcAft>
              <a:buNone/>
            </a:pPr>
            <a:r>
              <a:rPr lang="vi-VN" sz="1400" b="0" i="0" dirty="0">
                <a:solidFill>
                  <a:srgbClr val="222222"/>
                </a:solidFill>
                <a:latin typeface="Arial"/>
                <a:ea typeface="Arial"/>
                <a:cs typeface="Arial"/>
              </a:rPr>
              <a:t>Trên Windows, sau khi ASR và MT lên GPU, TTS chiếm 63% thời gian cả chuỗi với đích tiếng Trung và 65% với đích tiếng Nhật.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Các thuật ngữ kỹ thuật khác trong bài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32</a:t>
            </a:r>
            <a:endParaRPr lang="en-US" sz="1100" dirty="0"/>
          </a:p>
        </p:txBody>
      </p:sp>
      <p:graphicFrame>
        <p:nvGraphicFramePr>
          <p:cNvPr id="8" name="Table x611"/>
          <p:cNvGraphicFramePr>
            <a:graphicFrameLocks noGrp="1"/>
          </p:cNvGraphicFramePr>
          <p:nvPr/>
        </p:nvGraphicFramePr>
        <p:xfrm>
          <a:off x="685800" y="1463040"/>
          <a:ext cx="10241280" cy="4279392"/>
        </p:xfrm>
        <a:graphic>
          <a:graphicData uri="http://schemas.openxmlformats.org/drawingml/2006/table">
            <a:tbl>
              <a:tblPr/>
              <a:tblGrid>
                <a:gridCol w="2834640">
                  <a:extLst>
                    <a:ext uri="{9D8B030D-6E8A-4147-A177-3AD203B41FA5}">
                      <a16:colId xmlns:a16="http://schemas.microsoft.com/office/drawing/2014/main" val="20000"/>
                    </a:ext>
                  </a:extLst>
                </a:gridCol>
                <a:gridCol w="7406640">
                  <a:extLst>
                    <a:ext uri="{9D8B030D-6E8A-4147-A177-3AD203B41FA5}">
                      <a16:colId xmlns:a16="http://schemas.microsoft.com/office/drawing/2014/main" val="20001"/>
                    </a:ext>
                  </a:extLst>
                </a:gridCol>
              </a:tblGrid>
              <a:tr h="475488">
                <a:tc>
                  <a:txBody>
                    <a:bodyPr/>
                    <a:lstStyle/>
                    <a:p>
                      <a:pPr marL="0" indent="0" algn="l">
                        <a:buNone/>
                      </a:pPr>
                      <a:r>
                        <a:rPr lang="vi-VN" sz="1400" b="1" i="0" dirty="0">
                          <a:solidFill>
                            <a:srgbClr val="FFFFFF"/>
                          </a:solidFill>
                          <a:latin typeface="Arial"/>
                          <a:ea typeface="Arial"/>
                          <a:cs typeface="Arial"/>
                        </a:rPr>
                        <a:t>Thuật ngữ</a:t>
                      </a:r>
                      <a:endParaRPr lang="vi-VN" sz="14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l">
                        <a:buNone/>
                      </a:pPr>
                      <a:r>
                        <a:rPr lang="vi-VN" sz="1400" b="1" i="0" dirty="0">
                          <a:solidFill>
                            <a:srgbClr val="FFFFFF"/>
                          </a:solidFill>
                          <a:latin typeface="Arial"/>
                          <a:ea typeface="Arial"/>
                          <a:cs typeface="Arial"/>
                        </a:rPr>
                        <a:t>Nghĩa trong đồ án</a:t>
                      </a:r>
                      <a:endParaRPr lang="vi-VN" sz="14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extLst>
                  <a:ext uri="{0D108BD9-81ED-4DB2-BD59-A6C34878D82A}">
                    <a16:rowId xmlns:a16="http://schemas.microsoft.com/office/drawing/2014/main" val="10000"/>
                  </a:ext>
                </a:extLst>
              </a:tr>
              <a:tr h="475488">
                <a:tc>
                  <a:txBody>
                    <a:bodyPr/>
                    <a:lstStyle/>
                    <a:p>
                      <a:pPr marL="0" indent="0" algn="l">
                        <a:buNone/>
                      </a:pPr>
                      <a:r>
                        <a:rPr lang="vi-VN" sz="1300" b="1" i="0" dirty="0">
                          <a:solidFill>
                            <a:srgbClr val="1B517B"/>
                          </a:solidFill>
                          <a:latin typeface="Arial"/>
                          <a:ea typeface="Arial"/>
                          <a:cs typeface="Arial"/>
                        </a:rPr>
                        <a:t>PCM 16-bit, 16 kHz, một kênh</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Âm thanh số không nén, 16.000 mẫu mỗi giây; định dạng chung trước khi vào VAD</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1"/>
                  </a:ext>
                </a:extLst>
              </a:tr>
              <a:tr h="475488">
                <a:tc>
                  <a:txBody>
                    <a:bodyPr/>
                    <a:lstStyle/>
                    <a:p>
                      <a:pPr marL="0" indent="0" algn="l">
                        <a:buNone/>
                      </a:pPr>
                      <a:r>
                        <a:rPr lang="vi-VN" sz="1300" b="1" i="0" dirty="0">
                          <a:solidFill>
                            <a:srgbClr val="1B517B"/>
                          </a:solidFill>
                          <a:latin typeface="Arial"/>
                          <a:ea typeface="Arial"/>
                          <a:cs typeface="Arial"/>
                        </a:rPr>
                        <a:t>REST và WebSocket</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REST cho cấu hình, mô hình, lịch sử. WebSocket giữ kết nối mở: gửi âm thanh lên và nhận kết quả về liên tục</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2"/>
                  </a:ext>
                </a:extLst>
              </a:tr>
              <a:tr h="475488">
                <a:tc>
                  <a:txBody>
                    <a:bodyPr/>
                    <a:lstStyle/>
                    <a:p>
                      <a:pPr marL="0" indent="0" algn="l">
                        <a:buNone/>
                      </a:pPr>
                      <a:r>
                        <a:rPr lang="vi-VN" sz="1300" b="1" i="0" dirty="0">
                          <a:solidFill>
                            <a:srgbClr val="1B517B"/>
                          </a:solidFill>
                          <a:latin typeface="Arial"/>
                          <a:ea typeface="Arial"/>
                          <a:cs typeface="Arial"/>
                        </a:rPr>
                        <a:t>Ports &amp; Adapters</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Chuỗi xử lý chỉ gọi giao diện trừu tượng (port); mỗi mô hình cụ thể là một adapter cắm vào</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3"/>
                  </a:ext>
                </a:extLst>
              </a:tr>
              <a:tr h="475488">
                <a:tc>
                  <a:txBody>
                    <a:bodyPr/>
                    <a:lstStyle/>
                    <a:p>
                      <a:pPr marL="0" indent="0" algn="l">
                        <a:buNone/>
                      </a:pPr>
                      <a:r>
                        <a:rPr lang="vi-VN" sz="1300" b="1" i="0" dirty="0">
                          <a:solidFill>
                            <a:srgbClr val="1B517B"/>
                          </a:solidFill>
                          <a:latin typeface="Arial"/>
                          <a:ea typeface="Arial"/>
                          <a:cs typeface="Arial"/>
                        </a:rPr>
                        <a:t>Runtime</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Thư viện chạy mô hình: whisper.cpp, faster-whisper, MLX, PyTorch, ONNX Runtime</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4"/>
                  </a:ext>
                </a:extLst>
              </a:tr>
              <a:tr h="475488">
                <a:tc>
                  <a:txBody>
                    <a:bodyPr/>
                    <a:lstStyle/>
                    <a:p>
                      <a:pPr marL="0" indent="0" algn="l">
                        <a:buNone/>
                      </a:pPr>
                      <a:r>
                        <a:rPr lang="vi-VN" sz="1300" b="1" i="0" dirty="0">
                          <a:solidFill>
                            <a:srgbClr val="1B517B"/>
                          </a:solidFill>
                          <a:latin typeface="Arial"/>
                          <a:ea typeface="Arial"/>
                          <a:cs typeface="Arial"/>
                        </a:rPr>
                        <a:t>Lượng tử hóa (q5_0, 8-bit)</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Lưu trọng số bằng ít bit hơn: mô hình nhỏ và nhanh hơn, độ chính xác giảm một chút</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5"/>
                  </a:ext>
                </a:extLst>
              </a:tr>
              <a:tr h="475488">
                <a:tc>
                  <a:txBody>
                    <a:bodyPr/>
                    <a:lstStyle/>
                    <a:p>
                      <a:pPr marL="0" indent="0" algn="l">
                        <a:buNone/>
                      </a:pPr>
                      <a:r>
                        <a:rPr lang="vi-VN" sz="1300" b="1" i="0" dirty="0">
                          <a:solidFill>
                            <a:srgbClr val="1B517B"/>
                          </a:solidFill>
                          <a:latin typeface="Arial"/>
                          <a:ea typeface="Arial"/>
                          <a:cs typeface="Arial"/>
                        </a:rPr>
                        <a:t>Vulkan, CUDA, Metal, MPS</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Cách chạy tính toán trên GPU: Vulkan có trong driver mọi hãng, CUDA của NVIDIA, Metal và MPS của Apple</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6"/>
                  </a:ext>
                </a:extLst>
              </a:tr>
              <a:tr h="475488">
                <a:tc>
                  <a:txBody>
                    <a:bodyPr/>
                    <a:lstStyle/>
                    <a:p>
                      <a:pPr marL="0" indent="0" algn="l">
                        <a:buNone/>
                      </a:pPr>
                      <a:r>
                        <a:rPr lang="vi-VN" sz="1300" b="1" i="0" dirty="0">
                          <a:solidFill>
                            <a:srgbClr val="1B517B"/>
                          </a:solidFill>
                          <a:latin typeface="Arial"/>
                          <a:ea typeface="Arial"/>
                          <a:cs typeface="Arial"/>
                        </a:rPr>
                        <a:t>p50, p90</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50% hoặc 90% số câu nhanh hơn mức này; p90 lộ ra các câu chậm mà trung bình che mất</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7"/>
                  </a:ext>
                </a:extLst>
              </a:tr>
              <a:tr h="475488">
                <a:tc>
                  <a:txBody>
                    <a:bodyPr/>
                    <a:lstStyle/>
                    <a:p>
                      <a:pPr marL="0" indent="0" algn="l">
                        <a:buNone/>
                      </a:pPr>
                      <a:r>
                        <a:rPr lang="vi-VN" sz="1300" b="1" i="0" dirty="0">
                          <a:solidFill>
                            <a:srgbClr val="1B517B"/>
                          </a:solidFill>
                          <a:latin typeface="Arial"/>
                          <a:ea typeface="Arial"/>
                          <a:cs typeface="Arial"/>
                        </a:rPr>
                        <a:t>Preset</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l">
                        <a:buNone/>
                      </a:pPr>
                      <a:r>
                        <a:rPr lang="vi-VN" sz="1300" b="0" i="0" dirty="0">
                          <a:solidFill>
                            <a:srgbClr val="222222"/>
                          </a:solidFill>
                          <a:latin typeface="Arial"/>
                          <a:ea typeface="Arial"/>
                          <a:cs typeface="Arial"/>
                        </a:rPr>
                        <a:t>Bộ cấu hình đặt sẵn Nhanh, Cân bằng, Chất lượng: chọn mô hình ASR và trần độ dài câu</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Bộ dữ liệu FLEURS: đánh giá trên những gì?</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33</a:t>
            </a:r>
            <a:endParaRPr lang="en-US" sz="1100" dirty="0"/>
          </a:p>
        </p:txBody>
      </p:sp>
      <p:graphicFrame>
        <p:nvGraphicFramePr>
          <p:cNvPr id="8" name="Table x612"/>
          <p:cNvGraphicFramePr>
            <a:graphicFrameLocks noGrp="1"/>
          </p:cNvGraphicFramePr>
          <p:nvPr/>
        </p:nvGraphicFramePr>
        <p:xfrm>
          <a:off x="685800" y="1463040"/>
          <a:ext cx="6035040" cy="2249424"/>
        </p:xfrm>
        <a:graphic>
          <a:graphicData uri="http://schemas.openxmlformats.org/drawingml/2006/table">
            <a:tbl>
              <a:tblPr/>
              <a:tblGrid>
                <a:gridCol w="10058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365760">
                <a:tc>
                  <a:txBody>
                    <a:bodyPr/>
                    <a:lstStyle/>
                    <a:p>
                      <a:pPr marL="0" indent="0" algn="ctr">
                        <a:buNone/>
                      </a:pPr>
                      <a:r>
                        <a:rPr lang="vi-VN" sz="1200" b="1" i="0" dirty="0">
                          <a:solidFill>
                            <a:srgbClr val="FFFFFF"/>
                          </a:solidFill>
                          <a:latin typeface="Arial"/>
                          <a:ea typeface="Arial"/>
                          <a:cs typeface="Arial"/>
                        </a:rPr>
                        <a:t>Ngôn ngữ</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Bản thu (ASR)</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Giờ âm thanh</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TB mỗi bản thu</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200" b="1" i="0" dirty="0">
                          <a:solidFill>
                            <a:srgbClr val="FFFFFF"/>
                          </a:solidFill>
                          <a:latin typeface="Arial"/>
                          <a:ea typeface="Arial"/>
                          <a:cs typeface="Arial"/>
                        </a:rPr>
                        <a:t>Cặp câu với vi (MT)</a:t>
                      </a:r>
                      <a:endParaRPr lang="vi-VN" sz="12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extLst>
                  <a:ext uri="{0D108BD9-81ED-4DB2-BD59-A6C34878D82A}">
                    <a16:rowId xmlns:a16="http://schemas.microsoft.com/office/drawing/2014/main" val="10000"/>
                  </a:ext>
                </a:extLst>
              </a:tr>
              <a:tr h="365760">
                <a:tc>
                  <a:txBody>
                    <a:bodyPr/>
                    <a:lstStyle/>
                    <a:p>
                      <a:pPr marL="0" indent="0" algn="ctr">
                        <a:buNone/>
                      </a:pPr>
                      <a:r>
                        <a:rPr lang="vi-VN" sz="1300" b="1" i="0" dirty="0">
                          <a:solidFill>
                            <a:srgbClr val="1B517B"/>
                          </a:solidFill>
                          <a:latin typeface="Arial"/>
                          <a:ea typeface="Arial"/>
                          <a:cs typeface="Arial"/>
                        </a:rPr>
                        <a:t>vi</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857</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3,0</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12,6 s</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không áp dụng</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1"/>
                  </a:ext>
                </a:extLst>
              </a:tr>
              <a:tr h="365760">
                <a:tc>
                  <a:txBody>
                    <a:bodyPr/>
                    <a:lstStyle/>
                    <a:p>
                      <a:pPr marL="0" indent="0" algn="ctr">
                        <a:buNone/>
                      </a:pPr>
                      <a:r>
                        <a:rPr lang="vi-VN" sz="1300" b="1" i="0" dirty="0">
                          <a:solidFill>
                            <a:srgbClr val="1B517B"/>
                          </a:solidFill>
                          <a:latin typeface="Arial"/>
                          <a:ea typeface="Arial"/>
                          <a:cs typeface="Arial"/>
                        </a:rPr>
                        <a:t>en</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647</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1,8</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9,9 s</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347</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2"/>
                  </a:ext>
                </a:extLst>
              </a:tr>
              <a:tr h="365760">
                <a:tc>
                  <a:txBody>
                    <a:bodyPr/>
                    <a:lstStyle/>
                    <a:p>
                      <a:pPr marL="0" indent="0" algn="ctr">
                        <a:buNone/>
                      </a:pPr>
                      <a:r>
                        <a:rPr lang="vi-VN" sz="1300" b="1" i="0" dirty="0">
                          <a:solidFill>
                            <a:srgbClr val="1B517B"/>
                          </a:solidFill>
                          <a:latin typeface="Arial"/>
                          <a:ea typeface="Arial"/>
                          <a:cs typeface="Arial"/>
                        </a:rPr>
                        <a:t>zh</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945</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3,1</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11,7 s</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346</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3"/>
                  </a:ext>
                </a:extLst>
              </a:tr>
              <a:tr h="365760">
                <a:tc>
                  <a:txBody>
                    <a:bodyPr/>
                    <a:lstStyle/>
                    <a:p>
                      <a:pPr marL="0" indent="0" algn="ctr">
                        <a:buNone/>
                      </a:pPr>
                      <a:r>
                        <a:rPr lang="vi-VN" sz="1300" b="1" i="0" dirty="0">
                          <a:solidFill>
                            <a:srgbClr val="1B517B"/>
                          </a:solidFill>
                          <a:latin typeface="Arial"/>
                          <a:ea typeface="Arial"/>
                          <a:cs typeface="Arial"/>
                        </a:rPr>
                        <a:t>ja</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650</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2,4</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13,1 s</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318</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4"/>
                  </a:ext>
                </a:extLst>
              </a:tr>
              <a:tr h="365760">
                <a:tc>
                  <a:txBody>
                    <a:bodyPr/>
                    <a:lstStyle/>
                    <a:p>
                      <a:pPr marL="0" indent="0" algn="ctr">
                        <a:buNone/>
                      </a:pPr>
                      <a:r>
                        <a:rPr lang="vi-VN" sz="1300" b="1" i="0" dirty="0">
                          <a:solidFill>
                            <a:srgbClr val="1B517B"/>
                          </a:solidFill>
                          <a:latin typeface="Arial"/>
                          <a:ea typeface="Arial"/>
                          <a:cs typeface="Arial"/>
                        </a:rPr>
                        <a:t>Tổng</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ctr">
                        <a:buNone/>
                      </a:pPr>
                      <a:r>
                        <a:rPr lang="vi-VN" sz="1300" b="1" i="0" dirty="0">
                          <a:solidFill>
                            <a:srgbClr val="1B517B"/>
                          </a:solidFill>
                          <a:latin typeface="Arial"/>
                          <a:ea typeface="Arial"/>
                          <a:cs typeface="Arial"/>
                        </a:rPr>
                        <a:t>3.099</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ctr">
                        <a:buNone/>
                      </a:pPr>
                      <a:r>
                        <a:rPr lang="vi-VN" sz="1300" b="1" i="0" dirty="0">
                          <a:solidFill>
                            <a:srgbClr val="1B517B"/>
                          </a:solidFill>
                          <a:latin typeface="Arial"/>
                          <a:ea typeface="Arial"/>
                          <a:cs typeface="Arial"/>
                        </a:rPr>
                        <a:t>10,2</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ctr">
                        <a:buNone/>
                      </a:pP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ctr">
                        <a:buNone/>
                      </a:pPr>
                      <a:r>
                        <a:rPr lang="vi-VN" sz="1300" b="1" i="0" dirty="0">
                          <a:solidFill>
                            <a:srgbClr val="1B517B"/>
                          </a:solidFill>
                          <a:latin typeface="Arial"/>
                          <a:ea typeface="Arial"/>
                          <a:cs typeface="Arial"/>
                        </a:rPr>
                        <a:t>2.022</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extLst>
                  <a:ext uri="{0D108BD9-81ED-4DB2-BD59-A6C34878D82A}">
                    <a16:rowId xmlns:a16="http://schemas.microsoft.com/office/drawing/2014/main" val="10005"/>
                  </a:ext>
                </a:extLst>
              </a:tr>
            </a:tbl>
          </a:graphicData>
        </a:graphic>
      </p:graphicFrame>
      <p:sp>
        <p:nvSpPr>
          <p:cNvPr id="9" name="Shape x613"/>
          <p:cNvSpPr/>
          <p:nvPr/>
        </p:nvSpPr>
        <p:spPr>
          <a:xfrm>
            <a:off x="685800" y="3931920"/>
            <a:ext cx="6035040" cy="210312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Dùng vào đâu</a:t>
            </a:r>
            <a:endParaRPr lang="vi-VN" sz="1600" b="0" i="0" dirty="0">
              <a:solidFill>
                <a:srgbClr val="1B517B"/>
              </a:solidFill>
              <a:latin typeface="Arial"/>
              <a:ea typeface="Arial"/>
              <a:cs typeface="Arial"/>
            </a:endParaRPr>
          </a:p>
          <a:p>
            <a:pPr marL="201168" indent="-201168" algn="l">
              <a:spcAft>
                <a:spcPts val="400"/>
              </a:spcAft>
              <a:buFont typeface="Arial"/>
              <a:buChar char="•"/>
            </a:pPr>
            <a:r>
              <a:rPr lang="vi-VN" sz="1300" b="0" i="0" dirty="0">
                <a:solidFill>
                  <a:srgbClr val="222222"/>
                </a:solidFill>
                <a:latin typeface="Arial"/>
                <a:ea typeface="Arial"/>
                <a:cs typeface="Arial"/>
              </a:rPr>
              <a:t>ASR: âm thanh và bản chép lời đã chuẩn hóa sẵn, chấm WER/CER trên 3.099 bản thu.</a:t>
            </a:r>
          </a:p>
          <a:p>
            <a:pPr marL="201168" indent="-201168" algn="l">
              <a:spcAft>
                <a:spcPts val="400"/>
              </a:spcAft>
              <a:buFont typeface="Arial"/>
              <a:buChar char="•"/>
            </a:pPr>
            <a:r>
              <a:rPr lang="vi-VN" sz="1300" b="0" i="0" dirty="0">
                <a:solidFill>
                  <a:srgbClr val="222222"/>
                </a:solidFill>
                <a:latin typeface="Arial"/>
                <a:ea typeface="Arial"/>
                <a:cs typeface="Arial"/>
              </a:rPr>
              <a:t>MT: ghép hai ngôn ngữ theo mã câu, được 2.022 cặp câu sáu chiều (mỗi cặp dùng cho hai chiều); dịch văn bản, không qua ASR.</a:t>
            </a:r>
          </a:p>
          <a:p>
            <a:pPr marL="201168" indent="-201168" algn="l">
              <a:spcAft>
                <a:spcPts val="400"/>
              </a:spcAft>
              <a:buFont typeface="Arial"/>
              <a:buChar char="•"/>
            </a:pPr>
            <a:r>
              <a:rPr lang="vi-VN" sz="1300" b="0" i="0" dirty="0">
                <a:solidFill>
                  <a:srgbClr val="222222"/>
                </a:solidFill>
                <a:latin typeface="Arial"/>
                <a:ea typeface="Arial"/>
                <a:cs typeface="Arial"/>
              </a:rPr>
              <a:t>Độ trễ: 50 bản thu mỗi chiều, chạy đủ chuỗi VAD → ASR → MT → TTS.</a:t>
            </a:r>
          </a:p>
          <a:p>
            <a:pPr marL="201168" indent="-201168" algn="l">
              <a:buFont typeface="Arial"/>
              <a:buChar char="•"/>
            </a:pPr>
            <a:r>
              <a:rPr lang="vi-VN" sz="1300" b="0" i="0" dirty="0">
                <a:solidFill>
                  <a:srgbClr val="222222"/>
                </a:solidFill>
                <a:latin typeface="Arial"/>
                <a:ea typeface="Arial"/>
                <a:cs typeface="Arial"/>
              </a:rPr>
              <a:t>Chỉ dùng tập test; em không huấn luyện gì trên FLEURS.</a:t>
            </a:r>
          </a:p>
        </p:txBody>
      </p:sp>
      <p:sp>
        <p:nvSpPr>
          <p:cNvPr id="10" name="Shape x614"/>
          <p:cNvSpPr/>
          <p:nvPr/>
        </p:nvSpPr>
        <p:spPr>
          <a:xfrm>
            <a:off x="6949440" y="1463040"/>
            <a:ext cx="3977640" cy="2011680"/>
          </a:xfrm>
          <a:prstGeom prst="roundRect">
            <a:avLst>
              <a:gd name="adj" fmla="val 3556"/>
            </a:avLst>
          </a:prstGeom>
          <a:solidFill>
            <a:srgbClr val="EEF4F9"/>
          </a:solidFill>
          <a:ln w="12700">
            <a:solidFill>
              <a:srgbClr val="EEF4F9"/>
            </a:solidFill>
            <a:prstDash val="solid"/>
          </a:ln>
        </p:spPr>
        <p:txBody>
          <a:bodyPr wrap="square" lIns="137160" tIns="137160" rIns="137160" bIns="137160" rtlCol="0" anchor="t"/>
          <a:lstStyle/>
          <a:p>
            <a:pPr marL="0" indent="0" algn="l">
              <a:spcAft>
                <a:spcPts val="600"/>
              </a:spcAft>
              <a:buNone/>
            </a:pPr>
            <a:r>
              <a:rPr lang="vi-VN" sz="1600" b="1" i="0" dirty="0">
                <a:solidFill>
                  <a:srgbClr val="1B517B"/>
                </a:solidFill>
                <a:latin typeface="Arial"/>
                <a:ea typeface="Arial"/>
                <a:cs typeface="Arial"/>
              </a:rPr>
              <a:t>Nguồn gốc</a:t>
            </a:r>
            <a:endParaRPr lang="vi-VN" sz="1600" b="0" i="0" dirty="0">
              <a:solidFill>
                <a:srgbClr val="1B517B"/>
              </a:solidFill>
              <a:latin typeface="Arial"/>
              <a:ea typeface="Arial"/>
              <a:cs typeface="Arial"/>
            </a:endParaRPr>
          </a:p>
          <a:p>
            <a:pPr marL="0" indent="0" algn="l">
              <a:spcAft>
                <a:spcPts val="400"/>
              </a:spcAft>
              <a:buNone/>
            </a:pPr>
            <a:r>
              <a:rPr lang="vi-VN" sz="1200" b="0" i="0" dirty="0">
                <a:solidFill>
                  <a:srgbClr val="222222"/>
                </a:solidFill>
                <a:latin typeface="Arial"/>
                <a:ea typeface="Arial"/>
                <a:cs typeface="Arial"/>
              </a:rPr>
              <a:t>Google, 2022 [3]; 102 ngôn ngữ. Giấy phép CC-BY-4.0.</a:t>
            </a:r>
          </a:p>
          <a:p>
            <a:pPr marL="0" indent="0" algn="l">
              <a:spcAft>
                <a:spcPts val="400"/>
              </a:spcAft>
              <a:buNone/>
            </a:pPr>
            <a:r>
              <a:rPr lang="vi-VN" sz="1200" b="0" i="0" dirty="0">
                <a:solidFill>
                  <a:srgbClr val="222222"/>
                </a:solidFill>
                <a:latin typeface="Arial"/>
                <a:ea typeface="Arial"/>
                <a:cs typeface="Arial"/>
              </a:rPr>
              <a:t>Câu lấy từ FLoRes-101: câu tiếng Anh trên Wikinews, Wikijunior, Wikivoyage, được dịch chuyên nghiệp sang từng ngôn ngữ rồi người bản ngữ đọc to.</a:t>
            </a:r>
          </a:p>
          <a:p>
            <a:pPr marL="0" indent="0" algn="l">
              <a:buNone/>
            </a:pPr>
            <a:r>
              <a:rPr lang="vi-VN" sz="1200" b="0" i="0" dirty="0">
                <a:solidFill>
                  <a:srgbClr val="222222"/>
                </a:solidFill>
                <a:latin typeface="Arial"/>
                <a:ea typeface="Arial"/>
                <a:cs typeface="Arial"/>
              </a:rPr>
              <a:t>Câu dài trung bình 31 từ (vi); giọng đọc rõ, ít nhiễu.</a:t>
            </a:r>
          </a:p>
        </p:txBody>
      </p:sp>
      <p:sp>
        <p:nvSpPr>
          <p:cNvPr id="11" name="Shape x615"/>
          <p:cNvSpPr/>
          <p:nvPr/>
        </p:nvSpPr>
        <p:spPr>
          <a:xfrm>
            <a:off x="6949440" y="3611880"/>
            <a:ext cx="3977640" cy="2423160"/>
          </a:xfrm>
          <a:prstGeom prst="roundRect">
            <a:avLst>
              <a:gd name="adj" fmla="val 3556"/>
            </a:avLst>
          </a:prstGeom>
          <a:solidFill>
            <a:srgbClr val="EEF4F9"/>
          </a:solidFill>
          <a:ln w="12700">
            <a:solidFill>
              <a:srgbClr val="EEF4F9"/>
            </a:solidFill>
            <a:prstDash val="solid"/>
          </a:ln>
        </p:spPr>
        <p:txBody>
          <a:bodyPr wrap="square" lIns="137160" tIns="137160" rIns="137160" bIns="137160" rtlCol="0" anchor="t"/>
          <a:lstStyle/>
          <a:p>
            <a:pPr marL="0" indent="0" algn="l">
              <a:spcAft>
                <a:spcPts val="600"/>
              </a:spcAft>
              <a:buNone/>
            </a:pPr>
            <a:r>
              <a:rPr lang="vi-VN" sz="1600" b="1" i="0" dirty="0">
                <a:solidFill>
                  <a:srgbClr val="1B517B"/>
                </a:solidFill>
                <a:latin typeface="Arial"/>
                <a:ea typeface="Arial"/>
                <a:cs typeface="Arial"/>
              </a:rPr>
              <a:t>Ví dụ: một mã câu ở bốn ngôn ngữ</a:t>
            </a:r>
            <a:endParaRPr lang="vi-VN" sz="1600" b="0" i="0" dirty="0">
              <a:solidFill>
                <a:srgbClr val="1B517B"/>
              </a:solidFill>
              <a:latin typeface="Arial"/>
              <a:ea typeface="Arial"/>
              <a:cs typeface="Arial"/>
            </a:endParaRPr>
          </a:p>
          <a:p>
            <a:pPr marL="0" indent="0" algn="l">
              <a:spcAft>
                <a:spcPts val="400"/>
              </a:spcAft>
              <a:buNone/>
            </a:pPr>
            <a:r>
              <a:rPr lang="vi-VN" sz="1200" b="1" i="0" dirty="0">
                <a:solidFill>
                  <a:srgbClr val="1B517B"/>
                </a:solidFill>
                <a:latin typeface="Arial"/>
                <a:ea typeface="Arial"/>
                <a:cs typeface="Arial"/>
              </a:rPr>
              <a:t>VI  </a:t>
            </a:r>
            <a:r>
              <a:rPr lang="vi-VN" sz="1200" b="0" i="0" dirty="0">
                <a:solidFill>
                  <a:srgbClr val="222222"/>
                </a:solidFill>
                <a:latin typeface="Arial"/>
                <a:ea typeface="Arial"/>
                <a:cs typeface="Arial"/>
              </a:rPr>
              <a:t>Bản tin truyền hình cho thấy có khói trắng bốc ra từ nhà máy.</a:t>
            </a:r>
          </a:p>
          <a:p>
            <a:pPr marL="0" indent="0" algn="l">
              <a:spcAft>
                <a:spcPts val="400"/>
              </a:spcAft>
              <a:buNone/>
            </a:pPr>
            <a:r>
              <a:rPr lang="vi-VN" sz="1200" b="1" i="0" dirty="0">
                <a:solidFill>
                  <a:srgbClr val="1B517B"/>
                </a:solidFill>
                <a:latin typeface="Arial"/>
                <a:ea typeface="Arial"/>
                <a:cs typeface="Arial"/>
              </a:rPr>
              <a:t>EN  </a:t>
            </a:r>
            <a:r>
              <a:rPr lang="vi-VN" sz="1200" b="0" i="0" dirty="0">
                <a:solidFill>
                  <a:srgbClr val="222222"/>
                </a:solidFill>
                <a:latin typeface="Arial"/>
                <a:ea typeface="Arial"/>
                <a:cs typeface="Arial"/>
              </a:rPr>
              <a:t>Television reports show white smoke coming from the plant.</a:t>
            </a:r>
          </a:p>
          <a:p>
            <a:pPr marL="0" indent="0" algn="l">
              <a:spcAft>
                <a:spcPts val="400"/>
              </a:spcAft>
              <a:buNone/>
            </a:pPr>
            <a:r>
              <a:rPr lang="vi-VN" sz="1200" b="1" i="0" dirty="0">
                <a:solidFill>
                  <a:srgbClr val="1B517B"/>
                </a:solidFill>
                <a:latin typeface="Arial"/>
                <a:ea typeface="Arial"/>
                <a:cs typeface="Arial"/>
              </a:rPr>
              <a:t>ZH  </a:t>
            </a:r>
            <a:r>
              <a:rPr lang="vi-VN" sz="1200" b="0" i="0" dirty="0">
                <a:solidFill>
                  <a:srgbClr val="222222"/>
                </a:solidFill>
                <a:latin typeface="Arial"/>
                <a:ea typeface="Microsoft YaHei"/>
                <a:cs typeface="Arial"/>
              </a:rPr>
              <a:t>电视报道显示，有白烟从工厂里冒出。</a:t>
            </a:r>
            <a:endParaRPr lang="vi-VN" sz="1200" b="0" i="0" dirty="0">
              <a:solidFill>
                <a:srgbClr val="222222"/>
              </a:solidFill>
              <a:latin typeface="Arial"/>
              <a:ea typeface="Arial"/>
              <a:cs typeface="Arial"/>
            </a:endParaRPr>
          </a:p>
          <a:p>
            <a:pPr marL="0" indent="0" algn="l">
              <a:spcAft>
                <a:spcPts val="400"/>
              </a:spcAft>
              <a:buNone/>
            </a:pPr>
            <a:r>
              <a:rPr lang="vi-VN" sz="1200" b="1" i="0" dirty="0">
                <a:solidFill>
                  <a:srgbClr val="1B517B"/>
                </a:solidFill>
                <a:latin typeface="Arial"/>
                <a:ea typeface="Arial"/>
                <a:cs typeface="Arial"/>
              </a:rPr>
              <a:t>JA  </a:t>
            </a:r>
            <a:r>
              <a:rPr lang="vi-VN" sz="1200" b="0" i="0" dirty="0">
                <a:solidFill>
                  <a:srgbClr val="222222"/>
                </a:solidFill>
                <a:latin typeface="Arial"/>
                <a:ea typeface="Yu Gothic"/>
                <a:cs typeface="Arial"/>
              </a:rPr>
              <a:t>テレビの報道によると、原発から白煙が上がっています。</a:t>
            </a:r>
            <a:endParaRPr lang="vi-VN" sz="1200" b="0" i="0" dirty="0">
              <a:solidFill>
                <a:srgbClr val="222222"/>
              </a:solidFill>
              <a:latin typeface="Arial"/>
              <a:ea typeface="Arial"/>
              <a:cs typeface="Arial"/>
            </a:endParaRPr>
          </a:p>
          <a:p>
            <a:pPr marL="0" indent="0" algn="l">
              <a:buNone/>
            </a:pPr>
            <a:r>
              <a:rPr lang="vi-VN" sz="1100" b="0" i="1" dirty="0">
                <a:solidFill>
                  <a:srgbClr val="5F6B76"/>
                </a:solidFill>
                <a:latin typeface="Arial"/>
                <a:ea typeface="Yu Gothic"/>
                <a:cs typeface="Arial"/>
              </a:rPr>
              <a:t>Bản tiếng Nhật ghi "nhà máy điện hạt nhân" (原発): bốn bản đều dịch từ câu tiếng Anh, không dịch từ nhau.</a:t>
            </a:r>
            <a:endParaRPr lang="vi-VN" sz="1100" b="0" i="0" dirty="0">
              <a:solidFill>
                <a:srgbClr val="5F6B76"/>
              </a:solidFill>
              <a:latin typeface="Arial"/>
              <a:ea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WER và CER: đo lỗi nhận dạng</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34</a:t>
            </a:r>
            <a:endParaRPr lang="en-US" sz="1100" dirty="0"/>
          </a:p>
        </p:txBody>
      </p:sp>
      <p:sp>
        <p:nvSpPr>
          <p:cNvPr id="8" name="Shape x616"/>
          <p:cNvSpPr/>
          <p:nvPr/>
        </p:nvSpPr>
        <p:spPr>
          <a:xfrm>
            <a:off x="685800" y="1463040"/>
            <a:ext cx="4983480" cy="210312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800"/>
              </a:spcAft>
              <a:buNone/>
            </a:pPr>
            <a:r>
              <a:rPr lang="vi-VN" sz="2400" b="1" i="0" dirty="0">
                <a:solidFill>
                  <a:srgbClr val="1B517B"/>
                </a:solidFill>
                <a:latin typeface="Arial"/>
                <a:ea typeface="Arial"/>
                <a:cs typeface="Arial"/>
              </a:rPr>
              <a:t>WER = (S + D + I) / N</a:t>
            </a:r>
            <a:endParaRPr lang="vi-VN" sz="2400" b="0" i="0" dirty="0">
              <a:solidFill>
                <a:srgbClr val="1B517B"/>
              </a:solidFill>
              <a:latin typeface="Arial"/>
              <a:ea typeface="Arial"/>
              <a:cs typeface="Arial"/>
            </a:endParaRPr>
          </a:p>
          <a:p>
            <a:pPr marL="0" indent="0" algn="l">
              <a:spcAft>
                <a:spcPts val="200"/>
              </a:spcAft>
              <a:buNone/>
            </a:pPr>
            <a:r>
              <a:rPr lang="vi-VN" sz="1300" b="1" i="0" dirty="0">
                <a:solidFill>
                  <a:srgbClr val="222222"/>
                </a:solidFill>
                <a:latin typeface="Arial"/>
                <a:ea typeface="Arial"/>
                <a:cs typeface="Arial"/>
              </a:rPr>
              <a:t>S</a:t>
            </a:r>
            <a:r>
              <a:rPr lang="vi-VN" sz="1300" b="0" i="0" dirty="0">
                <a:solidFill>
                  <a:srgbClr val="222222"/>
                </a:solidFill>
                <a:latin typeface="Arial"/>
                <a:ea typeface="Arial"/>
                <a:cs typeface="Arial"/>
              </a:rPr>
              <a:t>: thay, từ bị nghe nhầm</a:t>
            </a:r>
          </a:p>
          <a:p>
            <a:pPr marL="0" indent="0" algn="l">
              <a:spcAft>
                <a:spcPts val="200"/>
              </a:spcAft>
              <a:buNone/>
            </a:pPr>
            <a:r>
              <a:rPr lang="vi-VN" sz="1300" b="1" i="0" dirty="0">
                <a:solidFill>
                  <a:srgbClr val="222222"/>
                </a:solidFill>
                <a:latin typeface="Arial"/>
                <a:ea typeface="Arial"/>
                <a:cs typeface="Arial"/>
              </a:rPr>
              <a:t>D</a:t>
            </a:r>
            <a:r>
              <a:rPr lang="vi-VN" sz="1300" b="0" i="0" dirty="0">
                <a:solidFill>
                  <a:srgbClr val="222222"/>
                </a:solidFill>
                <a:latin typeface="Arial"/>
                <a:ea typeface="Arial"/>
                <a:cs typeface="Arial"/>
              </a:rPr>
              <a:t>: xóa, từ bị bỏ sót</a:t>
            </a:r>
          </a:p>
          <a:p>
            <a:pPr marL="0" indent="0" algn="l">
              <a:spcAft>
                <a:spcPts val="200"/>
              </a:spcAft>
              <a:buNone/>
            </a:pPr>
            <a:r>
              <a:rPr lang="vi-VN" sz="1300" b="1" i="0" dirty="0">
                <a:solidFill>
                  <a:srgbClr val="222222"/>
                </a:solidFill>
                <a:latin typeface="Arial"/>
                <a:ea typeface="Arial"/>
                <a:cs typeface="Arial"/>
              </a:rPr>
              <a:t>I</a:t>
            </a:r>
            <a:r>
              <a:rPr lang="vi-VN" sz="1300" b="0" i="0" dirty="0">
                <a:solidFill>
                  <a:srgbClr val="222222"/>
                </a:solidFill>
                <a:latin typeface="Arial"/>
                <a:ea typeface="Arial"/>
                <a:cs typeface="Arial"/>
              </a:rPr>
              <a:t>: chèn, từ máy tự thêm</a:t>
            </a:r>
          </a:p>
          <a:p>
            <a:pPr marL="0" indent="0" algn="l">
              <a:spcAft>
                <a:spcPts val="600"/>
              </a:spcAft>
              <a:buNone/>
            </a:pPr>
            <a:r>
              <a:rPr lang="vi-VN" sz="1300" b="1" i="0" dirty="0">
                <a:solidFill>
                  <a:srgbClr val="222222"/>
                </a:solidFill>
                <a:latin typeface="Arial"/>
                <a:ea typeface="Arial"/>
                <a:cs typeface="Arial"/>
              </a:rPr>
              <a:t>N</a:t>
            </a:r>
            <a:r>
              <a:rPr lang="vi-VN" sz="1300" b="0" i="0" dirty="0">
                <a:solidFill>
                  <a:srgbClr val="222222"/>
                </a:solidFill>
                <a:latin typeface="Arial"/>
                <a:ea typeface="Arial"/>
                <a:cs typeface="Arial"/>
              </a:rPr>
              <a:t>: số từ của câu tham chiếu</a:t>
            </a:r>
          </a:p>
          <a:p>
            <a:pPr marL="0" indent="0" algn="l">
              <a:buNone/>
            </a:pPr>
            <a:r>
              <a:rPr lang="vi-VN" sz="1200" b="0" i="0" dirty="0">
                <a:solidFill>
                  <a:srgbClr val="5F6B76"/>
                </a:solidFill>
                <a:latin typeface="Arial"/>
                <a:ea typeface="Arial"/>
                <a:cs typeface="Arial"/>
              </a:rPr>
              <a:t>Càng thấp càng tốt. I không bị chặn nên WER có thể vượt 100%.</a:t>
            </a:r>
          </a:p>
        </p:txBody>
      </p:sp>
      <p:sp>
        <p:nvSpPr>
          <p:cNvPr id="9" name="Shape x617"/>
          <p:cNvSpPr/>
          <p:nvPr/>
        </p:nvSpPr>
        <p:spPr>
          <a:xfrm>
            <a:off x="5897880" y="1463040"/>
            <a:ext cx="5029200" cy="210312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CER cho tiếng Trung, tiếng Nhật</a:t>
            </a:r>
            <a:endParaRPr lang="vi-VN" sz="1600" b="0" i="0" dirty="0">
              <a:solidFill>
                <a:srgbClr val="1B517B"/>
              </a:solidFill>
              <a:latin typeface="Arial"/>
              <a:ea typeface="Arial"/>
              <a:cs typeface="Arial"/>
            </a:endParaRPr>
          </a:p>
          <a:p>
            <a:pPr marL="0" indent="0" algn="l">
              <a:spcAft>
                <a:spcPts val="400"/>
              </a:spcAft>
              <a:buNone/>
            </a:pPr>
            <a:r>
              <a:rPr lang="vi-VN" sz="1300" b="0" i="0" dirty="0">
                <a:solidFill>
                  <a:srgbClr val="222222"/>
                </a:solidFill>
                <a:latin typeface="Arial"/>
                <a:ea typeface="Arial"/>
                <a:cs typeface="Arial"/>
              </a:rPr>
              <a:t>Cùng công thức, nhưng đếm trên ký tự thay vì từ.</a:t>
            </a:r>
          </a:p>
          <a:p>
            <a:pPr marL="0" indent="0" algn="l">
              <a:spcAft>
                <a:spcPts val="400"/>
              </a:spcAft>
              <a:buNone/>
            </a:pPr>
            <a:r>
              <a:rPr lang="vi-VN" sz="1300" b="0" i="0" dirty="0">
                <a:solidFill>
                  <a:srgbClr val="222222"/>
                </a:solidFill>
                <a:latin typeface="Arial"/>
                <a:ea typeface="Arial"/>
                <a:cs typeface="Arial"/>
              </a:rPr>
              <a:t>Hai thứ tiếng này không tách từ bằng khoảng trắng, nên WER chỉ chấm theo chỗ Whisper tình cờ chèn dấu cách. Bài báo FLEURS và Whisper cũng dùng CER.</a:t>
            </a:r>
          </a:p>
          <a:p>
            <a:pPr marL="0" indent="0" algn="l">
              <a:buNone/>
            </a:pPr>
            <a:r>
              <a:rPr lang="vi-VN" sz="1300" b="1" i="0" dirty="0">
                <a:solidFill>
                  <a:srgbClr val="B8262B"/>
                </a:solidFill>
                <a:latin typeface="Arial"/>
                <a:ea typeface="Arial"/>
                <a:cs typeface="Arial"/>
              </a:rPr>
              <a:t>WER và CER không so với nhau được.</a:t>
            </a:r>
            <a:endParaRPr lang="vi-VN" sz="1300" b="0" i="0" dirty="0">
              <a:solidFill>
                <a:srgbClr val="B8262B"/>
              </a:solidFill>
              <a:latin typeface="Arial"/>
              <a:ea typeface="Arial"/>
              <a:cs typeface="Arial"/>
            </a:endParaRPr>
          </a:p>
        </p:txBody>
      </p:sp>
      <p:sp>
        <p:nvSpPr>
          <p:cNvPr id="10" name="Text x618"/>
          <p:cNvSpPr txBox="1"/>
          <p:nvPr/>
        </p:nvSpPr>
        <p:spPr>
          <a:xfrm>
            <a:off x="685800" y="3749040"/>
            <a:ext cx="7589520" cy="320040"/>
          </a:xfrm>
          <a:prstGeom prst="rect">
            <a:avLst/>
          </a:prstGeom>
          <a:noFill/>
          <a:ln>
            <a:noFill/>
          </a:ln>
        </p:spPr>
        <p:txBody>
          <a:bodyPr wrap="square" lIns="0" tIns="0" rIns="0" bIns="0" rtlCol="0" anchor="t"/>
          <a:lstStyle/>
          <a:p>
            <a:pPr marL="0" indent="0" algn="l">
              <a:buNone/>
            </a:pPr>
            <a:r>
              <a:rPr lang="vi-VN" sz="1500" b="1" i="0" dirty="0">
                <a:solidFill>
                  <a:srgbClr val="1B517B"/>
                </a:solidFill>
                <a:latin typeface="Arial"/>
                <a:ea typeface="Arial"/>
                <a:cs typeface="Arial"/>
              </a:rPr>
              <a:t>Ví dụ tính tay (một lỗi bắt được trên máy thật)</a:t>
            </a:r>
            <a:endParaRPr lang="vi-VN" sz="1500" b="0" i="0" dirty="0">
              <a:solidFill>
                <a:srgbClr val="1B517B"/>
              </a:solidFill>
              <a:latin typeface="Arial"/>
              <a:ea typeface="Arial"/>
              <a:cs typeface="Arial"/>
            </a:endParaRPr>
          </a:p>
        </p:txBody>
      </p:sp>
      <p:graphicFrame>
        <p:nvGraphicFramePr>
          <p:cNvPr id="11" name="Table x619"/>
          <p:cNvGraphicFramePr>
            <a:graphicFrameLocks noGrp="1"/>
          </p:cNvGraphicFramePr>
          <p:nvPr/>
        </p:nvGraphicFramePr>
        <p:xfrm>
          <a:off x="685800" y="4114800"/>
          <a:ext cx="7580376" cy="1152144"/>
        </p:xfrm>
        <a:graphic>
          <a:graphicData uri="http://schemas.openxmlformats.org/drawingml/2006/table">
            <a:tbl>
              <a:tblPr/>
              <a:tblGrid>
                <a:gridCol w="1371600">
                  <a:extLst>
                    <a:ext uri="{9D8B030D-6E8A-4147-A177-3AD203B41FA5}">
                      <a16:colId xmlns:a16="http://schemas.microsoft.com/office/drawing/2014/main" val="20000"/>
                    </a:ext>
                  </a:extLst>
                </a:gridCol>
                <a:gridCol w="886968">
                  <a:extLst>
                    <a:ext uri="{9D8B030D-6E8A-4147-A177-3AD203B41FA5}">
                      <a16:colId xmlns:a16="http://schemas.microsoft.com/office/drawing/2014/main" val="20001"/>
                    </a:ext>
                  </a:extLst>
                </a:gridCol>
                <a:gridCol w="886968">
                  <a:extLst>
                    <a:ext uri="{9D8B030D-6E8A-4147-A177-3AD203B41FA5}">
                      <a16:colId xmlns:a16="http://schemas.microsoft.com/office/drawing/2014/main" val="20002"/>
                    </a:ext>
                  </a:extLst>
                </a:gridCol>
                <a:gridCol w="886968">
                  <a:extLst>
                    <a:ext uri="{9D8B030D-6E8A-4147-A177-3AD203B41FA5}">
                      <a16:colId xmlns:a16="http://schemas.microsoft.com/office/drawing/2014/main" val="20003"/>
                    </a:ext>
                  </a:extLst>
                </a:gridCol>
                <a:gridCol w="886968">
                  <a:extLst>
                    <a:ext uri="{9D8B030D-6E8A-4147-A177-3AD203B41FA5}">
                      <a16:colId xmlns:a16="http://schemas.microsoft.com/office/drawing/2014/main" val="20004"/>
                    </a:ext>
                  </a:extLst>
                </a:gridCol>
                <a:gridCol w="886968">
                  <a:extLst>
                    <a:ext uri="{9D8B030D-6E8A-4147-A177-3AD203B41FA5}">
                      <a16:colId xmlns:a16="http://schemas.microsoft.com/office/drawing/2014/main" val="20005"/>
                    </a:ext>
                  </a:extLst>
                </a:gridCol>
                <a:gridCol w="886968">
                  <a:extLst>
                    <a:ext uri="{9D8B030D-6E8A-4147-A177-3AD203B41FA5}">
                      <a16:colId xmlns:a16="http://schemas.microsoft.com/office/drawing/2014/main" val="20006"/>
                    </a:ext>
                  </a:extLst>
                </a:gridCol>
                <a:gridCol w="886968">
                  <a:extLst>
                    <a:ext uri="{9D8B030D-6E8A-4147-A177-3AD203B41FA5}">
                      <a16:colId xmlns:a16="http://schemas.microsoft.com/office/drawing/2014/main" val="20007"/>
                    </a:ext>
                  </a:extLst>
                </a:gridCol>
              </a:tblGrid>
              <a:tr h="384048">
                <a:tc>
                  <a:txBody>
                    <a:bodyPr/>
                    <a:lstStyle/>
                    <a:p>
                      <a:pPr marL="0" indent="0" algn="l">
                        <a:buNone/>
                      </a:pPr>
                      <a:r>
                        <a:rPr lang="vi-VN" sz="1300" b="1" i="0" dirty="0">
                          <a:solidFill>
                            <a:srgbClr val="1B517B"/>
                          </a:solidFill>
                          <a:latin typeface="Arial"/>
                          <a:ea typeface="Arial"/>
                          <a:cs typeface="Arial"/>
                        </a:rPr>
                        <a:t>Tham chiếu</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ctr">
                        <a:buNone/>
                      </a:pPr>
                      <a:r>
                        <a:rPr lang="vi-VN" sz="1300" b="0" i="0" dirty="0">
                          <a:solidFill>
                            <a:srgbClr val="222222"/>
                          </a:solidFill>
                          <a:latin typeface="Arial"/>
                          <a:ea typeface="Arial"/>
                          <a:cs typeface="Arial"/>
                        </a:rPr>
                        <a:t>độ</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trễ</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hiện</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tại</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là</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hai</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giây</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0"/>
                  </a:ext>
                </a:extLst>
              </a:tr>
              <a:tr h="384048">
                <a:tc>
                  <a:txBody>
                    <a:bodyPr/>
                    <a:lstStyle/>
                    <a:p>
                      <a:pPr marL="0" indent="0" algn="l">
                        <a:buNone/>
                      </a:pPr>
                      <a:r>
                        <a:rPr lang="vi-VN" sz="1300" b="1" i="0" dirty="0">
                          <a:solidFill>
                            <a:srgbClr val="1B517B"/>
                          </a:solidFill>
                          <a:latin typeface="Arial"/>
                          <a:ea typeface="Arial"/>
                          <a:cs typeface="Arial"/>
                        </a:rPr>
                        <a:t>Máy nghe</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ctr">
                        <a:buNone/>
                      </a:pPr>
                      <a:r>
                        <a:rPr lang="vi-VN" sz="1300" b="1" i="0" dirty="0">
                          <a:solidFill>
                            <a:srgbClr val="B8262B"/>
                          </a:solidFill>
                          <a:latin typeface="Arial"/>
                          <a:ea typeface="Arial"/>
                          <a:cs typeface="Arial"/>
                        </a:rPr>
                        <a:t>vụ</a:t>
                      </a:r>
                      <a:endParaRPr lang="vi-VN" sz="1300" b="0" i="0" dirty="0">
                        <a:solidFill>
                          <a:srgbClr val="B8262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trễ</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hiện</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tại</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1" i="0" dirty="0">
                          <a:solidFill>
                            <a:srgbClr val="B8262B"/>
                          </a:solidFill>
                          <a:latin typeface="Arial"/>
                          <a:ea typeface="Arial"/>
                          <a:cs typeface="Arial"/>
                        </a:rPr>
                        <a:t>(mất)</a:t>
                      </a:r>
                      <a:endParaRPr lang="vi-VN" sz="1300" b="0" i="0" dirty="0">
                        <a:solidFill>
                          <a:srgbClr val="B8262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hai</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0" i="0" dirty="0">
                          <a:solidFill>
                            <a:srgbClr val="222222"/>
                          </a:solidFill>
                          <a:latin typeface="Arial"/>
                          <a:ea typeface="Arial"/>
                          <a:cs typeface="Arial"/>
                        </a:rPr>
                        <a:t>giây</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1"/>
                  </a:ext>
                </a:extLst>
              </a:tr>
              <a:tr h="384048">
                <a:tc>
                  <a:txBody>
                    <a:bodyPr/>
                    <a:lstStyle/>
                    <a:p>
                      <a:pPr marL="0" indent="0" algn="l">
                        <a:buNone/>
                      </a:pPr>
                      <a:r>
                        <a:rPr lang="vi-VN" sz="1300" b="1" i="0" dirty="0">
                          <a:solidFill>
                            <a:srgbClr val="1B517B"/>
                          </a:solidFill>
                          <a:latin typeface="Arial"/>
                          <a:ea typeface="Arial"/>
                          <a:cs typeface="Arial"/>
                        </a:rPr>
                        <a:t>Loại</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ctr">
                        <a:buNone/>
                      </a:pPr>
                      <a:r>
                        <a:rPr lang="vi-VN" sz="1300" b="1" i="0" dirty="0">
                          <a:solidFill>
                            <a:srgbClr val="B8262B"/>
                          </a:solidFill>
                          <a:latin typeface="Arial"/>
                          <a:ea typeface="Arial"/>
                          <a:cs typeface="Arial"/>
                        </a:rPr>
                        <a:t>S</a:t>
                      </a:r>
                      <a:endParaRPr lang="vi-VN" sz="1300" b="0" i="0" dirty="0">
                        <a:solidFill>
                          <a:srgbClr val="B8262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1" i="0" dirty="0">
                          <a:solidFill>
                            <a:srgbClr val="2E8B57"/>
                          </a:solidFill>
                          <a:latin typeface="Arial"/>
                          <a:ea typeface="Arial"/>
                          <a:cs typeface="Arial"/>
                        </a:rPr>
                        <a:t>C</a:t>
                      </a:r>
                      <a:endParaRPr lang="vi-VN" sz="1300" b="0" i="0" dirty="0">
                        <a:solidFill>
                          <a:srgbClr val="2E8B57"/>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1" i="0" dirty="0">
                          <a:solidFill>
                            <a:srgbClr val="2E8B57"/>
                          </a:solidFill>
                          <a:latin typeface="Arial"/>
                          <a:ea typeface="Arial"/>
                          <a:cs typeface="Arial"/>
                        </a:rPr>
                        <a:t>C</a:t>
                      </a:r>
                      <a:endParaRPr lang="vi-VN" sz="1300" b="0" i="0" dirty="0">
                        <a:solidFill>
                          <a:srgbClr val="2E8B57"/>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1" i="0" dirty="0">
                          <a:solidFill>
                            <a:srgbClr val="2E8B57"/>
                          </a:solidFill>
                          <a:latin typeface="Arial"/>
                          <a:ea typeface="Arial"/>
                          <a:cs typeface="Arial"/>
                        </a:rPr>
                        <a:t>C</a:t>
                      </a:r>
                      <a:endParaRPr lang="vi-VN" sz="1300" b="0" i="0" dirty="0">
                        <a:solidFill>
                          <a:srgbClr val="2E8B57"/>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1" i="0" dirty="0">
                          <a:solidFill>
                            <a:srgbClr val="B8262B"/>
                          </a:solidFill>
                          <a:latin typeface="Arial"/>
                          <a:ea typeface="Arial"/>
                          <a:cs typeface="Arial"/>
                        </a:rPr>
                        <a:t>D</a:t>
                      </a:r>
                      <a:endParaRPr lang="vi-VN" sz="1300" b="0" i="0" dirty="0">
                        <a:solidFill>
                          <a:srgbClr val="B8262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1" i="0" dirty="0">
                          <a:solidFill>
                            <a:srgbClr val="2E8B57"/>
                          </a:solidFill>
                          <a:latin typeface="Arial"/>
                          <a:ea typeface="Arial"/>
                          <a:cs typeface="Arial"/>
                        </a:rPr>
                        <a:t>C</a:t>
                      </a:r>
                      <a:endParaRPr lang="vi-VN" sz="1300" b="0" i="0" dirty="0">
                        <a:solidFill>
                          <a:srgbClr val="2E8B57"/>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300" b="1" i="0" dirty="0">
                          <a:solidFill>
                            <a:srgbClr val="2E8B57"/>
                          </a:solidFill>
                          <a:latin typeface="Arial"/>
                          <a:ea typeface="Arial"/>
                          <a:cs typeface="Arial"/>
                        </a:rPr>
                        <a:t>C</a:t>
                      </a:r>
                      <a:endParaRPr lang="vi-VN" sz="1300" b="0" i="0" dirty="0">
                        <a:solidFill>
                          <a:srgbClr val="2E8B57"/>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2"/>
                  </a:ext>
                </a:extLst>
              </a:tr>
            </a:tbl>
          </a:graphicData>
        </a:graphic>
      </p:graphicFrame>
      <p:sp>
        <p:nvSpPr>
          <p:cNvPr id="12" name="Shape x620"/>
          <p:cNvSpPr/>
          <p:nvPr/>
        </p:nvSpPr>
        <p:spPr>
          <a:xfrm>
            <a:off x="8458200" y="4114800"/>
            <a:ext cx="2468880" cy="1152144"/>
          </a:xfrm>
          <a:prstGeom prst="roundRect">
            <a:avLst>
              <a:gd name="adj" fmla="val 3556"/>
            </a:avLst>
          </a:prstGeom>
          <a:solidFill>
            <a:srgbClr val="FBEDED"/>
          </a:solidFill>
          <a:ln w="12700">
            <a:solidFill>
              <a:srgbClr val="FBEDED"/>
            </a:solidFill>
            <a:prstDash val="solid"/>
          </a:ln>
        </p:spPr>
        <p:txBody>
          <a:bodyPr wrap="square" lIns="73152" tIns="73152" rIns="73152" bIns="73152" rtlCol="0" anchor="ctr"/>
          <a:lstStyle/>
          <a:p>
            <a:pPr marL="0" indent="0" algn="ctr">
              <a:spcAft>
                <a:spcPts val="400"/>
              </a:spcAft>
              <a:buNone/>
            </a:pPr>
            <a:r>
              <a:rPr lang="vi-VN" sz="1300" b="0" i="0" dirty="0">
                <a:solidFill>
                  <a:srgbClr val="222222"/>
                </a:solidFill>
                <a:latin typeface="Arial"/>
                <a:ea typeface="Arial"/>
                <a:cs typeface="Arial"/>
              </a:rPr>
              <a:t>S = 1, D = 1, I = 0, N = 7</a:t>
            </a:r>
          </a:p>
          <a:p>
            <a:pPr marL="0" indent="0" algn="ctr">
              <a:buNone/>
            </a:pPr>
            <a:r>
              <a:rPr lang="vi-VN" sz="1700" b="1" i="0" dirty="0">
                <a:solidFill>
                  <a:srgbClr val="B8262B"/>
                </a:solidFill>
                <a:latin typeface="Arial"/>
                <a:ea typeface="Arial"/>
                <a:cs typeface="Arial"/>
              </a:rPr>
              <a:t>WER = 2/7 = 28,6%</a:t>
            </a:r>
            <a:endParaRPr lang="vi-VN" sz="1700" b="0" i="0" dirty="0">
              <a:solidFill>
                <a:srgbClr val="B8262B"/>
              </a:solidFill>
              <a:latin typeface="Arial"/>
              <a:ea typeface="Arial"/>
              <a:cs typeface="Arial"/>
            </a:endParaRPr>
          </a:p>
        </p:txBody>
      </p:sp>
      <p:sp>
        <p:nvSpPr>
          <p:cNvPr id="13" name="Text x621"/>
          <p:cNvSpPr txBox="1"/>
          <p:nvPr/>
        </p:nvSpPr>
        <p:spPr>
          <a:xfrm>
            <a:off x="685800" y="5440680"/>
            <a:ext cx="10241280" cy="548640"/>
          </a:xfrm>
          <a:prstGeom prst="rect">
            <a:avLst/>
          </a:prstGeom>
          <a:noFill/>
          <a:ln>
            <a:noFill/>
          </a:ln>
        </p:spPr>
        <p:txBody>
          <a:bodyPr wrap="square" lIns="0" tIns="0" rIns="0" bIns="0" rtlCol="0" anchor="t"/>
          <a:lstStyle/>
          <a:p>
            <a:pPr marL="0" indent="0" algn="l">
              <a:buNone/>
            </a:pPr>
            <a:r>
              <a:rPr lang="vi-VN" sz="1300" b="0" i="0" dirty="0">
                <a:solidFill>
                  <a:srgbClr val="5F6B76"/>
                </a:solidFill>
                <a:latin typeface="Arial"/>
                <a:ea typeface="Arial"/>
                <a:cs typeface="Arial"/>
              </a:rPr>
              <a:t>Trên cả tập, em cộng lỗi của mọi câu rồi chia cho tổng số từ (WER gộp). Lấy trung bình từng câu thì một câu 3 từ sai hết sẽ nặng ngang một câu 40 từ.</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spBLEU và chrF++: đo độ trùng với bản dịch tham chiếu</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35</a:t>
            </a:r>
            <a:endParaRPr lang="en-US" sz="1100" dirty="0"/>
          </a:p>
        </p:txBody>
      </p:sp>
      <p:sp>
        <p:nvSpPr>
          <p:cNvPr id="8" name="Shape x622"/>
          <p:cNvSpPr/>
          <p:nvPr/>
        </p:nvSpPr>
        <p:spPr>
          <a:xfrm>
            <a:off x="685800" y="1463040"/>
            <a:ext cx="5120640" cy="233172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400"/>
              </a:spcAft>
              <a:buNone/>
            </a:pPr>
            <a:r>
              <a:rPr lang="vi-VN" sz="1600" b="1" i="0" dirty="0">
                <a:solidFill>
                  <a:srgbClr val="1B517B"/>
                </a:solidFill>
                <a:latin typeface="Arial"/>
                <a:ea typeface="Arial"/>
                <a:cs typeface="Arial"/>
              </a:rPr>
              <a:t>BLEU</a:t>
            </a:r>
            <a:endParaRPr lang="vi-VN" sz="1600" b="0" i="0" dirty="0">
              <a:solidFill>
                <a:srgbClr val="1B517B"/>
              </a:solidFill>
              <a:latin typeface="Arial"/>
              <a:ea typeface="Arial"/>
              <a:cs typeface="Arial"/>
            </a:endParaRPr>
          </a:p>
          <a:p>
            <a:pPr marL="0" indent="0" algn="l">
              <a:spcAft>
                <a:spcPts val="800"/>
              </a:spcAft>
              <a:buNone/>
            </a:pPr>
            <a:r>
              <a:rPr lang="vi-VN" sz="1700" b="1" i="0" dirty="0">
                <a:solidFill>
                  <a:srgbClr val="1B517B"/>
                </a:solidFill>
                <a:latin typeface="Arial"/>
                <a:ea typeface="Arial"/>
                <a:cs typeface="Arial"/>
              </a:rPr>
              <a:t>BLEU = BP × exp(¼ × Σ log pₙ),  n = 1…4</a:t>
            </a:r>
            <a:endParaRPr lang="vi-VN" sz="1700" b="0" i="0" dirty="0">
              <a:solidFill>
                <a:srgbClr val="1B517B"/>
              </a:solidFill>
              <a:latin typeface="Arial"/>
              <a:ea typeface="Arial"/>
              <a:cs typeface="Arial"/>
            </a:endParaRPr>
          </a:p>
          <a:p>
            <a:pPr marL="201168" indent="-201168" algn="l">
              <a:spcAft>
                <a:spcPts val="300"/>
              </a:spcAft>
              <a:buFont typeface="Arial"/>
              <a:buChar char="•"/>
            </a:pPr>
            <a:r>
              <a:rPr lang="vi-VN" sz="1300" b="0" i="0" dirty="0">
                <a:solidFill>
                  <a:srgbClr val="222222"/>
                </a:solidFill>
                <a:latin typeface="Arial"/>
                <a:ea typeface="Arial"/>
                <a:cs typeface="Arial"/>
              </a:rPr>
              <a:t>pₙ: tỉ lệ cụm n từ của bản dịch máy có trong bản tham chiếu (n = 1 đến 4).</a:t>
            </a:r>
          </a:p>
          <a:p>
            <a:pPr marL="201168" indent="-201168" algn="l">
              <a:spcAft>
                <a:spcPts val="300"/>
              </a:spcAft>
              <a:buFont typeface="Arial"/>
              <a:buChar char="•"/>
            </a:pPr>
            <a:r>
              <a:rPr lang="vi-VN" sz="1300" b="0" i="0" dirty="0">
                <a:solidFill>
                  <a:srgbClr val="222222"/>
                </a:solidFill>
                <a:latin typeface="Arial"/>
                <a:ea typeface="Arial"/>
                <a:cs typeface="Arial"/>
              </a:rPr>
              <a:t>BP: phạt bản dịch ngắn hơn tham chiếu; BP = e^(1 − r/c) khi độ dài máy dịch c ≤ độ dài tham chiếu r.</a:t>
            </a:r>
          </a:p>
          <a:p>
            <a:pPr marL="201168" indent="-201168" algn="l">
              <a:buFont typeface="Arial"/>
              <a:buChar char="•"/>
            </a:pPr>
            <a:r>
              <a:rPr lang="vi-VN" sz="1300" b="0" i="0" dirty="0">
                <a:solidFill>
                  <a:srgbClr val="222222"/>
                </a:solidFill>
                <a:latin typeface="Arial"/>
                <a:ea typeface="Arial"/>
                <a:cs typeface="Arial"/>
              </a:rPr>
              <a:t>Thang 0 đến 100, càng cao càng tốt; báo cáo cho cả tập.</a:t>
            </a:r>
          </a:p>
        </p:txBody>
      </p:sp>
      <p:sp>
        <p:nvSpPr>
          <p:cNvPr id="9" name="Shape x623"/>
          <p:cNvSpPr/>
          <p:nvPr/>
        </p:nvSpPr>
        <p:spPr>
          <a:xfrm>
            <a:off x="6035040" y="1463040"/>
            <a:ext cx="4892040" cy="233172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spBLEU và chrF++</a:t>
            </a:r>
            <a:endParaRPr lang="vi-VN" sz="1600" b="0" i="0" dirty="0">
              <a:solidFill>
                <a:srgbClr val="1B517B"/>
              </a:solidFill>
              <a:latin typeface="Arial"/>
              <a:ea typeface="Arial"/>
              <a:cs typeface="Arial"/>
            </a:endParaRPr>
          </a:p>
          <a:p>
            <a:pPr marL="0" indent="0" algn="l">
              <a:spcAft>
                <a:spcPts val="400"/>
              </a:spcAft>
              <a:buNone/>
            </a:pPr>
            <a:r>
              <a:rPr lang="vi-VN" sz="1300" b="0" i="0" dirty="0">
                <a:solidFill>
                  <a:srgbClr val="222222"/>
                </a:solidFill>
                <a:latin typeface="Arial"/>
                <a:ea typeface="Arial"/>
                <a:cs typeface="Arial"/>
              </a:rPr>
              <a:t>spBLEU: tách từ bằng SentencePiece dùng chung cho mọi ngôn ngữ (tokenizer flores200), nên chấm được tiếng Trung, Nhật và so được với số công bố của NLLB-200.</a:t>
            </a:r>
          </a:p>
          <a:p>
            <a:pPr marL="0" indent="0" algn="l">
              <a:buNone/>
            </a:pPr>
            <a:r>
              <a:rPr lang="vi-VN" sz="1300" b="0" i="0" dirty="0">
                <a:solidFill>
                  <a:srgbClr val="222222"/>
                </a:solidFill>
                <a:latin typeface="Arial"/>
                <a:ea typeface="Arial"/>
                <a:cs typeface="Arial"/>
              </a:rPr>
              <a:t>chrF++: F-score trên cụm ký tự (tới 6 ký tự) cộng cụm từ (tới 2 từ), ổn định hơn BLEU trên tập vài trăm câu. Đích zh, ja không có khoảng trắng nên phần cụm từ gần bằng 0: hai ô đó có dấu *.</a:t>
            </a:r>
          </a:p>
        </p:txBody>
      </p:sp>
      <p:sp>
        <p:nvSpPr>
          <p:cNvPr id="10" name="Text x624"/>
          <p:cNvSpPr txBox="1"/>
          <p:nvPr/>
        </p:nvSpPr>
        <p:spPr>
          <a:xfrm>
            <a:off x="685800" y="3931920"/>
            <a:ext cx="10241280" cy="320040"/>
          </a:xfrm>
          <a:prstGeom prst="rect">
            <a:avLst/>
          </a:prstGeom>
          <a:noFill/>
          <a:ln>
            <a:noFill/>
          </a:ln>
        </p:spPr>
        <p:txBody>
          <a:bodyPr wrap="square" lIns="0" tIns="0" rIns="0" bIns="0" rtlCol="0" anchor="t"/>
          <a:lstStyle/>
          <a:p>
            <a:pPr marL="0" indent="0" algn="l">
              <a:buNone/>
            </a:pPr>
            <a:r>
              <a:rPr lang="vi-VN" sz="1500" b="1" i="0" dirty="0">
                <a:solidFill>
                  <a:srgbClr val="1B517B"/>
                </a:solidFill>
                <a:latin typeface="Arial"/>
                <a:ea typeface="Arial"/>
                <a:cs typeface="Arial"/>
              </a:rPr>
              <a:t>Ví dụ: vì sao BLEU khắc nghiệt trên một câu</a:t>
            </a:r>
            <a:endParaRPr lang="vi-VN" sz="1500" b="0" i="0" dirty="0">
              <a:solidFill>
                <a:srgbClr val="1B517B"/>
              </a:solidFill>
              <a:latin typeface="Arial"/>
              <a:ea typeface="Arial"/>
              <a:cs typeface="Arial"/>
            </a:endParaRPr>
          </a:p>
        </p:txBody>
      </p:sp>
      <p:graphicFrame>
        <p:nvGraphicFramePr>
          <p:cNvPr id="11" name="Table x625"/>
          <p:cNvGraphicFramePr>
            <a:graphicFrameLocks noGrp="1"/>
          </p:cNvGraphicFramePr>
          <p:nvPr/>
        </p:nvGraphicFramePr>
        <p:xfrm>
          <a:off x="685800" y="4297680"/>
          <a:ext cx="5120640" cy="768096"/>
        </p:xfrm>
        <a:graphic>
          <a:graphicData uri="http://schemas.openxmlformats.org/drawingml/2006/table">
            <a:tbl>
              <a:tblPr/>
              <a:tblGrid>
                <a:gridCol w="12801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84048">
                <a:tc>
                  <a:txBody>
                    <a:bodyPr/>
                    <a:lstStyle/>
                    <a:p>
                      <a:pPr marL="0" indent="0" algn="l">
                        <a:buNone/>
                      </a:pPr>
                      <a:r>
                        <a:rPr lang="vi-VN" sz="1300" b="1" i="0" dirty="0">
                          <a:solidFill>
                            <a:srgbClr val="1B517B"/>
                          </a:solidFill>
                          <a:latin typeface="Arial"/>
                          <a:ea typeface="Arial"/>
                          <a:cs typeface="Arial"/>
                        </a:rPr>
                        <a:t>Tham chiếu</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l">
                        <a:buNone/>
                      </a:pPr>
                      <a:r>
                        <a:rPr lang="vi-VN" sz="1300" b="0" i="0" dirty="0">
                          <a:solidFill>
                            <a:srgbClr val="222222"/>
                          </a:solidFill>
                          <a:latin typeface="Arial"/>
                          <a:ea typeface="Arial"/>
                          <a:cs typeface="Arial"/>
                        </a:rPr>
                        <a:t>I do not agree with this proposal.</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0"/>
                  </a:ext>
                </a:extLst>
              </a:tr>
              <a:tr h="384048">
                <a:tc>
                  <a:txBody>
                    <a:bodyPr/>
                    <a:lstStyle/>
                    <a:p>
                      <a:pPr marL="0" indent="0" algn="l">
                        <a:buNone/>
                      </a:pPr>
                      <a:r>
                        <a:rPr lang="vi-VN" sz="1300" b="1" i="0" dirty="0">
                          <a:solidFill>
                            <a:srgbClr val="1B517B"/>
                          </a:solidFill>
                          <a:latin typeface="Arial"/>
                          <a:ea typeface="Arial"/>
                          <a:cs typeface="Arial"/>
                        </a:rPr>
                        <a:t>Máy dịch</a:t>
                      </a:r>
                      <a:endParaRPr lang="vi-VN" sz="1300" b="0" i="0" dirty="0">
                        <a:solidFill>
                          <a:srgbClr val="1B517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EEF4F9"/>
                    </a:solidFill>
                  </a:tcPr>
                </a:tc>
                <a:tc>
                  <a:txBody>
                    <a:bodyPr/>
                    <a:lstStyle/>
                    <a:p>
                      <a:pPr marL="0" indent="0" algn="l">
                        <a:buNone/>
                      </a:pPr>
                      <a:r>
                        <a:rPr lang="vi-VN" sz="1300" b="0" i="0" dirty="0">
                          <a:solidFill>
                            <a:srgbClr val="222222"/>
                          </a:solidFill>
                          <a:latin typeface="Arial"/>
                          <a:ea typeface="Arial"/>
                          <a:cs typeface="Arial"/>
                        </a:rPr>
                        <a:t>I disagree with this proposal.</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1"/>
                  </a:ext>
                </a:extLst>
              </a:tr>
            </a:tbl>
          </a:graphicData>
        </a:graphic>
      </p:graphicFrame>
      <p:graphicFrame>
        <p:nvGraphicFramePr>
          <p:cNvPr id="12" name="Table x626"/>
          <p:cNvGraphicFramePr>
            <a:graphicFrameLocks noGrp="1"/>
          </p:cNvGraphicFramePr>
          <p:nvPr/>
        </p:nvGraphicFramePr>
        <p:xfrm>
          <a:off x="6035040" y="4297680"/>
          <a:ext cx="4828032" cy="768096"/>
        </p:xfrm>
        <a:graphic>
          <a:graphicData uri="http://schemas.openxmlformats.org/drawingml/2006/table">
            <a:tbl>
              <a:tblPr/>
              <a:tblGrid>
                <a:gridCol w="804672">
                  <a:extLst>
                    <a:ext uri="{9D8B030D-6E8A-4147-A177-3AD203B41FA5}">
                      <a16:colId xmlns:a16="http://schemas.microsoft.com/office/drawing/2014/main" val="20000"/>
                    </a:ext>
                  </a:extLst>
                </a:gridCol>
                <a:gridCol w="804672">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tblGrid>
              <a:tr h="384048">
                <a:tc>
                  <a:txBody>
                    <a:bodyPr/>
                    <a:lstStyle/>
                    <a:p>
                      <a:pPr marL="0" indent="0" algn="ctr">
                        <a:buNone/>
                      </a:pPr>
                      <a:r>
                        <a:rPr lang="vi-VN" sz="1300" b="1" i="0" dirty="0">
                          <a:solidFill>
                            <a:srgbClr val="FFFFFF"/>
                          </a:solidFill>
                          <a:latin typeface="Arial"/>
                          <a:ea typeface="Arial"/>
                          <a:cs typeface="Arial"/>
                        </a:rPr>
                        <a:t>p₁</a:t>
                      </a:r>
                      <a:endParaRPr lang="vi-VN" sz="13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300" b="1" i="0" dirty="0">
                          <a:solidFill>
                            <a:srgbClr val="FFFFFF"/>
                          </a:solidFill>
                          <a:latin typeface="Arial"/>
                          <a:ea typeface="Arial"/>
                          <a:cs typeface="Arial"/>
                        </a:rPr>
                        <a:t>p₂</a:t>
                      </a:r>
                      <a:endParaRPr lang="vi-VN" sz="13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300" b="1" i="0" dirty="0">
                          <a:solidFill>
                            <a:srgbClr val="FFFFFF"/>
                          </a:solidFill>
                          <a:latin typeface="Arial"/>
                          <a:ea typeface="Arial"/>
                          <a:cs typeface="Arial"/>
                        </a:rPr>
                        <a:t>p₃</a:t>
                      </a:r>
                      <a:endParaRPr lang="vi-VN" sz="13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300" b="1" i="0" dirty="0">
                          <a:solidFill>
                            <a:srgbClr val="FFFFFF"/>
                          </a:solidFill>
                          <a:latin typeface="Arial"/>
                          <a:ea typeface="Arial"/>
                          <a:cs typeface="Arial"/>
                        </a:rPr>
                        <a:t>p₄</a:t>
                      </a:r>
                      <a:endParaRPr lang="vi-VN" sz="13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300" b="1" i="0" dirty="0">
                          <a:solidFill>
                            <a:srgbClr val="FFFFFF"/>
                          </a:solidFill>
                          <a:latin typeface="Arial"/>
                          <a:ea typeface="Arial"/>
                          <a:cs typeface="Arial"/>
                        </a:rPr>
                        <a:t>BP</a:t>
                      </a:r>
                      <a:endParaRPr lang="vi-VN" sz="13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tc>
                  <a:txBody>
                    <a:bodyPr/>
                    <a:lstStyle/>
                    <a:p>
                      <a:pPr marL="0" indent="0" algn="ctr">
                        <a:buNone/>
                      </a:pPr>
                      <a:r>
                        <a:rPr lang="vi-VN" sz="1300" b="1" i="0" dirty="0">
                          <a:solidFill>
                            <a:srgbClr val="FFFFFF"/>
                          </a:solidFill>
                          <a:latin typeface="Arial"/>
                          <a:ea typeface="Arial"/>
                          <a:cs typeface="Arial"/>
                        </a:rPr>
                        <a:t>BLEU</a:t>
                      </a:r>
                      <a:endParaRPr lang="vi-VN" sz="1300" b="0" i="0" dirty="0">
                        <a:solidFill>
                          <a:srgbClr val="FFFFFF"/>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solidFill>
                      <a:srgbClr val="1B517B"/>
                    </a:solidFill>
                  </a:tcPr>
                </a:tc>
                <a:extLst>
                  <a:ext uri="{0D108BD9-81ED-4DB2-BD59-A6C34878D82A}">
                    <a16:rowId xmlns:a16="http://schemas.microsoft.com/office/drawing/2014/main" val="10000"/>
                  </a:ext>
                </a:extLst>
              </a:tr>
              <a:tr h="384048">
                <a:tc>
                  <a:txBody>
                    <a:bodyPr/>
                    <a:lstStyle/>
                    <a:p>
                      <a:pPr marL="0" indent="0" algn="ctr">
                        <a:buNone/>
                      </a:pPr>
                      <a:r>
                        <a:rPr lang="vi-VN" sz="1400" b="0" i="0" dirty="0">
                          <a:solidFill>
                            <a:srgbClr val="222222"/>
                          </a:solidFill>
                          <a:latin typeface="Arial"/>
                          <a:ea typeface="Arial"/>
                          <a:cs typeface="Arial"/>
                        </a:rPr>
                        <a:t>4/5</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400" b="0" i="0" dirty="0">
                          <a:solidFill>
                            <a:srgbClr val="222222"/>
                          </a:solidFill>
                          <a:latin typeface="Arial"/>
                          <a:ea typeface="Arial"/>
                          <a:cs typeface="Arial"/>
                        </a:rPr>
                        <a:t>2/4</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400" b="0" i="0" dirty="0">
                          <a:solidFill>
                            <a:srgbClr val="222222"/>
                          </a:solidFill>
                          <a:latin typeface="Arial"/>
                          <a:ea typeface="Arial"/>
                          <a:cs typeface="Arial"/>
                        </a:rPr>
                        <a:t>1/3</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400" b="1" i="0" dirty="0">
                          <a:solidFill>
                            <a:srgbClr val="B8262B"/>
                          </a:solidFill>
                          <a:latin typeface="Arial"/>
                          <a:ea typeface="Arial"/>
                          <a:cs typeface="Arial"/>
                        </a:rPr>
                        <a:t>0/2</a:t>
                      </a:r>
                      <a:endParaRPr lang="vi-VN" sz="1400" b="0" i="0" dirty="0">
                        <a:solidFill>
                          <a:srgbClr val="B8262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400" b="0" i="0" dirty="0">
                          <a:solidFill>
                            <a:srgbClr val="222222"/>
                          </a:solidFill>
                          <a:latin typeface="Arial"/>
                          <a:ea typeface="Arial"/>
                          <a:cs typeface="Arial"/>
                        </a:rPr>
                        <a:t>0,67</a:t>
                      </a: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tc>
                  <a:txBody>
                    <a:bodyPr/>
                    <a:lstStyle/>
                    <a:p>
                      <a:pPr marL="0" indent="0" algn="ctr">
                        <a:buNone/>
                      </a:pPr>
                      <a:r>
                        <a:rPr lang="vi-VN" sz="1400" b="1" i="0" dirty="0">
                          <a:solidFill>
                            <a:srgbClr val="B8262B"/>
                          </a:solidFill>
                          <a:latin typeface="Arial"/>
                          <a:ea typeface="Arial"/>
                          <a:cs typeface="Arial"/>
                        </a:rPr>
                        <a:t>0</a:t>
                      </a:r>
                      <a:endParaRPr lang="vi-VN" sz="1400" b="0" i="0" dirty="0">
                        <a:solidFill>
                          <a:srgbClr val="B8262B"/>
                        </a:solidFill>
                        <a:latin typeface="Arial"/>
                        <a:ea typeface="Arial"/>
                        <a:cs typeface="Arial"/>
                      </a:endParaRPr>
                    </a:p>
                  </a:txBody>
                  <a:tcPr marL="73152" marR="73152" marT="27432" marB="27432" anchor="ctr">
                    <a:lnL w="9525" cap="flat" cmpd="sng" algn="ctr">
                      <a:solidFill>
                        <a:srgbClr val="C9D6E2"/>
                      </a:solidFill>
                      <a:prstDash val="solid"/>
                    </a:lnL>
                    <a:lnR w="9525" cap="flat" cmpd="sng" algn="ctr">
                      <a:solidFill>
                        <a:srgbClr val="C9D6E2"/>
                      </a:solidFill>
                      <a:prstDash val="solid"/>
                    </a:lnR>
                    <a:lnT w="9525" cap="flat" cmpd="sng" algn="ctr">
                      <a:solidFill>
                        <a:srgbClr val="C9D6E2"/>
                      </a:solidFill>
                      <a:prstDash val="solid"/>
                    </a:lnT>
                    <a:lnB w="9525" cap="flat" cmpd="sng" algn="ctr">
                      <a:solidFill>
                        <a:srgbClr val="C9D6E2"/>
                      </a:solidFill>
                      <a:prstDash val="solid"/>
                    </a:lnB>
                    <a:noFill/>
                  </a:tcPr>
                </a:tc>
                <a:extLst>
                  <a:ext uri="{0D108BD9-81ED-4DB2-BD59-A6C34878D82A}">
                    <a16:rowId xmlns:a16="http://schemas.microsoft.com/office/drawing/2014/main" val="10001"/>
                  </a:ext>
                </a:extLst>
              </a:tr>
            </a:tbl>
          </a:graphicData>
        </a:graphic>
      </p:graphicFrame>
      <p:sp>
        <p:nvSpPr>
          <p:cNvPr id="13" name="Text x627"/>
          <p:cNvSpPr txBox="1"/>
          <p:nvPr/>
        </p:nvSpPr>
        <p:spPr>
          <a:xfrm>
            <a:off x="685800" y="5212080"/>
            <a:ext cx="10241280" cy="731520"/>
          </a:xfrm>
          <a:prstGeom prst="rect">
            <a:avLst/>
          </a:prstGeom>
          <a:noFill/>
          <a:ln>
            <a:noFill/>
          </a:ln>
        </p:spPr>
        <p:txBody>
          <a:bodyPr wrap="square" lIns="0" tIns="0" rIns="0" bIns="0" rtlCol="0" anchor="t"/>
          <a:lstStyle/>
          <a:p>
            <a:pPr marL="0" indent="0" algn="l">
              <a:spcAft>
                <a:spcPts val="300"/>
              </a:spcAft>
              <a:buNone/>
            </a:pPr>
            <a:r>
              <a:rPr lang="vi-VN" sz="1300" b="0" i="0" dirty="0">
                <a:solidFill>
                  <a:srgbClr val="5F6B76"/>
                </a:solidFill>
                <a:latin typeface="Arial"/>
                <a:ea typeface="Arial"/>
                <a:cs typeface="Arial"/>
              </a:rPr>
              <a:t>Không có cụm 4 từ nào trùng nên BLEU của câu bằng 0, dù câu dịch đúng nghĩa. Vì vậy BLEU chỉ báo cáo cho cả tập, và đề tài dùng thêm COMET.</a:t>
            </a:r>
          </a:p>
          <a:p>
            <a:pPr marL="0" indent="0" algn="l">
              <a:buNone/>
            </a:pPr>
            <a:r>
              <a:rPr lang="vi-VN" sz="1300" b="1" i="0" dirty="0">
                <a:solidFill>
                  <a:srgbClr val="B8262B"/>
                </a:solidFill>
                <a:latin typeface="Arial"/>
                <a:ea typeface="Arial"/>
                <a:cs typeface="Arial"/>
              </a:rPr>
              <a:t>Không so spBLEU giữa hai chiều dịch khác nhau: mỗi chiều khó một kiểu.</a:t>
            </a:r>
            <a:endParaRPr lang="vi-VN" sz="1300" b="0" i="0" dirty="0">
              <a:solidFill>
                <a:srgbClr val="B8262B"/>
              </a:solidFill>
              <a:latin typeface="Arial"/>
              <a:ea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COMET: chấm bản dịch theo nghĩa</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36</a:t>
            </a:r>
            <a:endParaRPr lang="en-US" sz="1100" dirty="0"/>
          </a:p>
        </p:txBody>
      </p:sp>
      <p:sp>
        <p:nvSpPr>
          <p:cNvPr id="8" name="Shape x628"/>
          <p:cNvSpPr/>
          <p:nvPr/>
        </p:nvSpPr>
        <p:spPr>
          <a:xfrm>
            <a:off x="685800" y="1463040"/>
            <a:ext cx="2377440" cy="438912"/>
          </a:xfrm>
          <a:prstGeom prst="roundRect">
            <a:avLst>
              <a:gd name="adj" fmla="val 3556"/>
            </a:avLst>
          </a:prstGeom>
          <a:solidFill>
            <a:srgbClr val="DCE8F2"/>
          </a:solidFill>
          <a:ln w="12700">
            <a:solidFill>
              <a:srgbClr val="DCE8F2"/>
            </a:solidFill>
            <a:prstDash val="solid"/>
          </a:ln>
        </p:spPr>
        <p:txBody>
          <a:bodyPr wrap="square" lIns="36576" tIns="36576" rIns="36576" bIns="36576" rtlCol="0" anchor="ctr"/>
          <a:lstStyle/>
          <a:p>
            <a:pPr marL="0" indent="0" algn="ctr">
              <a:buNone/>
            </a:pPr>
            <a:r>
              <a:rPr lang="vi-VN" sz="1300" b="1" i="0" dirty="0">
                <a:solidFill>
                  <a:srgbClr val="1B517B"/>
                </a:solidFill>
                <a:latin typeface="Arial"/>
                <a:ea typeface="Arial"/>
                <a:cs typeface="Arial"/>
              </a:rPr>
              <a:t>Câu nguồn</a:t>
            </a:r>
            <a:endParaRPr lang="vi-VN" sz="1300" b="0" i="0" dirty="0">
              <a:solidFill>
                <a:srgbClr val="1B517B"/>
              </a:solidFill>
              <a:latin typeface="Arial"/>
              <a:ea typeface="Arial"/>
              <a:cs typeface="Arial"/>
            </a:endParaRPr>
          </a:p>
        </p:txBody>
      </p:sp>
      <p:sp>
        <p:nvSpPr>
          <p:cNvPr id="9" name="Shape x629"/>
          <p:cNvSpPr/>
          <p:nvPr/>
        </p:nvSpPr>
        <p:spPr>
          <a:xfrm>
            <a:off x="3099816" y="1682496"/>
            <a:ext cx="521208" cy="45720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0" name="Shape x630"/>
          <p:cNvSpPr/>
          <p:nvPr/>
        </p:nvSpPr>
        <p:spPr>
          <a:xfrm>
            <a:off x="685800" y="2011680"/>
            <a:ext cx="2377440" cy="438912"/>
          </a:xfrm>
          <a:prstGeom prst="roundRect">
            <a:avLst>
              <a:gd name="adj" fmla="val 3556"/>
            </a:avLst>
          </a:prstGeom>
          <a:solidFill>
            <a:srgbClr val="DCE8F2"/>
          </a:solidFill>
          <a:ln w="12700">
            <a:solidFill>
              <a:srgbClr val="DCE8F2"/>
            </a:solidFill>
            <a:prstDash val="solid"/>
          </a:ln>
        </p:spPr>
        <p:txBody>
          <a:bodyPr wrap="square" lIns="36576" tIns="36576" rIns="36576" bIns="36576" rtlCol="0" anchor="ctr"/>
          <a:lstStyle/>
          <a:p>
            <a:pPr marL="0" indent="0" algn="ctr">
              <a:buNone/>
            </a:pPr>
            <a:r>
              <a:rPr lang="vi-VN" sz="1300" b="1" i="0" dirty="0">
                <a:solidFill>
                  <a:srgbClr val="1B517B"/>
                </a:solidFill>
                <a:latin typeface="Arial"/>
                <a:ea typeface="Arial"/>
                <a:cs typeface="Arial"/>
              </a:rPr>
              <a:t>Bản dịch máy</a:t>
            </a:r>
            <a:endParaRPr lang="vi-VN" sz="1300" b="0" i="0" dirty="0">
              <a:solidFill>
                <a:srgbClr val="1B517B"/>
              </a:solidFill>
              <a:latin typeface="Arial"/>
              <a:ea typeface="Arial"/>
              <a:cs typeface="Arial"/>
            </a:endParaRPr>
          </a:p>
        </p:txBody>
      </p:sp>
      <p:sp>
        <p:nvSpPr>
          <p:cNvPr id="11" name="Shape x631"/>
          <p:cNvSpPr/>
          <p:nvPr/>
        </p:nvSpPr>
        <p:spPr>
          <a:xfrm flipV="1">
            <a:off x="3099816" y="2139696"/>
            <a:ext cx="521208" cy="9144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2" name="Shape x632"/>
          <p:cNvSpPr/>
          <p:nvPr/>
        </p:nvSpPr>
        <p:spPr>
          <a:xfrm>
            <a:off x="685800" y="2560320"/>
            <a:ext cx="2377440" cy="438912"/>
          </a:xfrm>
          <a:prstGeom prst="roundRect">
            <a:avLst>
              <a:gd name="adj" fmla="val 3556"/>
            </a:avLst>
          </a:prstGeom>
          <a:solidFill>
            <a:srgbClr val="DCE8F2"/>
          </a:solidFill>
          <a:ln w="12700">
            <a:solidFill>
              <a:srgbClr val="DCE8F2"/>
            </a:solidFill>
            <a:prstDash val="solid"/>
          </a:ln>
        </p:spPr>
        <p:txBody>
          <a:bodyPr wrap="square" lIns="36576" tIns="36576" rIns="36576" bIns="36576" rtlCol="0" anchor="ctr"/>
          <a:lstStyle/>
          <a:p>
            <a:pPr marL="0" indent="0" algn="ctr">
              <a:buNone/>
            </a:pPr>
            <a:r>
              <a:rPr lang="vi-VN" sz="1300" b="1" i="0" dirty="0">
                <a:solidFill>
                  <a:srgbClr val="1B517B"/>
                </a:solidFill>
                <a:latin typeface="Arial"/>
                <a:ea typeface="Arial"/>
                <a:cs typeface="Arial"/>
              </a:rPr>
              <a:t>Bản dịch tham chiếu</a:t>
            </a:r>
            <a:endParaRPr lang="vi-VN" sz="1300" b="0" i="0" dirty="0">
              <a:solidFill>
                <a:srgbClr val="1B517B"/>
              </a:solidFill>
              <a:latin typeface="Arial"/>
              <a:ea typeface="Arial"/>
              <a:cs typeface="Arial"/>
            </a:endParaRPr>
          </a:p>
        </p:txBody>
      </p:sp>
      <p:sp>
        <p:nvSpPr>
          <p:cNvPr id="13" name="Shape x633"/>
          <p:cNvSpPr/>
          <p:nvPr/>
        </p:nvSpPr>
        <p:spPr>
          <a:xfrm flipV="1">
            <a:off x="3099816" y="2139696"/>
            <a:ext cx="521208" cy="64008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4" name="Shape x634"/>
          <p:cNvSpPr/>
          <p:nvPr/>
        </p:nvSpPr>
        <p:spPr>
          <a:xfrm>
            <a:off x="3657600" y="1691640"/>
            <a:ext cx="2286000" cy="914400"/>
          </a:xfrm>
          <a:prstGeom prst="roundRect">
            <a:avLst>
              <a:gd name="adj" fmla="val 3556"/>
            </a:avLst>
          </a:prstGeom>
          <a:solidFill>
            <a:srgbClr val="1B517B"/>
          </a:solidFill>
          <a:ln w="12700">
            <a:solidFill>
              <a:srgbClr val="1B517B"/>
            </a:solidFill>
            <a:prstDash val="solid"/>
          </a:ln>
        </p:spPr>
        <p:txBody>
          <a:bodyPr wrap="square" lIns="45720" tIns="45720" rIns="45720" bIns="45720" rtlCol="0" anchor="ctr"/>
          <a:lstStyle/>
          <a:p>
            <a:pPr marL="0" indent="0" algn="ctr">
              <a:buNone/>
            </a:pPr>
            <a:r>
              <a:rPr lang="vi-VN" sz="1500" b="1" i="0" dirty="0">
                <a:solidFill>
                  <a:srgbClr val="FFFFFF"/>
                </a:solidFill>
                <a:latin typeface="Arial"/>
                <a:ea typeface="Arial"/>
                <a:cs typeface="Arial"/>
              </a:rPr>
              <a:t>XLM-R</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mã hóa cả ba câu</a:t>
            </a:r>
          </a:p>
        </p:txBody>
      </p:sp>
      <p:sp>
        <p:nvSpPr>
          <p:cNvPr id="15" name="Shape x635"/>
          <p:cNvSpPr/>
          <p:nvPr/>
        </p:nvSpPr>
        <p:spPr>
          <a:xfrm>
            <a:off x="5980176" y="2148840"/>
            <a:ext cx="47548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6" name="Shape x636"/>
          <p:cNvSpPr/>
          <p:nvPr/>
        </p:nvSpPr>
        <p:spPr>
          <a:xfrm>
            <a:off x="6492240" y="1691640"/>
            <a:ext cx="2286000" cy="914400"/>
          </a:xfrm>
          <a:prstGeom prst="roundRect">
            <a:avLst>
              <a:gd name="adj" fmla="val 3556"/>
            </a:avLst>
          </a:prstGeom>
          <a:solidFill>
            <a:srgbClr val="1B517B"/>
          </a:solidFill>
          <a:ln w="12700">
            <a:solidFill>
              <a:srgbClr val="1B517B"/>
            </a:solidFill>
            <a:prstDash val="solid"/>
          </a:ln>
        </p:spPr>
        <p:txBody>
          <a:bodyPr wrap="square" lIns="45720" tIns="45720" rIns="45720" bIns="45720" rtlCol="0" anchor="ctr"/>
          <a:lstStyle/>
          <a:p>
            <a:pPr marL="0" indent="0" algn="ctr">
              <a:buNone/>
            </a:pPr>
            <a:r>
              <a:rPr lang="vi-VN" sz="1500" b="1" i="0" dirty="0">
                <a:solidFill>
                  <a:srgbClr val="FFFFFF"/>
                </a:solidFill>
                <a:latin typeface="Arial"/>
                <a:ea typeface="Arial"/>
                <a:cs typeface="Arial"/>
              </a:rPr>
              <a:t>Lớp hồi quy</a:t>
            </a:r>
            <a:endParaRPr lang="vi-VN" sz="1500" b="0" i="0" dirty="0">
              <a:solidFill>
                <a:srgbClr val="FFFFFF"/>
              </a:solidFill>
              <a:latin typeface="Arial"/>
              <a:ea typeface="Arial"/>
              <a:cs typeface="Arial"/>
            </a:endParaRPr>
          </a:p>
          <a:p>
            <a:pPr marL="0" indent="0" algn="ctr">
              <a:buNone/>
            </a:pPr>
            <a:r>
              <a:rPr lang="vi-VN" sz="1200" b="0" i="0" dirty="0">
                <a:solidFill>
                  <a:srgbClr val="FFFFFF"/>
                </a:solidFill>
                <a:latin typeface="Arial"/>
                <a:ea typeface="Arial"/>
                <a:cs typeface="Arial"/>
              </a:rPr>
              <a:t>học từ điểm người chấm</a:t>
            </a:r>
          </a:p>
        </p:txBody>
      </p:sp>
      <p:sp>
        <p:nvSpPr>
          <p:cNvPr id="17" name="Shape x637"/>
          <p:cNvSpPr/>
          <p:nvPr/>
        </p:nvSpPr>
        <p:spPr>
          <a:xfrm>
            <a:off x="8814816" y="2148840"/>
            <a:ext cx="475488"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8" name="Shape x638"/>
          <p:cNvSpPr/>
          <p:nvPr/>
        </p:nvSpPr>
        <p:spPr>
          <a:xfrm>
            <a:off x="9326880" y="1691640"/>
            <a:ext cx="1600200" cy="914400"/>
          </a:xfrm>
          <a:prstGeom prst="roundRect">
            <a:avLst>
              <a:gd name="adj" fmla="val 3556"/>
            </a:avLst>
          </a:prstGeom>
          <a:solidFill>
            <a:srgbClr val="FBEDED"/>
          </a:solidFill>
          <a:ln w="12700">
            <a:solidFill>
              <a:srgbClr val="FBEDED"/>
            </a:solidFill>
            <a:prstDash val="solid"/>
          </a:ln>
        </p:spPr>
        <p:txBody>
          <a:bodyPr wrap="square" lIns="45720" tIns="45720" rIns="45720" bIns="45720" rtlCol="0" anchor="ctr"/>
          <a:lstStyle/>
          <a:p>
            <a:pPr marL="0" indent="0" algn="ctr">
              <a:buNone/>
            </a:pPr>
            <a:r>
              <a:rPr lang="vi-VN" sz="1500" b="1" i="0" dirty="0">
                <a:solidFill>
                  <a:srgbClr val="B8262B"/>
                </a:solidFill>
                <a:latin typeface="Arial"/>
                <a:ea typeface="Arial"/>
                <a:cs typeface="Arial"/>
              </a:rPr>
              <a:t>Điểm</a:t>
            </a:r>
            <a:endParaRPr lang="vi-VN" sz="1500" b="0" i="0" dirty="0">
              <a:solidFill>
                <a:srgbClr val="B8262B"/>
              </a:solidFill>
              <a:latin typeface="Arial"/>
              <a:ea typeface="Arial"/>
              <a:cs typeface="Arial"/>
            </a:endParaRPr>
          </a:p>
          <a:p>
            <a:pPr marL="0" indent="0" algn="ctr">
              <a:buNone/>
            </a:pPr>
            <a:r>
              <a:rPr lang="vi-VN" sz="1200" b="0" i="0" dirty="0">
                <a:solidFill>
                  <a:srgbClr val="B8262B"/>
                </a:solidFill>
                <a:latin typeface="Arial"/>
                <a:ea typeface="Arial"/>
                <a:cs typeface="Arial"/>
              </a:rPr>
              <a:t>0 đến 1</a:t>
            </a:r>
          </a:p>
        </p:txBody>
      </p:sp>
      <p:sp>
        <p:nvSpPr>
          <p:cNvPr id="19" name="Shape x639"/>
          <p:cNvSpPr/>
          <p:nvPr/>
        </p:nvSpPr>
        <p:spPr>
          <a:xfrm>
            <a:off x="685800" y="3291840"/>
            <a:ext cx="3291840" cy="274320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Cách hoạt động</a:t>
            </a:r>
            <a:endParaRPr lang="vi-VN" sz="1600" b="0" i="0" dirty="0">
              <a:solidFill>
                <a:srgbClr val="1B517B"/>
              </a:solidFill>
              <a:latin typeface="Arial"/>
              <a:ea typeface="Arial"/>
              <a:cs typeface="Arial"/>
            </a:endParaRPr>
          </a:p>
          <a:p>
            <a:pPr marL="0" indent="0" algn="l">
              <a:spcAft>
                <a:spcPts val="500"/>
              </a:spcAft>
              <a:buNone/>
            </a:pPr>
            <a:r>
              <a:rPr lang="vi-VN" sz="1250" b="0" i="0" dirty="0">
                <a:solidFill>
                  <a:srgbClr val="222222"/>
                </a:solidFill>
                <a:latin typeface="Arial"/>
                <a:ea typeface="Arial"/>
                <a:cs typeface="Arial"/>
              </a:rPr>
              <a:t>Nền là XLM-R, một mô hình ngôn ngữ đa ngữ, được huấn luyện thêm trên điểm người thật chấm bản dịch máy (Direct Assessment của WMT).</a:t>
            </a:r>
          </a:p>
          <a:p>
            <a:pPr marL="0" indent="0" algn="l">
              <a:spcAft>
                <a:spcPts val="500"/>
              </a:spcAft>
              <a:buNone/>
            </a:pPr>
            <a:r>
              <a:rPr lang="vi-VN" sz="1250" b="0" i="0" dirty="0">
                <a:solidFill>
                  <a:srgbClr val="222222"/>
                </a:solidFill>
                <a:latin typeface="Arial"/>
                <a:ea typeface="Arial"/>
                <a:cs typeface="Arial"/>
              </a:rPr>
              <a:t>Checkpoint: Unbabel/wmt22-comet-da [21], như thầy giao.</a:t>
            </a:r>
          </a:p>
        </p:txBody>
      </p:sp>
      <p:sp>
        <p:nvSpPr>
          <p:cNvPr id="20" name="Shape x640"/>
          <p:cNvSpPr/>
          <p:nvPr/>
        </p:nvSpPr>
        <p:spPr>
          <a:xfrm>
            <a:off x="4160520" y="3291840"/>
            <a:ext cx="3291840" cy="274320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Đọc điểm thế nào</a:t>
            </a:r>
            <a:endParaRPr lang="vi-VN" sz="1600" b="0" i="0" dirty="0">
              <a:solidFill>
                <a:srgbClr val="1B517B"/>
              </a:solidFill>
              <a:latin typeface="Arial"/>
              <a:ea typeface="Arial"/>
              <a:cs typeface="Arial"/>
            </a:endParaRPr>
          </a:p>
          <a:p>
            <a:pPr marL="0" indent="0" algn="l">
              <a:spcAft>
                <a:spcPts val="500"/>
              </a:spcAft>
              <a:buNone/>
            </a:pPr>
            <a:r>
              <a:rPr lang="vi-VN" sz="1250" b="0" i="0" dirty="0">
                <a:solidFill>
                  <a:srgbClr val="222222"/>
                </a:solidFill>
                <a:latin typeface="Arial"/>
                <a:ea typeface="Arial"/>
                <a:cs typeface="Arial"/>
              </a:rPr>
              <a:t>Thang 0 đến 1, càng cao càng tốt.</a:t>
            </a:r>
          </a:p>
          <a:p>
            <a:pPr marL="0" indent="0" algn="l">
              <a:spcAft>
                <a:spcPts val="500"/>
              </a:spcAft>
              <a:buNone/>
            </a:pPr>
            <a:r>
              <a:rPr lang="vi-VN" sz="1250" b="0" i="0" dirty="0">
                <a:solidFill>
                  <a:srgbClr val="222222"/>
                </a:solidFill>
                <a:latin typeface="Arial"/>
                <a:ea typeface="Arial"/>
                <a:cs typeface="Arial"/>
              </a:rPr>
              <a:t>0,85 không có nghĩa là dịch đúng 85%. Điểm dùng để xếp hạng các chiều hoặc các mô hình trên cùng tập test, với cùng checkpoint.</a:t>
            </a:r>
          </a:p>
        </p:txBody>
      </p:sp>
      <p:sp>
        <p:nvSpPr>
          <p:cNvPr id="21" name="Shape x641"/>
          <p:cNvSpPr/>
          <p:nvPr/>
        </p:nvSpPr>
        <p:spPr>
          <a:xfrm>
            <a:off x="7635240" y="3291840"/>
            <a:ext cx="3291840" cy="274320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Vì sao dùng thêm COMET</a:t>
            </a:r>
            <a:endParaRPr lang="vi-VN" sz="1600" b="0" i="0" dirty="0">
              <a:solidFill>
                <a:srgbClr val="1B517B"/>
              </a:solidFill>
              <a:latin typeface="Arial"/>
              <a:ea typeface="Arial"/>
              <a:cs typeface="Arial"/>
            </a:endParaRPr>
          </a:p>
          <a:p>
            <a:pPr marL="0" indent="0" algn="l">
              <a:spcAft>
                <a:spcPts val="500"/>
              </a:spcAft>
              <a:buNone/>
            </a:pPr>
            <a:r>
              <a:rPr lang="vi-VN" sz="1250" b="0" i="0" dirty="0">
                <a:solidFill>
                  <a:srgbClr val="222222"/>
                </a:solidFill>
                <a:latin typeface="Arial"/>
                <a:ea typeface="Arial"/>
                <a:cs typeface="Arial"/>
              </a:rPr>
              <a:t>Nguồn: "Tôi không đồng ý với đề xuất này."</a:t>
            </a:r>
          </a:p>
          <a:p>
            <a:pPr marL="0" indent="0" algn="l">
              <a:spcAft>
                <a:spcPts val="500"/>
              </a:spcAft>
              <a:buNone/>
            </a:pPr>
            <a:r>
              <a:rPr lang="vi-VN" sz="1250" b="0" i="0" dirty="0">
                <a:solidFill>
                  <a:srgbClr val="222222"/>
                </a:solidFill>
                <a:latin typeface="Arial"/>
                <a:ea typeface="Arial"/>
                <a:cs typeface="Arial"/>
              </a:rPr>
              <a:t>"I disagree with this proposal." đúng nghĩa nhưng BLEU câu bằng 0. "I do not agree with this purpose." trùng nhiều chữ nhưng sai nghĩa.</a:t>
            </a:r>
          </a:p>
          <a:p>
            <a:pPr marL="0" indent="0" algn="l">
              <a:spcAft>
                <a:spcPts val="500"/>
              </a:spcAft>
              <a:buNone/>
            </a:pPr>
            <a:r>
              <a:rPr lang="vi-VN" sz="1250" b="0" i="0" dirty="0">
                <a:solidFill>
                  <a:srgbClr val="222222"/>
                </a:solidFill>
                <a:latin typeface="Arial"/>
                <a:ea typeface="Arial"/>
                <a:cs typeface="Arial"/>
              </a:rPr>
              <a:t>COMET nhìn cả câu nguồn nên chấm theo nghĩa.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RTF và p90: đo tốc độ cả chuỗi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37</a:t>
            </a:r>
            <a:endParaRPr lang="en-US" sz="1100" dirty="0"/>
          </a:p>
        </p:txBody>
      </p:sp>
      <p:sp>
        <p:nvSpPr>
          <p:cNvPr id="8" name="Shape x642"/>
          <p:cNvSpPr/>
          <p:nvPr/>
        </p:nvSpPr>
        <p:spPr>
          <a:xfrm>
            <a:off x="685800" y="1463040"/>
            <a:ext cx="10241280" cy="868680"/>
          </a:xfrm>
          <a:prstGeom prst="roundRect">
            <a:avLst>
              <a:gd name="adj" fmla="val 3556"/>
            </a:avLst>
          </a:prstGeom>
          <a:solidFill>
            <a:srgbClr val="EEF4F9"/>
          </a:solidFill>
          <a:ln w="12700">
            <a:solidFill>
              <a:srgbClr val="EEF4F9"/>
            </a:solidFill>
            <a:prstDash val="solid"/>
          </a:ln>
        </p:spPr>
        <p:txBody>
          <a:bodyPr wrap="square" lIns="73152" tIns="73152" rIns="73152" bIns="73152" rtlCol="0" anchor="ctr"/>
          <a:lstStyle/>
          <a:p>
            <a:pPr marL="0" indent="0" algn="ctr">
              <a:spcAft>
                <a:spcPts val="400"/>
              </a:spcAft>
              <a:buNone/>
            </a:pPr>
            <a:r>
              <a:rPr lang="vi-VN" sz="2000" b="1" i="0" dirty="0">
                <a:solidFill>
                  <a:srgbClr val="1B517B"/>
                </a:solidFill>
                <a:latin typeface="Arial"/>
                <a:ea typeface="Arial"/>
                <a:cs typeface="Arial"/>
              </a:rPr>
              <a:t>RTF = thời gian xử lý ÷ thời lượng âm thanh</a:t>
            </a:r>
            <a:endParaRPr lang="vi-VN" sz="2000" b="0" i="0" dirty="0">
              <a:solidFill>
                <a:srgbClr val="1B517B"/>
              </a:solidFill>
              <a:latin typeface="Arial"/>
              <a:ea typeface="Arial"/>
              <a:cs typeface="Arial"/>
            </a:endParaRPr>
          </a:p>
          <a:p>
            <a:pPr marL="0" indent="0" algn="ctr">
              <a:buNone/>
            </a:pPr>
            <a:r>
              <a:rPr lang="vi-VN" sz="1400" b="0" i="0" dirty="0">
                <a:solidFill>
                  <a:srgbClr val="222222"/>
                </a:solidFill>
                <a:latin typeface="Arial"/>
                <a:ea typeface="Arial"/>
                <a:cs typeface="Arial"/>
              </a:rPr>
              <a:t>Ví dụ: câu dài 4 giây, cả chuỗi VAD → ASR → MT → TTS xử lý mất 1,2 giây → RTF = 0,3</a:t>
            </a:r>
          </a:p>
        </p:txBody>
      </p:sp>
      <p:sp>
        <p:nvSpPr>
          <p:cNvPr id="9" name="Shape x643"/>
          <p:cNvSpPr/>
          <p:nvPr/>
        </p:nvSpPr>
        <p:spPr>
          <a:xfrm>
            <a:off x="685800" y="2880360"/>
            <a:ext cx="3657600" cy="457200"/>
          </a:xfrm>
          <a:prstGeom prst="rect">
            <a:avLst/>
          </a:prstGeom>
          <a:solidFill>
            <a:srgbClr val="D5ECDD"/>
          </a:solidFill>
          <a:ln>
            <a:noFill/>
          </a:ln>
        </p:spPr>
        <p:txBody>
          <a:bodyPr wrap="square" lIns="137160" tIns="137160" rIns="137160" bIns="137160" rtlCol="0" anchor="ctr"/>
          <a:lstStyle/>
          <a:p>
            <a:pPr marL="0" indent="0" algn="l">
              <a:buNone/>
            </a:pPr>
            <a:r>
              <a:rPr lang="vi-VN" sz="1300" b="1" i="0" dirty="0">
                <a:solidFill>
                  <a:srgbClr val="2E8B57"/>
                </a:solidFill>
                <a:latin typeface="Arial"/>
                <a:ea typeface="Arial"/>
                <a:cs typeface="Arial"/>
              </a:rPr>
              <a:t>mục tiêu ≤ 0,5</a:t>
            </a:r>
            <a:endParaRPr lang="vi-VN" sz="1300" b="0" i="0" dirty="0">
              <a:solidFill>
                <a:srgbClr val="2E8B57"/>
              </a:solidFill>
              <a:latin typeface="Arial"/>
              <a:ea typeface="Arial"/>
              <a:cs typeface="Arial"/>
            </a:endParaRPr>
          </a:p>
        </p:txBody>
      </p:sp>
      <p:sp>
        <p:nvSpPr>
          <p:cNvPr id="10" name="Shape x644"/>
          <p:cNvSpPr/>
          <p:nvPr/>
        </p:nvSpPr>
        <p:spPr>
          <a:xfrm>
            <a:off x="4343400" y="2880360"/>
            <a:ext cx="3657600" cy="457200"/>
          </a:xfrm>
          <a:prstGeom prst="rect">
            <a:avLst/>
          </a:prstGeom>
          <a:solidFill>
            <a:srgbClr val="FCE9A0"/>
          </a:solidFill>
          <a:ln>
            <a:noFill/>
          </a:ln>
        </p:spPr>
        <p:txBody>
          <a:bodyPr wrap="square" lIns="137160" tIns="137160" rIns="137160" bIns="137160" rtlCol="0" anchor="ctr"/>
          <a:lstStyle/>
          <a:p>
            <a:pPr marL="0" indent="0" algn="l">
              <a:buNone/>
            </a:pPr>
            <a:r>
              <a:rPr lang="vi-VN" sz="1300" b="1" i="0" dirty="0">
                <a:solidFill>
                  <a:srgbClr val="8A6D00"/>
                </a:solidFill>
                <a:latin typeface="Arial"/>
                <a:ea typeface="Arial"/>
                <a:cs typeface="Arial"/>
              </a:rPr>
              <a:t>theo kịp</a:t>
            </a:r>
            <a:endParaRPr lang="vi-VN" sz="1300" b="0" i="0" dirty="0">
              <a:solidFill>
                <a:srgbClr val="8A6D00"/>
              </a:solidFill>
              <a:latin typeface="Arial"/>
              <a:ea typeface="Arial"/>
              <a:cs typeface="Arial"/>
            </a:endParaRPr>
          </a:p>
        </p:txBody>
      </p:sp>
      <p:sp>
        <p:nvSpPr>
          <p:cNvPr id="11" name="Shape x645"/>
          <p:cNvSpPr/>
          <p:nvPr/>
        </p:nvSpPr>
        <p:spPr>
          <a:xfrm>
            <a:off x="8001000" y="2880360"/>
            <a:ext cx="2926080" cy="457200"/>
          </a:xfrm>
          <a:prstGeom prst="rect">
            <a:avLst/>
          </a:prstGeom>
          <a:solidFill>
            <a:srgbClr val="FBEDED"/>
          </a:solidFill>
          <a:ln>
            <a:noFill/>
          </a:ln>
        </p:spPr>
        <p:txBody>
          <a:bodyPr wrap="square" lIns="73152" tIns="73152" rIns="73152" bIns="73152" rtlCol="0" anchor="ctr"/>
          <a:lstStyle/>
          <a:p>
            <a:pPr marL="0" indent="0" algn="ctr">
              <a:buNone/>
            </a:pPr>
            <a:r>
              <a:rPr lang="vi-VN" sz="1300" b="1" i="0" dirty="0">
                <a:solidFill>
                  <a:srgbClr val="B8262B"/>
                </a:solidFill>
                <a:latin typeface="Arial"/>
                <a:ea typeface="Arial"/>
                <a:cs typeface="Arial"/>
              </a:rPr>
              <a:t>&gt; 1: câu dồn lại</a:t>
            </a:r>
            <a:endParaRPr lang="vi-VN" sz="1300" b="0" i="0" dirty="0">
              <a:solidFill>
                <a:srgbClr val="B8262B"/>
              </a:solidFill>
              <a:latin typeface="Arial"/>
              <a:ea typeface="Arial"/>
              <a:cs typeface="Arial"/>
            </a:endParaRPr>
          </a:p>
        </p:txBody>
      </p:sp>
      <p:sp>
        <p:nvSpPr>
          <p:cNvPr id="12" name="Shape x646"/>
          <p:cNvSpPr/>
          <p:nvPr/>
        </p:nvSpPr>
        <p:spPr>
          <a:xfrm>
            <a:off x="3464662" y="2743200"/>
            <a:ext cx="45720" cy="731520"/>
          </a:xfrm>
          <a:prstGeom prst="rect">
            <a:avLst/>
          </a:prstGeom>
          <a:solidFill>
            <a:srgbClr val="1B517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3" name="Text x647"/>
          <p:cNvSpPr txBox="1"/>
          <p:nvPr/>
        </p:nvSpPr>
        <p:spPr>
          <a:xfrm>
            <a:off x="2115922" y="2423160"/>
            <a:ext cx="2743200" cy="292608"/>
          </a:xfrm>
          <a:prstGeom prst="rect">
            <a:avLst/>
          </a:prstGeom>
          <a:noFill/>
          <a:ln>
            <a:noFill/>
          </a:ln>
        </p:spPr>
        <p:txBody>
          <a:bodyPr wrap="square" lIns="0" tIns="0" rIns="0" bIns="0" rtlCol="0" anchor="t"/>
          <a:lstStyle/>
          <a:p>
            <a:pPr marL="0" indent="0" algn="ctr">
              <a:buNone/>
            </a:pPr>
            <a:r>
              <a:rPr lang="vi-VN" sz="1200" b="1" i="0" dirty="0">
                <a:solidFill>
                  <a:srgbClr val="1B517B"/>
                </a:solidFill>
                <a:latin typeface="Arial"/>
                <a:ea typeface="Arial"/>
                <a:cs typeface="Arial"/>
              </a:rPr>
              <a:t>Windows, chiều chậm nhất 0,383</a:t>
            </a:r>
            <a:endParaRPr lang="vi-VN" sz="1200" b="0" i="0" dirty="0">
              <a:solidFill>
                <a:srgbClr val="1B517B"/>
              </a:solidFill>
              <a:latin typeface="Arial"/>
              <a:ea typeface="Arial"/>
              <a:cs typeface="Arial"/>
            </a:endParaRPr>
          </a:p>
        </p:txBody>
      </p:sp>
      <p:sp>
        <p:nvSpPr>
          <p:cNvPr id="14" name="Shape x648"/>
          <p:cNvSpPr/>
          <p:nvPr/>
        </p:nvSpPr>
        <p:spPr>
          <a:xfrm>
            <a:off x="6412687" y="2743200"/>
            <a:ext cx="45720" cy="731520"/>
          </a:xfrm>
          <a:prstGeom prst="rect">
            <a:avLst/>
          </a:prstGeom>
          <a:solidFill>
            <a:srgbClr val="1B517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5" name="Text x649"/>
          <p:cNvSpPr txBox="1"/>
          <p:nvPr/>
        </p:nvSpPr>
        <p:spPr>
          <a:xfrm>
            <a:off x="5063947" y="2423160"/>
            <a:ext cx="2743200" cy="292608"/>
          </a:xfrm>
          <a:prstGeom prst="rect">
            <a:avLst/>
          </a:prstGeom>
          <a:noFill/>
          <a:ln>
            <a:noFill/>
          </a:ln>
        </p:spPr>
        <p:txBody>
          <a:bodyPr wrap="square" lIns="0" tIns="0" rIns="0" bIns="0" rtlCol="0" anchor="t"/>
          <a:lstStyle/>
          <a:p>
            <a:pPr marL="0" indent="0" algn="ctr">
              <a:buNone/>
            </a:pPr>
            <a:r>
              <a:rPr lang="vi-VN" sz="1200" b="1" i="0" dirty="0">
                <a:solidFill>
                  <a:srgbClr val="1B517B"/>
                </a:solidFill>
                <a:latin typeface="Arial"/>
                <a:ea typeface="Arial"/>
                <a:cs typeface="Arial"/>
              </a:rPr>
              <a:t>macOS, chiều chậm nhất 0,786</a:t>
            </a:r>
            <a:endParaRPr lang="vi-VN" sz="1200" b="0" i="0" dirty="0">
              <a:solidFill>
                <a:srgbClr val="1B517B"/>
              </a:solidFill>
              <a:latin typeface="Arial"/>
              <a:ea typeface="Arial"/>
              <a:cs typeface="Arial"/>
            </a:endParaRPr>
          </a:p>
        </p:txBody>
      </p:sp>
      <p:sp>
        <p:nvSpPr>
          <p:cNvPr id="16" name="Text x650"/>
          <p:cNvSpPr txBox="1"/>
          <p:nvPr/>
        </p:nvSpPr>
        <p:spPr>
          <a:xfrm>
            <a:off x="320040" y="3383280"/>
            <a:ext cx="731520" cy="274320"/>
          </a:xfrm>
          <a:prstGeom prst="rect">
            <a:avLst/>
          </a:prstGeom>
          <a:noFill/>
          <a:ln>
            <a:noFill/>
          </a:ln>
        </p:spPr>
        <p:txBody>
          <a:bodyPr wrap="square" lIns="0" tIns="0" rIns="0" bIns="0" rtlCol="0" anchor="t"/>
          <a:lstStyle/>
          <a:p>
            <a:pPr marL="0" indent="0" algn="ctr">
              <a:buNone/>
            </a:pPr>
            <a:r>
              <a:rPr lang="vi-VN" sz="1200" b="0" i="0" dirty="0">
                <a:solidFill>
                  <a:srgbClr val="5F6B76"/>
                </a:solidFill>
                <a:latin typeface="Arial"/>
                <a:ea typeface="Arial"/>
                <a:cs typeface="Arial"/>
              </a:rPr>
              <a:t>0</a:t>
            </a:r>
          </a:p>
        </p:txBody>
      </p:sp>
      <p:sp>
        <p:nvSpPr>
          <p:cNvPr id="17" name="Text x651"/>
          <p:cNvSpPr txBox="1"/>
          <p:nvPr/>
        </p:nvSpPr>
        <p:spPr>
          <a:xfrm>
            <a:off x="3977640" y="3383280"/>
            <a:ext cx="731520" cy="274320"/>
          </a:xfrm>
          <a:prstGeom prst="rect">
            <a:avLst/>
          </a:prstGeom>
          <a:noFill/>
          <a:ln>
            <a:noFill/>
          </a:ln>
        </p:spPr>
        <p:txBody>
          <a:bodyPr wrap="square" lIns="0" tIns="0" rIns="0" bIns="0" rtlCol="0" anchor="t"/>
          <a:lstStyle/>
          <a:p>
            <a:pPr marL="0" indent="0" algn="ctr">
              <a:buNone/>
            </a:pPr>
            <a:r>
              <a:rPr lang="vi-VN" sz="1200" b="0" i="0" dirty="0">
                <a:solidFill>
                  <a:srgbClr val="5F6B76"/>
                </a:solidFill>
                <a:latin typeface="Arial"/>
                <a:ea typeface="Arial"/>
                <a:cs typeface="Arial"/>
              </a:rPr>
              <a:t>0,5</a:t>
            </a:r>
          </a:p>
        </p:txBody>
      </p:sp>
      <p:sp>
        <p:nvSpPr>
          <p:cNvPr id="18" name="Text x652"/>
          <p:cNvSpPr txBox="1"/>
          <p:nvPr/>
        </p:nvSpPr>
        <p:spPr>
          <a:xfrm>
            <a:off x="7635240" y="3383280"/>
            <a:ext cx="731520" cy="274320"/>
          </a:xfrm>
          <a:prstGeom prst="rect">
            <a:avLst/>
          </a:prstGeom>
          <a:noFill/>
          <a:ln>
            <a:noFill/>
          </a:ln>
        </p:spPr>
        <p:txBody>
          <a:bodyPr wrap="square" lIns="0" tIns="0" rIns="0" bIns="0" rtlCol="0" anchor="t"/>
          <a:lstStyle/>
          <a:p>
            <a:pPr marL="0" indent="0" algn="ctr">
              <a:buNone/>
            </a:pPr>
            <a:r>
              <a:rPr lang="vi-VN" sz="1200" b="0" i="0" dirty="0">
                <a:solidFill>
                  <a:srgbClr val="5F6B76"/>
                </a:solidFill>
                <a:latin typeface="Arial"/>
                <a:ea typeface="Arial"/>
                <a:cs typeface="Arial"/>
              </a:rPr>
              <a:t>1</a:t>
            </a:r>
          </a:p>
        </p:txBody>
      </p:sp>
      <p:sp>
        <p:nvSpPr>
          <p:cNvPr id="19" name="Shape x653"/>
          <p:cNvSpPr/>
          <p:nvPr/>
        </p:nvSpPr>
        <p:spPr>
          <a:xfrm>
            <a:off x="685800" y="3794760"/>
            <a:ext cx="3291840" cy="224028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Vì sao phải dưới 1</a:t>
            </a:r>
            <a:endParaRPr lang="vi-VN" sz="1600" b="0" i="0" dirty="0">
              <a:solidFill>
                <a:srgbClr val="1B517B"/>
              </a:solidFill>
              <a:latin typeface="Arial"/>
              <a:ea typeface="Arial"/>
              <a:cs typeface="Arial"/>
            </a:endParaRPr>
          </a:p>
          <a:p>
            <a:pPr marL="0" indent="0" algn="l">
              <a:spcAft>
                <a:spcPts val="500"/>
              </a:spcAft>
              <a:buNone/>
            </a:pPr>
            <a:r>
              <a:rPr lang="vi-VN" sz="1250" b="0" i="0" dirty="0">
                <a:solidFill>
                  <a:srgbClr val="222222"/>
                </a:solidFill>
                <a:latin typeface="Arial"/>
                <a:ea typeface="Arial"/>
                <a:cs typeface="Arial"/>
              </a:rPr>
              <a:t>RTF lớn hơn 1 thì một câu xử lý lâu hơn thời gian nói câu đó: người nói liên tục làm các câu dồn lại, độ trễ tăng mãi. Các bài về ASR trực tuyến lấy RTF ≤ 1 làm điều kiện thời gian thực.</a:t>
            </a:r>
          </a:p>
        </p:txBody>
      </p:sp>
      <p:sp>
        <p:nvSpPr>
          <p:cNvPr id="20" name="Shape x654"/>
          <p:cNvSpPr/>
          <p:nvPr/>
        </p:nvSpPr>
        <p:spPr>
          <a:xfrm>
            <a:off x="4160520" y="3794760"/>
            <a:ext cx="3291840" cy="224028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Vì sao mục tiêu 0,5</a:t>
            </a:r>
            <a:endParaRPr lang="vi-VN" sz="1600" b="0" i="0" dirty="0">
              <a:solidFill>
                <a:srgbClr val="1B517B"/>
              </a:solidFill>
              <a:latin typeface="Arial"/>
              <a:ea typeface="Arial"/>
              <a:cs typeface="Arial"/>
            </a:endParaRPr>
          </a:p>
          <a:p>
            <a:pPr marL="0" indent="0" algn="l">
              <a:spcAft>
                <a:spcPts val="500"/>
              </a:spcAft>
              <a:buNone/>
            </a:pPr>
            <a:r>
              <a:rPr lang="vi-VN" sz="1250" b="0" i="0" dirty="0">
                <a:solidFill>
                  <a:srgbClr val="222222"/>
                </a:solidFill>
                <a:latin typeface="Arial"/>
                <a:ea typeface="Arial"/>
                <a:cs typeface="Arial"/>
              </a:rPr>
              <a:t>Mức em đề xuất. Hai chiều dùng chung một bộ mô hình, khi hai bên cùng nói mỗi chiều còn khoảng nửa sức máy. Câu dài nhất 6 s × 0,5 = 3 s xử lý, khớp mức trễ khoảng 3 s của phiên dịch viên người thật.</a:t>
            </a:r>
          </a:p>
        </p:txBody>
      </p:sp>
      <p:sp>
        <p:nvSpPr>
          <p:cNvPr id="21" name="Shape x655"/>
          <p:cNvSpPr/>
          <p:nvPr/>
        </p:nvSpPr>
        <p:spPr>
          <a:xfrm>
            <a:off x="7635240" y="3794760"/>
            <a:ext cx="3291840" cy="2240280"/>
          </a:xfrm>
          <a:prstGeom prst="roundRect">
            <a:avLst>
              <a:gd name="adj" fmla="val 3556"/>
            </a:avLst>
          </a:prstGeom>
          <a:solidFill>
            <a:srgbClr val="EEF4F9"/>
          </a:solidFill>
          <a:ln w="12700">
            <a:solidFill>
              <a:srgbClr val="EEF4F9"/>
            </a:solidFill>
            <a:prstDash val="solid"/>
          </a:ln>
        </p:spPr>
        <p:txBody>
          <a:bodyPr wrap="square" lIns="155448" tIns="155448" rIns="155448" bIns="155448" rtlCol="0" anchor="t"/>
          <a:lstStyle/>
          <a:p>
            <a:pPr marL="0" indent="0" algn="l">
              <a:spcAft>
                <a:spcPts val="600"/>
              </a:spcAft>
              <a:buNone/>
            </a:pPr>
            <a:r>
              <a:rPr lang="vi-VN" sz="1600" b="1" i="0" dirty="0">
                <a:solidFill>
                  <a:srgbClr val="1B517B"/>
                </a:solidFill>
                <a:latin typeface="Arial"/>
                <a:ea typeface="Arial"/>
                <a:cs typeface="Arial"/>
              </a:rPr>
              <a:t>Vì sao dùng p90</a:t>
            </a:r>
            <a:endParaRPr lang="vi-VN" sz="1600" b="0" i="0" dirty="0">
              <a:solidFill>
                <a:srgbClr val="1B517B"/>
              </a:solidFill>
              <a:latin typeface="Arial"/>
              <a:ea typeface="Arial"/>
              <a:cs typeface="Arial"/>
            </a:endParaRPr>
          </a:p>
          <a:p>
            <a:pPr marL="0" indent="0" algn="l">
              <a:spcAft>
                <a:spcPts val="500"/>
              </a:spcAft>
              <a:buNone/>
            </a:pPr>
            <a:r>
              <a:rPr lang="vi-VN" sz="1250" b="0" i="0" dirty="0">
                <a:solidFill>
                  <a:srgbClr val="222222"/>
                </a:solidFill>
                <a:latin typeface="Arial"/>
                <a:ea typeface="Arial"/>
                <a:cs typeface="Arial"/>
              </a:rPr>
              <a:t>p90: 9 trên 10 câu nhanh hơn mức này. Trung bình có thể thấp trong khi vài câu dài rất chậm. Thời gian VAD chờ chốt câu (200–256 ms) tính riêng, không nằm trong RTF.</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Câu hỏi: muốn thêm ngôn ngữ khác thì phải sửa những gì?</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38</a:t>
            </a:r>
            <a:endParaRPr lang="en-US" sz="1100" dirty="0"/>
          </a:p>
        </p:txBody>
      </p:sp>
      <p:sp>
        <p:nvSpPr>
          <p:cNvPr id="8" name="Shape x656"/>
          <p:cNvSpPr/>
          <p:nvPr/>
        </p:nvSpPr>
        <p:spPr>
          <a:xfrm>
            <a:off x="685800" y="1463040"/>
            <a:ext cx="2377440" cy="457200"/>
          </a:xfrm>
          <a:prstGeom prst="roundRect">
            <a:avLst>
              <a:gd name="adj" fmla="val 3556"/>
            </a:avLst>
          </a:prstGeom>
          <a:solidFill>
            <a:srgbClr val="1B517B"/>
          </a:solidFill>
          <a:ln w="12700">
            <a:solidFill>
              <a:srgbClr val="1B517B"/>
            </a:solidFill>
            <a:prstDash val="solid"/>
          </a:ln>
        </p:spPr>
        <p:txBody>
          <a:bodyPr wrap="square" lIns="27432" tIns="27432" rIns="27432" bIns="27432" rtlCol="0" anchor="ctr"/>
          <a:lstStyle/>
          <a:p>
            <a:pPr marL="0" indent="0" algn="ctr">
              <a:buNone/>
            </a:pPr>
            <a:r>
              <a:rPr lang="vi-VN" sz="1600" b="1" i="0" dirty="0">
                <a:solidFill>
                  <a:srgbClr val="FFFFFF"/>
                </a:solidFill>
                <a:latin typeface="Arial"/>
                <a:ea typeface="Arial"/>
                <a:cs typeface="Arial"/>
              </a:rPr>
              <a:t>VAD</a:t>
            </a:r>
            <a:endParaRPr lang="vi-VN" sz="1600" b="0" i="0" dirty="0">
              <a:solidFill>
                <a:srgbClr val="FFFFFF"/>
              </a:solidFill>
              <a:latin typeface="Arial"/>
              <a:ea typeface="Arial"/>
              <a:cs typeface="Arial"/>
            </a:endParaRPr>
          </a:p>
        </p:txBody>
      </p:sp>
      <p:sp>
        <p:nvSpPr>
          <p:cNvPr id="9" name="Shape x657"/>
          <p:cNvSpPr/>
          <p:nvPr/>
        </p:nvSpPr>
        <p:spPr>
          <a:xfrm>
            <a:off x="685800" y="1965960"/>
            <a:ext cx="2377440" cy="1325880"/>
          </a:xfrm>
          <a:prstGeom prst="roundRect">
            <a:avLst>
              <a:gd name="adj" fmla="val 3556"/>
            </a:avLst>
          </a:prstGeom>
          <a:solidFill>
            <a:srgbClr val="EEF4F9"/>
          </a:solidFill>
          <a:ln w="12700">
            <a:solidFill>
              <a:srgbClr val="EEF4F9"/>
            </a:solidFill>
            <a:prstDash val="solid"/>
          </a:ln>
        </p:spPr>
        <p:txBody>
          <a:bodyPr wrap="square" lIns="91440" tIns="91440" rIns="91440" bIns="91440" rtlCol="0" anchor="t"/>
          <a:lstStyle/>
          <a:p>
            <a:pPr marL="0" indent="0" algn="ctr">
              <a:spcAft>
                <a:spcPts val="400"/>
              </a:spcAft>
              <a:buNone/>
            </a:pPr>
            <a:r>
              <a:rPr lang="vi-VN" sz="1300" b="1" i="0" dirty="0">
                <a:solidFill>
                  <a:srgbClr val="2E8B57"/>
                </a:solidFill>
                <a:latin typeface="Arial"/>
                <a:ea typeface="Arial"/>
                <a:cs typeface="Arial"/>
              </a:rPr>
              <a:t>giữ nguyên</a:t>
            </a:r>
            <a:endParaRPr lang="vi-VN" sz="1300" b="0" i="0" dirty="0">
              <a:solidFill>
                <a:srgbClr val="2E8B57"/>
              </a:solidFill>
              <a:latin typeface="Arial"/>
              <a:ea typeface="Arial"/>
              <a:cs typeface="Arial"/>
            </a:endParaRPr>
          </a:p>
          <a:p>
            <a:pPr marL="0" indent="0" algn="ctr">
              <a:buNone/>
            </a:pPr>
            <a:r>
              <a:rPr lang="vi-VN" sz="1200" b="0" i="0" dirty="0">
                <a:solidFill>
                  <a:srgbClr val="222222"/>
                </a:solidFill>
                <a:latin typeface="Arial"/>
                <a:ea typeface="Arial"/>
                <a:cs typeface="Arial"/>
              </a:rPr>
              <a:t>Silero không phụ thuộc ngôn ngữ, không cần đổi gì.</a:t>
            </a:r>
          </a:p>
        </p:txBody>
      </p:sp>
      <p:sp>
        <p:nvSpPr>
          <p:cNvPr id="10" name="Shape x658"/>
          <p:cNvSpPr/>
          <p:nvPr/>
        </p:nvSpPr>
        <p:spPr>
          <a:xfrm>
            <a:off x="3081528" y="1691640"/>
            <a:ext cx="146304"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1" name="Shape x659"/>
          <p:cNvSpPr/>
          <p:nvPr/>
        </p:nvSpPr>
        <p:spPr>
          <a:xfrm>
            <a:off x="3246120" y="1463040"/>
            <a:ext cx="2377440" cy="457200"/>
          </a:xfrm>
          <a:prstGeom prst="roundRect">
            <a:avLst>
              <a:gd name="adj" fmla="val 3556"/>
            </a:avLst>
          </a:prstGeom>
          <a:solidFill>
            <a:srgbClr val="1B517B"/>
          </a:solidFill>
          <a:ln w="12700">
            <a:solidFill>
              <a:srgbClr val="1B517B"/>
            </a:solidFill>
            <a:prstDash val="solid"/>
          </a:ln>
        </p:spPr>
        <p:txBody>
          <a:bodyPr wrap="square" lIns="27432" tIns="27432" rIns="27432" bIns="27432" rtlCol="0" anchor="ctr"/>
          <a:lstStyle/>
          <a:p>
            <a:pPr marL="0" indent="0" algn="ctr">
              <a:buNone/>
            </a:pPr>
            <a:r>
              <a:rPr lang="vi-VN" sz="1600" b="1" i="0" dirty="0">
                <a:solidFill>
                  <a:srgbClr val="FFFFFF"/>
                </a:solidFill>
                <a:latin typeface="Arial"/>
                <a:ea typeface="Arial"/>
                <a:cs typeface="Arial"/>
              </a:rPr>
              <a:t>ASR</a:t>
            </a:r>
            <a:endParaRPr lang="vi-VN" sz="1600" b="0" i="0" dirty="0">
              <a:solidFill>
                <a:srgbClr val="FFFFFF"/>
              </a:solidFill>
              <a:latin typeface="Arial"/>
              <a:ea typeface="Arial"/>
              <a:cs typeface="Arial"/>
            </a:endParaRPr>
          </a:p>
        </p:txBody>
      </p:sp>
      <p:sp>
        <p:nvSpPr>
          <p:cNvPr id="12" name="Shape x660"/>
          <p:cNvSpPr/>
          <p:nvPr/>
        </p:nvSpPr>
        <p:spPr>
          <a:xfrm>
            <a:off x="3246120" y="1965960"/>
            <a:ext cx="2377440" cy="1325880"/>
          </a:xfrm>
          <a:prstGeom prst="roundRect">
            <a:avLst>
              <a:gd name="adj" fmla="val 3556"/>
            </a:avLst>
          </a:prstGeom>
          <a:solidFill>
            <a:srgbClr val="EEF4F9"/>
          </a:solidFill>
          <a:ln w="12700">
            <a:solidFill>
              <a:srgbClr val="EEF4F9"/>
            </a:solidFill>
            <a:prstDash val="solid"/>
          </a:ln>
        </p:spPr>
        <p:txBody>
          <a:bodyPr wrap="square" lIns="91440" tIns="91440" rIns="91440" bIns="91440" rtlCol="0" anchor="t"/>
          <a:lstStyle/>
          <a:p>
            <a:pPr marL="0" indent="0" algn="ctr">
              <a:spcAft>
                <a:spcPts val="400"/>
              </a:spcAft>
              <a:buNone/>
            </a:pPr>
            <a:r>
              <a:rPr lang="vi-VN" sz="1300" b="1" i="0" dirty="0">
                <a:solidFill>
                  <a:srgbClr val="1B517B"/>
                </a:solidFill>
                <a:latin typeface="Arial"/>
                <a:ea typeface="Arial"/>
                <a:cs typeface="Arial"/>
              </a:rPr>
              <a:t>thêm mã</a:t>
            </a:r>
            <a:endParaRPr lang="vi-VN" sz="1300" b="0" i="0" dirty="0">
              <a:solidFill>
                <a:srgbClr val="1B517B"/>
              </a:solidFill>
              <a:latin typeface="Arial"/>
              <a:ea typeface="Arial"/>
              <a:cs typeface="Arial"/>
            </a:endParaRPr>
          </a:p>
          <a:p>
            <a:pPr marL="0" indent="0" algn="ctr">
              <a:buNone/>
            </a:pPr>
            <a:r>
              <a:rPr lang="vi-VN" sz="1200" b="0" i="0" dirty="0">
                <a:solidFill>
                  <a:srgbClr val="222222"/>
                </a:solidFill>
                <a:latin typeface="Arial"/>
                <a:ea typeface="Arial"/>
                <a:cs typeface="Arial"/>
              </a:rPr>
              <a:t>Whisper nhận dạng khoảng 100 ngôn ngữ: chỉ cần truyền mã mới, ví dụ "ko".</a:t>
            </a:r>
          </a:p>
        </p:txBody>
      </p:sp>
      <p:sp>
        <p:nvSpPr>
          <p:cNvPr id="13" name="Shape x661"/>
          <p:cNvSpPr/>
          <p:nvPr/>
        </p:nvSpPr>
        <p:spPr>
          <a:xfrm>
            <a:off x="5641848" y="1691640"/>
            <a:ext cx="146304"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4" name="Shape x662"/>
          <p:cNvSpPr/>
          <p:nvPr/>
        </p:nvSpPr>
        <p:spPr>
          <a:xfrm>
            <a:off x="5806440" y="1463040"/>
            <a:ext cx="2377440" cy="457200"/>
          </a:xfrm>
          <a:prstGeom prst="roundRect">
            <a:avLst>
              <a:gd name="adj" fmla="val 3556"/>
            </a:avLst>
          </a:prstGeom>
          <a:solidFill>
            <a:srgbClr val="1B517B"/>
          </a:solidFill>
          <a:ln w="12700">
            <a:solidFill>
              <a:srgbClr val="1B517B"/>
            </a:solidFill>
            <a:prstDash val="solid"/>
          </a:ln>
        </p:spPr>
        <p:txBody>
          <a:bodyPr wrap="square" lIns="27432" tIns="27432" rIns="27432" bIns="27432" rtlCol="0" anchor="ctr"/>
          <a:lstStyle/>
          <a:p>
            <a:pPr marL="0" indent="0" algn="ctr">
              <a:buNone/>
            </a:pPr>
            <a:r>
              <a:rPr lang="vi-VN" sz="1600" b="1" i="0" dirty="0">
                <a:solidFill>
                  <a:srgbClr val="FFFFFF"/>
                </a:solidFill>
                <a:latin typeface="Arial"/>
                <a:ea typeface="Arial"/>
                <a:cs typeface="Arial"/>
              </a:rPr>
              <a:t>MT</a:t>
            </a:r>
            <a:endParaRPr lang="vi-VN" sz="1600" b="0" i="0" dirty="0">
              <a:solidFill>
                <a:srgbClr val="FFFFFF"/>
              </a:solidFill>
              <a:latin typeface="Arial"/>
              <a:ea typeface="Arial"/>
              <a:cs typeface="Arial"/>
            </a:endParaRPr>
          </a:p>
        </p:txBody>
      </p:sp>
      <p:sp>
        <p:nvSpPr>
          <p:cNvPr id="15" name="Shape x663"/>
          <p:cNvSpPr/>
          <p:nvPr/>
        </p:nvSpPr>
        <p:spPr>
          <a:xfrm>
            <a:off x="5806440" y="1965960"/>
            <a:ext cx="2377440" cy="1325880"/>
          </a:xfrm>
          <a:prstGeom prst="roundRect">
            <a:avLst>
              <a:gd name="adj" fmla="val 3556"/>
            </a:avLst>
          </a:prstGeom>
          <a:solidFill>
            <a:srgbClr val="EEF4F9"/>
          </a:solidFill>
          <a:ln w="12700">
            <a:solidFill>
              <a:srgbClr val="EEF4F9"/>
            </a:solidFill>
            <a:prstDash val="solid"/>
          </a:ln>
        </p:spPr>
        <p:txBody>
          <a:bodyPr wrap="square" lIns="91440" tIns="91440" rIns="91440" bIns="91440" rtlCol="0" anchor="t"/>
          <a:lstStyle/>
          <a:p>
            <a:pPr marL="0" indent="0" algn="ctr">
              <a:spcAft>
                <a:spcPts val="400"/>
              </a:spcAft>
              <a:buNone/>
            </a:pPr>
            <a:r>
              <a:rPr lang="vi-VN" sz="1300" b="1" i="0" dirty="0">
                <a:solidFill>
                  <a:srgbClr val="1B517B"/>
                </a:solidFill>
                <a:latin typeface="Arial"/>
                <a:ea typeface="Arial"/>
                <a:cs typeface="Arial"/>
              </a:rPr>
              <a:t>thêm 1 dòng</a:t>
            </a:r>
            <a:endParaRPr lang="vi-VN" sz="1300" b="0" i="0" dirty="0">
              <a:solidFill>
                <a:srgbClr val="1B517B"/>
              </a:solidFill>
              <a:latin typeface="Arial"/>
              <a:ea typeface="Arial"/>
              <a:cs typeface="Arial"/>
            </a:endParaRPr>
          </a:p>
          <a:p>
            <a:pPr marL="0" indent="0" algn="ctr">
              <a:buNone/>
            </a:pPr>
            <a:r>
              <a:rPr lang="vi-VN" sz="1200" b="0" i="0" dirty="0">
                <a:solidFill>
                  <a:srgbClr val="222222"/>
                </a:solidFill>
                <a:latin typeface="Arial"/>
                <a:ea typeface="Arial"/>
                <a:cs typeface="Arial"/>
              </a:rPr>
              <a:t>NLLB-200 có 200 ngôn ngữ: thêm một dòng mã, ví dụ kor_Hang, trong nllb.py.</a:t>
            </a:r>
          </a:p>
        </p:txBody>
      </p:sp>
      <p:sp>
        <p:nvSpPr>
          <p:cNvPr id="16" name="Shape x664"/>
          <p:cNvSpPr/>
          <p:nvPr/>
        </p:nvSpPr>
        <p:spPr>
          <a:xfrm>
            <a:off x="8202168" y="1691640"/>
            <a:ext cx="146304" cy="0"/>
          </a:xfrm>
          <a:prstGeom prst="line">
            <a:avLst/>
          </a:prstGeom>
          <a:noFill/>
          <a:ln w="19050">
            <a:solidFill>
              <a:srgbClr val="1B517B"/>
            </a:solidFill>
            <a:prstDash val="solid"/>
            <a:tailEnd type="triangle" w="med" len="med"/>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7" name="Shape x665"/>
          <p:cNvSpPr/>
          <p:nvPr/>
        </p:nvSpPr>
        <p:spPr>
          <a:xfrm>
            <a:off x="8366760" y="1463040"/>
            <a:ext cx="2377440" cy="457200"/>
          </a:xfrm>
          <a:prstGeom prst="roundRect">
            <a:avLst>
              <a:gd name="adj" fmla="val 3556"/>
            </a:avLst>
          </a:prstGeom>
          <a:solidFill>
            <a:srgbClr val="1B517B"/>
          </a:solidFill>
          <a:ln w="12700">
            <a:solidFill>
              <a:srgbClr val="1B517B"/>
            </a:solidFill>
            <a:prstDash val="solid"/>
          </a:ln>
        </p:spPr>
        <p:txBody>
          <a:bodyPr wrap="square" lIns="27432" tIns="27432" rIns="27432" bIns="27432" rtlCol="0" anchor="ctr"/>
          <a:lstStyle/>
          <a:p>
            <a:pPr marL="0" indent="0" algn="ctr">
              <a:buNone/>
            </a:pPr>
            <a:r>
              <a:rPr lang="vi-VN" sz="1600" b="1" i="0" dirty="0">
                <a:solidFill>
                  <a:srgbClr val="FFFFFF"/>
                </a:solidFill>
                <a:latin typeface="Arial"/>
                <a:ea typeface="Arial"/>
                <a:cs typeface="Arial"/>
              </a:rPr>
              <a:t>TTS</a:t>
            </a:r>
            <a:endParaRPr lang="vi-VN" sz="1600" b="0" i="0" dirty="0">
              <a:solidFill>
                <a:srgbClr val="FFFFFF"/>
              </a:solidFill>
              <a:latin typeface="Arial"/>
              <a:ea typeface="Arial"/>
              <a:cs typeface="Arial"/>
            </a:endParaRPr>
          </a:p>
        </p:txBody>
      </p:sp>
      <p:sp>
        <p:nvSpPr>
          <p:cNvPr id="18" name="Shape x666"/>
          <p:cNvSpPr/>
          <p:nvPr/>
        </p:nvSpPr>
        <p:spPr>
          <a:xfrm>
            <a:off x="8366760" y="1965960"/>
            <a:ext cx="2377440" cy="1325880"/>
          </a:xfrm>
          <a:prstGeom prst="roundRect">
            <a:avLst>
              <a:gd name="adj" fmla="val 3556"/>
            </a:avLst>
          </a:prstGeom>
          <a:solidFill>
            <a:srgbClr val="FBEDED"/>
          </a:solidFill>
          <a:ln w="12700">
            <a:solidFill>
              <a:srgbClr val="FBEDED"/>
            </a:solidFill>
            <a:prstDash val="solid"/>
          </a:ln>
        </p:spPr>
        <p:txBody>
          <a:bodyPr wrap="square" lIns="91440" tIns="91440" rIns="91440" bIns="91440" rtlCol="0" anchor="t"/>
          <a:lstStyle/>
          <a:p>
            <a:pPr marL="0" indent="0" algn="ctr">
              <a:spcAft>
                <a:spcPts val="400"/>
              </a:spcAft>
              <a:buNone/>
            </a:pPr>
            <a:r>
              <a:rPr lang="vi-VN" sz="1300" b="1" i="0" dirty="0">
                <a:solidFill>
                  <a:srgbClr val="B8262B"/>
                </a:solidFill>
                <a:latin typeface="Arial"/>
                <a:ea typeface="Arial"/>
                <a:cs typeface="Arial"/>
              </a:rPr>
              <a:t>phần khó nhất</a:t>
            </a:r>
            <a:endParaRPr lang="vi-VN" sz="1300" b="0" i="0" dirty="0">
              <a:solidFill>
                <a:srgbClr val="B8262B"/>
              </a:solidFill>
              <a:latin typeface="Arial"/>
              <a:ea typeface="Arial"/>
              <a:cs typeface="Arial"/>
            </a:endParaRPr>
          </a:p>
          <a:p>
            <a:pPr marL="0" indent="0" algn="ctr">
              <a:buNone/>
            </a:pPr>
            <a:r>
              <a:rPr lang="vi-VN" sz="1200" b="0" i="0" dirty="0">
                <a:solidFill>
                  <a:srgbClr val="222222"/>
                </a:solidFill>
                <a:latin typeface="Arial"/>
                <a:ea typeface="Arial"/>
                <a:cs typeface="Arial"/>
              </a:rPr>
              <a:t>Cần giọng đọc offline cho ngôn ngữ đó: một voice sherpa-onnx, hoặc adapter mới như Kokoro.</a:t>
            </a:r>
          </a:p>
        </p:txBody>
      </p:sp>
      <p:sp>
        <p:nvSpPr>
          <p:cNvPr id="19" name="Shape x667"/>
          <p:cNvSpPr/>
          <p:nvPr/>
        </p:nvSpPr>
        <p:spPr>
          <a:xfrm>
            <a:off x="685800" y="3474720"/>
            <a:ext cx="5029200" cy="2011680"/>
          </a:xfrm>
          <a:prstGeom prst="roundRect">
            <a:avLst>
              <a:gd name="adj" fmla="val 3556"/>
            </a:avLst>
          </a:prstGeom>
          <a:solidFill>
            <a:srgbClr val="EEF4F9"/>
          </a:solidFill>
          <a:ln w="12700">
            <a:solidFill>
              <a:srgbClr val="EEF4F9"/>
            </a:solidFill>
            <a:prstDash val="solid"/>
          </a:ln>
        </p:spPr>
        <p:txBody>
          <a:bodyPr wrap="square" lIns="137160" tIns="137160" rIns="137160" bIns="137160" rtlCol="0" anchor="t"/>
          <a:lstStyle/>
          <a:p>
            <a:pPr marL="0" indent="0" algn="l">
              <a:spcAft>
                <a:spcPts val="500"/>
              </a:spcAft>
              <a:buNone/>
            </a:pPr>
            <a:r>
              <a:rPr lang="vi-VN" sz="1600" b="1" i="0" dirty="0">
                <a:solidFill>
                  <a:srgbClr val="1B517B"/>
                </a:solidFill>
                <a:latin typeface="Arial"/>
                <a:ea typeface="Arial"/>
                <a:cs typeface="Arial"/>
              </a:rPr>
              <a:t>Các chỗ phải sửa</a:t>
            </a:r>
            <a:endParaRPr lang="vi-VN" sz="1600" b="0" i="0" dirty="0">
              <a:solidFill>
                <a:srgbClr val="1B517B"/>
              </a:solidFill>
              <a:latin typeface="Arial"/>
              <a:ea typeface="Arial"/>
              <a:cs typeface="Arial"/>
            </a:endParaRPr>
          </a:p>
          <a:p>
            <a:pPr marL="201168" indent="-201168" algn="l">
              <a:spcAft>
                <a:spcPts val="200"/>
              </a:spcAft>
              <a:buFont typeface="Arial"/>
              <a:buChar char="•"/>
            </a:pPr>
            <a:r>
              <a:rPr lang="vi-VN" sz="1250" b="0" i="0" dirty="0">
                <a:solidFill>
                  <a:srgbClr val="222222"/>
                </a:solidFill>
                <a:latin typeface="Arial"/>
                <a:ea typeface="Arial"/>
                <a:cs typeface="Arial"/>
              </a:rPr>
              <a:t>Thêm mã vào enum Language (Python) và bản sao TypeScript.</a:t>
            </a:r>
          </a:p>
          <a:p>
            <a:pPr marL="201168" indent="-201168" algn="l">
              <a:spcAft>
                <a:spcPts val="200"/>
              </a:spcAft>
              <a:buFont typeface="Arial"/>
              <a:buChar char="•"/>
            </a:pPr>
            <a:r>
              <a:rPr lang="vi-VN" sz="1250" b="0" i="0" dirty="0">
                <a:solidFill>
                  <a:srgbClr val="222222"/>
                </a:solidFill>
                <a:latin typeface="Arial"/>
                <a:ea typeface="Arial"/>
                <a:cs typeface="Arial"/>
              </a:rPr>
              <a:t>Thêm mã NLLB vào adapters/mt/nllb.py.</a:t>
            </a:r>
          </a:p>
          <a:p>
            <a:pPr marL="201168" indent="-201168" algn="l">
              <a:spcAft>
                <a:spcPts val="200"/>
              </a:spcAft>
              <a:buFont typeface="Arial"/>
              <a:buChar char="•"/>
            </a:pPr>
            <a:r>
              <a:rPr lang="vi-VN" sz="1250" b="0" i="0" dirty="0">
                <a:solidFill>
                  <a:srgbClr val="222222"/>
                </a:solidFill>
                <a:latin typeface="Arial"/>
                <a:ea typeface="Arial"/>
                <a:cs typeface="Arial"/>
              </a:rPr>
              <a:t>Thêm giọng đọc; LanguageRoutedTts chọn engine theo ngôn ngữ.</a:t>
            </a:r>
          </a:p>
          <a:p>
            <a:pPr marL="201168" indent="-201168" algn="l">
              <a:spcAft>
                <a:spcPts val="400"/>
              </a:spcAft>
              <a:buFont typeface="Arial"/>
              <a:buChar char="•"/>
            </a:pPr>
            <a:r>
              <a:rPr lang="vi-VN" sz="1250" b="0" i="0" dirty="0">
                <a:solidFill>
                  <a:srgbClr val="222222"/>
                </a:solidFill>
                <a:latin typeface="Arial"/>
                <a:ea typeface="Arial"/>
                <a:cs typeface="Arial"/>
              </a:rPr>
              <a:t>Tên ngôn ngữ trên giao diện; ngôn ngữ không có khoảng trắng thì chấm bằng CER.</a:t>
            </a:r>
          </a:p>
          <a:p>
            <a:pPr marL="0" indent="0" algn="l">
              <a:buNone/>
            </a:pPr>
            <a:r>
              <a:rPr lang="vi-VN" sz="1250" b="1" i="0" dirty="0">
                <a:solidFill>
                  <a:srgbClr val="2E8B57"/>
                </a:solidFill>
                <a:latin typeface="Arial"/>
                <a:ea typeface="Arial"/>
                <a:cs typeface="Arial"/>
              </a:rPr>
              <a:t>Giữ nguyên: pipeline, VAD, bộ tách câu, WebSocket.</a:t>
            </a:r>
            <a:endParaRPr lang="vi-VN" sz="1250" b="0" i="0" dirty="0">
              <a:solidFill>
                <a:srgbClr val="2E8B57"/>
              </a:solidFill>
              <a:latin typeface="Arial"/>
              <a:ea typeface="Arial"/>
              <a:cs typeface="Arial"/>
            </a:endParaRPr>
          </a:p>
        </p:txBody>
      </p:sp>
      <p:sp>
        <p:nvSpPr>
          <p:cNvPr id="20" name="Shape x668"/>
          <p:cNvSpPr/>
          <p:nvPr/>
        </p:nvSpPr>
        <p:spPr>
          <a:xfrm>
            <a:off x="5897880" y="3474720"/>
            <a:ext cx="5029200" cy="2011680"/>
          </a:xfrm>
          <a:prstGeom prst="roundRect">
            <a:avLst>
              <a:gd name="adj" fmla="val 3556"/>
            </a:avLst>
          </a:prstGeom>
          <a:solidFill>
            <a:srgbClr val="EEF4F9"/>
          </a:solidFill>
          <a:ln w="12700">
            <a:solidFill>
              <a:srgbClr val="EEF4F9"/>
            </a:solidFill>
            <a:prstDash val="solid"/>
          </a:ln>
        </p:spPr>
        <p:txBody>
          <a:bodyPr wrap="square" lIns="137160" tIns="137160" rIns="137160" bIns="137160" rtlCol="0" anchor="t"/>
          <a:lstStyle/>
          <a:p>
            <a:pPr marL="0" indent="0" algn="l">
              <a:spcAft>
                <a:spcPts val="500"/>
              </a:spcAft>
              <a:buNone/>
            </a:pPr>
            <a:r>
              <a:rPr lang="vi-VN" sz="1600" b="1" i="0" dirty="0">
                <a:solidFill>
                  <a:srgbClr val="1B517B"/>
                </a:solidFill>
                <a:latin typeface="Arial"/>
                <a:ea typeface="Arial"/>
                <a:cs typeface="Arial"/>
              </a:rPr>
              <a:t>Ảnh hưởng tới chất lượng</a:t>
            </a:r>
            <a:endParaRPr lang="vi-VN" sz="1600" b="0" i="0" dirty="0">
              <a:solidFill>
                <a:srgbClr val="1B517B"/>
              </a:solidFill>
              <a:latin typeface="Arial"/>
              <a:ea typeface="Arial"/>
              <a:cs typeface="Arial"/>
            </a:endParaRPr>
          </a:p>
          <a:p>
            <a:pPr marL="0" indent="0" algn="l">
              <a:spcAft>
                <a:spcPts val="400"/>
              </a:spcAft>
              <a:buNone/>
            </a:pPr>
            <a:r>
              <a:rPr lang="vi-VN" sz="1250" b="0" i="0" dirty="0">
                <a:solidFill>
                  <a:srgbClr val="222222"/>
                </a:solidFill>
                <a:latin typeface="Arial"/>
                <a:ea typeface="Arial"/>
                <a:cs typeface="Arial"/>
              </a:rPr>
              <a:t>Chất lượng do Whisper và NLLB quyết định, và khác nhau nhiều giữa các ngôn ngữ: ngôn ngữ ít dữ liệu huấn luyện thì WER cao hơn hẳn.</a:t>
            </a:r>
          </a:p>
          <a:p>
            <a:pPr marL="0" indent="0" algn="l">
              <a:buNone/>
            </a:pPr>
            <a:r>
              <a:rPr lang="vi-VN" sz="1250" b="0" i="0" dirty="0">
                <a:solidFill>
                  <a:srgbClr val="222222"/>
                </a:solidFill>
                <a:latin typeface="Arial"/>
                <a:ea typeface="Arial"/>
                <a:cs typeface="Arial"/>
              </a:rPr>
              <a:t>FLEURS có 102 ngôn ngữ, nên chạy lại đúng bộ đánh giá của đề tài để có WER, COMET, RTF cho ngôn ngữ mới trước khi đưa vào ứng dụng.</a:t>
            </a:r>
          </a:p>
        </p:txBody>
      </p:sp>
      <p:sp>
        <p:nvSpPr>
          <p:cNvPr id="21" name="Shape x669"/>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22"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23"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Thêm ngôn ngữ chỉ đụng tới cấu hình và giọng đọc; còn chất lượng thì phải đo lại trên FLEURS</a:t>
            </a:r>
            <a:endParaRPr lang="vi-VN" sz="1500" b="0" i="0" dirty="0">
              <a:solidFill>
                <a:srgbClr val="B8262B"/>
              </a:solidFill>
              <a:latin typeface="Arial"/>
              <a:ea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Câu hỏi: sao không dùng một mô hình end-to-end hoặc LLM?</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39</a:t>
            </a:r>
            <a:endParaRPr lang="en-US" sz="1100" dirty="0"/>
          </a:p>
        </p:txBody>
      </p:sp>
      <p:sp>
        <p:nvSpPr>
          <p:cNvPr id="8" name="Shape x672"/>
          <p:cNvSpPr/>
          <p:nvPr/>
        </p:nvSpPr>
        <p:spPr>
          <a:xfrm>
            <a:off x="685800" y="1463040"/>
            <a:ext cx="5029200" cy="4023360"/>
          </a:xfrm>
          <a:prstGeom prst="roundRect">
            <a:avLst>
              <a:gd name="adj" fmla="val 3556"/>
            </a:avLst>
          </a:prstGeom>
          <a:solidFill>
            <a:srgbClr val="EEF4F9"/>
          </a:solidFill>
          <a:ln w="12700">
            <a:solidFill>
              <a:srgbClr val="EEF4F9"/>
            </a:solidFill>
            <a:prstDash val="solid"/>
          </a:ln>
        </p:spPr>
        <p:txBody>
          <a:bodyPr wrap="square" lIns="182880" tIns="182880" rIns="182880" bIns="182880" rtlCol="0" anchor="t"/>
          <a:lstStyle/>
          <a:p>
            <a:pPr marL="0" indent="0" algn="l">
              <a:spcAft>
                <a:spcPts val="800"/>
              </a:spcAft>
              <a:buNone/>
            </a:pPr>
            <a:r>
              <a:rPr lang="vi-VN" sz="1600" b="1" i="0" dirty="0">
                <a:solidFill>
                  <a:srgbClr val="1B517B"/>
                </a:solidFill>
                <a:latin typeface="Arial"/>
                <a:ea typeface="Arial"/>
                <a:cs typeface="Arial"/>
              </a:rPr>
              <a:t>Một mô hình làm trọn (SeamlessM4T, LLM)</a:t>
            </a:r>
            <a:endParaRPr lang="vi-VN" sz="1600" b="0" i="0" dirty="0">
              <a:solidFill>
                <a:srgbClr val="1B517B"/>
              </a:solidFill>
              <a:latin typeface="Arial"/>
              <a:ea typeface="Arial"/>
              <a:cs typeface="Arial"/>
            </a:endParaRPr>
          </a:p>
          <a:p>
            <a:pPr marL="201168" indent="-201168" algn="l">
              <a:spcAft>
                <a:spcPts val="600"/>
              </a:spcAft>
              <a:buFont typeface="Arial"/>
              <a:buChar char="•"/>
            </a:pPr>
            <a:r>
              <a:rPr lang="vi-VN" sz="1400" b="0" i="0" dirty="0">
                <a:solidFill>
                  <a:srgbClr val="2E8B57"/>
                </a:solidFill>
                <a:latin typeface="Arial"/>
                <a:ea typeface="Arial"/>
                <a:cs typeface="Arial"/>
              </a:rPr>
              <a:t>Ít lỗi cộng dồn giữa các khâu.</a:t>
            </a:r>
          </a:p>
          <a:p>
            <a:pPr marL="201168" indent="-201168" algn="l">
              <a:spcAft>
                <a:spcPts val="600"/>
              </a:spcAft>
              <a:buFont typeface="Arial"/>
              <a:buChar char="•"/>
            </a:pPr>
            <a:r>
              <a:rPr lang="vi-VN" sz="1400" b="0" i="0" dirty="0">
                <a:solidFill>
                  <a:srgbClr val="222222"/>
                </a:solidFill>
                <a:latin typeface="Arial"/>
                <a:ea typeface="Arial"/>
                <a:cs typeface="Arial"/>
              </a:rPr>
              <a:t>LLM 7 tỷ tham số lượng tử 4 bit: khoảng 3,5 GB chỉ riêng trọng số, chưa tính phần nghe và đọc.</a:t>
            </a:r>
          </a:p>
          <a:p>
            <a:pPr marL="201168" indent="-201168" algn="l">
              <a:buFont typeface="Arial"/>
              <a:buChar char="•"/>
            </a:pPr>
            <a:r>
              <a:rPr lang="vi-VN" sz="1400" b="0" i="0" dirty="0">
                <a:solidFill>
                  <a:srgbClr val="222222"/>
                </a:solidFill>
                <a:latin typeface="Arial"/>
                <a:ea typeface="Arial"/>
                <a:cs typeface="Arial"/>
              </a:rPr>
              <a:t>Kết quả sai thì không biết sai ở phần nghe hay phần dịch, và không thay riêng được phần nào.</a:t>
            </a:r>
          </a:p>
        </p:txBody>
      </p:sp>
      <p:sp>
        <p:nvSpPr>
          <p:cNvPr id="9" name="Shape x673"/>
          <p:cNvSpPr/>
          <p:nvPr/>
        </p:nvSpPr>
        <p:spPr>
          <a:xfrm>
            <a:off x="5897880" y="1463040"/>
            <a:ext cx="5029200" cy="4023360"/>
          </a:xfrm>
          <a:prstGeom prst="roundRect">
            <a:avLst>
              <a:gd name="adj" fmla="val 3556"/>
            </a:avLst>
          </a:prstGeom>
          <a:solidFill>
            <a:srgbClr val="EEF4F9"/>
          </a:solidFill>
          <a:ln w="12700">
            <a:solidFill>
              <a:srgbClr val="EEF4F9"/>
            </a:solidFill>
            <a:prstDash val="solid"/>
          </a:ln>
        </p:spPr>
        <p:txBody>
          <a:bodyPr wrap="square" lIns="182880" tIns="182880" rIns="182880" bIns="182880" rtlCol="0" anchor="t"/>
          <a:lstStyle/>
          <a:p>
            <a:pPr marL="0" indent="0" algn="l">
              <a:spcAft>
                <a:spcPts val="800"/>
              </a:spcAft>
              <a:buNone/>
            </a:pPr>
            <a:r>
              <a:rPr lang="vi-VN" sz="1600" b="1" i="0" dirty="0">
                <a:solidFill>
                  <a:srgbClr val="1B517B"/>
                </a:solidFill>
                <a:latin typeface="Arial"/>
                <a:ea typeface="Arial"/>
                <a:cs typeface="Arial"/>
              </a:rPr>
              <a:t>Chuỗi bốn khâu của đề tài</a:t>
            </a:r>
            <a:endParaRPr lang="vi-VN" sz="1600" b="0" i="0" dirty="0">
              <a:solidFill>
                <a:srgbClr val="1B517B"/>
              </a:solidFill>
              <a:latin typeface="Arial"/>
              <a:ea typeface="Arial"/>
              <a:cs typeface="Arial"/>
            </a:endParaRPr>
          </a:p>
          <a:p>
            <a:pPr marL="201168" indent="-201168" algn="l">
              <a:spcAft>
                <a:spcPts val="600"/>
              </a:spcAft>
              <a:buFont typeface="Arial"/>
              <a:buChar char="•"/>
            </a:pPr>
            <a:r>
              <a:rPr lang="vi-VN" sz="1400" b="0" i="0" dirty="0">
                <a:solidFill>
                  <a:srgbClr val="222222"/>
                </a:solidFill>
                <a:latin typeface="Arial"/>
                <a:ea typeface="Arial"/>
                <a:cs typeface="Arial"/>
              </a:rPr>
              <a:t>Mỗi khâu một mô hình vừa phải, thay được độc lập.</a:t>
            </a:r>
          </a:p>
          <a:p>
            <a:pPr marL="201168" indent="-201168" algn="l">
              <a:spcAft>
                <a:spcPts val="600"/>
              </a:spcAft>
              <a:buFont typeface="Arial"/>
              <a:buChar char="•"/>
            </a:pPr>
            <a:r>
              <a:rPr lang="vi-VN" sz="1400" b="0" i="0" dirty="0">
                <a:solidFill>
                  <a:srgbClr val="222222"/>
                </a:solidFill>
                <a:latin typeface="Arial"/>
                <a:ea typeface="Arial"/>
                <a:cs typeface="Arial"/>
              </a:rPr>
              <a:t>Mỗi khâu chạy runtime nhanh nhất cho phần cứng: Vulkan, CUDA, Metal.</a:t>
            </a:r>
          </a:p>
          <a:p>
            <a:pPr marL="201168" indent="-201168" algn="l">
              <a:spcAft>
                <a:spcPts val="600"/>
              </a:spcAft>
              <a:buFont typeface="Arial"/>
              <a:buChar char="•"/>
            </a:pPr>
            <a:r>
              <a:rPr lang="vi-VN" sz="1400" b="0" i="0" dirty="0">
                <a:solidFill>
                  <a:srgbClr val="222222"/>
                </a:solidFill>
                <a:latin typeface="Arial"/>
                <a:ea typeface="Arial"/>
                <a:cs typeface="Arial"/>
              </a:rPr>
              <a:t>Đo được lỗi từng khâu; trên laptop RTX 4060, RTF p90 từ 0,11 đến 0,38.</a:t>
            </a:r>
          </a:p>
          <a:p>
            <a:pPr marL="201168" indent="-201168" algn="l">
              <a:buFont typeface="Arial"/>
              <a:buChar char="•"/>
            </a:pPr>
            <a:r>
              <a:rPr lang="vi-VN" sz="1400" b="0" i="0" dirty="0">
                <a:solidFill>
                  <a:srgbClr val="B8262B"/>
                </a:solidFill>
                <a:latin typeface="Arial"/>
                <a:ea typeface="Arial"/>
                <a:cs typeface="Arial"/>
              </a:rPr>
              <a:t>Cái giá là lỗi và độ trễ cộng dồn, đã đo ở phần III.</a:t>
            </a:r>
          </a:p>
        </p:txBody>
      </p:sp>
      <p:sp>
        <p:nvSpPr>
          <p:cNvPr id="10" name="Text x674"/>
          <p:cNvSpPr txBox="1"/>
          <p:nvPr/>
        </p:nvSpPr>
        <p:spPr>
          <a:xfrm>
            <a:off x="868680" y="4069080"/>
            <a:ext cx="4663440" cy="685800"/>
          </a:xfrm>
          <a:prstGeom prst="rect">
            <a:avLst/>
          </a:prstGeom>
          <a:noFill/>
          <a:ln>
            <a:noFill/>
          </a:ln>
        </p:spPr>
        <p:txBody>
          <a:bodyPr wrap="square" lIns="0" tIns="0" rIns="0" bIns="0" rtlCol="0" anchor="t"/>
          <a:lstStyle/>
          <a:p>
            <a:pPr marL="0" indent="0" algn="l">
              <a:buNone/>
            </a:pPr>
            <a:r>
              <a:rPr lang="vi-VN" sz="4000" b="1" i="0" dirty="0">
                <a:solidFill>
                  <a:srgbClr val="1B517B"/>
                </a:solidFill>
                <a:latin typeface="Arial"/>
                <a:ea typeface="Arial"/>
                <a:cs typeface="Arial"/>
              </a:rPr>
              <a:t>2,3 tỷ</a:t>
            </a:r>
            <a:endParaRPr lang="vi-VN" sz="4000" b="0" i="0" dirty="0">
              <a:solidFill>
                <a:srgbClr val="1B517B"/>
              </a:solidFill>
              <a:latin typeface="Arial"/>
              <a:ea typeface="Arial"/>
              <a:cs typeface="Arial"/>
            </a:endParaRPr>
          </a:p>
        </p:txBody>
      </p:sp>
      <p:sp>
        <p:nvSpPr>
          <p:cNvPr id="11" name="Text x675"/>
          <p:cNvSpPr txBox="1"/>
          <p:nvPr/>
        </p:nvSpPr>
        <p:spPr>
          <a:xfrm>
            <a:off x="868680" y="4754880"/>
            <a:ext cx="4663440" cy="457200"/>
          </a:xfrm>
          <a:prstGeom prst="rect">
            <a:avLst/>
          </a:prstGeom>
          <a:noFill/>
          <a:ln>
            <a:noFill/>
          </a:ln>
        </p:spPr>
        <p:txBody>
          <a:bodyPr wrap="square" lIns="0" tIns="0" rIns="0" bIns="0" rtlCol="0" anchor="t"/>
          <a:lstStyle/>
          <a:p>
            <a:pPr marL="0" indent="0" algn="l">
              <a:buNone/>
            </a:pPr>
            <a:r>
              <a:rPr lang="vi-VN" sz="1300" b="0" i="0" dirty="0">
                <a:solidFill>
                  <a:srgbClr val="5F6B76"/>
                </a:solidFill>
                <a:latin typeface="Arial"/>
                <a:ea typeface="Arial"/>
                <a:cs typeface="Arial"/>
              </a:rPr>
              <a:t>tham số trong một khối: SeamlessM4T v2 large</a:t>
            </a:r>
          </a:p>
        </p:txBody>
      </p:sp>
      <p:sp>
        <p:nvSpPr>
          <p:cNvPr id="12" name="Text x676"/>
          <p:cNvSpPr txBox="1"/>
          <p:nvPr/>
        </p:nvSpPr>
        <p:spPr>
          <a:xfrm>
            <a:off x="6080760" y="4069080"/>
            <a:ext cx="4663440" cy="685800"/>
          </a:xfrm>
          <a:prstGeom prst="rect">
            <a:avLst/>
          </a:prstGeom>
          <a:noFill/>
          <a:ln>
            <a:noFill/>
          </a:ln>
        </p:spPr>
        <p:txBody>
          <a:bodyPr wrap="square" lIns="0" tIns="0" rIns="0" bIns="0" rtlCol="0" anchor="t"/>
          <a:lstStyle/>
          <a:p>
            <a:pPr marL="0" indent="0" algn="l">
              <a:buNone/>
            </a:pPr>
            <a:r>
              <a:rPr lang="vi-VN" sz="4000" b="1" i="0" dirty="0">
                <a:solidFill>
                  <a:srgbClr val="1B517B"/>
                </a:solidFill>
                <a:latin typeface="Arial"/>
                <a:ea typeface="Arial"/>
                <a:cs typeface="Arial"/>
              </a:rPr>
              <a:t>1,4 tỷ</a:t>
            </a:r>
            <a:endParaRPr lang="vi-VN" sz="4000" b="0" i="0" dirty="0">
              <a:solidFill>
                <a:srgbClr val="1B517B"/>
              </a:solidFill>
              <a:latin typeface="Arial"/>
              <a:ea typeface="Arial"/>
              <a:cs typeface="Arial"/>
            </a:endParaRPr>
          </a:p>
        </p:txBody>
      </p:sp>
      <p:sp>
        <p:nvSpPr>
          <p:cNvPr id="13" name="Text x677"/>
          <p:cNvSpPr txBox="1"/>
          <p:nvPr/>
        </p:nvSpPr>
        <p:spPr>
          <a:xfrm>
            <a:off x="6080760" y="4754880"/>
            <a:ext cx="4663440" cy="457200"/>
          </a:xfrm>
          <a:prstGeom prst="rect">
            <a:avLst/>
          </a:prstGeom>
          <a:noFill/>
          <a:ln>
            <a:noFill/>
          </a:ln>
        </p:spPr>
        <p:txBody>
          <a:bodyPr wrap="square" lIns="0" tIns="0" rIns="0" bIns="0" rtlCol="0" anchor="t"/>
          <a:lstStyle/>
          <a:p>
            <a:pPr marL="0" indent="0" algn="l">
              <a:buNone/>
            </a:pPr>
            <a:r>
              <a:rPr lang="vi-VN" sz="1300" b="0" i="0" dirty="0">
                <a:solidFill>
                  <a:srgbClr val="5F6B76"/>
                </a:solidFill>
                <a:latin typeface="Arial"/>
                <a:ea typeface="Arial"/>
                <a:cs typeface="Arial"/>
              </a:rPr>
              <a:t>tham số, chia ở hai khâu: Whisper turbo 0,8 + NLLB 0,6</a:t>
            </a:r>
          </a:p>
        </p:txBody>
      </p:sp>
      <p:sp>
        <p:nvSpPr>
          <p:cNvPr id="14" name="Shape x678"/>
          <p:cNvSpPr/>
          <p:nvPr/>
        </p:nvSpPr>
        <p:spPr>
          <a:xfrm>
            <a:off x="685800" y="5641848"/>
            <a:ext cx="10241280" cy="603504"/>
          </a:xfrm>
          <a:prstGeom prst="roundRect">
            <a:avLst>
              <a:gd name="adj" fmla="val 3556"/>
            </a:avLst>
          </a:prstGeom>
          <a:solidFill>
            <a:srgbClr val="FBEDED"/>
          </a:solidFill>
          <a:ln w="12700">
            <a:solidFill>
              <a:srgbClr val="FBEDED"/>
            </a:solidFill>
            <a:prstDash val="solid"/>
          </a:ln>
        </p:spPr>
        <p:txBody>
          <a:bodyPr wrap="square" lIns="0" tIns="0" rIns="0" bIns="0" rtlCol="0" anchor="t"/>
          <a:lstStyle/>
          <a:p>
            <a:pPr marL="0" indent="0" algn="l">
              <a:buNone/>
            </a:pPr>
            <a:endParaRPr lang="vi-VN" sz="1400" b="0" i="0" dirty="0">
              <a:solidFill>
                <a:srgbClr val="222222"/>
              </a:solidFill>
              <a:latin typeface="Arial"/>
              <a:ea typeface="Arial"/>
              <a:cs typeface="Arial"/>
            </a:endParaRPr>
          </a:p>
        </p:txBody>
      </p:sp>
      <p:sp>
        <p:nvSpPr>
          <p:cNvPr id="15" name="Takeaway arrow"/>
          <p:cNvSpPr/>
          <p:nvPr/>
        </p:nvSpPr>
        <p:spPr>
          <a:xfrm>
            <a:off x="841248" y="5779008"/>
            <a:ext cx="438912" cy="329184"/>
          </a:xfrm>
          <a:prstGeom prst="rightArrow">
            <a:avLst/>
          </a:prstGeom>
          <a:solidFill>
            <a:srgbClr val="B8262B"/>
          </a:solidFill>
          <a:ln>
            <a:noFill/>
          </a:ln>
        </p:spPr>
        <p:txBody>
          <a:bodyPr wrap="square" lIns="73152" tIns="73152" rIns="73152" bIns="73152" rtlCol="0" anchor="ctr"/>
          <a:lstStyle/>
          <a:p>
            <a:pPr marL="0" indent="0" algn="l">
              <a:buNone/>
            </a:pPr>
            <a:endParaRPr lang="vi-VN" sz="1400" b="0" i="0" dirty="0">
              <a:solidFill>
                <a:srgbClr val="222222"/>
              </a:solidFill>
              <a:latin typeface="Arial"/>
              <a:ea typeface="Arial"/>
              <a:cs typeface="Arial"/>
            </a:endParaRPr>
          </a:p>
        </p:txBody>
      </p:sp>
      <p:sp>
        <p:nvSpPr>
          <p:cNvPr id="16" name="Takeaway"/>
          <p:cNvSpPr txBox="1"/>
          <p:nvPr/>
        </p:nvSpPr>
        <p:spPr>
          <a:xfrm>
            <a:off x="1417320" y="5641848"/>
            <a:ext cx="9418320" cy="603504"/>
          </a:xfrm>
          <a:prstGeom prst="rect">
            <a:avLst/>
          </a:prstGeom>
          <a:noFill/>
          <a:ln>
            <a:noFill/>
          </a:ln>
        </p:spPr>
        <p:txBody>
          <a:bodyPr wrap="square" lIns="0" tIns="0" rIns="0" bIns="0" rtlCol="0" anchor="ctr"/>
          <a:lstStyle/>
          <a:p>
            <a:pPr marL="0" indent="0" algn="l">
              <a:buNone/>
            </a:pPr>
            <a:r>
              <a:rPr lang="vi-VN" sz="1500" b="1" i="0" dirty="0">
                <a:solidFill>
                  <a:srgbClr val="B8262B"/>
                </a:solidFill>
                <a:latin typeface="Arial"/>
                <a:ea typeface="Arial"/>
                <a:cs typeface="Arial"/>
              </a:rPr>
              <a:t>Mô hình một bước lớn hơn và không đo, thay được từng phần; nên đề tài ghép các mô hình vừa phải</a:t>
            </a:r>
            <a:endParaRPr lang="vi-VN" sz="1500" b="0" i="0" dirty="0">
              <a:solidFill>
                <a:srgbClr val="B8262B"/>
              </a:solidFill>
              <a:latin typeface="Arial"/>
              <a:ea typeface="Arial"/>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Lựa chọn mô hình và preset (bổ sung phần II)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40</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332720" cy="3383280"/>
        </p:xfrm>
        <a:graphic>
          <a:graphicData uri="http://schemas.openxmlformats.org/drawingml/2006/table">
            <a:tbl>
              <a:tblPr/>
              <a:tblGrid>
                <a:gridCol w="914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11480">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Khâu</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Mô hình / runtime</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Lý do chọn</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extLst>
                  <a:ext uri="{0D108BD9-81ED-4DB2-BD59-A6C34878D82A}">
                    <a16:rowId xmlns:a16="http://schemas.microsoft.com/office/drawing/2014/main" val="10000"/>
                  </a:ext>
                </a:extLst>
              </a:tr>
              <a:tr h="548640">
                <a:tc>
                  <a:txBody>
                    <a:bodyPr/>
                    <a:lstStyle/>
                    <a:p>
                      <a:pPr marL="0" indent="0" algn="ctr">
                        <a:buNone/>
                      </a:pPr>
                      <a:r>
                        <a:rPr lang="en-US" sz="1400" b="1" dirty="0">
                          <a:solidFill>
                            <a:srgbClr val="1B517B"/>
                          </a:solidFill>
                          <a:latin typeface="Arial" pitchFamily="34" charset="0"/>
                          <a:ea typeface="Arial" pitchFamily="34" charset="-122"/>
                          <a:cs typeface="Arial" pitchFamily="34" charset="-120"/>
                        </a:rPr>
                        <a:t>VAD</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4F9"/>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Silero VAD [24]</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~2 MB, chạy CPU, mỗi khung 32 ms xử lý dưới 1 ms</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1"/>
                  </a:ext>
                </a:extLst>
              </a:tr>
              <a:tr h="960120">
                <a:tc>
                  <a:txBody>
                    <a:bodyPr/>
                    <a:lstStyle/>
                    <a:p>
                      <a:pPr marL="0" indent="0" algn="ctr">
                        <a:buNone/>
                      </a:pPr>
                      <a:r>
                        <a:rPr lang="en-US" sz="1400" b="1" dirty="0">
                          <a:solidFill>
                            <a:srgbClr val="1B517B"/>
                          </a:solidFill>
                          <a:latin typeface="Arial" pitchFamily="34" charset="0"/>
                          <a:ea typeface="Arial" pitchFamily="34" charset="-122"/>
                          <a:cs typeface="Arial" pitchFamily="34" charset="-120"/>
                        </a:rPr>
                        <a:t>ASR</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4F9"/>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Whisper large-v3 / large-v3-turbo [19] trên 3 runtime: whisper.cpp (Vulkan, Metal), faster-whisper (CUDA), MLX (Apple Silicon)</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Đa ngôn ngữ sẵn; có bản lượng tử hóa chạy được trên máy cá nhân; mỗi nền tảng một runtime nhanh nhất</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lgn="ctr">
                        <a:buNone/>
                      </a:pPr>
                      <a:r>
                        <a:rPr lang="en-US" sz="1400" b="1" dirty="0">
                          <a:solidFill>
                            <a:srgbClr val="1B517B"/>
                          </a:solidFill>
                          <a:latin typeface="Arial" pitchFamily="34" charset="0"/>
                          <a:ea typeface="Arial" pitchFamily="34" charset="-122"/>
                          <a:cs typeface="Arial" pitchFamily="34" charset="-120"/>
                        </a:rPr>
                        <a:t>MT</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4F9"/>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NLLB-200 distilled 600M [4]</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Một mô hình phủ đủ 6 chiều, dịch trực tiếp Việt ↔ Nhật / Trung không qua tiếng Anh</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lgn="ctr">
                        <a:buNone/>
                      </a:pPr>
                      <a:r>
                        <a:rPr lang="en-US" sz="1400" b="1" dirty="0">
                          <a:solidFill>
                            <a:srgbClr val="1B517B"/>
                          </a:solidFill>
                          <a:latin typeface="Arial" pitchFamily="34" charset="0"/>
                          <a:ea typeface="Arial" pitchFamily="34" charset="-122"/>
                          <a:cs typeface="Arial" pitchFamily="34" charset="-120"/>
                        </a:rPr>
                        <a:t>TTS</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4F9"/>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sherpa-onnx [12] (vi, en, zh) + Kokoro [9] với OpenJTalk (ja)</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Chạy ONNX offline; sherpa-onnx không có front-end tiếng Nhật dùng được nên ghép thêm Kokoro</a:t>
                      </a:r>
                      <a:endParaRPr lang="en-US" sz="1400" dirty="0">
                        <a:latin typeface="Arial" charset="0"/>
                        <a:ea typeface="Arial" charset="0"/>
                        <a:cs typeface="Arial" charset="0"/>
                      </a:endParaRPr>
                    </a:p>
                  </a:txBody>
                  <a:tcPr marL="73152" marR="73152" marT="73152" marB="7315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3"/>
          <p:cNvSpPr txBox="1"/>
          <p:nvPr/>
        </p:nvSpPr>
        <p:spPr>
          <a:xfrm>
            <a:off x="685800" y="4983480"/>
            <a:ext cx="5486400" cy="32004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Ba mức cấu hình sẵn, đổi được ngay trong ứng dụng:</a:t>
            </a:r>
            <a:endParaRPr lang="en-US" sz="1500" dirty="0"/>
          </a:p>
        </p:txBody>
      </p:sp>
      <p:sp>
        <p:nvSpPr>
          <p:cNvPr id="10" name="Shape 4"/>
          <p:cNvSpPr/>
          <p:nvPr/>
        </p:nvSpPr>
        <p:spPr>
          <a:xfrm>
            <a:off x="685800" y="5394960"/>
            <a:ext cx="3200400" cy="777240"/>
          </a:xfrm>
          <a:prstGeom prst="roundRect">
            <a:avLst>
              <a:gd name="adj" fmla="val 9412"/>
            </a:avLst>
          </a:prstGeom>
          <a:solidFill>
            <a:srgbClr val="EEF4F9"/>
          </a:solidFill>
          <a:ln w="12700">
            <a:solidFill>
              <a:srgbClr val="EEF4F9"/>
            </a:solidFill>
            <a:prstDash val="solid"/>
          </a:ln>
        </p:spPr>
        <p:txBody>
          <a:bodyPr/>
          <a:lstStyle/>
          <a:p>
            <a:endParaRPr lang="en-US"/>
          </a:p>
        </p:txBody>
      </p:sp>
      <p:sp>
        <p:nvSpPr>
          <p:cNvPr id="11" name="Text 5"/>
          <p:cNvSpPr txBox="1"/>
          <p:nvPr/>
        </p:nvSpPr>
        <p:spPr>
          <a:xfrm>
            <a:off x="822960" y="5394960"/>
            <a:ext cx="2926080" cy="777240"/>
          </a:xfrm>
          <a:prstGeom prst="rect">
            <a:avLst/>
          </a:prstGeom>
          <a:noFill/>
          <a:ln/>
        </p:spPr>
        <p:txBody>
          <a:bodyPr wrap="square" lIns="0" tIns="0" rIns="0" bIns="0" rtlCol="0" anchor="ctr"/>
          <a:lstStyle/>
          <a:p>
            <a:pPr marL="0" indent="0">
              <a:buNone/>
            </a:pPr>
            <a:r>
              <a:rPr lang="en-US" sz="1500" b="1" dirty="0">
                <a:solidFill>
                  <a:srgbClr val="1B517B"/>
                </a:solidFill>
                <a:latin typeface="Arial" pitchFamily="34" charset="0"/>
                <a:ea typeface="Arial" pitchFamily="34" charset="-122"/>
                <a:cs typeface="Arial" pitchFamily="34" charset="-120"/>
              </a:rPr>
              <a:t>Nhanh</a:t>
            </a:r>
            <a:endParaRPr lang="en-US" sz="1500" dirty="0"/>
          </a:p>
          <a:p>
            <a:pPr marL="0" indent="0">
              <a:buNone/>
            </a:pPr>
            <a:r>
              <a:rPr lang="en-US" sz="1200" dirty="0">
                <a:solidFill>
                  <a:srgbClr val="5F6B76"/>
                </a:solidFill>
                <a:latin typeface="Arial" pitchFamily="34" charset="0"/>
                <a:ea typeface="Arial" pitchFamily="34" charset="-122"/>
                <a:cs typeface="Arial" pitchFamily="34" charset="-120"/>
              </a:rPr>
              <a:t>whisper small · trần câu 4,5 s</a:t>
            </a:r>
            <a:endParaRPr lang="en-US" sz="1500" dirty="0"/>
          </a:p>
        </p:txBody>
      </p:sp>
      <p:sp>
        <p:nvSpPr>
          <p:cNvPr id="12" name="Shape 6"/>
          <p:cNvSpPr/>
          <p:nvPr/>
        </p:nvSpPr>
        <p:spPr>
          <a:xfrm>
            <a:off x="4160520" y="5394960"/>
            <a:ext cx="3200400" cy="777240"/>
          </a:xfrm>
          <a:prstGeom prst="roundRect">
            <a:avLst>
              <a:gd name="adj" fmla="val 9412"/>
            </a:avLst>
          </a:prstGeom>
          <a:solidFill>
            <a:srgbClr val="DCE8F2"/>
          </a:solidFill>
          <a:ln w="12700">
            <a:solidFill>
              <a:srgbClr val="DCE8F2"/>
            </a:solidFill>
            <a:prstDash val="solid"/>
          </a:ln>
        </p:spPr>
        <p:txBody>
          <a:bodyPr/>
          <a:lstStyle/>
          <a:p>
            <a:endParaRPr lang="en-US"/>
          </a:p>
        </p:txBody>
      </p:sp>
      <p:sp>
        <p:nvSpPr>
          <p:cNvPr id="13" name="Text 7"/>
          <p:cNvSpPr txBox="1"/>
          <p:nvPr/>
        </p:nvSpPr>
        <p:spPr>
          <a:xfrm>
            <a:off x="4297680" y="5394960"/>
            <a:ext cx="2926080" cy="777240"/>
          </a:xfrm>
          <a:prstGeom prst="rect">
            <a:avLst/>
          </a:prstGeom>
          <a:noFill/>
          <a:ln/>
        </p:spPr>
        <p:txBody>
          <a:bodyPr wrap="square" lIns="0" tIns="0" rIns="0" bIns="0" rtlCol="0" anchor="ctr"/>
          <a:lstStyle/>
          <a:p>
            <a:pPr marL="0" indent="0">
              <a:buNone/>
            </a:pPr>
            <a:r>
              <a:rPr lang="en-US" sz="1500" b="1" dirty="0">
                <a:solidFill>
                  <a:srgbClr val="1B517B"/>
                </a:solidFill>
                <a:latin typeface="Arial" pitchFamily="34" charset="0"/>
                <a:ea typeface="Arial" pitchFamily="34" charset="-122"/>
                <a:cs typeface="Arial" pitchFamily="34" charset="-120"/>
              </a:rPr>
              <a:t>Cân bằng</a:t>
            </a:r>
            <a:endParaRPr lang="en-US" sz="1500" dirty="0"/>
          </a:p>
          <a:p>
            <a:pPr marL="0" indent="0">
              <a:buNone/>
            </a:pPr>
            <a:r>
              <a:rPr lang="en-US" sz="1200" dirty="0">
                <a:solidFill>
                  <a:srgbClr val="5F6B76"/>
                </a:solidFill>
                <a:latin typeface="Arial" pitchFamily="34" charset="0"/>
                <a:ea typeface="Arial" pitchFamily="34" charset="-122"/>
                <a:cs typeface="Arial" pitchFamily="34" charset="-120"/>
              </a:rPr>
              <a:t>large-v3-turbo q5 · trần câu 6 s</a:t>
            </a:r>
            <a:endParaRPr lang="en-US" sz="1500" dirty="0"/>
          </a:p>
        </p:txBody>
      </p:sp>
      <p:sp>
        <p:nvSpPr>
          <p:cNvPr id="14" name="Shape 8"/>
          <p:cNvSpPr/>
          <p:nvPr/>
        </p:nvSpPr>
        <p:spPr>
          <a:xfrm>
            <a:off x="7635240" y="5394960"/>
            <a:ext cx="3200400" cy="777240"/>
          </a:xfrm>
          <a:prstGeom prst="roundRect">
            <a:avLst>
              <a:gd name="adj" fmla="val 9412"/>
            </a:avLst>
          </a:prstGeom>
          <a:solidFill>
            <a:srgbClr val="EEF4F9"/>
          </a:solidFill>
          <a:ln w="12700">
            <a:solidFill>
              <a:srgbClr val="EEF4F9"/>
            </a:solidFill>
            <a:prstDash val="solid"/>
          </a:ln>
        </p:spPr>
        <p:txBody>
          <a:bodyPr/>
          <a:lstStyle/>
          <a:p>
            <a:endParaRPr lang="en-US"/>
          </a:p>
        </p:txBody>
      </p:sp>
      <p:sp>
        <p:nvSpPr>
          <p:cNvPr id="15" name="Text 9"/>
          <p:cNvSpPr txBox="1"/>
          <p:nvPr/>
        </p:nvSpPr>
        <p:spPr>
          <a:xfrm>
            <a:off x="7772400" y="5394960"/>
            <a:ext cx="2926080" cy="777240"/>
          </a:xfrm>
          <a:prstGeom prst="rect">
            <a:avLst/>
          </a:prstGeom>
          <a:noFill/>
          <a:ln/>
        </p:spPr>
        <p:txBody>
          <a:bodyPr wrap="square" lIns="0" tIns="0" rIns="0" bIns="0" rtlCol="0" anchor="ctr"/>
          <a:lstStyle/>
          <a:p>
            <a:pPr marL="0" indent="0">
              <a:buNone/>
            </a:pPr>
            <a:r>
              <a:rPr lang="en-US" sz="1500" b="1" dirty="0">
                <a:solidFill>
                  <a:srgbClr val="1B517B"/>
                </a:solidFill>
                <a:latin typeface="Arial" pitchFamily="34" charset="0"/>
                <a:ea typeface="Arial" pitchFamily="34" charset="-122"/>
                <a:cs typeface="Arial" pitchFamily="34" charset="-120"/>
              </a:rPr>
              <a:t>Chất lượng</a:t>
            </a:r>
            <a:endParaRPr lang="en-US" sz="1500" dirty="0"/>
          </a:p>
          <a:p>
            <a:pPr marL="0" indent="0">
              <a:buNone/>
            </a:pPr>
            <a:r>
              <a:rPr lang="en-US" sz="1200" dirty="0">
                <a:solidFill>
                  <a:srgbClr val="5F6B76"/>
                </a:solidFill>
                <a:latin typeface="Arial" pitchFamily="34" charset="0"/>
                <a:ea typeface="Arial" pitchFamily="34" charset="-122"/>
                <a:cs typeface="Arial" pitchFamily="34" charset="-120"/>
              </a:rPr>
              <a:t>large-v3 · trần câu 8 s</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Nạp mô hình theo yêu cầu, GPU trên Windows (bổ sung phần II)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41</a:t>
            </a:r>
            <a:endParaRPr lang="en-US" sz="1100" dirty="0"/>
          </a:p>
        </p:txBody>
      </p:sp>
      <p:sp>
        <p:nvSpPr>
          <p:cNvPr id="8" name="Shape 3"/>
          <p:cNvSpPr/>
          <p:nvPr/>
        </p:nvSpPr>
        <p:spPr>
          <a:xfrm>
            <a:off x="685800" y="1417320"/>
            <a:ext cx="4983480" cy="2240280"/>
          </a:xfrm>
          <a:prstGeom prst="roundRect">
            <a:avLst>
              <a:gd name="adj" fmla="val 3265"/>
            </a:avLst>
          </a:prstGeom>
          <a:solidFill>
            <a:srgbClr val="EEF4F9"/>
          </a:solidFill>
          <a:ln w="12700">
            <a:solidFill>
              <a:srgbClr val="EEF4F9"/>
            </a:solidFill>
            <a:prstDash val="solid"/>
          </a:ln>
        </p:spPr>
        <p:txBody>
          <a:bodyPr/>
          <a:lstStyle/>
          <a:p>
            <a:endParaRPr lang="en-US"/>
          </a:p>
        </p:txBody>
      </p:sp>
      <p:sp>
        <p:nvSpPr>
          <p:cNvPr id="9" name="Text 4"/>
          <p:cNvSpPr txBox="1"/>
          <p:nvPr/>
        </p:nvSpPr>
        <p:spPr>
          <a:xfrm>
            <a:off x="914400" y="1527048"/>
            <a:ext cx="4572000" cy="685800"/>
          </a:xfrm>
          <a:prstGeom prst="rect">
            <a:avLst/>
          </a:prstGeom>
          <a:noFill/>
          <a:ln/>
        </p:spPr>
        <p:txBody>
          <a:bodyPr wrap="square" lIns="0" tIns="0" rIns="0" bIns="0" rtlCol="0" anchor="ctr"/>
          <a:lstStyle/>
          <a:p>
            <a:pPr marL="0" indent="0">
              <a:buNone/>
            </a:pPr>
            <a:r>
              <a:rPr lang="en-US" sz="3400" b="1" dirty="0">
                <a:solidFill>
                  <a:srgbClr val="1B517B"/>
                </a:solidFill>
                <a:latin typeface="Arial" pitchFamily="34" charset="0"/>
                <a:ea typeface="Arial" pitchFamily="34" charset="-122"/>
                <a:cs typeface="Arial" pitchFamily="34" charset="-120"/>
              </a:rPr>
              <a:t>45 s → 0,4 s</a:t>
            </a:r>
            <a:endParaRPr lang="en-US" sz="3400" dirty="0"/>
          </a:p>
        </p:txBody>
      </p:sp>
      <p:sp>
        <p:nvSpPr>
          <p:cNvPr id="10" name="Text 5"/>
          <p:cNvSpPr txBox="1"/>
          <p:nvPr/>
        </p:nvSpPr>
        <p:spPr>
          <a:xfrm>
            <a:off x="914400" y="2221992"/>
            <a:ext cx="4572000" cy="347472"/>
          </a:xfrm>
          <a:prstGeom prst="rect">
            <a:avLst/>
          </a:prstGeom>
          <a:noFill/>
          <a:ln/>
        </p:spPr>
        <p:txBody>
          <a:bodyPr wrap="square" lIns="0" tIns="0" rIns="0" bIns="0" rtlCol="0" anchor="t"/>
          <a:lstStyle/>
          <a:p>
            <a:pPr marL="0" indent="0">
              <a:buNone/>
            </a:pPr>
            <a:r>
              <a:rPr lang="en-US" sz="1500" b="1" dirty="0">
                <a:solidFill>
                  <a:srgbClr val="487BA2"/>
                </a:solidFill>
                <a:latin typeface="Arial" pitchFamily="34" charset="0"/>
                <a:ea typeface="Arial" pitchFamily="34" charset="-122"/>
                <a:cs typeface="Arial" pitchFamily="34" charset="-120"/>
              </a:rPr>
              <a:t>Thời gian mở dịch vụ</a:t>
            </a:r>
            <a:endParaRPr lang="en-US" sz="1500" dirty="0"/>
          </a:p>
        </p:txBody>
      </p:sp>
      <p:sp>
        <p:nvSpPr>
          <p:cNvPr id="11" name="Text 6"/>
          <p:cNvSpPr txBox="1"/>
          <p:nvPr/>
        </p:nvSpPr>
        <p:spPr>
          <a:xfrm>
            <a:off x="914400" y="2606040"/>
            <a:ext cx="4572000" cy="100584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Không nạp gì lúc khởi động; mọi đường cần mô hình đi qua một cửa ModelManager.ensure_loaded(). Chọn preset không tải gì.</a:t>
            </a:r>
            <a:endParaRPr lang="en-US" sz="1300" dirty="0"/>
          </a:p>
        </p:txBody>
      </p:sp>
      <p:sp>
        <p:nvSpPr>
          <p:cNvPr id="12" name="Shape 7"/>
          <p:cNvSpPr/>
          <p:nvPr/>
        </p:nvSpPr>
        <p:spPr>
          <a:xfrm>
            <a:off x="5897880" y="1417320"/>
            <a:ext cx="4983480" cy="2240280"/>
          </a:xfrm>
          <a:prstGeom prst="roundRect">
            <a:avLst>
              <a:gd name="adj" fmla="val 3265"/>
            </a:avLst>
          </a:prstGeom>
          <a:solidFill>
            <a:srgbClr val="EEF4F9"/>
          </a:solidFill>
          <a:ln w="12700">
            <a:solidFill>
              <a:srgbClr val="EEF4F9"/>
            </a:solidFill>
            <a:prstDash val="solid"/>
          </a:ln>
        </p:spPr>
        <p:txBody>
          <a:bodyPr/>
          <a:lstStyle/>
          <a:p>
            <a:endParaRPr lang="en-US"/>
          </a:p>
        </p:txBody>
      </p:sp>
      <p:sp>
        <p:nvSpPr>
          <p:cNvPr id="13" name="Text 8"/>
          <p:cNvSpPr txBox="1"/>
          <p:nvPr/>
        </p:nvSpPr>
        <p:spPr>
          <a:xfrm>
            <a:off x="6126480" y="1527048"/>
            <a:ext cx="4572000" cy="685800"/>
          </a:xfrm>
          <a:prstGeom prst="rect">
            <a:avLst/>
          </a:prstGeom>
          <a:noFill/>
          <a:ln/>
        </p:spPr>
        <p:txBody>
          <a:bodyPr wrap="square" lIns="0" tIns="0" rIns="0" bIns="0" rtlCol="0" anchor="ctr"/>
          <a:lstStyle/>
          <a:p>
            <a:pPr marL="0" indent="0">
              <a:buNone/>
            </a:pPr>
            <a:r>
              <a:rPr lang="en-US" sz="3400" b="1" dirty="0">
                <a:solidFill>
                  <a:srgbClr val="1B517B"/>
                </a:solidFill>
                <a:latin typeface="Arial" pitchFamily="34" charset="0"/>
                <a:ea typeface="Arial" pitchFamily="34" charset="-122"/>
                <a:cs typeface="Arial" pitchFamily="34" charset="-120"/>
              </a:rPr>
              <a:t>17,6 s → 0,44 s</a:t>
            </a:r>
            <a:endParaRPr lang="en-US" sz="3400" dirty="0"/>
          </a:p>
        </p:txBody>
      </p:sp>
      <p:sp>
        <p:nvSpPr>
          <p:cNvPr id="14" name="Text 9"/>
          <p:cNvSpPr txBox="1"/>
          <p:nvPr/>
        </p:nvSpPr>
        <p:spPr>
          <a:xfrm>
            <a:off x="6126480" y="2221992"/>
            <a:ext cx="4572000" cy="347472"/>
          </a:xfrm>
          <a:prstGeom prst="rect">
            <a:avLst/>
          </a:prstGeom>
          <a:noFill/>
          <a:ln/>
        </p:spPr>
        <p:txBody>
          <a:bodyPr wrap="square" lIns="0" tIns="0" rIns="0" bIns="0" rtlCol="0" anchor="t"/>
          <a:lstStyle/>
          <a:p>
            <a:pPr marL="0" indent="0">
              <a:buNone/>
            </a:pPr>
            <a:r>
              <a:rPr lang="en-US" sz="1500" b="1" dirty="0">
                <a:solidFill>
                  <a:srgbClr val="487BA2"/>
                </a:solidFill>
                <a:latin typeface="Arial" pitchFamily="34" charset="0"/>
                <a:ea typeface="Arial" pitchFamily="34" charset="-122"/>
                <a:cs typeface="Arial" pitchFamily="34" charset="-120"/>
              </a:rPr>
              <a:t>ASR cho 3 s âm thanh trên bản cài Windows</a:t>
            </a:r>
            <a:endParaRPr lang="en-US" sz="1500" dirty="0"/>
          </a:p>
        </p:txBody>
      </p:sp>
      <p:sp>
        <p:nvSpPr>
          <p:cNvPr id="15" name="Text 10"/>
          <p:cNvSpPr txBox="1"/>
          <p:nvPr/>
        </p:nvSpPr>
        <p:spPr>
          <a:xfrm>
            <a:off x="6126480" y="2606040"/>
            <a:ext cx="4572000" cy="100584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whisper.cpp chạy GPU qua Vulkan thay vì CPU.</a:t>
            </a:r>
            <a:endParaRPr lang="en-US" sz="1300" dirty="0"/>
          </a:p>
          <a:p>
            <a:pPr marL="0" indent="0">
              <a:buNone/>
            </a:pPr>
            <a:r>
              <a:rPr lang="en-US" sz="1300" dirty="0">
                <a:solidFill>
                  <a:srgbClr val="222222"/>
                </a:solidFill>
                <a:latin typeface="Arial" pitchFamily="34" charset="0"/>
                <a:ea typeface="Arial" pitchFamily="34" charset="-122"/>
                <a:cs typeface="Arial" pitchFamily="34" charset="-120"/>
              </a:rPr>
              <a:t>17.573 ms → 437 ms trên RTX 4060.</a:t>
            </a:r>
            <a:endParaRPr lang="en-US" sz="1300" dirty="0"/>
          </a:p>
        </p:txBody>
      </p:sp>
      <p:sp>
        <p:nvSpPr>
          <p:cNvPr id="16" name="Shape 11"/>
          <p:cNvSpPr/>
          <p:nvPr/>
        </p:nvSpPr>
        <p:spPr>
          <a:xfrm>
            <a:off x="685800" y="3886200"/>
            <a:ext cx="4983480" cy="2240280"/>
          </a:xfrm>
          <a:prstGeom prst="roundRect">
            <a:avLst>
              <a:gd name="adj" fmla="val 3265"/>
            </a:avLst>
          </a:prstGeom>
          <a:solidFill>
            <a:srgbClr val="EEF4F9"/>
          </a:solidFill>
          <a:ln w="12700">
            <a:solidFill>
              <a:srgbClr val="EEF4F9"/>
            </a:solidFill>
            <a:prstDash val="solid"/>
          </a:ln>
        </p:spPr>
        <p:txBody>
          <a:bodyPr/>
          <a:lstStyle/>
          <a:p>
            <a:endParaRPr lang="en-US"/>
          </a:p>
        </p:txBody>
      </p:sp>
      <p:sp>
        <p:nvSpPr>
          <p:cNvPr id="17" name="Text 12"/>
          <p:cNvSpPr txBox="1"/>
          <p:nvPr/>
        </p:nvSpPr>
        <p:spPr>
          <a:xfrm>
            <a:off x="914400" y="3995928"/>
            <a:ext cx="4572000" cy="685800"/>
          </a:xfrm>
          <a:prstGeom prst="rect">
            <a:avLst/>
          </a:prstGeom>
          <a:noFill/>
          <a:ln/>
        </p:spPr>
        <p:txBody>
          <a:bodyPr wrap="square" lIns="0" tIns="0" rIns="0" bIns="0" rtlCol="0" anchor="ctr"/>
          <a:lstStyle/>
          <a:p>
            <a:pPr marL="0" indent="0">
              <a:buNone/>
            </a:pPr>
            <a:r>
              <a:rPr lang="en-US" sz="3400" b="1" dirty="0">
                <a:solidFill>
                  <a:srgbClr val="1B517B"/>
                </a:solidFill>
                <a:latin typeface="Arial" pitchFamily="34" charset="0"/>
                <a:ea typeface="Arial" pitchFamily="34" charset="-122"/>
                <a:cs typeface="Arial" pitchFamily="34" charset="-120"/>
              </a:rPr>
              <a:t>+18 MB</a:t>
            </a:r>
            <a:endParaRPr lang="en-US" sz="3400" dirty="0"/>
          </a:p>
        </p:txBody>
      </p:sp>
      <p:sp>
        <p:nvSpPr>
          <p:cNvPr id="18" name="Text 13"/>
          <p:cNvSpPr txBox="1"/>
          <p:nvPr/>
        </p:nvSpPr>
        <p:spPr>
          <a:xfrm>
            <a:off x="914400" y="4690872"/>
            <a:ext cx="4572000" cy="347472"/>
          </a:xfrm>
          <a:prstGeom prst="rect">
            <a:avLst/>
          </a:prstGeom>
          <a:noFill/>
          <a:ln/>
        </p:spPr>
        <p:txBody>
          <a:bodyPr wrap="square" lIns="0" tIns="0" rIns="0" bIns="0" rtlCol="0" anchor="t"/>
          <a:lstStyle/>
          <a:p>
            <a:pPr marL="0" indent="0">
              <a:buNone/>
            </a:pPr>
            <a:r>
              <a:rPr lang="en-US" sz="1500" b="1" dirty="0">
                <a:solidFill>
                  <a:srgbClr val="487BA2"/>
                </a:solidFill>
                <a:latin typeface="Arial" pitchFamily="34" charset="0"/>
                <a:ea typeface="Arial" pitchFamily="34" charset="-122"/>
                <a:cs typeface="Arial" pitchFamily="34" charset="-120"/>
              </a:rPr>
              <a:t>thay vì ~1 GB nếu đóng gói CUDA</a:t>
            </a:r>
            <a:endParaRPr lang="en-US" sz="1500" dirty="0"/>
          </a:p>
        </p:txBody>
      </p:sp>
      <p:sp>
        <p:nvSpPr>
          <p:cNvPr id="19" name="Text 14"/>
          <p:cNvSpPr txBox="1"/>
          <p:nvPr/>
        </p:nvSpPr>
        <p:spPr>
          <a:xfrm>
            <a:off x="914400" y="5074920"/>
            <a:ext cx="4572000" cy="100584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Vulkan có sẵn trong driver NVIDIA, AMD, Intel: một bộ cài chạy GPU trên mọi hãng. Ý tưởng từ TranscriptionSuite [10].</a:t>
            </a:r>
            <a:endParaRPr lang="en-US" sz="1300" dirty="0"/>
          </a:p>
        </p:txBody>
      </p:sp>
      <p:sp>
        <p:nvSpPr>
          <p:cNvPr id="20" name="Shape 15"/>
          <p:cNvSpPr/>
          <p:nvPr/>
        </p:nvSpPr>
        <p:spPr>
          <a:xfrm>
            <a:off x="5897880" y="3886200"/>
            <a:ext cx="4983480" cy="2240280"/>
          </a:xfrm>
          <a:prstGeom prst="roundRect">
            <a:avLst>
              <a:gd name="adj" fmla="val 3265"/>
            </a:avLst>
          </a:prstGeom>
          <a:solidFill>
            <a:srgbClr val="EEF4F9"/>
          </a:solidFill>
          <a:ln w="12700">
            <a:solidFill>
              <a:srgbClr val="EEF4F9"/>
            </a:solidFill>
            <a:prstDash val="solid"/>
          </a:ln>
        </p:spPr>
        <p:txBody>
          <a:bodyPr/>
          <a:lstStyle/>
          <a:p>
            <a:endParaRPr lang="en-US"/>
          </a:p>
        </p:txBody>
      </p:sp>
      <p:sp>
        <p:nvSpPr>
          <p:cNvPr id="21" name="Text 16"/>
          <p:cNvSpPr txBox="1"/>
          <p:nvPr/>
        </p:nvSpPr>
        <p:spPr>
          <a:xfrm>
            <a:off x="6126480" y="3995928"/>
            <a:ext cx="4572000" cy="685800"/>
          </a:xfrm>
          <a:prstGeom prst="rect">
            <a:avLst/>
          </a:prstGeom>
          <a:noFill/>
          <a:ln/>
        </p:spPr>
        <p:txBody>
          <a:bodyPr wrap="square" lIns="0" tIns="0" rIns="0" bIns="0" rtlCol="0" anchor="ctr"/>
          <a:lstStyle/>
          <a:p>
            <a:pPr marL="0" indent="0">
              <a:buNone/>
            </a:pPr>
            <a:r>
              <a:rPr lang="en-US" sz="3400" b="1" dirty="0">
                <a:solidFill>
                  <a:srgbClr val="1B517B"/>
                </a:solidFill>
                <a:latin typeface="Arial" pitchFamily="34" charset="0"/>
                <a:ea typeface="Arial" pitchFamily="34" charset="-122"/>
                <a:cs typeface="Arial" pitchFamily="34" charset="-120"/>
              </a:rPr>
              <a:t>9,9 s ↔ 0,17 s</a:t>
            </a:r>
            <a:endParaRPr lang="en-US" sz="3400" dirty="0"/>
          </a:p>
        </p:txBody>
      </p:sp>
      <p:sp>
        <p:nvSpPr>
          <p:cNvPr id="22" name="Text 17"/>
          <p:cNvSpPr txBox="1"/>
          <p:nvPr/>
        </p:nvSpPr>
        <p:spPr>
          <a:xfrm>
            <a:off x="6126480" y="4690872"/>
            <a:ext cx="4572000" cy="347472"/>
          </a:xfrm>
          <a:prstGeom prst="rect">
            <a:avLst/>
          </a:prstGeom>
          <a:noFill/>
          <a:ln/>
        </p:spPr>
        <p:txBody>
          <a:bodyPr wrap="square" lIns="0" tIns="0" rIns="0" bIns="0" rtlCol="0" anchor="t"/>
          <a:lstStyle/>
          <a:p>
            <a:pPr marL="0" indent="0">
              <a:buNone/>
            </a:pPr>
            <a:r>
              <a:rPr lang="en-US" sz="1500" b="1" dirty="0">
                <a:solidFill>
                  <a:srgbClr val="487BA2"/>
                </a:solidFill>
                <a:latin typeface="Arial" pitchFamily="34" charset="0"/>
                <a:ea typeface="Arial" pitchFamily="34" charset="-122"/>
                <a:cs typeface="Arial" pitchFamily="34" charset="-120"/>
              </a:rPr>
              <a:t>GPU tích hợp so với GPU rời</a:t>
            </a:r>
            <a:endParaRPr lang="en-US" sz="1500" dirty="0"/>
          </a:p>
        </p:txBody>
      </p:sp>
      <p:sp>
        <p:nvSpPr>
          <p:cNvPr id="23" name="Text 18"/>
          <p:cNvSpPr txBox="1"/>
          <p:nvPr/>
        </p:nvSpPr>
        <p:spPr>
          <a:xfrm>
            <a:off x="6126480" y="5074920"/>
            <a:ext cx="4572000" cy="1005840"/>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whisper.cpp lấy GPU đầu tiên, trên laptop hai card là Iris Xe. Adapter tự liệt kê thiết bị và chọn card rời.</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Điểm nghẽn chuyển sang TTS khi có GPU (bổ sung phần III)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42</a:t>
            </a:r>
            <a:endParaRPr lang="en-US" sz="1100" dirty="0"/>
          </a:p>
        </p:txBody>
      </p:sp>
      <p:graphicFrame>
        <p:nvGraphicFramePr>
          <p:cNvPr id="8" name="Chart 0"/>
          <p:cNvGraphicFramePr/>
          <p:nvPr/>
        </p:nvGraphicFramePr>
        <p:xfrm>
          <a:off x="594360" y="1371600"/>
          <a:ext cx="6949440" cy="484632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3"/>
          <p:cNvSpPr txBox="1"/>
          <p:nvPr/>
        </p:nvSpPr>
        <p:spPr>
          <a:xfrm>
            <a:off x="7772400" y="1463040"/>
            <a:ext cx="3200400" cy="4754880"/>
          </a:xfrm>
          <a:prstGeom prst="rect">
            <a:avLst/>
          </a:prstGeom>
          <a:noFill/>
          <a:ln/>
        </p:spPr>
        <p:txBody>
          <a:bodyPr wrap="square" lIns="0" tIns="0" rIns="0" bIns="0" rtlCol="0" anchor="t"/>
          <a:lstStyle/>
          <a:p>
            <a:pPr marL="190500" indent="-190500">
              <a:spcAft>
                <a:spcPts val="1200"/>
              </a:spcAft>
              <a:buSzPct val="100000"/>
              <a:buChar char="•"/>
            </a:pPr>
            <a:r>
              <a:rPr lang="en-US" sz="1400" dirty="0">
                <a:solidFill>
                  <a:srgbClr val="222222"/>
                </a:solidFill>
                <a:latin typeface="Arial" pitchFamily="34" charset="0"/>
                <a:ea typeface="Arial" pitchFamily="34" charset="-122"/>
                <a:cs typeface="Arial" pitchFamily="34" charset="-120"/>
              </a:rPr>
              <a:t>So với máy macOS, GPU làm ASR nhanh khoảng 8 lần (whisper.cpp/Vulkan) và MT nhanh 2 đến 2,5 lần (NLLB/CUDA).</a:t>
            </a:r>
            <a:endParaRPr lang="en-US" sz="1400" dirty="0"/>
          </a:p>
          <a:p>
            <a:pPr marL="190500" indent="-190500">
              <a:spcAft>
                <a:spcPts val="1200"/>
              </a:spcAft>
              <a:buSzPct val="100000"/>
              <a:buChar char="•"/>
            </a:pPr>
            <a:r>
              <a:rPr lang="en-US" sz="1400" dirty="0">
                <a:solidFill>
                  <a:srgbClr val="222222"/>
                </a:solidFill>
                <a:latin typeface="Arial" pitchFamily="34" charset="0"/>
                <a:ea typeface="Arial" pitchFamily="34" charset="-122"/>
                <a:cs typeface="Arial" pitchFamily="34" charset="-120"/>
              </a:rPr>
              <a:t>TTS vẫn chạy CPU nên gần như giữ nguyên, và thành khâu chậm nhất ở hai đích zh/ja: </a:t>
            </a:r>
            <a:r>
              <a:rPr lang="en-US" sz="1400" b="1" dirty="0">
                <a:solidFill>
                  <a:srgbClr val="B8262B"/>
                </a:solidFill>
                <a:latin typeface="Arial" pitchFamily="34" charset="0"/>
                <a:ea typeface="Arial" pitchFamily="34" charset="-122"/>
                <a:cs typeface="Arial" pitchFamily="34" charset="-120"/>
              </a:rPr>
              <a:t>63% và 65%</a:t>
            </a:r>
            <a:r>
              <a:rPr lang="en-US" sz="1400" dirty="0">
                <a:solidFill>
                  <a:srgbClr val="222222"/>
                </a:solidFill>
                <a:latin typeface="Arial" pitchFamily="34" charset="0"/>
                <a:ea typeface="Arial" pitchFamily="34" charset="-122"/>
                <a:cs typeface="Arial" pitchFamily="34" charset="-120"/>
              </a:rPr>
              <a:t> toàn chuỗi.</a:t>
            </a:r>
            <a:endParaRPr lang="en-US" sz="1400" dirty="0"/>
          </a:p>
          <a:p>
            <a:pPr marL="190500" indent="-190500">
              <a:spcAft>
                <a:spcPts val="1200"/>
              </a:spcAft>
              <a:buSzPct val="100000"/>
              <a:buChar char="•"/>
            </a:pPr>
            <a:r>
              <a:rPr lang="en-US" sz="1400" b="1" dirty="0">
                <a:solidFill>
                  <a:srgbClr val="B8262B"/>
                </a:solidFill>
                <a:latin typeface="Arial" pitchFamily="34" charset="0"/>
                <a:ea typeface="Arial" pitchFamily="34" charset="-122"/>
                <a:cs typeface="Arial" pitchFamily="34" charset="-120"/>
              </a:rPr>
              <a:t>Chỗ cần tối ưu tiếp theo là TTS cho đích tiếng Nhật và tiếng Trung.</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Câu 3 giây và chạy liên tục 60 phút (bổ sung phần III)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43</a:t>
            </a:r>
            <a:endParaRPr lang="en-US" sz="1100" dirty="0"/>
          </a:p>
        </p:txBody>
      </p:sp>
      <p:sp>
        <p:nvSpPr>
          <p:cNvPr id="8" name="Text 3"/>
          <p:cNvSpPr txBox="1"/>
          <p:nvPr/>
        </p:nvSpPr>
        <p:spPr>
          <a:xfrm>
            <a:off x="685800" y="1371600"/>
            <a:ext cx="621792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Một câu 3 giây, máy macOS, preset Cân bằng</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6217920" cy="2633472"/>
        </p:xfrm>
        <a:graphic>
          <a:graphicData uri="http://schemas.openxmlformats.org/drawingml/2006/table">
            <a:tbl>
              <a:tblPr/>
              <a:tblGrid>
                <a:gridCol w="11887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43891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Chiều</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VAD</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ASR</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MT</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TTS</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Tổng</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1B517B"/>
                    </a:solidFill>
                  </a:tcPr>
                </a:tc>
                <a:extLst>
                  <a:ext uri="{0D108BD9-81ED-4DB2-BD59-A6C34878D82A}">
                    <a16:rowId xmlns:a16="http://schemas.microsoft.com/office/drawing/2014/main" val="10000"/>
                  </a:ext>
                </a:extLst>
              </a:tr>
              <a:tr h="438912">
                <a:tc>
                  <a:txBody>
                    <a:bodyPr/>
                    <a:lstStyle/>
                    <a:p>
                      <a:pPr marL="0" indent="0" algn="l">
                        <a:buNone/>
                      </a:pPr>
                      <a:r>
                        <a:rPr lang="en-US" sz="1400" b="1" dirty="0">
                          <a:solidFill>
                            <a:srgbClr val="000000"/>
                          </a:solidFill>
                          <a:latin typeface="Arial" pitchFamily="34" charset="0"/>
                          <a:ea typeface="Arial" pitchFamily="34" charset="-122"/>
                          <a:cs typeface="Arial" pitchFamily="34" charset="-120"/>
                        </a:rPr>
                        <a:t>vi→en</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46</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1.060</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569</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141</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b="1" dirty="0">
                          <a:solidFill>
                            <a:srgbClr val="000000"/>
                          </a:solidFill>
                          <a:latin typeface="Arial" pitchFamily="34" charset="0"/>
                          <a:ea typeface="Arial" pitchFamily="34" charset="-122"/>
                          <a:cs typeface="Arial" pitchFamily="34" charset="-120"/>
                        </a:rPr>
                        <a:t>1.819</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lgn="l">
                        <a:buNone/>
                      </a:pPr>
                      <a:r>
                        <a:rPr lang="en-US" sz="1400" b="1" dirty="0">
                          <a:solidFill>
                            <a:srgbClr val="000000"/>
                          </a:solidFill>
                          <a:latin typeface="Arial" pitchFamily="34" charset="0"/>
                          <a:ea typeface="Arial" pitchFamily="34" charset="-122"/>
                          <a:cs typeface="Arial" pitchFamily="34" charset="-120"/>
                        </a:rPr>
                        <a:t>en→vi</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46</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991</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579</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148</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b="1" dirty="0">
                          <a:solidFill>
                            <a:srgbClr val="000000"/>
                          </a:solidFill>
                          <a:latin typeface="Arial" pitchFamily="34" charset="0"/>
                          <a:ea typeface="Arial" pitchFamily="34" charset="-122"/>
                          <a:cs typeface="Arial" pitchFamily="34" charset="-120"/>
                        </a:rPr>
                        <a:t>1.766</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lgn="l">
                        <a:buNone/>
                      </a:pPr>
                      <a:r>
                        <a:rPr lang="en-US" sz="1400" b="1" dirty="0">
                          <a:solidFill>
                            <a:srgbClr val="000000"/>
                          </a:solidFill>
                          <a:latin typeface="Arial" pitchFamily="34" charset="0"/>
                          <a:ea typeface="Arial" pitchFamily="34" charset="-122"/>
                          <a:cs typeface="Arial" pitchFamily="34" charset="-120"/>
                        </a:rPr>
                        <a:t>vi→ja</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48</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1.056</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460</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772</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b="1" dirty="0">
                          <a:solidFill>
                            <a:srgbClr val="000000"/>
                          </a:solidFill>
                          <a:latin typeface="Arial" pitchFamily="34" charset="0"/>
                          <a:ea typeface="Arial" pitchFamily="34" charset="-122"/>
                          <a:cs typeface="Arial" pitchFamily="34" charset="-120"/>
                        </a:rPr>
                        <a:t>2.338</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lgn="l">
                        <a:buNone/>
                      </a:pPr>
                      <a:r>
                        <a:rPr lang="en-US" sz="1400" b="1" dirty="0">
                          <a:solidFill>
                            <a:srgbClr val="000000"/>
                          </a:solidFill>
                          <a:latin typeface="Arial" pitchFamily="34" charset="0"/>
                          <a:ea typeface="Arial" pitchFamily="34" charset="-122"/>
                          <a:cs typeface="Arial" pitchFamily="34" charset="-120"/>
                        </a:rPr>
                        <a:t>vi→zh</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46</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1.038</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558</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969</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tc>
                  <a:txBody>
                    <a:bodyPr/>
                    <a:lstStyle/>
                    <a:p>
                      <a:pPr marL="0" indent="0" algn="ctr">
                        <a:buNone/>
                      </a:pPr>
                      <a:r>
                        <a:rPr lang="en-US" sz="1400" b="1" dirty="0">
                          <a:solidFill>
                            <a:srgbClr val="000000"/>
                          </a:solidFill>
                          <a:latin typeface="Arial" pitchFamily="34" charset="0"/>
                          <a:ea typeface="Arial" pitchFamily="34" charset="-122"/>
                          <a:cs typeface="Arial" pitchFamily="34" charset="-120"/>
                        </a:rPr>
                        <a:t>2.613</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lgn="l">
                        <a:buNone/>
                      </a:pPr>
                      <a:r>
                        <a:rPr lang="en-US" sz="1400" b="1" dirty="0">
                          <a:solidFill>
                            <a:srgbClr val="2E8B57"/>
                          </a:solidFill>
                          <a:latin typeface="Arial" pitchFamily="34" charset="0"/>
                          <a:ea typeface="Arial" pitchFamily="34" charset="-122"/>
                          <a:cs typeface="Arial" pitchFamily="34" charset="-120"/>
                        </a:rPr>
                        <a:t>Mục tiêu</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8F4EC"/>
                    </a:solidFill>
                  </a:tcPr>
                </a:tc>
                <a:tc>
                  <a:txBody>
                    <a:bodyPr/>
                    <a:lstStyle/>
                    <a:p>
                      <a:pPr marL="0" indent="0" algn="ctr">
                        <a:buNone/>
                      </a:pP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8F4EC"/>
                    </a:solidFill>
                  </a:tcPr>
                </a:tc>
                <a:tc>
                  <a:txBody>
                    <a:bodyPr/>
                    <a:lstStyle/>
                    <a:p>
                      <a:pPr marL="0" indent="0" algn="ctr">
                        <a:buNone/>
                      </a:pPr>
                      <a:r>
                        <a:rPr lang="en-US" sz="1400" b="1" dirty="0">
                          <a:solidFill>
                            <a:srgbClr val="2E8B57"/>
                          </a:solidFill>
                          <a:latin typeface="Arial" pitchFamily="34" charset="0"/>
                          <a:ea typeface="Arial" pitchFamily="34" charset="-122"/>
                          <a:cs typeface="Arial" pitchFamily="34" charset="-120"/>
                        </a:rPr>
                        <a:t>&lt; 1.500</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8F4EC"/>
                    </a:solidFill>
                  </a:tcPr>
                </a:tc>
                <a:tc>
                  <a:txBody>
                    <a:bodyPr/>
                    <a:lstStyle/>
                    <a:p>
                      <a:pPr marL="0" indent="0" algn="ctr">
                        <a:buNone/>
                      </a:pPr>
                      <a:r>
                        <a:rPr lang="en-US" sz="1400" b="1" dirty="0">
                          <a:solidFill>
                            <a:srgbClr val="2E8B57"/>
                          </a:solidFill>
                          <a:latin typeface="Arial" pitchFamily="34" charset="0"/>
                          <a:ea typeface="Arial" pitchFamily="34" charset="-122"/>
                          <a:cs typeface="Arial" pitchFamily="34" charset="-120"/>
                        </a:rPr>
                        <a:t>&lt; 1.000</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8F4EC"/>
                    </a:solidFill>
                  </a:tcPr>
                </a:tc>
                <a:tc>
                  <a:txBody>
                    <a:bodyPr/>
                    <a:lstStyle/>
                    <a:p>
                      <a:pPr marL="0" indent="0" algn="ctr">
                        <a:buNone/>
                      </a:pPr>
                      <a:r>
                        <a:rPr lang="en-US" sz="1400" b="1" dirty="0">
                          <a:solidFill>
                            <a:srgbClr val="2E8B57"/>
                          </a:solidFill>
                          <a:latin typeface="Arial" pitchFamily="34" charset="0"/>
                          <a:ea typeface="Arial" pitchFamily="34" charset="-122"/>
                          <a:cs typeface="Arial" pitchFamily="34" charset="-120"/>
                        </a:rPr>
                        <a:t>&lt; 1.500</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8F4EC"/>
                    </a:solidFill>
                  </a:tcPr>
                </a:tc>
                <a:tc>
                  <a:txBody>
                    <a:bodyPr/>
                    <a:lstStyle/>
                    <a:p>
                      <a:pPr marL="0" indent="0" algn="ctr">
                        <a:buNone/>
                      </a:pPr>
                      <a:r>
                        <a:rPr lang="en-US" sz="1400" b="1" dirty="0">
                          <a:solidFill>
                            <a:srgbClr val="2E8B57"/>
                          </a:solidFill>
                          <a:latin typeface="Arial" pitchFamily="34" charset="0"/>
                          <a:ea typeface="Arial" pitchFamily="34" charset="-122"/>
                          <a:cs typeface="Arial" pitchFamily="34" charset="-120"/>
                        </a:rPr>
                        <a:t>&lt; 4.000</a:t>
                      </a:r>
                      <a:endParaRPr lang="en-US" sz="1400" dirty="0">
                        <a:latin typeface="Arial" charset="0"/>
                        <a:ea typeface="Arial" charset="0"/>
                        <a:cs typeface="Arial" charset="0"/>
                      </a:endParaRPr>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8F4EC"/>
                    </a:solidFill>
                  </a:tcPr>
                </a:tc>
                <a:extLst>
                  <a:ext uri="{0D108BD9-81ED-4DB2-BD59-A6C34878D82A}">
                    <a16:rowId xmlns:a16="http://schemas.microsoft.com/office/drawing/2014/main" val="10005"/>
                  </a:ext>
                </a:extLst>
              </a:tr>
            </a:tbl>
          </a:graphicData>
        </a:graphic>
      </p:graphicFrame>
      <p:sp>
        <p:nvSpPr>
          <p:cNvPr id="10" name="Text 4"/>
          <p:cNvSpPr txBox="1"/>
          <p:nvPr/>
        </p:nvSpPr>
        <p:spPr>
          <a:xfrm>
            <a:off x="685800" y="4937760"/>
            <a:ext cx="6217920" cy="548640"/>
          </a:xfrm>
          <a:prstGeom prst="rect">
            <a:avLst/>
          </a:prstGeom>
          <a:noFill/>
          <a:ln/>
        </p:spPr>
        <p:txBody>
          <a:bodyPr wrap="square" lIns="0" tIns="0" rIns="0" bIns="0" rtlCol="0" anchor="t"/>
          <a:lstStyle/>
          <a:p>
            <a:pPr marL="0" indent="0">
              <a:buNone/>
            </a:pPr>
            <a:r>
              <a:rPr lang="en-US" sz="1200" i="1" dirty="0">
                <a:solidFill>
                  <a:srgbClr val="5F6B76"/>
                </a:solidFill>
                <a:latin typeface="Arial" pitchFamily="34" charset="0"/>
                <a:ea typeface="Arial" pitchFamily="34" charset="-122"/>
                <a:cs typeface="Arial" pitchFamily="34" charset="-120"/>
              </a:rPr>
              <a:t>Đơn vị: ms. Cả bốn mốc đều đạt ở cả bốn chiều. Trên bản cài Windows, cùng phép đo cho ASR 362–480 ms.</a:t>
            </a:r>
            <a:endParaRPr lang="en-US" sz="1200" dirty="0"/>
          </a:p>
        </p:txBody>
      </p:sp>
      <p:sp>
        <p:nvSpPr>
          <p:cNvPr id="11" name="Text 5"/>
          <p:cNvSpPr txBox="1"/>
          <p:nvPr/>
        </p:nvSpPr>
        <p:spPr>
          <a:xfrm>
            <a:off x="7223760" y="1371600"/>
            <a:ext cx="3840480" cy="365760"/>
          </a:xfrm>
          <a:prstGeom prst="rect">
            <a:avLst/>
          </a:prstGeom>
          <a:noFill/>
          <a:ln/>
        </p:spPr>
        <p:txBody>
          <a:bodyPr wrap="square" lIns="0" tIns="0" rIns="0" bIns="0" rtlCol="0" anchor="t"/>
          <a:lstStyle/>
          <a:p>
            <a:pPr marL="0" indent="0">
              <a:buNone/>
            </a:pPr>
            <a:r>
              <a:rPr lang="en-US" sz="1500" b="1" dirty="0">
                <a:solidFill>
                  <a:srgbClr val="1B517B"/>
                </a:solidFill>
                <a:latin typeface="Arial" pitchFamily="34" charset="0"/>
                <a:ea typeface="Arial" pitchFamily="34" charset="-122"/>
                <a:cs typeface="Arial" pitchFamily="34" charset="-120"/>
              </a:rPr>
              <a:t>Chạy liên tục 60 phút (Windows)</a:t>
            </a:r>
            <a:endParaRPr lang="en-US" sz="1500" dirty="0"/>
          </a:p>
        </p:txBody>
      </p:sp>
      <p:sp>
        <p:nvSpPr>
          <p:cNvPr id="12" name="Shape 6"/>
          <p:cNvSpPr/>
          <p:nvPr/>
        </p:nvSpPr>
        <p:spPr>
          <a:xfrm>
            <a:off x="7223760" y="1783080"/>
            <a:ext cx="3703320" cy="868680"/>
          </a:xfrm>
          <a:prstGeom prst="roundRect">
            <a:avLst>
              <a:gd name="adj" fmla="val 8421"/>
            </a:avLst>
          </a:prstGeom>
          <a:solidFill>
            <a:srgbClr val="EEF4F9"/>
          </a:solidFill>
          <a:ln w="12700">
            <a:solidFill>
              <a:srgbClr val="EEF4F9"/>
            </a:solidFill>
            <a:prstDash val="solid"/>
          </a:ln>
        </p:spPr>
        <p:txBody>
          <a:bodyPr/>
          <a:lstStyle/>
          <a:p>
            <a:endParaRPr lang="en-US"/>
          </a:p>
        </p:txBody>
      </p:sp>
      <p:sp>
        <p:nvSpPr>
          <p:cNvPr id="13" name="Text 7"/>
          <p:cNvSpPr txBox="1"/>
          <p:nvPr/>
        </p:nvSpPr>
        <p:spPr>
          <a:xfrm>
            <a:off x="7360920" y="1783080"/>
            <a:ext cx="1600200" cy="868680"/>
          </a:xfrm>
          <a:prstGeom prst="rect">
            <a:avLst/>
          </a:prstGeom>
          <a:noFill/>
          <a:ln/>
        </p:spPr>
        <p:txBody>
          <a:bodyPr wrap="square" lIns="0" tIns="0" rIns="0" bIns="0" rtlCol="0" anchor="ctr"/>
          <a:lstStyle/>
          <a:p>
            <a:pPr marL="0" indent="0">
              <a:buNone/>
            </a:pPr>
            <a:r>
              <a:rPr lang="en-US" sz="2400" b="1" dirty="0">
                <a:solidFill>
                  <a:srgbClr val="1B517B"/>
                </a:solidFill>
                <a:latin typeface="Arial" pitchFamily="34" charset="0"/>
                <a:ea typeface="Arial" pitchFamily="34" charset="-122"/>
                <a:cs typeface="Arial" pitchFamily="34" charset="-120"/>
              </a:rPr>
              <a:t>877 / 0</a:t>
            </a:r>
            <a:endParaRPr lang="en-US" sz="2400" dirty="0"/>
          </a:p>
        </p:txBody>
      </p:sp>
      <p:sp>
        <p:nvSpPr>
          <p:cNvPr id="14" name="Text 8"/>
          <p:cNvSpPr txBox="1"/>
          <p:nvPr/>
        </p:nvSpPr>
        <p:spPr>
          <a:xfrm>
            <a:off x="9006840" y="1783080"/>
            <a:ext cx="1828800" cy="868680"/>
          </a:xfrm>
          <a:prstGeom prst="rect">
            <a:avLst/>
          </a:prstGeom>
          <a:noFill/>
          <a:ln/>
        </p:spPr>
        <p:txBody>
          <a:bodyPr wrap="square" lIns="0" tIns="0" rIns="0" bIns="0" rtlCol="0" anchor="ctr"/>
          <a:lstStyle/>
          <a:p>
            <a:pPr marL="0" indent="0">
              <a:buNone/>
            </a:pPr>
            <a:r>
              <a:rPr lang="en-US" sz="1200" dirty="0">
                <a:solidFill>
                  <a:srgbClr val="222222"/>
                </a:solidFill>
                <a:latin typeface="Arial" pitchFamily="34" charset="0"/>
                <a:ea typeface="Arial" pitchFamily="34" charset="-122"/>
                <a:cs typeface="Arial" pitchFamily="34" charset="-120"/>
              </a:rPr>
              <a:t>câu thành công / lỗi</a:t>
            </a:r>
            <a:endParaRPr lang="en-US" sz="1200" dirty="0"/>
          </a:p>
        </p:txBody>
      </p:sp>
      <p:sp>
        <p:nvSpPr>
          <p:cNvPr id="15" name="Shape 9"/>
          <p:cNvSpPr/>
          <p:nvPr/>
        </p:nvSpPr>
        <p:spPr>
          <a:xfrm>
            <a:off x="7223760" y="2788920"/>
            <a:ext cx="3703320" cy="868680"/>
          </a:xfrm>
          <a:prstGeom prst="roundRect">
            <a:avLst>
              <a:gd name="adj" fmla="val 8421"/>
            </a:avLst>
          </a:prstGeom>
          <a:solidFill>
            <a:srgbClr val="EEF4F9"/>
          </a:solidFill>
          <a:ln w="12700">
            <a:solidFill>
              <a:srgbClr val="EEF4F9"/>
            </a:solidFill>
            <a:prstDash val="solid"/>
          </a:ln>
        </p:spPr>
        <p:txBody>
          <a:bodyPr/>
          <a:lstStyle/>
          <a:p>
            <a:endParaRPr lang="en-US"/>
          </a:p>
        </p:txBody>
      </p:sp>
      <p:sp>
        <p:nvSpPr>
          <p:cNvPr id="16" name="Text 10"/>
          <p:cNvSpPr txBox="1"/>
          <p:nvPr/>
        </p:nvSpPr>
        <p:spPr>
          <a:xfrm>
            <a:off x="7360920" y="2788920"/>
            <a:ext cx="1600200" cy="868680"/>
          </a:xfrm>
          <a:prstGeom prst="rect">
            <a:avLst/>
          </a:prstGeom>
          <a:noFill/>
          <a:ln/>
        </p:spPr>
        <p:txBody>
          <a:bodyPr wrap="square" lIns="0" tIns="0" rIns="0" bIns="0" rtlCol="0" anchor="ctr"/>
          <a:lstStyle/>
          <a:p>
            <a:pPr marL="0" indent="0">
              <a:buNone/>
            </a:pPr>
            <a:r>
              <a:rPr lang="en-US" sz="2400" b="1" dirty="0">
                <a:solidFill>
                  <a:srgbClr val="1B517B"/>
                </a:solidFill>
                <a:latin typeface="Arial" pitchFamily="34" charset="0"/>
                <a:ea typeface="Arial" pitchFamily="34" charset="-122"/>
                <a:cs typeface="Arial" pitchFamily="34" charset="-120"/>
              </a:rPr>
              <a:t>+12 MB</a:t>
            </a:r>
            <a:endParaRPr lang="en-US" sz="2400" dirty="0"/>
          </a:p>
        </p:txBody>
      </p:sp>
      <p:sp>
        <p:nvSpPr>
          <p:cNvPr id="17" name="Text 11"/>
          <p:cNvSpPr txBox="1"/>
          <p:nvPr/>
        </p:nvSpPr>
        <p:spPr>
          <a:xfrm>
            <a:off x="9006840" y="2788920"/>
            <a:ext cx="1828800" cy="868680"/>
          </a:xfrm>
          <a:prstGeom prst="rect">
            <a:avLst/>
          </a:prstGeom>
          <a:noFill/>
          <a:ln/>
        </p:spPr>
        <p:txBody>
          <a:bodyPr wrap="square" lIns="0" tIns="0" rIns="0" bIns="0" rtlCol="0" anchor="ctr"/>
          <a:lstStyle/>
          <a:p>
            <a:pPr marL="0" indent="0">
              <a:buNone/>
            </a:pPr>
            <a:r>
              <a:rPr lang="en-US" sz="1200" dirty="0">
                <a:solidFill>
                  <a:srgbClr val="222222"/>
                </a:solidFill>
                <a:latin typeface="Arial" pitchFamily="34" charset="0"/>
                <a:ea typeface="Arial" pitchFamily="34" charset="-122"/>
                <a:cs typeface="Arial" pitchFamily="34" charset="-120"/>
              </a:rPr>
              <a:t>bộ nhớ RSS (1.110 → 1.122 MB)</a:t>
            </a:r>
            <a:endParaRPr lang="en-US" sz="1200" dirty="0"/>
          </a:p>
        </p:txBody>
      </p:sp>
      <p:sp>
        <p:nvSpPr>
          <p:cNvPr id="18" name="Shape 12"/>
          <p:cNvSpPr/>
          <p:nvPr/>
        </p:nvSpPr>
        <p:spPr>
          <a:xfrm>
            <a:off x="7223760" y="3794760"/>
            <a:ext cx="3703320" cy="868680"/>
          </a:xfrm>
          <a:prstGeom prst="roundRect">
            <a:avLst>
              <a:gd name="adj" fmla="val 8421"/>
            </a:avLst>
          </a:prstGeom>
          <a:solidFill>
            <a:srgbClr val="EEF4F9"/>
          </a:solidFill>
          <a:ln w="12700">
            <a:solidFill>
              <a:srgbClr val="EEF4F9"/>
            </a:solidFill>
            <a:prstDash val="solid"/>
          </a:ln>
        </p:spPr>
        <p:txBody>
          <a:bodyPr/>
          <a:lstStyle/>
          <a:p>
            <a:endParaRPr lang="en-US"/>
          </a:p>
        </p:txBody>
      </p:sp>
      <p:sp>
        <p:nvSpPr>
          <p:cNvPr id="19" name="Text 13"/>
          <p:cNvSpPr txBox="1"/>
          <p:nvPr/>
        </p:nvSpPr>
        <p:spPr>
          <a:xfrm>
            <a:off x="7360920" y="3794760"/>
            <a:ext cx="1600200" cy="868680"/>
          </a:xfrm>
          <a:prstGeom prst="rect">
            <a:avLst/>
          </a:prstGeom>
          <a:noFill/>
          <a:ln/>
        </p:spPr>
        <p:txBody>
          <a:bodyPr wrap="square" lIns="0" tIns="0" rIns="0" bIns="0" rtlCol="0" anchor="ctr"/>
          <a:lstStyle/>
          <a:p>
            <a:pPr marL="0" indent="0">
              <a:buNone/>
            </a:pPr>
            <a:r>
              <a:rPr lang="en-US" sz="2400" b="1" dirty="0">
                <a:solidFill>
                  <a:srgbClr val="1B517B"/>
                </a:solidFill>
                <a:latin typeface="Arial" pitchFamily="34" charset="0"/>
                <a:ea typeface="Arial" pitchFamily="34" charset="-122"/>
                <a:cs typeface="Arial" pitchFamily="34" charset="-120"/>
              </a:rPr>
              <a:t>+1,8 ms</a:t>
            </a:r>
            <a:endParaRPr lang="en-US" sz="2400" dirty="0"/>
          </a:p>
        </p:txBody>
      </p:sp>
      <p:sp>
        <p:nvSpPr>
          <p:cNvPr id="20" name="Text 14"/>
          <p:cNvSpPr txBox="1"/>
          <p:nvPr/>
        </p:nvSpPr>
        <p:spPr>
          <a:xfrm>
            <a:off x="9006840" y="3794760"/>
            <a:ext cx="1828800" cy="868680"/>
          </a:xfrm>
          <a:prstGeom prst="rect">
            <a:avLst/>
          </a:prstGeom>
          <a:noFill/>
          <a:ln/>
        </p:spPr>
        <p:txBody>
          <a:bodyPr wrap="square" lIns="0" tIns="0" rIns="0" bIns="0" rtlCol="0" anchor="ctr"/>
          <a:lstStyle/>
          <a:p>
            <a:pPr marL="0" indent="0">
              <a:buNone/>
            </a:pPr>
            <a:r>
              <a:rPr lang="en-US" sz="1200" dirty="0">
                <a:solidFill>
                  <a:srgbClr val="222222"/>
                </a:solidFill>
                <a:latin typeface="Arial" pitchFamily="34" charset="0"/>
                <a:ea typeface="Arial" pitchFamily="34" charset="-122"/>
                <a:cs typeface="Arial" pitchFamily="34" charset="-120"/>
              </a:rPr>
              <a:t>độ trễ 10% câu cuối so với 10% câu đầu</a:t>
            </a:r>
            <a:endParaRPr lang="en-US" sz="1200" dirty="0"/>
          </a:p>
        </p:txBody>
      </p:sp>
      <p:sp>
        <p:nvSpPr>
          <p:cNvPr id="21" name="Shape 15"/>
          <p:cNvSpPr/>
          <p:nvPr/>
        </p:nvSpPr>
        <p:spPr>
          <a:xfrm>
            <a:off x="7223760" y="4800600"/>
            <a:ext cx="3703320" cy="868680"/>
          </a:xfrm>
          <a:prstGeom prst="roundRect">
            <a:avLst>
              <a:gd name="adj" fmla="val 8421"/>
            </a:avLst>
          </a:prstGeom>
          <a:solidFill>
            <a:srgbClr val="EEF4F9"/>
          </a:solidFill>
          <a:ln w="12700">
            <a:solidFill>
              <a:srgbClr val="EEF4F9"/>
            </a:solidFill>
            <a:prstDash val="solid"/>
          </a:ln>
        </p:spPr>
        <p:txBody>
          <a:bodyPr/>
          <a:lstStyle/>
          <a:p>
            <a:endParaRPr lang="en-US"/>
          </a:p>
        </p:txBody>
      </p:sp>
      <p:sp>
        <p:nvSpPr>
          <p:cNvPr id="22" name="Text 16"/>
          <p:cNvSpPr txBox="1"/>
          <p:nvPr/>
        </p:nvSpPr>
        <p:spPr>
          <a:xfrm>
            <a:off x="7360920" y="4800600"/>
            <a:ext cx="1600200" cy="868680"/>
          </a:xfrm>
          <a:prstGeom prst="rect">
            <a:avLst/>
          </a:prstGeom>
          <a:noFill/>
          <a:ln/>
        </p:spPr>
        <p:txBody>
          <a:bodyPr wrap="square" lIns="0" tIns="0" rIns="0" bIns="0" rtlCol="0" anchor="ctr"/>
          <a:lstStyle/>
          <a:p>
            <a:pPr marL="0" indent="0">
              <a:buNone/>
            </a:pPr>
            <a:r>
              <a:rPr lang="en-US" sz="2400" b="1" dirty="0">
                <a:solidFill>
                  <a:srgbClr val="1B517B"/>
                </a:solidFill>
                <a:latin typeface="Arial" pitchFamily="34" charset="0"/>
                <a:ea typeface="Arial" pitchFamily="34" charset="-122"/>
                <a:cs typeface="Arial" pitchFamily="34" charset="-120"/>
              </a:rPr>
              <a:t>443 ms</a:t>
            </a:r>
            <a:endParaRPr lang="en-US" sz="2400" dirty="0"/>
          </a:p>
        </p:txBody>
      </p:sp>
      <p:sp>
        <p:nvSpPr>
          <p:cNvPr id="23" name="Text 17"/>
          <p:cNvSpPr txBox="1"/>
          <p:nvPr/>
        </p:nvSpPr>
        <p:spPr>
          <a:xfrm>
            <a:off x="9006840" y="4800600"/>
            <a:ext cx="1828800" cy="868680"/>
          </a:xfrm>
          <a:prstGeom prst="rect">
            <a:avLst/>
          </a:prstGeom>
          <a:noFill/>
          <a:ln/>
        </p:spPr>
        <p:txBody>
          <a:bodyPr wrap="square" lIns="0" tIns="0" rIns="0" bIns="0" rtlCol="0" anchor="ctr"/>
          <a:lstStyle/>
          <a:p>
            <a:pPr marL="0" indent="0">
              <a:buNone/>
            </a:pPr>
            <a:r>
              <a:rPr lang="en-US" sz="1200" dirty="0">
                <a:solidFill>
                  <a:srgbClr val="222222"/>
                </a:solidFill>
                <a:latin typeface="Arial" pitchFamily="34" charset="0"/>
                <a:ea typeface="Arial" pitchFamily="34" charset="-122"/>
                <a:cs typeface="Arial" pitchFamily="34" charset="-120"/>
              </a:rPr>
              <a:t>độ trễ p50 (p95 541 ms), không mất kết nối</a:t>
            </a:r>
            <a:endParaRPr lang="en-US" sz="1200" dirty="0"/>
          </a:p>
        </p:txBody>
      </p:sp>
      <p:sp>
        <p:nvSpPr>
          <p:cNvPr id="24" name="Text 18"/>
          <p:cNvSpPr txBox="1"/>
          <p:nvPr/>
        </p:nvSpPr>
        <p:spPr>
          <a:xfrm>
            <a:off x="685800" y="5669280"/>
            <a:ext cx="10241280" cy="457200"/>
          </a:xfrm>
          <a:prstGeom prst="rect">
            <a:avLst/>
          </a:prstGeom>
          <a:noFill/>
          <a:ln/>
        </p:spPr>
        <p:txBody>
          <a:bodyPr wrap="square" lIns="0" tIns="0" rIns="0" bIns="0" rtlCol="0" anchor="t"/>
          <a:lstStyle/>
          <a:p>
            <a:pPr marL="0" indent="0">
              <a:buNone/>
            </a:pPr>
            <a:r>
              <a:rPr lang="en-US" sz="1500" b="1" dirty="0">
                <a:solidFill>
                  <a:srgbClr val="B8262B"/>
                </a:solidFill>
                <a:latin typeface="Arial" pitchFamily="34" charset="0"/>
                <a:ea typeface="Arial" pitchFamily="34" charset="-122"/>
                <a:cs typeface="Arial" pitchFamily="34" charset="-120"/>
              </a:rPr>
              <a:t>Sau một giờ, bộ nhớ và độ trễ gần như đứng yên: không có dấu hiệu rò rỉ đáng kể.</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Slide dự phòng</a:t>
            </a:r>
            <a:endParaRPr lang="en-US" sz="2800" dirty="0"/>
          </a:p>
        </p:txBody>
      </p:sp>
      <p:sp>
        <p:nvSpPr>
          <p:cNvPr id="6" name="Text 1"/>
          <p:cNvSpPr txBox="1"/>
          <p:nvPr/>
        </p:nvSpPr>
        <p:spPr>
          <a:xfrm>
            <a:off x="685800" y="841248"/>
            <a:ext cx="8046720" cy="411480"/>
          </a:xfrm>
          <a:prstGeom prst="rect">
            <a:avLst/>
          </a:prstGeom>
          <a:noFill/>
          <a:ln/>
        </p:spPr>
        <p:txBody>
          <a:bodyPr wrap="square" lIns="0" tIns="0" rIns="0" bIns="0" rtlCol="0" anchor="t"/>
          <a:lstStyle/>
          <a:p>
            <a:pPr marL="0" indent="0">
              <a:buNone/>
            </a:pPr>
            <a:r>
              <a:rPr lang="en-US" sz="2000" dirty="0">
                <a:solidFill>
                  <a:srgbClr val="1B517B"/>
                </a:solidFill>
                <a:latin typeface="Arial" pitchFamily="34" charset="0"/>
                <a:ea typeface="Arial" pitchFamily="34" charset="-122"/>
                <a:cs typeface="Arial" pitchFamily="34" charset="-120"/>
              </a:rPr>
              <a:t>Tách câu trên ba loại giọng người thật (bổ sung phần III)</a:t>
            </a:r>
            <a:endParaRPr lang="en-US" sz="2000" dirty="0"/>
          </a:p>
        </p:txBody>
      </p:sp>
      <p:sp>
        <p:nvSpPr>
          <p:cNvPr id="7" name="Text 2"/>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44</a:t>
            </a:r>
            <a:endParaRPr lang="en-US" sz="1100" dirty="0"/>
          </a:p>
        </p:txBody>
      </p:sp>
      <p:graphicFrame>
        <p:nvGraphicFramePr>
          <p:cNvPr id="8" name="Chart 0"/>
          <p:cNvGraphicFramePr/>
          <p:nvPr/>
        </p:nvGraphicFramePr>
        <p:xfrm>
          <a:off x="594360" y="1371600"/>
          <a:ext cx="6583680" cy="484632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3"/>
          <p:cNvSpPr txBox="1"/>
          <p:nvPr/>
        </p:nvSpPr>
        <p:spPr>
          <a:xfrm>
            <a:off x="7406640" y="1463040"/>
            <a:ext cx="3566160" cy="4754880"/>
          </a:xfrm>
          <a:prstGeom prst="rect">
            <a:avLst/>
          </a:prstGeom>
          <a:noFill/>
          <a:ln/>
        </p:spPr>
        <p:txBody>
          <a:bodyPr wrap="square" lIns="0" tIns="0" rIns="0" bIns="0" rtlCol="0" anchor="t"/>
          <a:lstStyle/>
          <a:p>
            <a:pPr marL="190500" indent="-190500">
              <a:spcAft>
                <a:spcPts val="1200"/>
              </a:spcAft>
              <a:buSzPct val="100000"/>
              <a:buChar char="•"/>
            </a:pPr>
            <a:r>
              <a:rPr lang="en-US" sz="1400" dirty="0">
                <a:solidFill>
                  <a:srgbClr val="222222"/>
                </a:solidFill>
                <a:latin typeface="Arial" pitchFamily="34" charset="0"/>
                <a:ea typeface="Arial" pitchFamily="34" charset="-122"/>
                <a:cs typeface="Arial" pitchFamily="34" charset="-120"/>
              </a:rPr>
              <a:t>Với tham số cũ, 10% số câu của bản tin dài hơn 12,5 s, đúng chỗ GVHD góp ý. Preset Cân bằng còn 5,9 s.</a:t>
            </a:r>
            <a:endParaRPr lang="en-US" sz="1400" dirty="0"/>
          </a:p>
          <a:p>
            <a:pPr marL="190500" indent="-190500">
              <a:spcAft>
                <a:spcPts val="1200"/>
              </a:spcAft>
              <a:buSzPct val="100000"/>
              <a:buChar char="•"/>
            </a:pPr>
            <a:r>
              <a:rPr lang="en-US" sz="1400" dirty="0">
                <a:solidFill>
                  <a:srgbClr val="222222"/>
                </a:solidFill>
                <a:latin typeface="Arial" pitchFamily="34" charset="0"/>
                <a:ea typeface="Arial" pitchFamily="34" charset="-122"/>
                <a:cs typeface="Arial" pitchFamily="34" charset="-120"/>
              </a:rPr>
              <a:t>Thời gian chờ chốt gần như không đổi (0,20–0,36 s), nên phần cải thiện đến từ trần độ dài.</a:t>
            </a:r>
            <a:endParaRPr lang="en-US" sz="1400" dirty="0"/>
          </a:p>
          <a:p>
            <a:pPr marL="190500" indent="-190500">
              <a:spcAft>
                <a:spcPts val="1200"/>
              </a:spcAft>
              <a:buSzPct val="100000"/>
              <a:buChar char="•"/>
            </a:pPr>
            <a:r>
              <a:rPr lang="en-US" sz="1400" dirty="0">
                <a:solidFill>
                  <a:srgbClr val="222222"/>
                </a:solidFill>
                <a:latin typeface="Arial" pitchFamily="34" charset="0"/>
                <a:ea typeface="Arial" pitchFamily="34" charset="-122"/>
                <a:cs typeface="Arial" pitchFamily="34" charset="-120"/>
              </a:rPr>
              <a:t>Cái giá là cắt giữa câu: 30% số đoạn bản tin, 10% ở phỏng vấn, 0% ở TEDx. Giọng nói tự nhiên có nhiều chỗ ngừng nên ít bị cắt hơn giọng đọc.</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3" name="Image 0" descr="C:\Users\hhung\AppData\Local\Temp\claude\d--Project-local-live-voice-translator\d0343c7e-f558-4e8b-8c62-5b900df8bea6\scratchpad\build\img\deco_right.png"/>
          <p:cNvPicPr>
            <a:picLocks noChangeAspect="1"/>
          </p:cNvPicPr>
          <p:nvPr/>
        </p:nvPicPr>
        <p:blipFill>
          <a:blip r:embed="rId3"/>
          <a:stretch>
            <a:fillRect/>
          </a:stretch>
        </p:blipFill>
        <p:spPr>
          <a:xfrm>
            <a:off x="0" y="0"/>
            <a:ext cx="12191695" cy="6858000"/>
          </a:xfrm>
          <a:prstGeom prst="rect">
            <a:avLst/>
          </a:prstGeom>
        </p:spPr>
      </p:pic>
      <p:pic>
        <p:nvPicPr>
          <p:cNvPr id="4" name="Image 1" descr="C:\Users\hhung\AppData\Local\Temp\claude\d--Project-local-live-voice-translator\d0343c7e-f558-4e8b-8c62-5b900df8bea6\scratchpad\build\img\logo_header.png"/>
          <p:cNvPicPr>
            <a:picLocks noChangeAspect="1"/>
          </p:cNvPicPr>
          <p:nvPr/>
        </p:nvPicPr>
        <p:blipFill>
          <a:blip r:embed="rId4"/>
          <a:stretch>
            <a:fillRect/>
          </a:stretch>
        </p:blipFill>
        <p:spPr>
          <a:xfrm>
            <a:off x="8549640" y="292608"/>
            <a:ext cx="2560320" cy="459250"/>
          </a:xfrm>
          <a:prstGeom prst="rect">
            <a:avLst/>
          </a:prstGeom>
        </p:spPr>
      </p:pic>
      <p:sp>
        <p:nvSpPr>
          <p:cNvPr id="5" name="Text 0"/>
          <p:cNvSpPr txBox="1"/>
          <p:nvPr/>
        </p:nvSpPr>
        <p:spPr>
          <a:xfrm>
            <a:off x="685800" y="256032"/>
            <a:ext cx="7955280" cy="548640"/>
          </a:xfrm>
          <a:prstGeom prst="rect">
            <a:avLst/>
          </a:prstGeom>
          <a:noFill/>
          <a:ln/>
        </p:spPr>
        <p:txBody>
          <a:bodyPr wrap="square" lIns="0" tIns="0" rIns="0" bIns="0" rtlCol="0" anchor="t"/>
          <a:lstStyle/>
          <a:p>
            <a:pPr marL="0" indent="0">
              <a:buNone/>
            </a:pPr>
            <a:r>
              <a:rPr lang="en-US" sz="2800" b="1" dirty="0">
                <a:solidFill>
                  <a:srgbClr val="487BA2"/>
                </a:solidFill>
                <a:latin typeface="Arial" pitchFamily="34" charset="0"/>
                <a:ea typeface="Arial" pitchFamily="34" charset="-122"/>
                <a:cs typeface="Arial" pitchFamily="34" charset="-120"/>
              </a:rPr>
              <a:t>Tài liệu tham khảo</a:t>
            </a:r>
            <a:endParaRPr lang="en-US" sz="2800" dirty="0"/>
          </a:p>
        </p:txBody>
      </p:sp>
      <p:sp>
        <p:nvSpPr>
          <p:cNvPr id="6" name="Text 1"/>
          <p:cNvSpPr txBox="1"/>
          <p:nvPr/>
        </p:nvSpPr>
        <p:spPr>
          <a:xfrm>
            <a:off x="11384280" y="6373368"/>
            <a:ext cx="685800" cy="292608"/>
          </a:xfrm>
          <a:prstGeom prst="rect">
            <a:avLst/>
          </a:prstGeom>
          <a:noFill/>
          <a:ln/>
        </p:spPr>
        <p:txBody>
          <a:bodyPr wrap="square" lIns="0" tIns="0" rIns="0" bIns="0" rtlCol="0" anchor="t"/>
          <a:lstStyle/>
          <a:p>
            <a:pPr marL="0" indent="0" algn="ctr">
              <a:buNone/>
            </a:pPr>
            <a:r>
              <a:rPr lang="en-US" sz="1200" b="1" dirty="0">
                <a:solidFill>
                  <a:srgbClr val="FFFFFF"/>
                </a:solidFill>
                <a:latin typeface="Arial" pitchFamily="34" charset="0"/>
                <a:ea typeface="Arial" pitchFamily="34" charset="-122"/>
                <a:cs typeface="Arial" pitchFamily="34" charset="-120"/>
              </a:rPr>
              <a:t>45</a:t>
            </a:r>
            <a:endParaRPr lang="en-US" sz="1100" dirty="0"/>
          </a:p>
        </p:txBody>
      </p:sp>
      <p:sp>
        <p:nvSpPr>
          <p:cNvPr id="7" name="Text 2"/>
          <p:cNvSpPr txBox="1"/>
          <p:nvPr/>
        </p:nvSpPr>
        <p:spPr>
          <a:xfrm>
            <a:off x="685800" y="1005840"/>
            <a:ext cx="10058400" cy="4983480"/>
          </a:xfrm>
          <a:prstGeom prst="rect">
            <a:avLst/>
          </a:prstGeom>
          <a:noFill/>
          <a:ln/>
        </p:spPr>
        <p:txBody>
          <a:bodyPr wrap="square" lIns="0" tIns="0" rIns="0" bIns="0" rtlCol="0" anchor="t"/>
          <a:lstStyle/>
          <a:p>
            <a:pPr marL="0" indent="0">
              <a:spcAft>
                <a:spcPts val="500"/>
              </a:spcAft>
              <a:buNone/>
            </a:pPr>
            <a:r>
              <a:rPr lang="en-US" sz="1300" b="1" dirty="0">
                <a:solidFill>
                  <a:srgbClr val="1B517B"/>
                </a:solidFill>
                <a:latin typeface="Arial" pitchFamily="34" charset="0"/>
                <a:ea typeface="Arial" pitchFamily="34" charset="-122"/>
                <a:cs typeface="Arial" pitchFamily="34" charset="-120"/>
              </a:rPr>
              <a:t>[2] </a:t>
            </a:r>
            <a:r>
              <a:rPr lang="en-US" sz="1300" dirty="0">
                <a:solidFill>
                  <a:srgbClr val="222222"/>
                </a:solidFill>
                <a:latin typeface="Arial" pitchFamily="34" charset="0"/>
                <a:ea typeface="Arial" pitchFamily="34" charset="-122"/>
                <a:cs typeface="Arial" pitchFamily="34" charset="-120"/>
              </a:rPr>
              <a:t>A. Cockburn, </a:t>
            </a:r>
            <a:r>
              <a:rPr lang="en-US" sz="1300" b="1" dirty="0">
                <a:solidFill>
                  <a:srgbClr val="222222"/>
                </a:solidFill>
                <a:latin typeface="Arial" pitchFamily="34" charset="0"/>
                <a:ea typeface="Arial" pitchFamily="34" charset="-122"/>
                <a:cs typeface="Arial" pitchFamily="34" charset="-120"/>
              </a:rPr>
              <a:t>"Hexagonal architecture,"</a:t>
            </a:r>
            <a:r>
              <a:rPr lang="en-US" sz="1300" dirty="0">
                <a:solidFill>
                  <a:srgbClr val="222222"/>
                </a:solidFill>
                <a:latin typeface="Arial" pitchFamily="34" charset="0"/>
                <a:ea typeface="Arial" pitchFamily="34" charset="-122"/>
                <a:cs typeface="Arial" pitchFamily="34" charset="-120"/>
              </a:rPr>
              <a:t> 2005. https://alistair.cockburn.us/hexagonal-architecture/</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[3] </a:t>
            </a:r>
            <a:r>
              <a:rPr lang="en-US" sz="1300" dirty="0">
                <a:solidFill>
                  <a:srgbClr val="222222"/>
                </a:solidFill>
                <a:latin typeface="Arial" pitchFamily="34" charset="0"/>
                <a:ea typeface="Arial" pitchFamily="34" charset="-122"/>
                <a:cs typeface="Arial" pitchFamily="34" charset="-120"/>
              </a:rPr>
              <a:t>A. Conneau et al., </a:t>
            </a:r>
            <a:r>
              <a:rPr lang="en-US" sz="1300" b="1" dirty="0">
                <a:solidFill>
                  <a:srgbClr val="222222"/>
                </a:solidFill>
                <a:latin typeface="Arial" pitchFamily="34" charset="0"/>
                <a:ea typeface="Arial" pitchFamily="34" charset="-122"/>
                <a:cs typeface="Arial" pitchFamily="34" charset="-120"/>
              </a:rPr>
              <a:t>"FLEURS: Few-shot learning evaluation of universal representations of speech,"</a:t>
            </a:r>
            <a:r>
              <a:rPr lang="en-US" sz="1300" dirty="0">
                <a:solidFill>
                  <a:srgbClr val="222222"/>
                </a:solidFill>
                <a:latin typeface="Arial" pitchFamily="34" charset="0"/>
                <a:ea typeface="Arial" pitchFamily="34" charset="-122"/>
                <a:cs typeface="Arial" pitchFamily="34" charset="-120"/>
              </a:rPr>
              <a:t> in Proc. IEEE SLT, 2022.</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[4] </a:t>
            </a:r>
            <a:r>
              <a:rPr lang="en-US" sz="1300" dirty="0">
                <a:solidFill>
                  <a:srgbClr val="222222"/>
                </a:solidFill>
                <a:latin typeface="Arial" pitchFamily="34" charset="0"/>
                <a:ea typeface="Arial" pitchFamily="34" charset="-122"/>
                <a:cs typeface="Arial" pitchFamily="34" charset="-120"/>
              </a:rPr>
              <a:t>M. R. Costa-jussà et al. (NLLB Team), </a:t>
            </a:r>
            <a:r>
              <a:rPr lang="en-US" sz="1300" b="1" dirty="0">
                <a:solidFill>
                  <a:srgbClr val="222222"/>
                </a:solidFill>
                <a:latin typeface="Arial" pitchFamily="34" charset="0"/>
                <a:ea typeface="Arial" pitchFamily="34" charset="-122"/>
                <a:cs typeface="Arial" pitchFamily="34" charset="-120"/>
              </a:rPr>
              <a:t>"No language left behind: Scaling human-centered machine translation,"</a:t>
            </a:r>
            <a:r>
              <a:rPr lang="en-US" sz="1300" dirty="0">
                <a:solidFill>
                  <a:srgbClr val="222222"/>
                </a:solidFill>
                <a:latin typeface="Arial" pitchFamily="34" charset="0"/>
                <a:ea typeface="Arial" pitchFamily="34" charset="-122"/>
                <a:cs typeface="Arial" pitchFamily="34" charset="-120"/>
              </a:rPr>
              <a:t> arXiv:2207.04672, 2022.</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[7] </a:t>
            </a:r>
            <a:r>
              <a:rPr lang="en-US" sz="1300" dirty="0">
                <a:solidFill>
                  <a:srgbClr val="222222"/>
                </a:solidFill>
                <a:latin typeface="Arial" pitchFamily="34" charset="0"/>
                <a:ea typeface="Arial" pitchFamily="34" charset="-122"/>
                <a:cs typeface="Arial" pitchFamily="34" charset="-120"/>
              </a:rPr>
              <a:t>Google, </a:t>
            </a:r>
            <a:r>
              <a:rPr lang="en-US" sz="1300" b="1" dirty="0">
                <a:solidFill>
                  <a:srgbClr val="222222"/>
                </a:solidFill>
                <a:latin typeface="Arial" pitchFamily="34" charset="0"/>
                <a:ea typeface="Arial" pitchFamily="34" charset="-122"/>
                <a:cs typeface="Arial" pitchFamily="34" charset="-120"/>
              </a:rPr>
              <a:t>"Speech translation in Google Meet,"</a:t>
            </a:r>
            <a:r>
              <a:rPr lang="en-US" sz="1300" dirty="0">
                <a:solidFill>
                  <a:srgbClr val="222222"/>
                </a:solidFill>
                <a:latin typeface="Arial" pitchFamily="34" charset="0"/>
                <a:ea typeface="Arial" pitchFamily="34" charset="-122"/>
                <a:cs typeface="Arial" pitchFamily="34" charset="-120"/>
              </a:rPr>
              <a:t> Google I/O, May 2025.</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[9] </a:t>
            </a:r>
            <a:r>
              <a:rPr lang="en-US" sz="1300" dirty="0">
                <a:solidFill>
                  <a:srgbClr val="222222"/>
                </a:solidFill>
                <a:latin typeface="Arial" pitchFamily="34" charset="0"/>
                <a:ea typeface="Arial" pitchFamily="34" charset="-122"/>
                <a:cs typeface="Arial" pitchFamily="34" charset="-120"/>
              </a:rPr>
              <a:t>hexgrad, </a:t>
            </a:r>
            <a:r>
              <a:rPr lang="en-US" sz="1300" b="1" dirty="0">
                <a:solidFill>
                  <a:srgbClr val="222222"/>
                </a:solidFill>
                <a:latin typeface="Arial" pitchFamily="34" charset="0"/>
                <a:ea typeface="Arial" pitchFamily="34" charset="-122"/>
                <a:cs typeface="Arial" pitchFamily="34" charset="-120"/>
              </a:rPr>
              <a:t>"Kokoro-82M,"</a:t>
            </a:r>
            <a:r>
              <a:rPr lang="en-US" sz="1300" dirty="0">
                <a:solidFill>
                  <a:srgbClr val="222222"/>
                </a:solidFill>
                <a:latin typeface="Arial" pitchFamily="34" charset="0"/>
                <a:ea typeface="Arial" pitchFamily="34" charset="-122"/>
                <a:cs typeface="Arial" pitchFamily="34" charset="-120"/>
              </a:rPr>
              <a:t> Hugging Face, 2025.</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[10] </a:t>
            </a:r>
            <a:r>
              <a:rPr lang="en-US" sz="1300" dirty="0">
                <a:solidFill>
                  <a:srgbClr val="222222"/>
                </a:solidFill>
                <a:latin typeface="Arial" pitchFamily="34" charset="0"/>
                <a:ea typeface="Arial" pitchFamily="34" charset="-122"/>
                <a:cs typeface="Arial" pitchFamily="34" charset="-120"/>
              </a:rPr>
              <a:t>homelab-00, </a:t>
            </a:r>
            <a:r>
              <a:rPr lang="en-US" sz="1300" b="1" dirty="0">
                <a:solidFill>
                  <a:srgbClr val="222222"/>
                </a:solidFill>
                <a:latin typeface="Arial" pitchFamily="34" charset="0"/>
                <a:ea typeface="Arial" pitchFamily="34" charset="-122"/>
                <a:cs typeface="Arial" pitchFamily="34" charset="-120"/>
              </a:rPr>
              <a:t>"TranscriptionSuite: A fully local and private speech-to-text application,"</a:t>
            </a:r>
            <a:r>
              <a:rPr lang="en-US" sz="1300" dirty="0">
                <a:solidFill>
                  <a:srgbClr val="222222"/>
                </a:solidFill>
                <a:latin typeface="Arial" pitchFamily="34" charset="0"/>
                <a:ea typeface="Arial" pitchFamily="34" charset="-122"/>
                <a:cs typeface="Arial" pitchFamily="34" charset="-120"/>
              </a:rPr>
              <a:t> GitHub, 2026.</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[12] </a:t>
            </a:r>
            <a:r>
              <a:rPr lang="en-US" sz="1300" dirty="0">
                <a:solidFill>
                  <a:srgbClr val="222222"/>
                </a:solidFill>
                <a:latin typeface="Arial" pitchFamily="34" charset="0"/>
                <a:ea typeface="Arial" pitchFamily="34" charset="-122"/>
                <a:cs typeface="Arial" pitchFamily="34" charset="-120"/>
              </a:rPr>
              <a:t>k2-fsa, </a:t>
            </a:r>
            <a:r>
              <a:rPr lang="en-US" sz="1300" b="1" dirty="0">
                <a:solidFill>
                  <a:srgbClr val="222222"/>
                </a:solidFill>
                <a:latin typeface="Arial" pitchFamily="34" charset="0"/>
                <a:ea typeface="Arial" pitchFamily="34" charset="-122"/>
                <a:cs typeface="Arial" pitchFamily="34" charset="-120"/>
              </a:rPr>
              <a:t>"sherpa-onnx: Speech-to-text, text-to-speech and audio processing with ONNX Runtime,"</a:t>
            </a:r>
            <a:r>
              <a:rPr lang="en-US" sz="1300" dirty="0">
                <a:solidFill>
                  <a:srgbClr val="222222"/>
                </a:solidFill>
                <a:latin typeface="Arial" pitchFamily="34" charset="0"/>
                <a:ea typeface="Arial" pitchFamily="34" charset="-122"/>
                <a:cs typeface="Arial" pitchFamily="34" charset="-120"/>
              </a:rPr>
              <a:t> 2026.</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[19] </a:t>
            </a:r>
            <a:r>
              <a:rPr lang="en-US" sz="1300" dirty="0">
                <a:solidFill>
                  <a:srgbClr val="222222"/>
                </a:solidFill>
                <a:latin typeface="Arial" pitchFamily="34" charset="0"/>
                <a:ea typeface="Arial" pitchFamily="34" charset="-122"/>
                <a:cs typeface="Arial" pitchFamily="34" charset="-120"/>
              </a:rPr>
              <a:t>A. Radford et al., </a:t>
            </a:r>
            <a:r>
              <a:rPr lang="en-US" sz="1300" b="1" dirty="0">
                <a:solidFill>
                  <a:srgbClr val="222222"/>
                </a:solidFill>
                <a:latin typeface="Arial" pitchFamily="34" charset="0"/>
                <a:ea typeface="Arial" pitchFamily="34" charset="-122"/>
                <a:cs typeface="Arial" pitchFamily="34" charset="-120"/>
              </a:rPr>
              <a:t>"Robust speech recognition via large-scale weak supervision,"</a:t>
            </a:r>
            <a:r>
              <a:rPr lang="en-US" sz="1300" dirty="0">
                <a:solidFill>
                  <a:srgbClr val="222222"/>
                </a:solidFill>
                <a:latin typeface="Arial" pitchFamily="34" charset="0"/>
                <a:ea typeface="Arial" pitchFamily="34" charset="-122"/>
                <a:cs typeface="Arial" pitchFamily="34" charset="-120"/>
              </a:rPr>
              <a:t> in Proc. ICML, 2023, pp. 28492–28518.</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[21] </a:t>
            </a:r>
            <a:r>
              <a:rPr lang="en-US" sz="1300" dirty="0">
                <a:solidFill>
                  <a:srgbClr val="222222"/>
                </a:solidFill>
                <a:latin typeface="Arial" pitchFamily="34" charset="0"/>
                <a:ea typeface="Arial" pitchFamily="34" charset="-122"/>
                <a:cs typeface="Arial" pitchFamily="34" charset="-120"/>
              </a:rPr>
              <a:t>R. Rei et al., </a:t>
            </a:r>
            <a:r>
              <a:rPr lang="en-US" sz="1300" b="1" dirty="0">
                <a:solidFill>
                  <a:srgbClr val="222222"/>
                </a:solidFill>
                <a:latin typeface="Arial" pitchFamily="34" charset="0"/>
                <a:ea typeface="Arial" pitchFamily="34" charset="-122"/>
                <a:cs typeface="Arial" pitchFamily="34" charset="-120"/>
              </a:rPr>
              <a:t>"COMET-22: Unbabel-IST 2022 submission for the metrics shared task,"</a:t>
            </a:r>
            <a:r>
              <a:rPr lang="en-US" sz="1300" dirty="0">
                <a:solidFill>
                  <a:srgbClr val="222222"/>
                </a:solidFill>
                <a:latin typeface="Arial" pitchFamily="34" charset="0"/>
                <a:ea typeface="Arial" pitchFamily="34" charset="-122"/>
                <a:cs typeface="Arial" pitchFamily="34" charset="-120"/>
              </a:rPr>
              <a:t> in Proc. WMT, 2022, pp. 578–585.</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[22] </a:t>
            </a:r>
            <a:r>
              <a:rPr lang="en-US" sz="1300" dirty="0">
                <a:solidFill>
                  <a:srgbClr val="222222"/>
                </a:solidFill>
                <a:latin typeface="Arial" pitchFamily="34" charset="0"/>
                <a:ea typeface="Arial" pitchFamily="34" charset="-122"/>
                <a:cs typeface="Arial" pitchFamily="34" charset="-120"/>
              </a:rPr>
              <a:t>royshil, </a:t>
            </a:r>
            <a:r>
              <a:rPr lang="en-US" sz="1300" b="1" dirty="0">
                <a:solidFill>
                  <a:srgbClr val="222222"/>
                </a:solidFill>
                <a:latin typeface="Arial" pitchFamily="34" charset="0"/>
                <a:ea typeface="Arial" pitchFamily="34" charset="-122"/>
                <a:cs typeface="Arial" pitchFamily="34" charset="-120"/>
              </a:rPr>
              <a:t>"LocalVocal: Local live captions &amp; translation on-the-go (OBS plugin),"</a:t>
            </a:r>
            <a:r>
              <a:rPr lang="en-US" sz="1300" dirty="0">
                <a:solidFill>
                  <a:srgbClr val="222222"/>
                </a:solidFill>
                <a:latin typeface="Arial" pitchFamily="34" charset="0"/>
                <a:ea typeface="Arial" pitchFamily="34" charset="-122"/>
                <a:cs typeface="Arial" pitchFamily="34" charset="-120"/>
              </a:rPr>
              <a:t> GitHub.</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[23] </a:t>
            </a:r>
            <a:r>
              <a:rPr lang="en-US" sz="1300" dirty="0">
                <a:solidFill>
                  <a:srgbClr val="222222"/>
                </a:solidFill>
                <a:latin typeface="Arial" pitchFamily="34" charset="0"/>
                <a:ea typeface="Arial" pitchFamily="34" charset="-122"/>
                <a:cs typeface="Arial" pitchFamily="34" charset="-120"/>
              </a:rPr>
              <a:t>Seamless Communication et al., </a:t>
            </a:r>
            <a:r>
              <a:rPr lang="en-US" sz="1300" b="1" dirty="0">
                <a:solidFill>
                  <a:srgbClr val="222222"/>
                </a:solidFill>
                <a:latin typeface="Arial" pitchFamily="34" charset="0"/>
                <a:ea typeface="Arial" pitchFamily="34" charset="-122"/>
                <a:cs typeface="Arial" pitchFamily="34" charset="-120"/>
              </a:rPr>
              <a:t>"SeamlessM4T: Massively multilingual &amp; multimodal machine translation,"</a:t>
            </a:r>
            <a:r>
              <a:rPr lang="en-US" sz="1300" dirty="0">
                <a:solidFill>
                  <a:srgbClr val="222222"/>
                </a:solidFill>
                <a:latin typeface="Arial" pitchFamily="34" charset="0"/>
                <a:ea typeface="Arial" pitchFamily="34" charset="-122"/>
                <a:cs typeface="Arial" pitchFamily="34" charset="-120"/>
              </a:rPr>
              <a:t> arXiv:2308.11596, 2023.</a:t>
            </a:r>
            <a:endParaRPr lang="en-US" sz="1300" dirty="0"/>
          </a:p>
          <a:p>
            <a:pPr marL="0" indent="0">
              <a:spcAft>
                <a:spcPts val="500"/>
              </a:spcAft>
              <a:buNone/>
            </a:pPr>
            <a:r>
              <a:rPr lang="en-US" sz="1300" b="1" dirty="0">
                <a:solidFill>
                  <a:srgbClr val="1B517B"/>
                </a:solidFill>
                <a:latin typeface="Arial" pitchFamily="34" charset="0"/>
                <a:ea typeface="Arial" pitchFamily="34" charset="-122"/>
                <a:cs typeface="Arial" pitchFamily="34" charset="-120"/>
              </a:rPr>
              <a:t>[24] </a:t>
            </a:r>
            <a:r>
              <a:rPr lang="en-US" sz="1300" dirty="0">
                <a:solidFill>
                  <a:srgbClr val="222222"/>
                </a:solidFill>
                <a:latin typeface="Arial" pitchFamily="34" charset="0"/>
                <a:ea typeface="Arial" pitchFamily="34" charset="-122"/>
                <a:cs typeface="Arial" pitchFamily="34" charset="-120"/>
              </a:rPr>
              <a:t>Silero Team, </a:t>
            </a:r>
            <a:r>
              <a:rPr lang="en-US" sz="1300" b="1" dirty="0">
                <a:solidFill>
                  <a:srgbClr val="222222"/>
                </a:solidFill>
                <a:latin typeface="Arial" pitchFamily="34" charset="0"/>
                <a:ea typeface="Arial" pitchFamily="34" charset="-122"/>
                <a:cs typeface="Arial" pitchFamily="34" charset="-120"/>
              </a:rPr>
              <a:t>"Silero VAD: Pre-trained enterprise-grade voice activity detector,"</a:t>
            </a:r>
            <a:r>
              <a:rPr lang="en-US" sz="1300" dirty="0">
                <a:solidFill>
                  <a:srgbClr val="222222"/>
                </a:solidFill>
                <a:latin typeface="Arial" pitchFamily="34" charset="0"/>
                <a:ea typeface="Arial" pitchFamily="34" charset="-122"/>
                <a:cs typeface="Arial" pitchFamily="34" charset="-120"/>
              </a:rPr>
              <a:t> GitHub, 2026.</a:t>
            </a:r>
            <a:endParaRPr lang="en-US" sz="1300" dirty="0"/>
          </a:p>
        </p:txBody>
      </p:sp>
      <p:sp>
        <p:nvSpPr>
          <p:cNvPr id="8" name="Text 3"/>
          <p:cNvSpPr txBox="1"/>
          <p:nvPr/>
        </p:nvSpPr>
        <p:spPr>
          <a:xfrm>
            <a:off x="685800" y="5943600"/>
            <a:ext cx="9144000" cy="320040"/>
          </a:xfrm>
          <a:prstGeom prst="rect">
            <a:avLst/>
          </a:prstGeom>
          <a:noFill/>
          <a:ln/>
        </p:spPr>
        <p:txBody>
          <a:bodyPr wrap="square" lIns="0" tIns="0" rIns="0" bIns="0" rtlCol="0" anchor="t"/>
          <a:lstStyle/>
          <a:p>
            <a:pPr marL="0" indent="0">
              <a:buNone/>
            </a:pPr>
            <a:r>
              <a:rPr lang="en-US" sz="1200" i="1" dirty="0">
                <a:solidFill>
                  <a:srgbClr val="5F6B76"/>
                </a:solidFill>
                <a:latin typeface="Arial" pitchFamily="34" charset="0"/>
                <a:ea typeface="Arial" pitchFamily="34" charset="-122"/>
                <a:cs typeface="Arial" pitchFamily="34" charset="-120"/>
              </a:rPr>
              <a:t>Số thứ tự theo danh mục tài liệu tham khảo của quyển đồ án (25 tài liệu).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14434</Words>
  <Application>Microsoft Office PowerPoint</Application>
  <PresentationFormat>Widescreen</PresentationFormat>
  <Paragraphs>1077</Paragraphs>
  <Slides>45</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Aptos</vt:lpstr>
      <vt:lpstr>Arial</vt:lpstr>
      <vt:lpstr>Open Sans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Bảo vệ ĐATN: dịch giọng nói gần thời gian thực chạy cục bộ</dc:title>
  <dc:subject>PptxGenJS Presentation</dc:subject>
  <dc:creator>Ngô Mạnh Hùng</dc:creator>
  <cp:lastModifiedBy>Hung Manh</cp:lastModifiedBy>
  <cp:revision>13</cp:revision>
  <dcterms:created xsi:type="dcterms:W3CDTF">2026-09-28T18:18:14Z</dcterms:created>
  <dcterms:modified xsi:type="dcterms:W3CDTF">2026-10-08T17:46:05Z</dcterms:modified>
</cp:coreProperties>
</file>