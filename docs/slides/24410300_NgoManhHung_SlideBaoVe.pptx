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1.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rts/chart2.xml" ContentType="application/vnd.openxmlformats-officedocument.drawingml.chart+xml"/>
  <Override PartName="/ppt/notesSlides/notesSlide21.xml" ContentType="application/vnd.openxmlformats-officedocument.presentationml.notesSlide+xml"/>
  <Override PartName="/ppt/charts/chart3.xml" ContentType="application/vnd.openxmlformats-officedocument.drawingml.chart+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rts/chart4.xml" ContentType="application/vnd.openxmlformats-officedocument.drawingml.chart+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whisper.cpp q5_0 (Windows)</c:v>
                </c:pt>
              </c:strCache>
            </c:strRef>
          </c:tx>
          <c:spPr>
            <a:solidFill>
              <a:srgbClr val="1B517B"/>
            </a:solidFill>
            <a:effectLst/>
          </c:spPr>
          <c:invertIfNegative val="0"/>
          <c:dLbls>
            <c:numFmt formatCode="0.0" sourceLinked="0"/>
            <c:spPr>
              <a:noFill/>
              <a:ln>
                <a:noFill/>
              </a:ln>
              <a:effectLst/>
            </c:spPr>
            <c:txPr>
              <a:bodyPr/>
              <a:lstStyle/>
              <a:p>
                <a:pPr>
                  <a:defRPr sz="1000" b="0" i="0" u="none" strike="noStrike">
                    <a:solidFill>
                      <a:srgbClr val="222222"/>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vi (WER)</c:v>
                </c:pt>
                <c:pt idx="1">
                  <c:v>en (WER)</c:v>
                </c:pt>
                <c:pt idx="2">
                  <c:v>zh (CER)</c:v>
                </c:pt>
                <c:pt idx="3">
                  <c:v>ja (CER)</c:v>
                </c:pt>
              </c:strCache>
            </c:strRef>
          </c:cat>
          <c:val>
            <c:numRef>
              <c:f>Sheet1!$B$2:$B$5</c:f>
              <c:numCache>
                <c:formatCode>General</c:formatCode>
                <c:ptCount val="4"/>
                <c:pt idx="0">
                  <c:v>10.4</c:v>
                </c:pt>
                <c:pt idx="1">
                  <c:v>5</c:v>
                </c:pt>
                <c:pt idx="2">
                  <c:v>8.6</c:v>
                </c:pt>
                <c:pt idx="3">
                  <c:v>4.9000000000000004</c:v>
                </c:pt>
              </c:numCache>
            </c:numRef>
          </c:val>
          <c:extLst>
            <c:ext xmlns:c16="http://schemas.microsoft.com/office/drawing/2014/chart" uri="{C3380CC4-5D6E-409C-BE32-E72D297353CC}">
              <c16:uniqueId val="{00000000-0ECA-44E7-A65C-C1D4E8B88660}"/>
            </c:ext>
          </c:extLst>
        </c:ser>
        <c:ser>
          <c:idx val="1"/>
          <c:order val="1"/>
          <c:tx>
            <c:strRef>
              <c:f>Sheet1!$C$1</c:f>
              <c:strCache>
                <c:ptCount val="1"/>
                <c:pt idx="0">
                  <c:v>faster-whisper fp16 (Windows)</c:v>
                </c:pt>
              </c:strCache>
            </c:strRef>
          </c:tx>
          <c:spPr>
            <a:solidFill>
              <a:srgbClr val="7FA6C8"/>
            </a:solidFill>
            <a:effectLst/>
          </c:spPr>
          <c:invertIfNegative val="0"/>
          <c:dLbls>
            <c:numFmt formatCode="0.0" sourceLinked="0"/>
            <c:spPr>
              <a:noFill/>
              <a:ln>
                <a:noFill/>
              </a:ln>
              <a:effectLst/>
            </c:spPr>
            <c:txPr>
              <a:bodyPr/>
              <a:lstStyle/>
              <a:p>
                <a:pPr>
                  <a:defRPr sz="1000" b="0" i="0" u="none" strike="noStrike">
                    <a:solidFill>
                      <a:srgbClr val="222222"/>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vi (WER)</c:v>
                </c:pt>
                <c:pt idx="1">
                  <c:v>en (WER)</c:v>
                </c:pt>
                <c:pt idx="2">
                  <c:v>zh (CER)</c:v>
                </c:pt>
                <c:pt idx="3">
                  <c:v>ja (CER)</c:v>
                </c:pt>
              </c:strCache>
            </c:strRef>
          </c:cat>
          <c:val>
            <c:numRef>
              <c:f>Sheet1!$C$2:$C$5</c:f>
              <c:numCache>
                <c:formatCode>General</c:formatCode>
                <c:ptCount val="4"/>
                <c:pt idx="0">
                  <c:v>9.1999999999999993</c:v>
                </c:pt>
                <c:pt idx="1">
                  <c:v>5</c:v>
                </c:pt>
                <c:pt idx="2">
                  <c:v>8.3000000000000007</c:v>
                </c:pt>
                <c:pt idx="3">
                  <c:v>4.7</c:v>
                </c:pt>
              </c:numCache>
            </c:numRef>
          </c:val>
          <c:extLst>
            <c:ext xmlns:c16="http://schemas.microsoft.com/office/drawing/2014/chart" uri="{C3380CC4-5D6E-409C-BE32-E72D297353CC}">
              <c16:uniqueId val="{00000001-0ECA-44E7-A65C-C1D4E8B88660}"/>
            </c:ext>
          </c:extLst>
        </c:ser>
        <c:ser>
          <c:idx val="2"/>
          <c:order val="2"/>
          <c:tx>
            <c:strRef>
              <c:f>Sheet1!$D$1</c:f>
              <c:strCache>
                <c:ptCount val="1"/>
                <c:pt idx="0">
                  <c:v>MLX large-v3 8-bit (macOS)</c:v>
                </c:pt>
              </c:strCache>
            </c:strRef>
          </c:tx>
          <c:spPr>
            <a:solidFill>
              <a:srgbClr val="E3A33B"/>
            </a:solidFill>
            <a:effectLst/>
          </c:spPr>
          <c:invertIfNegative val="0"/>
          <c:dLbls>
            <c:numFmt formatCode="0.0" sourceLinked="0"/>
            <c:spPr>
              <a:noFill/>
              <a:ln>
                <a:noFill/>
              </a:ln>
              <a:effectLst/>
            </c:spPr>
            <c:txPr>
              <a:bodyPr/>
              <a:lstStyle/>
              <a:p>
                <a:pPr>
                  <a:defRPr sz="1000" b="0" i="0" u="none" strike="noStrike">
                    <a:solidFill>
                      <a:srgbClr val="222222"/>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vi (WER)</c:v>
                </c:pt>
                <c:pt idx="1">
                  <c:v>en (WER)</c:v>
                </c:pt>
                <c:pt idx="2">
                  <c:v>zh (CER)</c:v>
                </c:pt>
                <c:pt idx="3">
                  <c:v>ja (CER)</c:v>
                </c:pt>
              </c:strCache>
            </c:strRef>
          </c:cat>
          <c:val>
            <c:numRef>
              <c:f>Sheet1!$D$2:$D$5</c:f>
              <c:numCache>
                <c:formatCode>General</c:formatCode>
                <c:ptCount val="4"/>
                <c:pt idx="0">
                  <c:v>8.8000000000000007</c:v>
                </c:pt>
                <c:pt idx="1">
                  <c:v>4.8</c:v>
                </c:pt>
                <c:pt idx="2">
                  <c:v>8.1</c:v>
                </c:pt>
                <c:pt idx="3">
                  <c:v>4.7</c:v>
                </c:pt>
              </c:numCache>
            </c:numRef>
          </c:val>
          <c:extLst>
            <c:ext xmlns:c16="http://schemas.microsoft.com/office/drawing/2014/chart" uri="{C3380CC4-5D6E-409C-BE32-E72D297353CC}">
              <c16:uniqueId val="{00000002-0ECA-44E7-A65C-C1D4E8B88660}"/>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22222"/>
                </a:solidFill>
                <a:latin typeface="Arial"/>
              </a:defRPr>
            </a:pPr>
            <a:endParaRPr lang="en-US"/>
          </a:p>
        </c:txPr>
        <c:crossAx val="2094734552"/>
        <c:crosses val="autoZero"/>
        <c:auto val="1"/>
        <c:lblAlgn val="ctr"/>
        <c:lblOffset val="100"/>
        <c:noMultiLvlLbl val="1"/>
      </c:catAx>
      <c:valAx>
        <c:axId val="2094734552"/>
        <c:scaling>
          <c:orientation val="minMax"/>
          <c:max val="12"/>
          <c:min val="0"/>
        </c:scaling>
        <c:delete val="0"/>
        <c:axPos val="l"/>
        <c:majorGridlines>
          <c:spPr>
            <a:ln w="6350" cap="flat">
              <a:solidFill>
                <a:srgbClr val="E5E5E5"/>
              </a:solidFill>
              <a:prstDash val="solid"/>
              <a:round/>
            </a:ln>
          </c:spPr>
        </c:majorGridlines>
        <c:title>
          <c:tx>
            <c:rich>
              <a:bodyPr/>
              <a:lstStyle/>
              <a:p>
                <a:pPr>
                  <a:defRPr sz="1100" b="0" i="0" u="none" strike="noStrike">
                    <a:solidFill>
                      <a:srgbClr val="5F6B76"/>
                    </a:solidFill>
                    <a:latin typeface="Arial"/>
                  </a:defRPr>
                </a:pPr>
                <a:r>
                  <a:rPr lang="en-US" sz="1100" b="0" i="0" u="none" strike="noStrike">
                    <a:solidFill>
                      <a:srgbClr val="5F6B76"/>
                    </a:solidFill>
                    <a:latin typeface="Arial"/>
                  </a:rPr>
                  <a:t>Tỷ lệ lỗi (%), càng thấp càng tốt</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6B76"/>
                </a:solidFill>
                <a:latin typeface="Arial"/>
              </a:defRPr>
            </a:pPr>
            <a:endParaRPr lang="en-US"/>
          </a:p>
        </c:txPr>
        <c:crossAx val="2094734554"/>
        <c:crosses val="autoZero"/>
        <c:crossBetween val="between"/>
        <c:majorUnit val="2"/>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macOS (MLX + MPS)</c:v>
                </c:pt>
              </c:strCache>
            </c:strRef>
          </c:tx>
          <c:spPr>
            <a:solidFill>
              <a:srgbClr val="7FA6C8"/>
            </a:solidFill>
            <a:effectLst/>
          </c:spPr>
          <c:invertIfNegative val="0"/>
          <c:dLbls>
            <c:numFmt formatCode="0.000" sourceLinked="0"/>
            <c:spPr>
              <a:noFill/>
              <a:ln>
                <a:noFill/>
              </a:ln>
              <a:effectLst/>
            </c:spPr>
            <c:txPr>
              <a:bodyPr/>
              <a:lstStyle/>
              <a:p>
                <a:pPr>
                  <a:defRPr sz="850" b="0" i="0" u="none" strike="noStrike">
                    <a:solidFill>
                      <a:srgbClr val="222222"/>
                    </a:solidFill>
                    <a:latin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vi→en</c:v>
                </c:pt>
                <c:pt idx="1">
                  <c:v>en→vi</c:v>
                </c:pt>
                <c:pt idx="2">
                  <c:v>vi→zh</c:v>
                </c:pt>
                <c:pt idx="3">
                  <c:v>zh→vi</c:v>
                </c:pt>
                <c:pt idx="4">
                  <c:v>vi→ja</c:v>
                </c:pt>
                <c:pt idx="5">
                  <c:v>ja→vi</c:v>
                </c:pt>
              </c:strCache>
            </c:strRef>
          </c:cat>
          <c:val>
            <c:numRef>
              <c:f>Sheet1!$B$2:$B$7</c:f>
              <c:numCache>
                <c:formatCode>General</c:formatCode>
                <c:ptCount val="6"/>
                <c:pt idx="0">
                  <c:v>0.57999999999999996</c:v>
                </c:pt>
                <c:pt idx="1">
                  <c:v>0.496</c:v>
                </c:pt>
                <c:pt idx="2">
                  <c:v>0.72699999999999998</c:v>
                </c:pt>
                <c:pt idx="3">
                  <c:v>0.50900000000000001</c:v>
                </c:pt>
                <c:pt idx="4">
                  <c:v>0.78600000000000003</c:v>
                </c:pt>
                <c:pt idx="5">
                  <c:v>0.39500000000000002</c:v>
                </c:pt>
              </c:numCache>
            </c:numRef>
          </c:val>
          <c:extLst>
            <c:ext xmlns:c16="http://schemas.microsoft.com/office/drawing/2014/chart" uri="{C3380CC4-5D6E-409C-BE32-E72D297353CC}">
              <c16:uniqueId val="{00000000-C0D1-4121-B774-7DC2D40D5680}"/>
            </c:ext>
          </c:extLst>
        </c:ser>
        <c:ser>
          <c:idx val="1"/>
          <c:order val="1"/>
          <c:tx>
            <c:strRef>
              <c:f>Sheet1!$C$1</c:f>
              <c:strCache>
                <c:ptCount val="1"/>
                <c:pt idx="0">
                  <c:v>Windows (Vulkan + CUDA)</c:v>
                </c:pt>
              </c:strCache>
            </c:strRef>
          </c:tx>
          <c:spPr>
            <a:solidFill>
              <a:srgbClr val="1B517B"/>
            </a:solidFill>
            <a:effectLst/>
          </c:spPr>
          <c:invertIfNegative val="0"/>
          <c:dLbls>
            <c:numFmt formatCode="0.000" sourceLinked="0"/>
            <c:spPr>
              <a:noFill/>
              <a:ln>
                <a:noFill/>
              </a:ln>
              <a:effectLst/>
            </c:spPr>
            <c:txPr>
              <a:bodyPr/>
              <a:lstStyle/>
              <a:p>
                <a:pPr>
                  <a:defRPr sz="850" b="0" i="0" u="none" strike="noStrike">
                    <a:solidFill>
                      <a:srgbClr val="222222"/>
                    </a:solidFill>
                    <a:latin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vi→en</c:v>
                </c:pt>
                <c:pt idx="1">
                  <c:v>en→vi</c:v>
                </c:pt>
                <c:pt idx="2">
                  <c:v>vi→zh</c:v>
                </c:pt>
                <c:pt idx="3">
                  <c:v>zh→vi</c:v>
                </c:pt>
                <c:pt idx="4">
                  <c:v>vi→ja</c:v>
                </c:pt>
                <c:pt idx="5">
                  <c:v>ja→vi</c:v>
                </c:pt>
              </c:strCache>
            </c:strRef>
          </c:cat>
          <c:val>
            <c:numRef>
              <c:f>Sheet1!$C$2:$C$7</c:f>
              <c:numCache>
                <c:formatCode>General</c:formatCode>
                <c:ptCount val="6"/>
                <c:pt idx="0">
                  <c:v>0.14599999999999999</c:v>
                </c:pt>
                <c:pt idx="1">
                  <c:v>0.14799999999999999</c:v>
                </c:pt>
                <c:pt idx="2">
                  <c:v>0.27300000000000002</c:v>
                </c:pt>
                <c:pt idx="3">
                  <c:v>0.14699999999999999</c:v>
                </c:pt>
                <c:pt idx="4">
                  <c:v>0.38300000000000001</c:v>
                </c:pt>
                <c:pt idx="5">
                  <c:v>0.114</c:v>
                </c:pt>
              </c:numCache>
            </c:numRef>
          </c:val>
          <c:extLst>
            <c:ext xmlns:c16="http://schemas.microsoft.com/office/drawing/2014/chart" uri="{C3380CC4-5D6E-409C-BE32-E72D297353CC}">
              <c16:uniqueId val="{00000001-C0D1-4121-B774-7DC2D40D5680}"/>
            </c:ext>
          </c:extLst>
        </c:ser>
        <c:dLbls>
          <c:dLblPos val="outEnd"/>
          <c:showLegendKey val="0"/>
          <c:showVal val="1"/>
          <c:showCatName val="0"/>
          <c:showSerName val="0"/>
          <c:showPercent val="0"/>
          <c:showBubbleSize val="0"/>
        </c:dLbls>
        <c:gapWidth val="55"/>
        <c:axId val="2094734554"/>
        <c:axId val="2094734552"/>
      </c:barChart>
      <c:lineChart>
        <c:grouping val="standard"/>
        <c:varyColors val="0"/>
        <c:ser>
          <c:idx val="2"/>
          <c:order val="2"/>
          <c:tx>
            <c:strRef>
              <c:f>Sheet1!$D$1</c:f>
              <c:strCache>
                <c:ptCount val="1"/>
                <c:pt idx="0">
                  <c:v>Ngưỡng đủ để nói (0,5)</c:v>
                </c:pt>
              </c:strCache>
            </c:strRef>
          </c:tx>
          <c:spPr>
            <a:ln w="25400" cap="flat">
              <a:solidFill>
                <a:srgbClr val="B8262B"/>
              </a:solidFill>
              <a:prstDash val="dash"/>
              <a:round/>
            </a:ln>
            <a:effectLst/>
          </c:spPr>
          <c:marker>
            <c:symbol val="none"/>
          </c:marker>
          <c:cat>
            <c:strRef>
              <c:f>Sheet1!$A$2:$A$7</c:f>
              <c:strCache>
                <c:ptCount val="6"/>
                <c:pt idx="0">
                  <c:v>vi→en</c:v>
                </c:pt>
                <c:pt idx="1">
                  <c:v>en→vi</c:v>
                </c:pt>
                <c:pt idx="2">
                  <c:v>vi→zh</c:v>
                </c:pt>
                <c:pt idx="3">
                  <c:v>zh→vi</c:v>
                </c:pt>
                <c:pt idx="4">
                  <c:v>vi→ja</c:v>
                </c:pt>
                <c:pt idx="5">
                  <c:v>ja→vi</c:v>
                </c:pt>
              </c:strCache>
            </c:strRef>
          </c:cat>
          <c:val>
            <c:numRef>
              <c:f>Sheet1!$D$2:$D$7</c:f>
              <c:numCache>
                <c:formatCode>General</c:formatCode>
                <c:ptCount val="6"/>
                <c:pt idx="0">
                  <c:v>0.5</c:v>
                </c:pt>
                <c:pt idx="1">
                  <c:v>0.5</c:v>
                </c:pt>
                <c:pt idx="2">
                  <c:v>0.5</c:v>
                </c:pt>
                <c:pt idx="3">
                  <c:v>0.5</c:v>
                </c:pt>
                <c:pt idx="4">
                  <c:v>0.5</c:v>
                </c:pt>
                <c:pt idx="5">
                  <c:v>0.5</c:v>
                </c:pt>
              </c:numCache>
            </c:numRef>
          </c:val>
          <c:smooth val="0"/>
          <c:extLst>
            <c:ext xmlns:c16="http://schemas.microsoft.com/office/drawing/2014/chart" uri="{C3380CC4-5D6E-409C-BE32-E72D297353CC}">
              <c16:uniqueId val="{00000002-C0D1-4121-B774-7DC2D40D5680}"/>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22222"/>
                </a:solidFill>
                <a:latin typeface="Arial"/>
              </a:defRPr>
            </a:pPr>
            <a:endParaRPr lang="en-US"/>
          </a:p>
        </c:txPr>
        <c:crossAx val="2094734552"/>
        <c:crosses val="autoZero"/>
        <c:auto val="1"/>
        <c:lblAlgn val="ctr"/>
        <c:lblOffset val="100"/>
        <c:noMultiLvlLbl val="1"/>
      </c:catAx>
      <c:valAx>
        <c:axId val="2094734552"/>
        <c:scaling>
          <c:orientation val="minMax"/>
          <c:max val="1"/>
          <c:min val="0"/>
        </c:scaling>
        <c:delete val="0"/>
        <c:axPos val="l"/>
        <c:majorGridlines>
          <c:spPr>
            <a:ln w="6350" cap="flat">
              <a:solidFill>
                <a:srgbClr val="E5E5E5"/>
              </a:solidFill>
              <a:prstDash val="solid"/>
              <a:round/>
            </a:ln>
          </c:spPr>
        </c:majorGridlines>
        <c:title>
          <c:tx>
            <c:rich>
              <a:bodyPr/>
              <a:lstStyle/>
              <a:p>
                <a:pPr>
                  <a:defRPr sz="1100" b="0" i="0" u="none" strike="noStrike">
                    <a:solidFill>
                      <a:srgbClr val="5F6B76"/>
                    </a:solidFill>
                    <a:latin typeface="Arial"/>
                  </a:defRPr>
                </a:pPr>
                <a:r>
                  <a:rPr lang="en-US" sz="1100" b="0" i="0" u="none" strike="noStrike">
                    <a:solidFill>
                      <a:srgbClr val="5F6B76"/>
                    </a:solidFill>
                    <a:latin typeface="Arial"/>
                  </a:rPr>
                  <a:t>RTF p90, càng thấp càng tốt</a:t>
                </a:r>
              </a:p>
            </c:rich>
          </c:tx>
          <c:overlay val="0"/>
        </c:title>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6B76"/>
                </a:solidFill>
                <a:latin typeface="Arial"/>
              </a:defRPr>
            </a:pPr>
            <a:endParaRPr lang="en-US"/>
          </a:p>
        </c:txPr>
        <c:crossAx val="2094734554"/>
        <c:crosses val="autoZero"/>
        <c:crossBetween val="between"/>
        <c:majorUnit val="0.2"/>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0"/>
        <c:ser>
          <c:idx val="0"/>
          <c:order val="0"/>
          <c:tx>
            <c:strRef>
              <c:f>Sheet1!$B$1</c:f>
              <c:strCache>
                <c:ptCount val="1"/>
                <c:pt idx="0">
                  <c:v>VAD + khác</c:v>
                </c:pt>
              </c:strCache>
            </c:strRef>
          </c:tx>
          <c:spPr>
            <a:solidFill>
              <a:srgbClr val="B8C4CE"/>
            </a:solidFill>
            <a:effectLst/>
          </c:spPr>
          <c:invertIfNegative val="0"/>
          <c:cat>
            <c:strRef>
              <c:f>Sheet1!$A$2:$A$7</c:f>
              <c:strCache>
                <c:ptCount val="6"/>
                <c:pt idx="0">
                  <c:v>ja→vi  1.288 ms · TTS 27%</c:v>
                </c:pt>
                <c:pt idx="1">
                  <c:v>vi→ja  3.833 ms · TTS 65%</c:v>
                </c:pt>
                <c:pt idx="2">
                  <c:v>zh→vi  1.177 ms · TTS 29%</c:v>
                </c:pt>
                <c:pt idx="3">
                  <c:v>vi→zh  3.133 ms · TTS 63%</c:v>
                </c:pt>
                <c:pt idx="4">
                  <c:v>en→vi  1.137 ms · TTS 29%</c:v>
                </c:pt>
                <c:pt idx="5">
                  <c:v>vi→en  1.531 ms · TTS 24%</c:v>
                </c:pt>
              </c:strCache>
            </c:strRef>
          </c:cat>
          <c:val>
            <c:numRef>
              <c:f>Sheet1!$B$2:$B$7</c:f>
              <c:numCache>
                <c:formatCode>General</c:formatCode>
                <c:ptCount val="6"/>
                <c:pt idx="0">
                  <c:v>136</c:v>
                </c:pt>
                <c:pt idx="1">
                  <c:v>204</c:v>
                </c:pt>
                <c:pt idx="2">
                  <c:v>119</c:v>
                </c:pt>
                <c:pt idx="3">
                  <c:v>129</c:v>
                </c:pt>
                <c:pt idx="4">
                  <c:v>112</c:v>
                </c:pt>
                <c:pt idx="5">
                  <c:v>129</c:v>
                </c:pt>
              </c:numCache>
            </c:numRef>
          </c:val>
          <c:extLst>
            <c:ext xmlns:c16="http://schemas.microsoft.com/office/drawing/2014/chart" uri="{C3380CC4-5D6E-409C-BE32-E72D297353CC}">
              <c16:uniqueId val="{00000000-9D29-4BA7-AFD5-4B7FE74E0B3D}"/>
            </c:ext>
          </c:extLst>
        </c:ser>
        <c:ser>
          <c:idx val="1"/>
          <c:order val="1"/>
          <c:tx>
            <c:strRef>
              <c:f>Sheet1!$C$1</c:f>
              <c:strCache>
                <c:ptCount val="1"/>
                <c:pt idx="0">
                  <c:v>ASR</c:v>
                </c:pt>
              </c:strCache>
            </c:strRef>
          </c:tx>
          <c:spPr>
            <a:solidFill>
              <a:srgbClr val="1B517B"/>
            </a:solidFill>
            <a:effectLst/>
          </c:spPr>
          <c:invertIfNegative val="0"/>
          <c:cat>
            <c:strRef>
              <c:f>Sheet1!$A$2:$A$7</c:f>
              <c:strCache>
                <c:ptCount val="6"/>
                <c:pt idx="0">
                  <c:v>ja→vi  1.288 ms · TTS 27%</c:v>
                </c:pt>
                <c:pt idx="1">
                  <c:v>vi→ja  3.833 ms · TTS 65%</c:v>
                </c:pt>
                <c:pt idx="2">
                  <c:v>zh→vi  1.177 ms · TTS 29%</c:v>
                </c:pt>
                <c:pt idx="3">
                  <c:v>vi→zh  3.133 ms · TTS 63%</c:v>
                </c:pt>
                <c:pt idx="4">
                  <c:v>en→vi  1.137 ms · TTS 29%</c:v>
                </c:pt>
                <c:pt idx="5">
                  <c:v>vi→en  1.531 ms · TTS 24%</c:v>
                </c:pt>
              </c:strCache>
            </c:strRef>
          </c:cat>
          <c:val>
            <c:numRef>
              <c:f>Sheet1!$C$2:$C$7</c:f>
              <c:numCache>
                <c:formatCode>General</c:formatCode>
                <c:ptCount val="6"/>
                <c:pt idx="0">
                  <c:v>360</c:v>
                </c:pt>
                <c:pt idx="1">
                  <c:v>612</c:v>
                </c:pt>
                <c:pt idx="2">
                  <c:v>330</c:v>
                </c:pt>
                <c:pt idx="3">
                  <c:v>577</c:v>
                </c:pt>
                <c:pt idx="4">
                  <c:v>308</c:v>
                </c:pt>
                <c:pt idx="5">
                  <c:v>570</c:v>
                </c:pt>
              </c:numCache>
            </c:numRef>
          </c:val>
          <c:extLst>
            <c:ext xmlns:c16="http://schemas.microsoft.com/office/drawing/2014/chart" uri="{C3380CC4-5D6E-409C-BE32-E72D297353CC}">
              <c16:uniqueId val="{00000001-9D29-4BA7-AFD5-4B7FE74E0B3D}"/>
            </c:ext>
          </c:extLst>
        </c:ser>
        <c:ser>
          <c:idx val="2"/>
          <c:order val="2"/>
          <c:tx>
            <c:strRef>
              <c:f>Sheet1!$D$1</c:f>
              <c:strCache>
                <c:ptCount val="1"/>
                <c:pt idx="0">
                  <c:v>MT</c:v>
                </c:pt>
              </c:strCache>
            </c:strRef>
          </c:tx>
          <c:spPr>
            <a:solidFill>
              <a:srgbClr val="7FA6C8"/>
            </a:solidFill>
            <a:effectLst/>
          </c:spPr>
          <c:invertIfNegative val="0"/>
          <c:cat>
            <c:strRef>
              <c:f>Sheet1!$A$2:$A$7</c:f>
              <c:strCache>
                <c:ptCount val="6"/>
                <c:pt idx="0">
                  <c:v>ja→vi  1.288 ms · TTS 27%</c:v>
                </c:pt>
                <c:pt idx="1">
                  <c:v>vi→ja  3.833 ms · TTS 65%</c:v>
                </c:pt>
                <c:pt idx="2">
                  <c:v>zh→vi  1.177 ms · TTS 29%</c:v>
                </c:pt>
                <c:pt idx="3">
                  <c:v>vi→zh  3.133 ms · TTS 63%</c:v>
                </c:pt>
                <c:pt idx="4">
                  <c:v>en→vi  1.137 ms · TTS 29%</c:v>
                </c:pt>
                <c:pt idx="5">
                  <c:v>vi→en  1.531 ms · TTS 24%</c:v>
                </c:pt>
              </c:strCache>
            </c:strRef>
          </c:cat>
          <c:val>
            <c:numRef>
              <c:f>Sheet1!$D$2:$D$7</c:f>
              <c:numCache>
                <c:formatCode>General</c:formatCode>
                <c:ptCount val="6"/>
                <c:pt idx="0">
                  <c:v>440</c:v>
                </c:pt>
                <c:pt idx="1">
                  <c:v>507</c:v>
                </c:pt>
                <c:pt idx="2">
                  <c:v>392</c:v>
                </c:pt>
                <c:pt idx="3">
                  <c:v>458</c:v>
                </c:pt>
                <c:pt idx="4">
                  <c:v>390</c:v>
                </c:pt>
                <c:pt idx="5">
                  <c:v>459</c:v>
                </c:pt>
              </c:numCache>
            </c:numRef>
          </c:val>
          <c:extLst>
            <c:ext xmlns:c16="http://schemas.microsoft.com/office/drawing/2014/chart" uri="{C3380CC4-5D6E-409C-BE32-E72D297353CC}">
              <c16:uniqueId val="{00000002-9D29-4BA7-AFD5-4B7FE74E0B3D}"/>
            </c:ext>
          </c:extLst>
        </c:ser>
        <c:ser>
          <c:idx val="3"/>
          <c:order val="3"/>
          <c:tx>
            <c:strRef>
              <c:f>Sheet1!$E$1</c:f>
              <c:strCache>
                <c:ptCount val="1"/>
                <c:pt idx="0">
                  <c:v>TTS</c:v>
                </c:pt>
              </c:strCache>
            </c:strRef>
          </c:tx>
          <c:spPr>
            <a:solidFill>
              <a:srgbClr val="E3A33B"/>
            </a:solidFill>
            <a:effectLst/>
          </c:spPr>
          <c:invertIfNegative val="0"/>
          <c:cat>
            <c:strRef>
              <c:f>Sheet1!$A$2:$A$7</c:f>
              <c:strCache>
                <c:ptCount val="6"/>
                <c:pt idx="0">
                  <c:v>ja→vi  1.288 ms · TTS 27%</c:v>
                </c:pt>
                <c:pt idx="1">
                  <c:v>vi→ja  3.833 ms · TTS 65%</c:v>
                </c:pt>
                <c:pt idx="2">
                  <c:v>zh→vi  1.177 ms · TTS 29%</c:v>
                </c:pt>
                <c:pt idx="3">
                  <c:v>vi→zh  3.133 ms · TTS 63%</c:v>
                </c:pt>
                <c:pt idx="4">
                  <c:v>en→vi  1.137 ms · TTS 29%</c:v>
                </c:pt>
                <c:pt idx="5">
                  <c:v>vi→en  1.531 ms · TTS 24%</c:v>
                </c:pt>
              </c:strCache>
            </c:strRef>
          </c:cat>
          <c:val>
            <c:numRef>
              <c:f>Sheet1!$E$2:$E$7</c:f>
              <c:numCache>
                <c:formatCode>General</c:formatCode>
                <c:ptCount val="6"/>
                <c:pt idx="0">
                  <c:v>352</c:v>
                </c:pt>
                <c:pt idx="1">
                  <c:v>2510</c:v>
                </c:pt>
                <c:pt idx="2">
                  <c:v>336</c:v>
                </c:pt>
                <c:pt idx="3">
                  <c:v>1969</c:v>
                </c:pt>
                <c:pt idx="4">
                  <c:v>327</c:v>
                </c:pt>
                <c:pt idx="5">
                  <c:v>373</c:v>
                </c:pt>
              </c:numCache>
            </c:numRef>
          </c:val>
          <c:extLst>
            <c:ext xmlns:c16="http://schemas.microsoft.com/office/drawing/2014/chart" uri="{C3380CC4-5D6E-409C-BE32-E72D297353CC}">
              <c16:uniqueId val="{00000003-9D29-4BA7-AFD5-4B7FE74E0B3D}"/>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22222"/>
                </a:solidFill>
                <a:latin typeface="Arial"/>
              </a:defRPr>
            </a:pPr>
            <a:endParaRPr lang="en-US"/>
          </a:p>
        </c:txPr>
        <c:crossAx val="2094734552"/>
        <c:crosses val="autoZero"/>
        <c:auto val="1"/>
        <c:lblAlgn val="ctr"/>
        <c:lblOffset val="100"/>
        <c:noMultiLvlLbl val="1"/>
      </c:catAx>
      <c:valAx>
        <c:axId val="2094734552"/>
        <c:scaling>
          <c:orientation val="minMax"/>
          <c:max val="4000"/>
        </c:scaling>
        <c:delete val="0"/>
        <c:axPos val="b"/>
        <c:majorGridlines>
          <c:spPr>
            <a:ln w="6350" cap="flat">
              <a:solidFill>
                <a:srgbClr val="E5E5E5"/>
              </a:solidFill>
              <a:prstDash val="solid"/>
              <a:round/>
            </a:ln>
          </c:spPr>
        </c:majorGridlines>
        <c:title>
          <c:tx>
            <c:rich>
              <a:bodyPr/>
              <a:lstStyle/>
              <a:p>
                <a:pPr>
                  <a:defRPr sz="1100" b="0" i="0" u="none" strike="noStrike">
                    <a:solidFill>
                      <a:srgbClr val="5F6B76"/>
                    </a:solidFill>
                    <a:latin typeface="Arial"/>
                  </a:defRPr>
                </a:pPr>
                <a:r>
                  <a:rPr lang="en-US" sz="1100" b="0" i="0" u="none" strike="noStrike">
                    <a:solidFill>
                      <a:srgbClr val="5F6B76"/>
                    </a:solidFill>
                    <a:latin typeface="Arial"/>
                  </a:rPr>
                  <a:t>Thời gian trung bình mỗi mẫu FLEURS (ms), máy Windows</a:t>
                </a:r>
              </a:p>
            </c:rich>
          </c:tx>
          <c:overlay val="0"/>
        </c:title>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F6B76"/>
                </a:solidFill>
                <a:latin typeface="Arial"/>
              </a:defRPr>
            </a:pPr>
            <a:endParaRPr lang="en-US"/>
          </a:p>
        </c:txPr>
        <c:crossAx val="2094734554"/>
        <c:crosses val="autoZero"/>
        <c:crossBetween val="between"/>
        <c:majorUnit val="1000"/>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Cũ (trần 20 s)</c:v>
                </c:pt>
              </c:strCache>
            </c:strRef>
          </c:tx>
          <c:spPr>
            <a:solidFill>
              <a:srgbClr val="B8C4CE"/>
            </a:solidFill>
            <a:effectLst/>
          </c:spPr>
          <c:invertIfNegative val="0"/>
          <c:dLbls>
            <c:numFmt formatCode="0.0" sourceLinked="0"/>
            <c:spPr>
              <a:noFill/>
              <a:ln>
                <a:noFill/>
              </a:ln>
              <a:effectLst/>
            </c:spPr>
            <c:txPr>
              <a:bodyPr/>
              <a:lstStyle/>
              <a:p>
                <a:pPr>
                  <a:defRPr sz="1000" b="0" i="0" u="none" strike="noStrike">
                    <a:solidFill>
                      <a:srgbClr val="222222"/>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Bản tin (đọc kịch bản)</c:v>
                </c:pt>
                <c:pt idx="1">
                  <c:v>Phỏng vấn (tự phát)</c:v>
                </c:pt>
                <c:pt idx="2">
                  <c:v>TEDx (thuyết trình)</c:v>
                </c:pt>
              </c:strCache>
            </c:strRef>
          </c:cat>
          <c:val>
            <c:numRef>
              <c:f>Sheet1!$B$2:$B$4</c:f>
              <c:numCache>
                <c:formatCode>General</c:formatCode>
                <c:ptCount val="3"/>
                <c:pt idx="0">
                  <c:v>12.53</c:v>
                </c:pt>
                <c:pt idx="1">
                  <c:v>6.77</c:v>
                </c:pt>
                <c:pt idx="2">
                  <c:v>2.61</c:v>
                </c:pt>
              </c:numCache>
            </c:numRef>
          </c:val>
          <c:extLst>
            <c:ext xmlns:c16="http://schemas.microsoft.com/office/drawing/2014/chart" uri="{C3380CC4-5D6E-409C-BE32-E72D297353CC}">
              <c16:uniqueId val="{00000000-7815-40FA-9055-F30797CEDF05}"/>
            </c:ext>
          </c:extLst>
        </c:ser>
        <c:ser>
          <c:idx val="1"/>
          <c:order val="1"/>
          <c:tx>
            <c:strRef>
              <c:f>Sheet1!$C$1</c:f>
              <c:strCache>
                <c:ptCount val="1"/>
                <c:pt idx="0">
                  <c:v>Nhanh (4,5 s)</c:v>
                </c:pt>
              </c:strCache>
            </c:strRef>
          </c:tx>
          <c:spPr>
            <a:solidFill>
              <a:srgbClr val="7FA6C8"/>
            </a:solidFill>
            <a:effectLst/>
          </c:spPr>
          <c:invertIfNegative val="0"/>
          <c:dLbls>
            <c:numFmt formatCode="0.0" sourceLinked="0"/>
            <c:spPr>
              <a:noFill/>
              <a:ln>
                <a:noFill/>
              </a:ln>
              <a:effectLst/>
            </c:spPr>
            <c:txPr>
              <a:bodyPr/>
              <a:lstStyle/>
              <a:p>
                <a:pPr>
                  <a:defRPr sz="1000" b="0" i="0" u="none" strike="noStrike">
                    <a:solidFill>
                      <a:srgbClr val="222222"/>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Bản tin (đọc kịch bản)</c:v>
                </c:pt>
                <c:pt idx="1">
                  <c:v>Phỏng vấn (tự phát)</c:v>
                </c:pt>
                <c:pt idx="2">
                  <c:v>TEDx (thuyết trình)</c:v>
                </c:pt>
              </c:strCache>
            </c:strRef>
          </c:cat>
          <c:val>
            <c:numRef>
              <c:f>Sheet1!$C$2:$C$4</c:f>
              <c:numCache>
                <c:formatCode>General</c:formatCode>
                <c:ptCount val="3"/>
                <c:pt idx="0">
                  <c:v>4.3899999999999997</c:v>
                </c:pt>
                <c:pt idx="1">
                  <c:v>4.32</c:v>
                </c:pt>
                <c:pt idx="2">
                  <c:v>2.42</c:v>
                </c:pt>
              </c:numCache>
            </c:numRef>
          </c:val>
          <c:extLst>
            <c:ext xmlns:c16="http://schemas.microsoft.com/office/drawing/2014/chart" uri="{C3380CC4-5D6E-409C-BE32-E72D297353CC}">
              <c16:uniqueId val="{00000001-7815-40FA-9055-F30797CEDF05}"/>
            </c:ext>
          </c:extLst>
        </c:ser>
        <c:ser>
          <c:idx val="2"/>
          <c:order val="2"/>
          <c:tx>
            <c:strRef>
              <c:f>Sheet1!$D$1</c:f>
              <c:strCache>
                <c:ptCount val="1"/>
                <c:pt idx="0">
                  <c:v>Cân bằng (6 s)</c:v>
                </c:pt>
              </c:strCache>
            </c:strRef>
          </c:tx>
          <c:spPr>
            <a:solidFill>
              <a:srgbClr val="1B517B"/>
            </a:solidFill>
            <a:effectLst/>
          </c:spPr>
          <c:invertIfNegative val="0"/>
          <c:dLbls>
            <c:numFmt formatCode="0.0" sourceLinked="0"/>
            <c:spPr>
              <a:noFill/>
              <a:ln>
                <a:noFill/>
              </a:ln>
              <a:effectLst/>
            </c:spPr>
            <c:txPr>
              <a:bodyPr/>
              <a:lstStyle/>
              <a:p>
                <a:pPr>
                  <a:defRPr sz="1000" b="0" i="0" u="none" strike="noStrike">
                    <a:solidFill>
                      <a:srgbClr val="222222"/>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Bản tin (đọc kịch bản)</c:v>
                </c:pt>
                <c:pt idx="1">
                  <c:v>Phỏng vấn (tự phát)</c:v>
                </c:pt>
                <c:pt idx="2">
                  <c:v>TEDx (thuyết trình)</c:v>
                </c:pt>
              </c:strCache>
            </c:strRef>
          </c:cat>
          <c:val>
            <c:numRef>
              <c:f>Sheet1!$D$2:$D$4</c:f>
              <c:numCache>
                <c:formatCode>General</c:formatCode>
                <c:ptCount val="3"/>
                <c:pt idx="0">
                  <c:v>5.87</c:v>
                </c:pt>
                <c:pt idx="1">
                  <c:v>5.66</c:v>
                </c:pt>
                <c:pt idx="2">
                  <c:v>2.86</c:v>
                </c:pt>
              </c:numCache>
            </c:numRef>
          </c:val>
          <c:extLst>
            <c:ext xmlns:c16="http://schemas.microsoft.com/office/drawing/2014/chart" uri="{C3380CC4-5D6E-409C-BE32-E72D297353CC}">
              <c16:uniqueId val="{00000002-7815-40FA-9055-F30797CEDF05}"/>
            </c:ext>
          </c:extLst>
        </c:ser>
        <c:ser>
          <c:idx val="3"/>
          <c:order val="3"/>
          <c:tx>
            <c:strRef>
              <c:f>Sheet1!$E$1</c:f>
              <c:strCache>
                <c:ptCount val="1"/>
                <c:pt idx="0">
                  <c:v>Chất lượng (8 s)</c:v>
                </c:pt>
              </c:strCache>
            </c:strRef>
          </c:tx>
          <c:spPr>
            <a:solidFill>
              <a:srgbClr val="E3A33B"/>
            </a:solidFill>
            <a:effectLst/>
          </c:spPr>
          <c:invertIfNegative val="0"/>
          <c:dLbls>
            <c:numFmt formatCode="0.0" sourceLinked="0"/>
            <c:spPr>
              <a:noFill/>
              <a:ln>
                <a:noFill/>
              </a:ln>
              <a:effectLst/>
            </c:spPr>
            <c:txPr>
              <a:bodyPr/>
              <a:lstStyle/>
              <a:p>
                <a:pPr>
                  <a:defRPr sz="1000" b="0" i="0" u="none" strike="noStrike">
                    <a:solidFill>
                      <a:srgbClr val="222222"/>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Bản tin (đọc kịch bản)</c:v>
                </c:pt>
                <c:pt idx="1">
                  <c:v>Phỏng vấn (tự phát)</c:v>
                </c:pt>
                <c:pt idx="2">
                  <c:v>TEDx (thuyết trình)</c:v>
                </c:pt>
              </c:strCache>
            </c:strRef>
          </c:cat>
          <c:val>
            <c:numRef>
              <c:f>Sheet1!$E$2:$E$4</c:f>
              <c:numCache>
                <c:formatCode>General</c:formatCode>
                <c:ptCount val="3"/>
                <c:pt idx="0">
                  <c:v>7.88</c:v>
                </c:pt>
                <c:pt idx="1">
                  <c:v>6.7</c:v>
                </c:pt>
                <c:pt idx="2">
                  <c:v>3.79</c:v>
                </c:pt>
              </c:numCache>
            </c:numRef>
          </c:val>
          <c:extLst>
            <c:ext xmlns:c16="http://schemas.microsoft.com/office/drawing/2014/chart" uri="{C3380CC4-5D6E-409C-BE32-E72D297353CC}">
              <c16:uniqueId val="{00000003-7815-40FA-9055-F30797CEDF05}"/>
            </c:ext>
          </c:extLst>
        </c:ser>
        <c:dLbls>
          <c:showLegendKey val="0"/>
          <c:showVal val="1"/>
          <c:showCatName val="0"/>
          <c:showSerName val="0"/>
          <c:showPercent val="0"/>
          <c:showBubbleSize val="0"/>
        </c:dLbls>
        <c:gapWidth val="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22222"/>
                </a:solidFill>
                <a:latin typeface="Arial"/>
              </a:defRPr>
            </a:pPr>
            <a:endParaRPr lang="en-US"/>
          </a:p>
        </c:txPr>
        <c:crossAx val="2094734552"/>
        <c:crosses val="autoZero"/>
        <c:auto val="1"/>
        <c:lblAlgn val="ctr"/>
        <c:lblOffset val="100"/>
        <c:noMultiLvlLbl val="1"/>
      </c:catAx>
      <c:valAx>
        <c:axId val="2094734552"/>
        <c:scaling>
          <c:orientation val="minMax"/>
          <c:max val="14"/>
          <c:min val="0"/>
        </c:scaling>
        <c:delete val="0"/>
        <c:axPos val="l"/>
        <c:majorGridlines>
          <c:spPr>
            <a:ln w="6350" cap="flat">
              <a:solidFill>
                <a:srgbClr val="E5E5E5"/>
              </a:solidFill>
              <a:prstDash val="solid"/>
              <a:round/>
            </a:ln>
          </c:spPr>
        </c:majorGridlines>
        <c:title>
          <c:tx>
            <c:rich>
              <a:bodyPr/>
              <a:lstStyle/>
              <a:p>
                <a:pPr>
                  <a:defRPr sz="1100" b="0" i="0" u="none" strike="noStrike">
                    <a:solidFill>
                      <a:srgbClr val="5F6B76"/>
                    </a:solidFill>
                    <a:latin typeface="Arial"/>
                  </a:defRPr>
                </a:pPr>
                <a:r>
                  <a:rPr lang="en-US" sz="1100" b="0" i="0" u="none" strike="noStrike">
                    <a:solidFill>
                      <a:srgbClr val="5F6B76"/>
                    </a:solidFill>
                    <a:latin typeface="Arial"/>
                  </a:rPr>
                  <a:t>Độ dài đoạn p90 (giây)</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6B76"/>
                </a:solidFill>
                <a:latin typeface="Arial"/>
              </a:defRPr>
            </a:pPr>
            <a:endParaRPr lang="en-US"/>
          </a:p>
        </c:txPr>
        <c:crossAx val="2094734554"/>
        <c:crosses val="autoZero"/>
        <c:crossBetween val="between"/>
        <c:majorUnit val="2"/>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94557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chào quý Thầy Cô trong hội đồng. Em là Ngô Mạnh Hùng, MSSV 24410300. Em xin trình bày đồ án: Xây dựng hệ thống dịch giọng nói đa ngôn ngữ gần thời gian thực sử dụng mô hình AI chạy cục bộ, dưới sự hướng dẫn của ThS. Nguyễn Thành Luân.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trình bày gồm bốn phần: tổng quan đề tài, phương pháp thực hiện, kết quả thực nghiệm và kết luận. Cuối cùng em xin demo trực tiếp ứng dụng.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Lý do chọn đề tài. Dịch giọng nói cho họp trực tuyến hiện nay gần như đều chạy trên cloud: phụ thuộc mạng, tốn phí, và quan trọng nhất là nội dung cuộc họp phải gửi ra ngoài. Trong khi đó các mô hình mã nguồn mở đã đủ tốt, nên phần việc của đề tài là ghép chúng thành một ứng dụng dùng được, đủ nhanh, trên phần cứng phổ thông.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Google Meet có dịch giọng nói bằng Gemini nhưng chạy trên cloud, trả phí, chưa có tiếng Việt. SeamlessM4T là mô hình đầu-cuối, chạy cục bộ được nhưng không tách được lỗi nghe hay lỗi dịch. TranscriptionSuite chỉ ghi chép, không dịch; LocalVocal là plugin OBS, không có TTS và không thu cuộc gọi. Đề tài lấp chỗ trống ở cột cuối.</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Mục tiêu: ứng dụng desktop dịch hai chiều, nghe cả micro lẫn âm thanh hệ thống. 'Gần thời gian thực' ở đây là xử lý theo từng câu: chờ người nói ngắt rồi mới dịch, không dịch đồng thời từng từ. Ban đầu có tích hợp Google Meet qua micro ảo, đã bỏ ngày 10/09 sau khi thống nhất với thầy; ứng dụng vẫn thu âm thanh hệ thống nên vẫn dịch được phía bên kia cuộc gọi.</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phương pháp gồm bốn ý: chuỗi xử lý và chọn mô hình, kiến trúc hệ thống, các kỹ thuật chính, và phần ứng dụng, đóng gói, kiểm thử.</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Âm thanh từ micro hoặc từ loa được chuẩn hóa về PCM 16 kHz rồi qua bốn khâu: VAD tách câu, Whisper nhận dạng, NLLB dịch, sherpa-onnx hoặc Kokoro đọc. Kết quả từng khâu được gửi về giao diện ngay, nên người dùng thấy phụ đề trước khi nghe giọng đọc. Em chọn cách chuỗi vì đo được lỗi từng khâu, đúng yêu cầu thầy đặt ra ở buổi họp 19/08.</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khâu chọn theo ba tiêu chí: chạy cục bộ trên cả hai hệ điều hành, phủ đủ bốn ngôn ngữ, và đóng gói được vào bộ cài. Khâu TTS phải đổi kiến trúc giữa chừng: sherpa-onnx không đọc được tiếng Nhật, nên em ghép Kokoro với OpenJTalk. Ba preset Nhanh, Cân bằng, Chất lượng chọn mô hình và tham số tách câu tương ứng.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gồm hai tiến trình trên cùng một máy: ứng dụng Electron lo giao diện và thu âm thanh, dịch vụ Python chạy mô hình. Hai bên nói chuyện qua REST cho cấu hình và WebSocket cho luồng âm thanh, chỉ trên 127.0.0.1. Cái giá: hợp đồng giao tiếp định nghĩa hai lần, Python và TypeScript, phải giữ đồng bộ.</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 hai ứng dụng theo kiến trúc lục giác. Domain không import gì; application chỉ biết port và domain; adapter và tầng giao tiếp là vòng ngoài, thay được. Trong quá trình làm, kiến trúc này giúp ở ba chỗ: thêm hai runtime ASR không sửa pipeline; TTS tiếng Nhật hỏng thì chỉ thêm adapter; kiểm thử chạy với mô hình giả.</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Bộ tách câu bọc Silero VAD và quyết định khi nào chốt câu. Hai ngưỡng im lặng: câu còn ngắn thì chờ 320 ms để không băm câu người nói chậm; câu đã dài quá 3,5 giây thì chốt ở nhịp hụt hơi đầu tiên 140 ms. Vượt 6 giây mà chưa có khoảng lặng thì cắt cứng, nhưng lùi lại tìm khung yên nhất để không cắt giữa từ.</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chiều có hành vi khác nhau có chủ đích. Chiều đi: giữ phím để nói, dịch rồi đọc vào tai nghe. Chiều về: thu âm thanh hệ thống liên tục, chỉ hiện phụ đề, vì đọc thành tiếng thì giọng máy chồng lên giọng người thật. Vì thu toàn bộ đầu ra của máy, bản dịch phát ra loa sẽ quay vòng; ứng dụng bỏ khung âm thanh hệ thống trong lúc đang phát. Cách chắc nhất vẫn là đeo tai nghe; cơ chế này là lưới an toàn.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con số từ phần hiện thực. Nạp mô hình theo yêu cầu làm dịch vụ mở trong 0,4 giây thay vì 45. Bản cài Windows đầu tiên chạy whisper.cpp bằng CPU mất 17,6 giây cho 3 giây âm thanh, không dùng được; dựng lại với Vulkan còn 0,44 giây, chỉ thêm 18 MB. Và một lỗi chỉ lộ ra trên máy thật: laptop hai card, whisper.cpp chọn nhầm GPU tích hợp, chậm gần 60 lần.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Ứng dụng có tám màn hình, giao diện song ngữ Việt Anh. Ngoài những gì đề cương yêu cầu, em làm thêm lịch sử phiên, nhập tệp âm thanh hoặc video, duyệt bản dịch trước khi đọc, màn hình đánh giá trong ứng dụng và tách người nói cho tệp nhập. Phần demo sẽ đi qua các màn hình chính.</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Bộ cài là một bản CPython độc lập có cài sẵn dịch vụ. Em không dùng venv vì venv không di chuyển được, và không dùng PyInstaller vì phải khai báo tay từng thư viện native của torch, sherpa-onnx, pywhispercpp. Bộ cài Windows được kiểm bốn tầng từ trong ra ngoài, để khi lỗi thì biết lỗi nằm ở tầng nào; quá trình này lộ ra bảy lỗi, đều đã sửa. Kiểm thử có ba lớp: 327 bài pytest, 69 bài vitest và 11 bài Playwright chạy app thật.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kết quả trả lời bốn câu hỏi: từng khâu chính xác tới đâu, cả chuỗi có theo kịp người nói không, có chạy ổn định trong cuộc họp dài không, và số trên dữ liệu chuẩn lạc quan tới đâu so với giọng thật.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máy khác nhau cả phần cứng lẫn runtime, nên thời gian của hai máy không đặt chung một cột; chỉ WER và điểm dịch là so được. FLEURS là bộ giọng đọc công khai, có đủ bốn ngôn ngữ, và cùng họ dữ liệu với FLORES mà bài báo NLLB dùng, nên số so được với công bố.</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lượt nhận dạng trên cùng 3.099 bản thu, mỗi lượt một runtime, tắt bộ lọc câu bịa để đo chính mô hình. Tiếng Việt khó gần gấp đôi tiếng Anh ở cả ba cột. Cặp so được gần nhất là hai cột Windows: cùng mô hình, chỉ khác lượng tử hóa. q5_0 đổi 1,2 điểm WER tiếng Việt lấy một nửa thời gian nhận dạng. Tùy chọn audio_ctx=768 làm WER tăng lên 33,7% nên được giữ tắt.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Điểm dịch không phụ thuộc phần cứng nên một lượt là đủ. Nếu chỉ nhìn spBLEU sẽ kết luận dịch sang tiếng Nhật kém nhất. COMET là độ đo neural chấm theo nghĩa, và nó cho thấy chiều yếu nhất là Việt sang Trung. COMET phải chạy ở môi trường riêng vì ghim numpy&lt;2, xung đột với NLLB.</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RTF là thời gian xử lý chia thời lượng âm thanh; dưới 1 là theo kịp. Cả sáu chiều dưới 1 trên cả hai máy. Ngưỡng chặt hơn 0,5: Windows có GPU rời đạt cả sáu; trên M4 chỉ hai chiều đạt, vì nguồn tiếng Việt làm ASR đắt gấp đôi và đích Nhật, Trung làm TTS đắt gấp 5 đến 8 lần.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kết luận chỉ có được nhờ đo từng khâu riêng. Trên macOS khâu nặng nhất là ASR; trên Windows, GPU làm ASR và MT nhanh hẳn, còn TTS vẫn chạy CPU nên trở thành điểm nghẽn ở hai đích Nhật và Trung. Đây cũng là lý do cách tiếp cận chuỗi đáng giá ngay cả khi có mô hình đầu-cuối.</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trái trả lời câu hỏi của đặc tả: một câu ngắn mất bao lâu. Tổng 1,8 đến 2,6 giây cho câu 3 giây, dưới mục tiêu 4 giây. Bên phải là bài chạy liên tục một giờ theo nhịp thời gian thực: 877 câu không lỗi, bộ nhớ tăng 12 MB. Nếu mỗi câu giữ lại dù một khung 100 ms thì 877 câu đã là 2,8 MB, nên 12 MB trong một giờ là không có rò rỉ đáng kể.</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bản ghi dài trên 11 phút, đại diện ba kiểu nói. Bản tin đọc liền mạch là trường hợp xấu nhất của tham số cũ: câu p90 dài 12,5 giây. Tham số mới chỉ can thiệp khi có người nói dài; hội thoại và thuyết trình tự nhiên có nhiều khoảng nghỉ nên trần gần như không phải can thiệp.</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đoạn đầu dài 3 đến 12 giây từ phút thứ 5 của một buổi phỏng vấn, cắt bằng chính bộ tách câu, không chọn tay; câu tham chiếu em nghe và sửa tay từ phụ đề YouTube. WER tăng từ 10,4 lên 24,6%, gấp 2,4 lần. Lỗi chủ yếu là thuật ngữ tiếng Anh. Khâu dịch có hai lỗi hành vi mà FLEURS không kích hoạt được: lặp vô hạn và dịch nghĩa đen. Lỗi lặp chưa sửa vì sửa sẽ làm bảng COMET phải chạy lại; đã đưa vào hướng phát triển.</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Đối chiếu từng yêu cầu phi chức năng trong đặc tả với số đo. Tất cả đạt; hai điểm em nói thẳng: yêu cầu cấu hình trong 5 phút chưa đo được vì cần nhóm người dùng thử, và yêu cầu offline mới đạt theo thiết kế, phần demo sẽ ngắt mạng để thử trực tiếp.</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 mô hình đều có sẵn, nên đóng góp của đồ án nằm ở ba chỗ: kiến trúc cho phép thay và đo từng khâu; bộ đánh giá tái lập được; và những phát hiện chỉ có khi chạy máy thật: GPU tích hợp bị chọn nhầm, điểm nghẽn chuyển sang TTS khi có GPU, và lỗi lặp của khâu dịch mà dữ liệu giọng đọc không kích hoạt.</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hạn chế đi kèm một hướng phát triển. Hạn chế ảnh hưởng nhiều nhất là thuật ngữ tiếng Anh trong câu tiếng Việt, vì người dùng mục tiêu là người Việt họp với đối tác nước ngoài, thường trong ngành phần mềm: đây là trường hợp thường gặp.</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Kịch bản demo (Phụ lục C): máy Windows có GPU rời, preset Cân bằng, đeo tai nghe. 1) Mở app, màn Thiết bị âm thanh: chọn micro, tai nghe, thấy hai GPU. 2) Quản lý Model: chọn Balanced, bấm Khởi động model, ASR báo Vulkan (~34 s). 3) Phiên dịch: Cuộc họp = tiếng Anh, Tôi = tiếng Việt; phát video tiếng Anh để thấy phụ đề chiều về; giữ Space nói 'Chúng ta sẽ họp lại vào thứ Hai tuần sau' để nghe bản dịch. Tháo tai nghe để chỉ 'Tạm ngưng thu'. 4) Bật duyệt trước khi gửi. 5) Lịch sử: tìm, đổi tên, xóa. 6) Ngắt Wi-Fi, lặp lại bước 3. Có sẵn video quay dự phòng.</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xin chân thành cảm ơn quý Thầy Cô đã lắng nghe.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hỏi dự phòng: vì sao không dùng WER cho zh/ja (dùng CER như bài báo FLEURS); vì sao COMET chạy môi trường riêng (ghim numpy&lt;2 và transformers&lt;5, xung đột với NLLB); vì sao bỏ tích hợp Google Meet (docs/11); giấy phép NLLB phi thương mại.</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4.png"/><Relationship Id="rId7"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4.png"/><Relationship Id="rId7"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3.png"/><Relationship Id="rId11" Type="http://schemas.openxmlformats.org/officeDocument/2006/relationships/image" Target="../media/image21.png"/><Relationship Id="rId5" Type="http://schemas.openxmlformats.org/officeDocument/2006/relationships/image" Target="../media/image11.png"/><Relationship Id="rId10" Type="http://schemas.openxmlformats.org/officeDocument/2006/relationships/image" Target="../media/image20.png"/><Relationship Id="rId4" Type="http://schemas.openxmlformats.org/officeDocument/2006/relationships/image" Target="../media/image5.png"/><Relationship Id="rId9"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25.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chart" Target="../charts/chart1.xml"/><Relationship Id="rId4" Type="http://schemas.openxmlformats.org/officeDocument/2006/relationships/image" Target="../media/image5.png"/></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chart" Target="../charts/chart2.xml"/><Relationship Id="rId4" Type="http://schemas.openxmlformats.org/officeDocument/2006/relationships/image" Target="../media/image5.png"/></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chart" Target="../charts/chart3.xml"/><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chart" Target="../charts/chart4.xml"/><Relationship Id="rId4" Type="http://schemas.openxmlformats.org/officeDocument/2006/relationships/image" Target="../media/image5.png"/></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5.png"/></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6.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4.png"/><Relationship Id="rId7" Type="http://schemas.openxmlformats.org/officeDocument/2006/relationships/image" Target="../media/image25.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27.png"/><Relationship Id="rId4" Type="http://schemas.openxmlformats.org/officeDocument/2006/relationships/image" Target="../media/image5.png"/><Relationship Id="rId9" Type="http://schemas.openxmlformats.org/officeDocument/2006/relationships/image" Target="../media/image29.png"/></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5.png"/></Relationships>
</file>

<file path=ppt/slides/_rels/slide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9.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D9EDF1"/>
        </a:solidFill>
        <a:effectLst/>
      </p:bgPr>
    </p:bg>
    <p:spTree>
      <p:nvGrpSpPr>
        <p:cNvPr id="1" name=""/>
        <p:cNvGrpSpPr/>
        <p:nvPr/>
      </p:nvGrpSpPr>
      <p:grpSpPr>
        <a:xfrm>
          <a:off x="0" y="0"/>
          <a:ext cx="0" cy="0"/>
          <a:chOff x="0" y="0"/>
          <a:chExt cx="0" cy="0"/>
        </a:xfrm>
      </p:grpSpPr>
      <p:pic>
        <p:nvPicPr>
          <p:cNvPr id="2" name="Image 0" descr="C:\Users\hhung\AppData\Local\Temp\claude\d--Project-local-live-voice-translator\d0343c7e-f558-4e8b-8c62-5b900df8bea6\scratchpad\build\img\uit_mark.png"/>
          <p:cNvPicPr>
            <a:picLocks noChangeAspect="1"/>
          </p:cNvPicPr>
          <p:nvPr/>
        </p:nvPicPr>
        <p:blipFill>
          <a:blip r:embed="rId3">
            <a:alphaModFix amt="15000"/>
          </a:blip>
          <a:stretch>
            <a:fillRect/>
          </a:stretch>
        </p:blipFill>
        <p:spPr>
          <a:xfrm>
            <a:off x="3566160" y="1307592"/>
            <a:ext cx="5129784" cy="4150311"/>
          </a:xfrm>
          <a:prstGeom prst="rect">
            <a:avLst/>
          </a:prstGeom>
        </p:spPr>
      </p:pic>
      <p:pic>
        <p:nvPicPr>
          <p:cNvPr id="3" name="Image 1" descr="C:\Users\hhung\AppData\Local\Temp\claude\d--Project-local-live-voice-translator\d0343c7e-f558-4e8b-8c62-5b900df8bea6\scratchpad\build\img\logo_dhqg.png"/>
          <p:cNvPicPr>
            <a:picLocks noChangeAspect="1"/>
          </p:cNvPicPr>
          <p:nvPr/>
        </p:nvPicPr>
        <p:blipFill>
          <a:blip r:embed="rId4"/>
          <a:stretch>
            <a:fillRect/>
          </a:stretch>
        </p:blipFill>
        <p:spPr>
          <a:xfrm>
            <a:off x="713232" y="320040"/>
            <a:ext cx="2331720" cy="728121"/>
          </a:xfrm>
          <a:prstGeom prst="rect">
            <a:avLst/>
          </a:prstGeom>
        </p:spPr>
      </p:pic>
      <p:pic>
        <p:nvPicPr>
          <p:cNvPr id="4" name="Image 2" descr="C:\Users\hhung\AppData\Local\Temp\claude\d--Project-local-live-voice-translator\d0343c7e-f558-4e8b-8c62-5b900df8bea6\scratchpad\build\img\logo_uit20_ise.png"/>
          <p:cNvPicPr>
            <a:picLocks noChangeAspect="1"/>
          </p:cNvPicPr>
          <p:nvPr/>
        </p:nvPicPr>
        <p:blipFill>
          <a:blip r:embed="rId5"/>
          <a:stretch>
            <a:fillRect/>
          </a:stretch>
        </p:blipFill>
        <p:spPr>
          <a:xfrm>
            <a:off x="9372600" y="320040"/>
            <a:ext cx="2148840" cy="692885"/>
          </a:xfrm>
          <a:prstGeom prst="rect">
            <a:avLst/>
          </a:prstGeom>
        </p:spPr>
      </p:pic>
      <p:sp>
        <p:nvSpPr>
          <p:cNvPr id="5" name="Text 0"/>
          <p:cNvSpPr txBox="1"/>
          <p:nvPr/>
        </p:nvSpPr>
        <p:spPr>
          <a:xfrm>
            <a:off x="274320" y="1371600"/>
            <a:ext cx="11643055" cy="868680"/>
          </a:xfrm>
          <a:prstGeom prst="rect">
            <a:avLst/>
          </a:prstGeom>
          <a:noFill/>
          <a:ln/>
        </p:spPr>
        <p:txBody>
          <a:bodyPr wrap="square" lIns="0" tIns="0" rIns="0" bIns="0" rtlCol="0" anchor="ctr"/>
          <a:lstStyle/>
          <a:p>
            <a:pPr marL="0" indent="0" algn="ctr">
              <a:buNone/>
            </a:pPr>
            <a:r>
              <a:rPr lang="en-US" sz="4800" b="1" dirty="0">
                <a:solidFill>
                  <a:srgbClr val="2E3192"/>
                </a:solidFill>
                <a:latin typeface="Arial" pitchFamily="34" charset="0"/>
                <a:ea typeface="Arial" pitchFamily="34" charset="-122"/>
                <a:cs typeface="Arial" pitchFamily="34" charset="-120"/>
              </a:rPr>
              <a:t>LỄ BẢO VỆ ĐỒ ÁN TỐT NGHIỆP</a:t>
            </a:r>
            <a:endParaRPr lang="en-US" sz="4800" dirty="0"/>
          </a:p>
        </p:txBody>
      </p:sp>
      <p:sp>
        <p:nvSpPr>
          <p:cNvPr id="6" name="Text 1"/>
          <p:cNvSpPr txBox="1"/>
          <p:nvPr/>
        </p:nvSpPr>
        <p:spPr>
          <a:xfrm>
            <a:off x="274320" y="2212848"/>
            <a:ext cx="11643055" cy="548640"/>
          </a:xfrm>
          <a:prstGeom prst="rect">
            <a:avLst/>
          </a:prstGeom>
          <a:noFill/>
          <a:ln/>
        </p:spPr>
        <p:txBody>
          <a:bodyPr wrap="square" lIns="0" tIns="0" rIns="0" bIns="0" rtlCol="0" anchor="ctr"/>
          <a:lstStyle/>
          <a:p>
            <a:pPr marL="0" indent="0" algn="ctr">
              <a:buNone/>
            </a:pPr>
            <a:r>
              <a:rPr lang="en-US" sz="3000" b="1" dirty="0">
                <a:solidFill>
                  <a:srgbClr val="B8262B"/>
                </a:solidFill>
                <a:latin typeface="Arial" pitchFamily="34" charset="0"/>
                <a:ea typeface="Arial" pitchFamily="34" charset="-122"/>
                <a:cs typeface="Arial" pitchFamily="34" charset="-120"/>
              </a:rPr>
              <a:t>NGÀNH CÔNG NGHỆ THÔNG TIN - 7480201</a:t>
            </a:r>
            <a:endParaRPr lang="en-US" sz="3000" dirty="0"/>
          </a:p>
        </p:txBody>
      </p:sp>
      <p:sp>
        <p:nvSpPr>
          <p:cNvPr id="7" name="Text 2"/>
          <p:cNvSpPr txBox="1"/>
          <p:nvPr/>
        </p:nvSpPr>
        <p:spPr>
          <a:xfrm>
            <a:off x="731520" y="3017520"/>
            <a:ext cx="10728655" cy="1417320"/>
          </a:xfrm>
          <a:prstGeom prst="rect">
            <a:avLst/>
          </a:prstGeom>
          <a:noFill/>
          <a:ln/>
        </p:spPr>
        <p:txBody>
          <a:bodyPr wrap="square" lIns="0" tIns="0" rIns="0" bIns="0" rtlCol="0" anchor="ctr"/>
          <a:lstStyle/>
          <a:p>
            <a:pPr marL="0" indent="0" algn="ctr">
              <a:spcAft>
                <a:spcPts val="400"/>
              </a:spcAft>
              <a:buNone/>
            </a:pPr>
            <a:r>
              <a:rPr lang="en-US" sz="1700" b="1" dirty="0">
                <a:solidFill>
                  <a:srgbClr val="222222"/>
                </a:solidFill>
                <a:latin typeface="Arial" pitchFamily="34" charset="0"/>
                <a:ea typeface="Arial" pitchFamily="34" charset="-122"/>
                <a:cs typeface="Arial" pitchFamily="34" charset="-120"/>
              </a:rPr>
              <a:t>TÊN ĐỀ TÀI:</a:t>
            </a:r>
            <a:endParaRPr lang="en-US" sz="1900" dirty="0"/>
          </a:p>
          <a:p>
            <a:pPr marL="0" indent="0" algn="ctr">
              <a:spcAft>
                <a:spcPts val="400"/>
              </a:spcAft>
              <a:buNone/>
            </a:pPr>
            <a:r>
              <a:rPr lang="en-US" sz="1900" b="1" dirty="0">
                <a:solidFill>
                  <a:srgbClr val="222222"/>
                </a:solidFill>
                <a:latin typeface="Arial" pitchFamily="34" charset="0"/>
                <a:ea typeface="Arial" pitchFamily="34" charset="-122"/>
                <a:cs typeface="Arial" pitchFamily="34" charset="-120"/>
              </a:rPr>
              <a:t>XÂY DỰNG HỆ THỐNG DỊCH GIỌNG NÓI ĐA NGÔN NGỮ GẦN THỜI GIAN THỰC</a:t>
            </a:r>
            <a:endParaRPr lang="en-US" sz="1900" dirty="0"/>
          </a:p>
          <a:p>
            <a:pPr marL="0" indent="0" algn="ctr">
              <a:spcAft>
                <a:spcPts val="400"/>
              </a:spcAft>
              <a:buNone/>
            </a:pPr>
            <a:r>
              <a:rPr lang="en-US" sz="1900" b="1" dirty="0">
                <a:solidFill>
                  <a:srgbClr val="222222"/>
                </a:solidFill>
                <a:latin typeface="Arial" pitchFamily="34" charset="0"/>
                <a:ea typeface="Arial" pitchFamily="34" charset="-122"/>
                <a:cs typeface="Arial" pitchFamily="34" charset="-120"/>
              </a:rPr>
              <a:t>SỬ DỤNG MÔ HÌNH AI CHẠY CỤC BỘ</a:t>
            </a:r>
            <a:endParaRPr lang="en-US" sz="1900" dirty="0"/>
          </a:p>
          <a:p>
            <a:pPr marL="0" indent="0" algn="ctr">
              <a:spcAft>
                <a:spcPts val="400"/>
              </a:spcAft>
              <a:buNone/>
            </a:pPr>
            <a:r>
              <a:rPr lang="en-US" sz="1500" b="1" i="1" dirty="0">
                <a:solidFill>
                  <a:srgbClr val="1B517B"/>
                </a:solidFill>
                <a:latin typeface="Arial" pitchFamily="34" charset="0"/>
                <a:ea typeface="Arial" pitchFamily="34" charset="-122"/>
                <a:cs typeface="Arial" pitchFamily="34" charset="-120"/>
              </a:rPr>
              <a:t>A Near Real-Time Speech Translation System Using Locally Hosted AI Models</a:t>
            </a:r>
            <a:endParaRPr lang="en-US" sz="1900" dirty="0"/>
          </a:p>
        </p:txBody>
      </p:sp>
      <p:sp>
        <p:nvSpPr>
          <p:cNvPr id="8" name="Text 3"/>
          <p:cNvSpPr txBox="1"/>
          <p:nvPr/>
        </p:nvSpPr>
        <p:spPr>
          <a:xfrm>
            <a:off x="1097280" y="4800600"/>
            <a:ext cx="4206240" cy="822960"/>
          </a:xfrm>
          <a:prstGeom prst="rect">
            <a:avLst/>
          </a:prstGeom>
          <a:noFill/>
          <a:ln/>
        </p:spPr>
        <p:txBody>
          <a:bodyPr wrap="square" lIns="0" tIns="0" rIns="0" bIns="0" rtlCol="0" anchor="t"/>
          <a:lstStyle/>
          <a:p>
            <a:pPr marL="0" indent="0" algn="ctr">
              <a:spcAft>
                <a:spcPts val="600"/>
              </a:spcAft>
              <a:buNone/>
            </a:pPr>
            <a:r>
              <a:rPr lang="en-US" sz="1800" b="1" dirty="0">
                <a:solidFill>
                  <a:srgbClr val="222222"/>
                </a:solidFill>
                <a:latin typeface="Arial" pitchFamily="34" charset="0"/>
                <a:ea typeface="Arial" pitchFamily="34" charset="-122"/>
                <a:cs typeface="Arial" pitchFamily="34" charset="-120"/>
              </a:rPr>
              <a:t>GVHD:</a:t>
            </a:r>
            <a:endParaRPr lang="en-US" sz="1800" dirty="0"/>
          </a:p>
          <a:p>
            <a:pPr marL="0" indent="0" algn="ctr">
              <a:spcAft>
                <a:spcPts val="600"/>
              </a:spcAft>
              <a:buNone/>
            </a:pPr>
            <a:r>
              <a:rPr lang="en-US" sz="1800" b="1" dirty="0">
                <a:solidFill>
                  <a:srgbClr val="222222"/>
                </a:solidFill>
                <a:latin typeface="Arial" pitchFamily="34" charset="0"/>
                <a:ea typeface="Arial" pitchFamily="34" charset="-122"/>
                <a:cs typeface="Arial" pitchFamily="34" charset="-120"/>
              </a:rPr>
              <a:t>ThS. Nguyễn Thành Luân</a:t>
            </a:r>
            <a:endParaRPr lang="en-US" sz="1800" dirty="0"/>
          </a:p>
        </p:txBody>
      </p:sp>
      <p:sp>
        <p:nvSpPr>
          <p:cNvPr id="9" name="Text 4"/>
          <p:cNvSpPr txBox="1"/>
          <p:nvPr/>
        </p:nvSpPr>
        <p:spPr>
          <a:xfrm>
            <a:off x="6675120" y="4800600"/>
            <a:ext cx="4389120" cy="822960"/>
          </a:xfrm>
          <a:prstGeom prst="rect">
            <a:avLst/>
          </a:prstGeom>
          <a:noFill/>
          <a:ln/>
        </p:spPr>
        <p:txBody>
          <a:bodyPr wrap="square" lIns="0" tIns="0" rIns="0" bIns="0" rtlCol="0" anchor="t"/>
          <a:lstStyle/>
          <a:p>
            <a:pPr marL="0" indent="0" algn="ctr">
              <a:spcAft>
                <a:spcPts val="600"/>
              </a:spcAft>
              <a:buNone/>
            </a:pPr>
            <a:r>
              <a:rPr lang="en-US" sz="1800" b="1" dirty="0">
                <a:solidFill>
                  <a:srgbClr val="222222"/>
                </a:solidFill>
                <a:latin typeface="Arial" pitchFamily="34" charset="0"/>
                <a:ea typeface="Arial" pitchFamily="34" charset="-122"/>
                <a:cs typeface="Arial" pitchFamily="34" charset="-120"/>
              </a:rPr>
              <a:t>NGƯỜI THỰC HIỆN:</a:t>
            </a:r>
            <a:endParaRPr lang="en-US" sz="1800" dirty="0"/>
          </a:p>
          <a:p>
            <a:pPr marL="0" indent="0" algn="ctr">
              <a:spcAft>
                <a:spcPts val="600"/>
              </a:spcAft>
              <a:buNone/>
            </a:pPr>
            <a:r>
              <a:rPr lang="en-US" sz="1800" b="1" dirty="0">
                <a:solidFill>
                  <a:srgbClr val="222222"/>
                </a:solidFill>
                <a:latin typeface="Arial" pitchFamily="34" charset="0"/>
                <a:ea typeface="Arial" pitchFamily="34" charset="-122"/>
                <a:cs typeface="Arial" pitchFamily="34" charset="-120"/>
              </a:rPr>
              <a:t>24410300 - Ngô Mạnh Hùng</a:t>
            </a:r>
            <a:endParaRPr lang="en-US" sz="1800" dirty="0"/>
          </a:p>
        </p:txBody>
      </p:sp>
      <p:sp>
        <p:nvSpPr>
          <p:cNvPr id="10" name="Text 5"/>
          <p:cNvSpPr txBox="1"/>
          <p:nvPr/>
        </p:nvSpPr>
        <p:spPr>
          <a:xfrm>
            <a:off x="274320" y="6144768"/>
            <a:ext cx="11643055" cy="411480"/>
          </a:xfrm>
          <a:prstGeom prst="rect">
            <a:avLst/>
          </a:prstGeom>
          <a:noFill/>
          <a:ln/>
        </p:spPr>
        <p:txBody>
          <a:bodyPr wrap="square" lIns="0" tIns="0" rIns="0" bIns="0" rtlCol="0" anchor="t"/>
          <a:lstStyle/>
          <a:p>
            <a:pPr marL="0" indent="0" algn="ctr">
              <a:buNone/>
            </a:pPr>
            <a:r>
              <a:rPr lang="en-US" sz="1800" b="1" i="1" dirty="0">
                <a:solidFill>
                  <a:srgbClr val="2E3192"/>
                </a:solidFill>
                <a:latin typeface="Arial" pitchFamily="34" charset="0"/>
                <a:ea typeface="Arial" pitchFamily="34" charset="-122"/>
                <a:cs typeface="Arial" pitchFamily="34" charset="-120"/>
              </a:rPr>
              <a:t>Thành phố Hồ Chí Minh, </a:t>
            </a:r>
            <a:r>
              <a:rPr lang="en-US" sz="1800" b="1" i="1" dirty="0" err="1">
                <a:solidFill>
                  <a:srgbClr val="2E3192"/>
                </a:solidFill>
                <a:latin typeface="Arial" pitchFamily="34" charset="0"/>
                <a:ea typeface="Arial" pitchFamily="34" charset="-122"/>
                <a:cs typeface="Arial" pitchFamily="34" charset="-120"/>
              </a:rPr>
              <a:t>ngày</a:t>
            </a:r>
            <a:r>
              <a:rPr lang="en-US" sz="1800" b="1" i="1" dirty="0">
                <a:solidFill>
                  <a:srgbClr val="2E3192"/>
                </a:solidFill>
                <a:latin typeface="Arial" pitchFamily="34" charset="0"/>
                <a:ea typeface="Arial" pitchFamily="34" charset="-122"/>
                <a:cs typeface="Arial" pitchFamily="34" charset="-120"/>
              </a:rPr>
              <a:t> 10 </a:t>
            </a:r>
            <a:r>
              <a:rPr lang="en-US" sz="1800" b="1" i="1" dirty="0" err="1">
                <a:solidFill>
                  <a:srgbClr val="2E3192"/>
                </a:solidFill>
                <a:latin typeface="Arial" pitchFamily="34" charset="0"/>
                <a:ea typeface="Arial" pitchFamily="34" charset="-122"/>
                <a:cs typeface="Arial" pitchFamily="34" charset="-120"/>
              </a:rPr>
              <a:t>tháng</a:t>
            </a:r>
            <a:r>
              <a:rPr lang="en-US" sz="1800" b="1" i="1">
                <a:solidFill>
                  <a:srgbClr val="2E3192"/>
                </a:solidFill>
                <a:latin typeface="Arial" pitchFamily="34" charset="0"/>
                <a:ea typeface="Arial" pitchFamily="34" charset="-122"/>
                <a:cs typeface="Arial" pitchFamily="34" charset="-120"/>
              </a:rPr>
              <a:t> 10 năm</a:t>
            </a:r>
            <a:r>
              <a:rPr lang="en-US" sz="1800" b="1" i="1" dirty="0">
                <a:solidFill>
                  <a:srgbClr val="2E3192"/>
                </a:solidFill>
                <a:latin typeface="Arial" pitchFamily="34" charset="0"/>
                <a:ea typeface="Arial" pitchFamily="34" charset="-122"/>
                <a:cs typeface="Arial" pitchFamily="34" charset="-120"/>
              </a:rPr>
              <a:t>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C:\Users\hhung\AppData\Local\Temp\claude\d--Project-local-live-voice-translator\d0343c7e-f558-4e8b-8c62-5b900df8bea6\scratchpad\build\img\deco_right.png"/>
          <p:cNvPicPr>
            <a:picLocks noGrp="1" noRot="1" noChangeAspect="1" noMove="1" noResize="1" noEditPoints="1" noAdjustHandles="1" noChangeArrowheads="1" noChangeShapeType="1" noCrop="1"/>
          </p:cNvPicPr>
          <p:nvPr/>
        </p:nvPicPr>
        <p:blipFill>
          <a:blip r:embed="rId3"/>
          <a:stretch>
            <a:fillRect/>
          </a:stretch>
        </p:blipFill>
        <p:spPr>
          <a:xfrm>
            <a:off x="0" y="0"/>
            <a:ext cx="12191695" cy="6858000"/>
          </a:xfrm>
          <a:prstGeom prst="rect">
            <a:avLst/>
          </a:prstGeom>
        </p:spPr>
      </p:pic>
      <p:pic>
        <p:nvPicPr>
          <p:cNvPr id="3" name="Image 1" descr="C:\Users\hhung\AppData\Local\Temp\claude\d--Project-local-live-voice-translator\d0343c7e-f558-4e8b-8c62-5b900df8bea6\scratchpad\build\img\logo_header.png"/>
          <p:cNvPicPr>
            <a:picLocks noChangeAspect="1"/>
          </p:cNvPicPr>
          <p:nvPr/>
        </p:nvPicPr>
        <p:blipFill>
          <a:blip r:embed="rId4"/>
          <a:stretch>
            <a:fillRect/>
          </a:stretch>
        </p:blipFill>
        <p:spPr>
          <a:xfrm>
            <a:off x="411480" y="292608"/>
            <a:ext cx="2560320" cy="459250"/>
          </a:xfrm>
          <a:prstGeom prst="rect">
            <a:avLst/>
          </a:prstGeom>
        </p:spPr>
      </p:pic>
      <p:sp>
        <p:nvSpPr>
          <p:cNvPr id="4" name="Text 0"/>
          <p:cNvSpPr txBox="1"/>
          <p:nvPr/>
        </p:nvSpPr>
        <p:spPr>
          <a:xfrm>
            <a:off x="411480" y="914400"/>
            <a:ext cx="5669280" cy="685800"/>
          </a:xfrm>
          <a:prstGeom prst="rect">
            <a:avLst/>
          </a:prstGeom>
          <a:noFill/>
          <a:ln/>
        </p:spPr>
        <p:txBody>
          <a:bodyPr wrap="square" lIns="0" tIns="0" rIns="0" bIns="0" rtlCol="0" anchor="t"/>
          <a:lstStyle/>
          <a:p>
            <a:pPr marL="0" indent="0" algn="ctr">
              <a:buNone/>
            </a:pPr>
            <a:r>
              <a:rPr lang="en-US" sz="3600" b="1" dirty="0">
                <a:solidFill>
                  <a:srgbClr val="487BA2"/>
                </a:solidFill>
                <a:latin typeface="Arial" pitchFamily="34" charset="0"/>
                <a:ea typeface="Arial" pitchFamily="34" charset="-122"/>
                <a:cs typeface="Arial" pitchFamily="34" charset="-120"/>
              </a:rPr>
              <a:t>Nội dung</a:t>
            </a:r>
            <a:endParaRPr lang="en-US" sz="3600" dirty="0"/>
          </a:p>
        </p:txBody>
      </p:sp>
      <p:sp>
        <p:nvSpPr>
          <p:cNvPr id="5" name="Text 1"/>
          <p:cNvSpPr txBox="1"/>
          <p:nvPr/>
        </p:nvSpPr>
        <p:spPr>
          <a:xfrm>
            <a:off x="640080" y="1691640"/>
            <a:ext cx="5486400" cy="4480560"/>
          </a:xfrm>
          <a:prstGeom prst="rect">
            <a:avLst/>
          </a:prstGeom>
          <a:noFill/>
          <a:ln/>
        </p:spPr>
        <p:txBody>
          <a:bodyPr wrap="square" lIns="0" tIns="0" rIns="0" bIns="0" rtlCol="0" anchor="t"/>
          <a:lstStyle/>
          <a:p>
            <a:pPr marL="0" indent="0">
              <a:buNone/>
            </a:pPr>
            <a:r>
              <a:rPr lang="en-US" sz="2000" dirty="0">
                <a:solidFill>
                  <a:srgbClr val="376BB4"/>
                </a:solidFill>
                <a:latin typeface="Arial" pitchFamily="34" charset="0"/>
                <a:ea typeface="Arial" pitchFamily="34" charset="-122"/>
                <a:cs typeface="Arial" pitchFamily="34" charset="-120"/>
              </a:rPr>
              <a:t>I. Tổng quan đề tài</a:t>
            </a:r>
            <a:endParaRPr lang="en-US" sz="2000" dirty="0"/>
          </a:p>
          <a:p>
            <a:pPr marL="0" lvl="1" indent="0">
              <a:buNone/>
            </a:pPr>
            <a:r>
              <a:rPr lang="en-US" sz="1500" dirty="0">
                <a:solidFill>
                  <a:srgbClr val="222222"/>
                </a:solidFill>
                <a:latin typeface="Arial" pitchFamily="34" charset="0"/>
                <a:ea typeface="Arial" pitchFamily="34" charset="-122"/>
                <a:cs typeface="Arial" pitchFamily="34" charset="-120"/>
              </a:rPr>
              <a:t>1. Bài toán và các giải pháp liên quan</a:t>
            </a:r>
            <a:endParaRPr lang="en-US" sz="2000" dirty="0"/>
          </a:p>
          <a:p>
            <a:pPr marL="0" lvl="1" indent="0">
              <a:buNone/>
            </a:pPr>
            <a:r>
              <a:rPr lang="en-US" sz="1500" dirty="0">
                <a:solidFill>
                  <a:srgbClr val="222222"/>
                </a:solidFill>
                <a:latin typeface="Arial" pitchFamily="34" charset="0"/>
                <a:ea typeface="Arial" pitchFamily="34" charset="-122"/>
                <a:cs typeface="Arial" pitchFamily="34" charset="-120"/>
              </a:rPr>
              <a:t>2. Mục tiêu và phạm vi</a:t>
            </a:r>
            <a:endParaRPr lang="en-US" sz="2000" dirty="0"/>
          </a:p>
          <a:p>
            <a:pPr marL="0" indent="0">
              <a:spcBef>
                <a:spcPts val="800"/>
              </a:spcBef>
              <a:buNone/>
            </a:pPr>
            <a:r>
              <a:rPr lang="en-US" sz="2000" dirty="0">
                <a:solidFill>
                  <a:srgbClr val="376BB4"/>
                </a:solidFill>
                <a:latin typeface="Arial" pitchFamily="34" charset="0"/>
                <a:ea typeface="Arial" pitchFamily="34" charset="-122"/>
                <a:cs typeface="Arial" pitchFamily="34" charset="-120"/>
              </a:rPr>
              <a:t>II. Phương pháp thực hiện</a:t>
            </a:r>
            <a:endParaRPr lang="en-US" sz="2000" dirty="0"/>
          </a:p>
          <a:p>
            <a:pPr marL="0" lvl="1" indent="0">
              <a:buNone/>
            </a:pPr>
            <a:r>
              <a:rPr lang="en-US" sz="1500" dirty="0">
                <a:solidFill>
                  <a:srgbClr val="222222"/>
                </a:solidFill>
                <a:latin typeface="Arial" pitchFamily="34" charset="0"/>
                <a:ea typeface="Arial" pitchFamily="34" charset="-122"/>
                <a:cs typeface="Arial" pitchFamily="34" charset="-120"/>
              </a:rPr>
              <a:t>1. Chuỗi xử lý và lựa chọn mô hình</a:t>
            </a:r>
            <a:endParaRPr lang="en-US" sz="2000" dirty="0"/>
          </a:p>
          <a:p>
            <a:pPr marL="0" lvl="1" indent="0">
              <a:buNone/>
            </a:pPr>
            <a:r>
              <a:rPr lang="en-US" sz="1500" dirty="0">
                <a:solidFill>
                  <a:srgbClr val="222222"/>
                </a:solidFill>
                <a:latin typeface="Arial" pitchFamily="34" charset="0"/>
                <a:ea typeface="Arial" pitchFamily="34" charset="-122"/>
                <a:cs typeface="Arial" pitchFamily="34" charset="-120"/>
              </a:rPr>
              <a:t>2. Kiến trúc hệ thống</a:t>
            </a:r>
            <a:endParaRPr lang="en-US" sz="2000" dirty="0"/>
          </a:p>
          <a:p>
            <a:pPr marL="0" lvl="1" indent="0">
              <a:buNone/>
            </a:pPr>
            <a:r>
              <a:rPr lang="en-US" sz="1500" dirty="0">
                <a:solidFill>
                  <a:srgbClr val="222222"/>
                </a:solidFill>
                <a:latin typeface="Arial" pitchFamily="34" charset="0"/>
                <a:ea typeface="Arial" pitchFamily="34" charset="-122"/>
                <a:cs typeface="Arial" pitchFamily="34" charset="-120"/>
              </a:rPr>
              <a:t>3. Các kỹ thuật xử lý chính</a:t>
            </a:r>
            <a:endParaRPr lang="en-US" sz="2000" dirty="0"/>
          </a:p>
          <a:p>
            <a:pPr marL="0" lvl="1" indent="0">
              <a:buNone/>
            </a:pPr>
            <a:r>
              <a:rPr lang="en-US" sz="1500" dirty="0">
                <a:solidFill>
                  <a:srgbClr val="222222"/>
                </a:solidFill>
                <a:latin typeface="Arial" pitchFamily="34" charset="0"/>
                <a:ea typeface="Arial" pitchFamily="34" charset="-122"/>
                <a:cs typeface="Arial" pitchFamily="34" charset="-120"/>
              </a:rPr>
              <a:t>4. Ứng dụng, đóng gói và kiểm thử</a:t>
            </a:r>
            <a:endParaRPr lang="en-US" sz="2000" dirty="0"/>
          </a:p>
          <a:p>
            <a:pPr marL="0" indent="0">
              <a:spcBef>
                <a:spcPts val="800"/>
              </a:spcBef>
              <a:buNone/>
            </a:pPr>
            <a:r>
              <a:rPr lang="en-US" sz="2000" dirty="0">
                <a:solidFill>
                  <a:srgbClr val="376BB4"/>
                </a:solidFill>
                <a:latin typeface="Arial" pitchFamily="34" charset="0"/>
                <a:ea typeface="Arial" pitchFamily="34" charset="-122"/>
                <a:cs typeface="Arial" pitchFamily="34" charset="-120"/>
              </a:rPr>
              <a:t>III. Kết quả thực nghiệm</a:t>
            </a:r>
            <a:endParaRPr lang="en-US" sz="2000" dirty="0"/>
          </a:p>
          <a:p>
            <a:pPr marL="0" indent="0">
              <a:spcBef>
                <a:spcPts val="800"/>
              </a:spcBef>
              <a:buNone/>
            </a:pPr>
            <a:r>
              <a:rPr lang="en-US" sz="2000" dirty="0">
                <a:solidFill>
                  <a:srgbClr val="376BB4"/>
                </a:solidFill>
                <a:latin typeface="Arial" pitchFamily="34" charset="0"/>
                <a:ea typeface="Arial" pitchFamily="34" charset="-122"/>
                <a:cs typeface="Arial" pitchFamily="34" charset="-120"/>
              </a:rPr>
              <a:t>IV. Kết luận</a:t>
            </a:r>
            <a:endParaRPr lang="en-US" sz="2000" dirty="0"/>
          </a:p>
        </p:txBody>
      </p:sp>
      <p:pic>
        <p:nvPicPr>
          <p:cNvPr id="6" name="Image 2" descr="C:\Users\hhung\AppData\Local\Temp\claude\d--Project-local-live-voice-translator\d0343c7e-f558-4e8b-8c62-5b900df8bea6\scratchpad\build\img\h3-12-phien-dich.png"/>
          <p:cNvPicPr>
            <a:picLocks noChangeAspect="1"/>
          </p:cNvPicPr>
          <p:nvPr/>
        </p:nvPicPr>
        <p:blipFill>
          <a:blip r:embed="rId5"/>
          <a:stretch>
            <a:fillRect/>
          </a:stretch>
        </p:blipFill>
        <p:spPr>
          <a:xfrm>
            <a:off x="4532553" y="1131453"/>
            <a:ext cx="7019367" cy="4244153"/>
          </a:xfrm>
          <a:prstGeom prst="rect">
            <a:avLst/>
          </a:prstGeom>
        </p:spPr>
      </p:pic>
      <p:sp>
        <p:nvSpPr>
          <p:cNvPr id="8" name="Text 3"/>
          <p:cNvSpPr txBox="1"/>
          <p:nvPr/>
        </p:nvSpPr>
        <p:spPr>
          <a:xfrm>
            <a:off x="5068004" y="5421326"/>
            <a:ext cx="6220508" cy="442381"/>
          </a:xfrm>
          <a:prstGeom prst="rect">
            <a:avLst/>
          </a:prstGeom>
          <a:noFill/>
          <a:ln/>
        </p:spPr>
        <p:txBody>
          <a:bodyPr wrap="square" lIns="0" tIns="0" rIns="0" bIns="0" rtlCol="0" anchor="t"/>
          <a:lstStyle/>
          <a:p>
            <a:pPr marL="0" indent="0" algn="ctr">
              <a:buNone/>
            </a:pPr>
            <a:r>
              <a:rPr lang="en-US" sz="1200" i="1" dirty="0">
                <a:solidFill>
                  <a:srgbClr val="5F6B76"/>
                </a:solidFill>
                <a:latin typeface="Arial" pitchFamily="34" charset="0"/>
                <a:ea typeface="Arial" pitchFamily="34" charset="-122"/>
                <a:cs typeface="Arial" pitchFamily="34" charset="-120"/>
              </a:rPr>
              <a:t>Màn hình Phiên dịch của ứng dụng</a:t>
            </a:r>
            <a:endParaRPr lang="en-US" sz="1200" dirty="0"/>
          </a:p>
        </p:txBody>
      </p:sp>
      <p:sp>
        <p:nvSpPr>
          <p:cNvPr id="9" name="Text 4"/>
          <p:cNvSpPr txBox="1"/>
          <p:nvPr/>
        </p:nvSpPr>
        <p:spPr>
          <a:xfrm>
            <a:off x="10104120" y="6355080"/>
            <a:ext cx="548640" cy="274320"/>
          </a:xfrm>
          <a:prstGeom prst="rect">
            <a:avLst/>
          </a:prstGeom>
          <a:noFill/>
          <a:ln/>
        </p:spPr>
        <p:txBody>
          <a:bodyPr wrap="square" lIns="0" tIns="0" rIns="0" bIns="0" rtlCol="0" anchor="t"/>
          <a:lstStyle/>
          <a:p>
            <a:pPr marL="0" indent="0" algn="r">
              <a:buNone/>
            </a:pPr>
            <a:r>
              <a:rPr lang="en-US" sz="1100" dirty="0">
                <a:solidFill>
                  <a:srgbClr val="5F6B76"/>
                </a:solidFill>
                <a:latin typeface="Arial" pitchFamily="34" charset="0"/>
                <a:ea typeface="Arial" pitchFamily="34" charset="-122"/>
                <a:cs typeface="Arial"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C:\Users\hhung\AppData\Local\Temp\claude\d--Project-local-live-voice-translator\d0343c7e-f558-4e8b-8c62-5b900df8bea6\scratchpad\build\img\deco_right.png"/>
          <p:cNvPicPr>
            <a:picLocks noChangeAspect="1"/>
          </p:cNvPicPr>
          <p:nvPr/>
        </p:nvPicPr>
        <p:blipFill>
          <a:blip r:embed="rId3"/>
          <a:stretch>
            <a:fillRect/>
          </a:stretch>
        </p:blipFill>
        <p:spPr>
          <a:xfrm>
            <a:off x="0" y="0"/>
            <a:ext cx="12191695" cy="6858000"/>
          </a:xfrm>
          <a:prstGeom prst="rect">
            <a:avLst/>
          </a:prstGeom>
        </p:spPr>
      </p:pic>
      <p:pic>
        <p:nvPicPr>
          <p:cNvPr id="3" name="Image 1" descr="C:\Users\hhung\AppData\Local\Temp\claude\d--Project-local-live-voice-translator\d0343c7e-f558-4e8b-8c62-5b900df8bea6\scratchpad\build\img\logo_header.png"/>
          <p:cNvPicPr>
            <a:picLocks noChangeAspect="1"/>
          </p:cNvPicPr>
          <p:nvPr/>
        </p:nvPicPr>
        <p:blipFill>
          <a:blip r:embed="rId4"/>
          <a:stretch>
            <a:fillRect/>
          </a:stretch>
        </p:blipFill>
        <p:spPr>
          <a:xfrm>
            <a:off x="8549640" y="292608"/>
            <a:ext cx="2560320" cy="459250"/>
          </a:xfrm>
          <a:prstGeom prst="rect">
            <a:avLst/>
          </a:prstGeom>
        </p:spPr>
      </p:pic>
      <p:sp>
        <p:nvSpPr>
          <p:cNvPr id="4" name="Text 0"/>
          <p:cNvSpPr txBox="1"/>
          <p:nvPr/>
        </p:nvSpPr>
        <p:spPr>
          <a:xfrm>
            <a:off x="411480" y="256032"/>
            <a:ext cx="7955280" cy="548640"/>
          </a:xfrm>
          <a:prstGeom prst="rect">
            <a:avLst/>
          </a:prstGeom>
          <a:noFill/>
          <a:ln/>
        </p:spPr>
        <p:txBody>
          <a:bodyPr wrap="square" lIns="0" tIns="0" rIns="0" bIns="0" rtlCol="0" anchor="t"/>
          <a:lstStyle/>
          <a:p>
            <a:pPr marL="0" indent="0">
              <a:buNone/>
            </a:pPr>
            <a:r>
              <a:rPr lang="en-US" sz="2800" b="1" dirty="0">
                <a:solidFill>
                  <a:srgbClr val="487BA2"/>
                </a:solidFill>
                <a:latin typeface="Arial" pitchFamily="34" charset="0"/>
                <a:ea typeface="Arial" pitchFamily="34" charset="-122"/>
                <a:cs typeface="Arial" pitchFamily="34" charset="-120"/>
              </a:rPr>
              <a:t>I. Tổng quan đề tài</a:t>
            </a:r>
            <a:endParaRPr lang="en-US" sz="2800" dirty="0"/>
          </a:p>
        </p:txBody>
      </p:sp>
      <p:sp>
        <p:nvSpPr>
          <p:cNvPr id="5" name="Text 1"/>
          <p:cNvSpPr txBox="1"/>
          <p:nvPr/>
        </p:nvSpPr>
        <p:spPr>
          <a:xfrm>
            <a:off x="411480" y="841248"/>
            <a:ext cx="8046720" cy="411480"/>
          </a:xfrm>
          <a:prstGeom prst="rect">
            <a:avLst/>
          </a:prstGeom>
          <a:noFill/>
          <a:ln/>
        </p:spPr>
        <p:txBody>
          <a:bodyPr wrap="square" lIns="0" tIns="0" rIns="0" bIns="0" rtlCol="0" anchor="t"/>
          <a:lstStyle/>
          <a:p>
            <a:pPr marL="0" indent="0">
              <a:buNone/>
            </a:pPr>
            <a:r>
              <a:rPr lang="en-US" sz="2000" dirty="0">
                <a:solidFill>
                  <a:srgbClr val="1B517B"/>
                </a:solidFill>
                <a:latin typeface="Arial" pitchFamily="34" charset="0"/>
                <a:ea typeface="Arial" pitchFamily="34" charset="-122"/>
                <a:cs typeface="Arial" pitchFamily="34" charset="-120"/>
              </a:rPr>
              <a:t>1. Bài toán</a:t>
            </a:r>
            <a:endParaRPr lang="en-US" sz="2000" dirty="0"/>
          </a:p>
        </p:txBody>
      </p:sp>
      <p:sp>
        <p:nvSpPr>
          <p:cNvPr id="6" name="Text 2"/>
          <p:cNvSpPr txBox="1"/>
          <p:nvPr/>
        </p:nvSpPr>
        <p:spPr>
          <a:xfrm>
            <a:off x="10104120" y="6355080"/>
            <a:ext cx="548640" cy="274320"/>
          </a:xfrm>
          <a:prstGeom prst="rect">
            <a:avLst/>
          </a:prstGeom>
          <a:noFill/>
          <a:ln/>
        </p:spPr>
        <p:txBody>
          <a:bodyPr wrap="square" lIns="0" tIns="0" rIns="0" bIns="0" rtlCol="0" anchor="t"/>
          <a:lstStyle/>
          <a:p>
            <a:pPr marL="0" indent="0" algn="r">
              <a:buNone/>
            </a:pPr>
            <a:r>
              <a:rPr lang="en-US" sz="1100" dirty="0">
                <a:solidFill>
                  <a:srgbClr val="5F6B76"/>
                </a:solidFill>
                <a:latin typeface="Arial" pitchFamily="34" charset="0"/>
                <a:ea typeface="Arial" pitchFamily="34" charset="-122"/>
                <a:cs typeface="Arial" pitchFamily="34" charset="-120"/>
              </a:rPr>
              <a:t>3</a:t>
            </a:r>
            <a:endParaRPr lang="en-US" sz="1100" dirty="0"/>
          </a:p>
        </p:txBody>
      </p:sp>
      <p:sp>
        <p:nvSpPr>
          <p:cNvPr id="7" name="Text 3"/>
          <p:cNvSpPr txBox="1"/>
          <p:nvPr/>
        </p:nvSpPr>
        <p:spPr>
          <a:xfrm>
            <a:off x="411480" y="1371600"/>
            <a:ext cx="10241280" cy="731520"/>
          </a:xfrm>
          <a:prstGeom prst="rect">
            <a:avLst/>
          </a:prstGeom>
          <a:noFill/>
          <a:ln/>
        </p:spPr>
        <p:txBody>
          <a:bodyPr wrap="square" lIns="0" tIns="0" rIns="0" bIns="0" rtlCol="0" anchor="t"/>
          <a:lstStyle/>
          <a:p>
            <a:pPr marL="0" indent="0">
              <a:buNone/>
            </a:pPr>
            <a:r>
              <a:rPr lang="en-US" sz="1700" dirty="0">
                <a:solidFill>
                  <a:srgbClr val="222222"/>
                </a:solidFill>
                <a:latin typeface="Arial" pitchFamily="34" charset="0"/>
                <a:ea typeface="Arial" pitchFamily="34" charset="-122"/>
                <a:cs typeface="Arial" pitchFamily="34" charset="-120"/>
              </a:rPr>
              <a:t>Họp và học trực tuyến với người nói ngôn ngữ khác ngày càng phổ biến (Google Meet, Teams, Zoom). Các công cụ dịch giọng nói hiện có gần như đều chạy trên đám mây, kéo theo ba vấn đề:</a:t>
            </a:r>
            <a:endParaRPr lang="en-US" sz="1700" dirty="0"/>
          </a:p>
        </p:txBody>
      </p:sp>
      <p:sp>
        <p:nvSpPr>
          <p:cNvPr id="8" name="Shape 4"/>
          <p:cNvSpPr/>
          <p:nvPr/>
        </p:nvSpPr>
        <p:spPr>
          <a:xfrm>
            <a:off x="411480" y="2286000"/>
            <a:ext cx="3200400" cy="2057400"/>
          </a:xfrm>
          <a:prstGeom prst="roundRect">
            <a:avLst>
              <a:gd name="adj" fmla="val 3556"/>
            </a:avLst>
          </a:prstGeom>
          <a:solidFill>
            <a:srgbClr val="EEF4F9"/>
          </a:solidFill>
          <a:ln w="12700">
            <a:solidFill>
              <a:srgbClr val="EEF4F9"/>
            </a:solidFill>
            <a:prstDash val="solid"/>
          </a:ln>
        </p:spPr>
        <p:txBody>
          <a:bodyPr/>
          <a:lstStyle/>
          <a:p>
            <a:endParaRPr lang="en-US"/>
          </a:p>
        </p:txBody>
      </p:sp>
      <p:sp>
        <p:nvSpPr>
          <p:cNvPr id="9" name="Shape 5"/>
          <p:cNvSpPr/>
          <p:nvPr/>
        </p:nvSpPr>
        <p:spPr>
          <a:xfrm>
            <a:off x="640080" y="2487168"/>
            <a:ext cx="658368" cy="658368"/>
          </a:xfrm>
          <a:prstGeom prst="ellipse">
            <a:avLst/>
          </a:prstGeom>
          <a:solidFill>
            <a:srgbClr val="FFFFFF"/>
          </a:solidFill>
          <a:ln w="12700">
            <a:solidFill>
              <a:srgbClr val="DCE8F2"/>
            </a:solidFill>
            <a:prstDash val="solid"/>
          </a:ln>
        </p:spPr>
        <p:txBody>
          <a:bodyPr/>
          <a:lstStyle/>
          <a:p>
            <a:endParaRPr lang="en-US"/>
          </a:p>
        </p:txBody>
      </p:sp>
      <p:pic>
        <p:nvPicPr>
          <p:cNvPr id="10" name="Image 2" descr="preencoded.png"/>
          <p:cNvPicPr>
            <a:picLocks noChangeAspect="1"/>
          </p:cNvPicPr>
          <p:nvPr/>
        </p:nvPicPr>
        <p:blipFill>
          <a:blip r:embed="rId5"/>
          <a:stretch>
            <a:fillRect/>
          </a:stretch>
        </p:blipFill>
        <p:spPr>
          <a:xfrm>
            <a:off x="786384" y="2633472"/>
            <a:ext cx="365760" cy="365760"/>
          </a:xfrm>
          <a:prstGeom prst="rect">
            <a:avLst/>
          </a:prstGeom>
        </p:spPr>
      </p:pic>
      <p:sp>
        <p:nvSpPr>
          <p:cNvPr id="11" name="Text 6"/>
          <p:cNvSpPr txBox="1"/>
          <p:nvPr/>
        </p:nvSpPr>
        <p:spPr>
          <a:xfrm>
            <a:off x="640080" y="3246120"/>
            <a:ext cx="2834640" cy="365760"/>
          </a:xfrm>
          <a:prstGeom prst="rect">
            <a:avLst/>
          </a:prstGeom>
          <a:noFill/>
          <a:ln/>
        </p:spPr>
        <p:txBody>
          <a:bodyPr wrap="square" lIns="0" tIns="0" rIns="0" bIns="0" rtlCol="0" anchor="t"/>
          <a:lstStyle/>
          <a:p>
            <a:pPr marL="0" indent="0">
              <a:buNone/>
            </a:pPr>
            <a:r>
              <a:rPr lang="en-US" sz="1700" b="1" dirty="0">
                <a:solidFill>
                  <a:srgbClr val="1B517B"/>
                </a:solidFill>
                <a:latin typeface="Arial" pitchFamily="34" charset="0"/>
                <a:ea typeface="Arial" pitchFamily="34" charset="-122"/>
                <a:cs typeface="Arial" pitchFamily="34" charset="-120"/>
              </a:rPr>
              <a:t>Phụ thuộc đường truyền</a:t>
            </a:r>
            <a:endParaRPr lang="en-US" sz="1700" dirty="0"/>
          </a:p>
        </p:txBody>
      </p:sp>
      <p:sp>
        <p:nvSpPr>
          <p:cNvPr id="12" name="Text 7"/>
          <p:cNvSpPr txBox="1"/>
          <p:nvPr/>
        </p:nvSpPr>
        <p:spPr>
          <a:xfrm>
            <a:off x="640080" y="3611880"/>
            <a:ext cx="2834640" cy="685800"/>
          </a:xfrm>
          <a:prstGeom prst="rect">
            <a:avLst/>
          </a:prstGeom>
          <a:noFill/>
          <a:ln/>
        </p:spPr>
        <p:txBody>
          <a:bodyPr wrap="square" lIns="0" tIns="0" rIns="0" bIns="0" rtlCol="0" anchor="t"/>
          <a:lstStyle/>
          <a:p>
            <a:pPr marL="0" indent="0">
              <a:buNone/>
            </a:pPr>
            <a:r>
              <a:rPr lang="en-US" sz="1400" dirty="0">
                <a:solidFill>
                  <a:srgbClr val="222222"/>
                </a:solidFill>
                <a:latin typeface="Arial" pitchFamily="34" charset="0"/>
                <a:ea typeface="Arial" pitchFamily="34" charset="-122"/>
                <a:cs typeface="Arial" pitchFamily="34" charset="-120"/>
              </a:rPr>
              <a:t>Mạng chập chờn thì bản dịch trễ hoặc mất giữa cuộc họp.</a:t>
            </a:r>
            <a:endParaRPr lang="en-US" sz="1400" dirty="0"/>
          </a:p>
        </p:txBody>
      </p:sp>
      <p:sp>
        <p:nvSpPr>
          <p:cNvPr id="13" name="Shape 8"/>
          <p:cNvSpPr/>
          <p:nvPr/>
        </p:nvSpPr>
        <p:spPr>
          <a:xfrm>
            <a:off x="3886200" y="2286000"/>
            <a:ext cx="3200400" cy="2057400"/>
          </a:xfrm>
          <a:prstGeom prst="roundRect">
            <a:avLst>
              <a:gd name="adj" fmla="val 3556"/>
            </a:avLst>
          </a:prstGeom>
          <a:solidFill>
            <a:srgbClr val="EEF4F9"/>
          </a:solidFill>
          <a:ln w="12700">
            <a:solidFill>
              <a:srgbClr val="EEF4F9"/>
            </a:solidFill>
            <a:prstDash val="solid"/>
          </a:ln>
        </p:spPr>
        <p:txBody>
          <a:bodyPr/>
          <a:lstStyle/>
          <a:p>
            <a:endParaRPr lang="en-US"/>
          </a:p>
        </p:txBody>
      </p:sp>
      <p:sp>
        <p:nvSpPr>
          <p:cNvPr id="14" name="Shape 9"/>
          <p:cNvSpPr/>
          <p:nvPr/>
        </p:nvSpPr>
        <p:spPr>
          <a:xfrm>
            <a:off x="4114800" y="2487168"/>
            <a:ext cx="658368" cy="658368"/>
          </a:xfrm>
          <a:prstGeom prst="ellipse">
            <a:avLst/>
          </a:prstGeom>
          <a:solidFill>
            <a:srgbClr val="FFFFFF"/>
          </a:solidFill>
          <a:ln w="12700">
            <a:solidFill>
              <a:srgbClr val="DCE8F2"/>
            </a:solidFill>
            <a:prstDash val="solid"/>
          </a:ln>
        </p:spPr>
        <p:txBody>
          <a:bodyPr/>
          <a:lstStyle/>
          <a:p>
            <a:endParaRPr lang="en-US"/>
          </a:p>
        </p:txBody>
      </p:sp>
      <p:pic>
        <p:nvPicPr>
          <p:cNvPr id="15" name="Image 3" descr="preencoded.png"/>
          <p:cNvPicPr>
            <a:picLocks noChangeAspect="1"/>
          </p:cNvPicPr>
          <p:nvPr/>
        </p:nvPicPr>
        <p:blipFill>
          <a:blip r:embed="rId6"/>
          <a:stretch>
            <a:fillRect/>
          </a:stretch>
        </p:blipFill>
        <p:spPr>
          <a:xfrm>
            <a:off x="4261104" y="2633472"/>
            <a:ext cx="365760" cy="365760"/>
          </a:xfrm>
          <a:prstGeom prst="rect">
            <a:avLst/>
          </a:prstGeom>
        </p:spPr>
      </p:pic>
      <p:sp>
        <p:nvSpPr>
          <p:cNvPr id="16" name="Text 10"/>
          <p:cNvSpPr txBox="1"/>
          <p:nvPr/>
        </p:nvSpPr>
        <p:spPr>
          <a:xfrm>
            <a:off x="4114800" y="3246120"/>
            <a:ext cx="2834640" cy="365760"/>
          </a:xfrm>
          <a:prstGeom prst="rect">
            <a:avLst/>
          </a:prstGeom>
          <a:noFill/>
          <a:ln/>
        </p:spPr>
        <p:txBody>
          <a:bodyPr wrap="square" lIns="0" tIns="0" rIns="0" bIns="0" rtlCol="0" anchor="t"/>
          <a:lstStyle/>
          <a:p>
            <a:pPr marL="0" indent="0">
              <a:buNone/>
            </a:pPr>
            <a:r>
              <a:rPr lang="en-US" sz="1700" b="1" dirty="0">
                <a:solidFill>
                  <a:srgbClr val="1B517B"/>
                </a:solidFill>
                <a:latin typeface="Arial" pitchFamily="34" charset="0"/>
                <a:ea typeface="Arial" pitchFamily="34" charset="-122"/>
                <a:cs typeface="Arial" pitchFamily="34" charset="-120"/>
              </a:rPr>
              <a:t>Tốn phí theo lượt dùng</a:t>
            </a:r>
            <a:endParaRPr lang="en-US" sz="1700" dirty="0"/>
          </a:p>
        </p:txBody>
      </p:sp>
      <p:sp>
        <p:nvSpPr>
          <p:cNvPr id="17" name="Text 11"/>
          <p:cNvSpPr txBox="1"/>
          <p:nvPr/>
        </p:nvSpPr>
        <p:spPr>
          <a:xfrm>
            <a:off x="4114800" y="3611880"/>
            <a:ext cx="2834640" cy="685800"/>
          </a:xfrm>
          <a:prstGeom prst="rect">
            <a:avLst/>
          </a:prstGeom>
          <a:noFill/>
          <a:ln/>
        </p:spPr>
        <p:txBody>
          <a:bodyPr wrap="square" lIns="0" tIns="0" rIns="0" bIns="0" rtlCol="0" anchor="t"/>
          <a:lstStyle/>
          <a:p>
            <a:pPr marL="0" indent="0">
              <a:buNone/>
            </a:pPr>
            <a:r>
              <a:rPr lang="en-US" sz="1400" dirty="0">
                <a:solidFill>
                  <a:srgbClr val="222222"/>
                </a:solidFill>
                <a:latin typeface="Arial" pitchFamily="34" charset="0"/>
                <a:ea typeface="Arial" pitchFamily="34" charset="-122"/>
                <a:cs typeface="Arial" pitchFamily="34" charset="-120"/>
              </a:rPr>
              <a:t>Tính theo thời lượng hoặc gói thuê bao; nhiều tính năng chỉ có ở gói trả phí.</a:t>
            </a:r>
            <a:endParaRPr lang="en-US" sz="1400" dirty="0"/>
          </a:p>
        </p:txBody>
      </p:sp>
      <p:sp>
        <p:nvSpPr>
          <p:cNvPr id="18" name="Shape 12"/>
          <p:cNvSpPr/>
          <p:nvPr/>
        </p:nvSpPr>
        <p:spPr>
          <a:xfrm>
            <a:off x="7360920" y="2286000"/>
            <a:ext cx="3200400" cy="2057400"/>
          </a:xfrm>
          <a:prstGeom prst="roundRect">
            <a:avLst>
              <a:gd name="adj" fmla="val 3556"/>
            </a:avLst>
          </a:prstGeom>
          <a:solidFill>
            <a:srgbClr val="EEF4F9"/>
          </a:solidFill>
          <a:ln w="12700">
            <a:solidFill>
              <a:srgbClr val="EEF4F9"/>
            </a:solidFill>
            <a:prstDash val="solid"/>
          </a:ln>
        </p:spPr>
        <p:txBody>
          <a:bodyPr/>
          <a:lstStyle/>
          <a:p>
            <a:endParaRPr lang="en-US"/>
          </a:p>
        </p:txBody>
      </p:sp>
      <p:sp>
        <p:nvSpPr>
          <p:cNvPr id="19" name="Shape 13"/>
          <p:cNvSpPr/>
          <p:nvPr/>
        </p:nvSpPr>
        <p:spPr>
          <a:xfrm>
            <a:off x="7589520" y="2487168"/>
            <a:ext cx="658368" cy="658368"/>
          </a:xfrm>
          <a:prstGeom prst="ellipse">
            <a:avLst/>
          </a:prstGeom>
          <a:solidFill>
            <a:srgbClr val="FFFFFF"/>
          </a:solidFill>
          <a:ln w="12700">
            <a:solidFill>
              <a:srgbClr val="DCE8F2"/>
            </a:solidFill>
            <a:prstDash val="solid"/>
          </a:ln>
        </p:spPr>
        <p:txBody>
          <a:bodyPr/>
          <a:lstStyle/>
          <a:p>
            <a:endParaRPr lang="en-US"/>
          </a:p>
        </p:txBody>
      </p:sp>
      <p:pic>
        <p:nvPicPr>
          <p:cNvPr id="20" name="Image 4" descr="preencoded.png"/>
          <p:cNvPicPr>
            <a:picLocks noChangeAspect="1"/>
          </p:cNvPicPr>
          <p:nvPr/>
        </p:nvPicPr>
        <p:blipFill>
          <a:blip r:embed="rId7"/>
          <a:stretch>
            <a:fillRect/>
          </a:stretch>
        </p:blipFill>
        <p:spPr>
          <a:xfrm>
            <a:off x="7735824" y="2633472"/>
            <a:ext cx="365760" cy="365760"/>
          </a:xfrm>
          <a:prstGeom prst="rect">
            <a:avLst/>
          </a:prstGeom>
        </p:spPr>
      </p:pic>
      <p:sp>
        <p:nvSpPr>
          <p:cNvPr id="21" name="Text 14"/>
          <p:cNvSpPr txBox="1"/>
          <p:nvPr/>
        </p:nvSpPr>
        <p:spPr>
          <a:xfrm>
            <a:off x="7589520" y="3246120"/>
            <a:ext cx="2834640" cy="365760"/>
          </a:xfrm>
          <a:prstGeom prst="rect">
            <a:avLst/>
          </a:prstGeom>
          <a:noFill/>
          <a:ln/>
        </p:spPr>
        <p:txBody>
          <a:bodyPr wrap="square" lIns="0" tIns="0" rIns="0" bIns="0" rtlCol="0" anchor="t"/>
          <a:lstStyle/>
          <a:p>
            <a:pPr marL="0" indent="0">
              <a:buNone/>
            </a:pPr>
            <a:r>
              <a:rPr lang="en-US" sz="1700" b="1" dirty="0">
                <a:solidFill>
                  <a:srgbClr val="1B517B"/>
                </a:solidFill>
                <a:latin typeface="Arial" pitchFamily="34" charset="0"/>
                <a:ea typeface="Arial" pitchFamily="34" charset="-122"/>
                <a:cs typeface="Arial" pitchFamily="34" charset="-120"/>
              </a:rPr>
              <a:t>Nội dung rời khỏi máy</a:t>
            </a:r>
            <a:endParaRPr lang="en-US" sz="1700" dirty="0"/>
          </a:p>
        </p:txBody>
      </p:sp>
      <p:sp>
        <p:nvSpPr>
          <p:cNvPr id="22" name="Text 15"/>
          <p:cNvSpPr txBox="1"/>
          <p:nvPr/>
        </p:nvSpPr>
        <p:spPr>
          <a:xfrm>
            <a:off x="7589520" y="3611880"/>
            <a:ext cx="2834640" cy="685800"/>
          </a:xfrm>
          <a:prstGeom prst="rect">
            <a:avLst/>
          </a:prstGeom>
          <a:noFill/>
          <a:ln/>
        </p:spPr>
        <p:txBody>
          <a:bodyPr wrap="square" lIns="0" tIns="0" rIns="0" bIns="0" rtlCol="0" anchor="t"/>
          <a:lstStyle/>
          <a:p>
            <a:pPr marL="0" indent="0">
              <a:buNone/>
            </a:pPr>
            <a:r>
              <a:rPr lang="en-US" sz="1400" dirty="0">
                <a:solidFill>
                  <a:srgbClr val="222222"/>
                </a:solidFill>
                <a:latin typeface="Arial" pitchFamily="34" charset="0"/>
                <a:ea typeface="Arial" pitchFamily="34" charset="-122"/>
                <a:cs typeface="Arial" pitchFamily="34" charset="-120"/>
              </a:rPr>
              <a:t>Toàn bộ âm thanh cuộc họp phải gửi tới máy chủ của bên thứ ba.</a:t>
            </a:r>
            <a:endParaRPr lang="en-US" sz="1400" dirty="0"/>
          </a:p>
        </p:txBody>
      </p:sp>
      <p:sp>
        <p:nvSpPr>
          <p:cNvPr id="23" name="Text 16"/>
          <p:cNvSpPr txBox="1"/>
          <p:nvPr/>
        </p:nvSpPr>
        <p:spPr>
          <a:xfrm>
            <a:off x="411480" y="4572000"/>
            <a:ext cx="10241280" cy="685800"/>
          </a:xfrm>
          <a:prstGeom prst="rect">
            <a:avLst/>
          </a:prstGeom>
          <a:noFill/>
          <a:ln/>
        </p:spPr>
        <p:txBody>
          <a:bodyPr wrap="square" lIns="0" tIns="0" rIns="0" bIns="0" rtlCol="0" anchor="t"/>
          <a:lstStyle/>
          <a:p>
            <a:pPr marL="0" indent="0">
              <a:buNone/>
            </a:pPr>
            <a:r>
              <a:rPr lang="en-US" sz="1600" dirty="0">
                <a:solidFill>
                  <a:srgbClr val="222222"/>
                </a:solidFill>
                <a:latin typeface="Arial" pitchFamily="34" charset="0"/>
                <a:ea typeface="Arial" pitchFamily="34" charset="-122"/>
                <a:cs typeface="Arial" pitchFamily="34" charset="-120"/>
              </a:rPr>
              <a:t>Trong khi đó, mô hình mã nguồn mở cho từng khâu đã đủ tốt để chạy trên máy cá nhân: </a:t>
            </a:r>
            <a:r>
              <a:rPr lang="en-US" sz="1600" b="1" dirty="0">
                <a:solidFill>
                  <a:srgbClr val="376BB4"/>
                </a:solidFill>
                <a:latin typeface="Arial" pitchFamily="34" charset="0"/>
                <a:ea typeface="Arial" pitchFamily="34" charset="-122"/>
                <a:cs typeface="Arial" pitchFamily="34" charset="-120"/>
              </a:rPr>
              <a:t>Whisper</a:t>
            </a:r>
            <a:r>
              <a:rPr lang="en-US" sz="1600" dirty="0">
                <a:solidFill>
                  <a:srgbClr val="222222"/>
                </a:solidFill>
                <a:latin typeface="Arial" pitchFamily="34" charset="0"/>
                <a:ea typeface="Arial" pitchFamily="34" charset="-122"/>
                <a:cs typeface="Arial" pitchFamily="34" charset="-120"/>
              </a:rPr>
              <a:t> nhận dạng ~100 ngôn ngữ [19], </a:t>
            </a:r>
            <a:r>
              <a:rPr lang="en-US" sz="1600" b="1" dirty="0">
                <a:solidFill>
                  <a:srgbClr val="376BB4"/>
                </a:solidFill>
                <a:latin typeface="Arial" pitchFamily="34" charset="0"/>
                <a:ea typeface="Arial" pitchFamily="34" charset="-122"/>
                <a:cs typeface="Arial" pitchFamily="34" charset="-120"/>
              </a:rPr>
              <a:t>NLLB-200</a:t>
            </a:r>
            <a:r>
              <a:rPr lang="en-US" sz="1600" dirty="0">
                <a:solidFill>
                  <a:srgbClr val="222222"/>
                </a:solidFill>
                <a:latin typeface="Arial" pitchFamily="34" charset="0"/>
                <a:ea typeface="Arial" pitchFamily="34" charset="-122"/>
                <a:cs typeface="Arial" pitchFamily="34" charset="-120"/>
              </a:rPr>
              <a:t> dịch trực tiếp 200 ngôn ngữ [4], </a:t>
            </a:r>
            <a:r>
              <a:rPr lang="en-US" sz="1600" b="1" dirty="0">
                <a:solidFill>
                  <a:srgbClr val="376BB4"/>
                </a:solidFill>
                <a:latin typeface="Arial" pitchFamily="34" charset="0"/>
                <a:ea typeface="Arial" pitchFamily="34" charset="-122"/>
                <a:cs typeface="Arial" pitchFamily="34" charset="-120"/>
              </a:rPr>
              <a:t>sherpa-onnx</a:t>
            </a:r>
            <a:r>
              <a:rPr lang="en-US" sz="1600" dirty="0">
                <a:solidFill>
                  <a:srgbClr val="222222"/>
                </a:solidFill>
                <a:latin typeface="Arial" pitchFamily="34" charset="0"/>
                <a:ea typeface="Arial" pitchFamily="34" charset="-122"/>
                <a:cs typeface="Arial" pitchFamily="34" charset="-120"/>
              </a:rPr>
              <a:t> tổng hợp giọng nói offline [12].</a:t>
            </a:r>
            <a:endParaRPr lang="en-US" sz="1600" dirty="0"/>
          </a:p>
        </p:txBody>
      </p:sp>
      <p:sp>
        <p:nvSpPr>
          <p:cNvPr id="24" name="Text 17"/>
          <p:cNvSpPr txBox="1"/>
          <p:nvPr/>
        </p:nvSpPr>
        <p:spPr>
          <a:xfrm>
            <a:off x="411480" y="5440680"/>
            <a:ext cx="9875520" cy="685800"/>
          </a:xfrm>
          <a:prstGeom prst="rect">
            <a:avLst/>
          </a:prstGeom>
          <a:noFill/>
          <a:ln/>
        </p:spPr>
        <p:txBody>
          <a:bodyPr wrap="square" lIns="0" tIns="0" rIns="0" bIns="0" rtlCol="0" anchor="t"/>
          <a:lstStyle/>
          <a:p>
            <a:pPr marL="0" indent="0">
              <a:buNone/>
            </a:pPr>
            <a:r>
              <a:rPr lang="en-US" sz="1700" b="1" dirty="0">
                <a:solidFill>
                  <a:srgbClr val="B8262B"/>
                </a:solidFill>
                <a:latin typeface="Arial" pitchFamily="34" charset="0"/>
                <a:ea typeface="Arial" pitchFamily="34" charset="-122"/>
                <a:cs typeface="Arial" pitchFamily="34" charset="-120"/>
              </a:rPr>
              <a:t>Câu hỏi của đề tài: một laptop cá nhân có chạy được trọn chuỗi dịch giọng nói, đủ nhanh để theo kịp người nói, mà không cần đám mây?</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2" name="Image 0" descr="C:\Users\hhung\AppData\Local\Temp\claude\d--Project-local-live-voice-translator\d0343c7e-f558-4e8b-8c62-5b900df8bea6\scratchpad\build\img\deco_right.png"/>
          <p:cNvPicPr>
            <a:picLocks noChangeAspect="1"/>
          </p:cNvPicPr>
          <p:nvPr/>
        </p:nvPicPr>
        <p:blipFill>
          <a:blip r:embed="rId3"/>
          <a:stretch>
            <a:fillRect/>
          </a:stretch>
        </p:blipFill>
        <p:spPr>
          <a:xfrm>
            <a:off x="0" y="0"/>
            <a:ext cx="12191695" cy="6858000"/>
          </a:xfrm>
          <a:prstGeom prst="rect">
            <a:avLst/>
          </a:prstGeom>
        </p:spPr>
      </p:pic>
      <p:pic>
        <p:nvPicPr>
          <p:cNvPr id="3" name="Image 1" descr="C:\Users\hhung\AppData\Local\Temp\claude\d--Project-local-live-voice-translator\d0343c7e-f558-4e8b-8c62-5b900df8bea6\scratchpad\build\img\logo_header.png"/>
          <p:cNvPicPr>
            <a:picLocks noChangeAspect="1"/>
          </p:cNvPicPr>
          <p:nvPr/>
        </p:nvPicPr>
        <p:blipFill>
          <a:blip r:embed="rId4"/>
          <a:stretch>
            <a:fillRect/>
          </a:stretch>
        </p:blipFill>
        <p:spPr>
          <a:xfrm>
            <a:off x="8549640" y="292608"/>
            <a:ext cx="2560320" cy="459250"/>
          </a:xfrm>
          <a:prstGeom prst="rect">
            <a:avLst/>
          </a:prstGeom>
        </p:spPr>
      </p:pic>
      <p:sp>
        <p:nvSpPr>
          <p:cNvPr id="4" name="Text 0"/>
          <p:cNvSpPr txBox="1"/>
          <p:nvPr/>
        </p:nvSpPr>
        <p:spPr>
          <a:xfrm>
            <a:off x="411480" y="256032"/>
            <a:ext cx="7955280" cy="548640"/>
          </a:xfrm>
          <a:prstGeom prst="rect">
            <a:avLst/>
          </a:prstGeom>
          <a:noFill/>
          <a:ln/>
        </p:spPr>
        <p:txBody>
          <a:bodyPr wrap="square" lIns="0" tIns="0" rIns="0" bIns="0" rtlCol="0" anchor="t"/>
          <a:lstStyle/>
          <a:p>
            <a:pPr marL="0" indent="0">
              <a:buNone/>
            </a:pPr>
            <a:r>
              <a:rPr lang="en-US" sz="2800" b="1" dirty="0">
                <a:solidFill>
                  <a:srgbClr val="487BA2"/>
                </a:solidFill>
                <a:latin typeface="Arial" pitchFamily="34" charset="0"/>
                <a:ea typeface="Arial" pitchFamily="34" charset="-122"/>
                <a:cs typeface="Arial" pitchFamily="34" charset="-120"/>
              </a:rPr>
              <a:t>I. Tổng quan đề tài</a:t>
            </a:r>
            <a:endParaRPr lang="en-US" sz="2800" dirty="0"/>
          </a:p>
        </p:txBody>
      </p:sp>
      <p:sp>
        <p:nvSpPr>
          <p:cNvPr id="5" name="Text 1"/>
          <p:cNvSpPr txBox="1"/>
          <p:nvPr/>
        </p:nvSpPr>
        <p:spPr>
          <a:xfrm>
            <a:off x="411480" y="841248"/>
            <a:ext cx="8046720" cy="411480"/>
          </a:xfrm>
          <a:prstGeom prst="rect">
            <a:avLst/>
          </a:prstGeom>
          <a:noFill/>
          <a:ln/>
        </p:spPr>
        <p:txBody>
          <a:bodyPr wrap="square" lIns="0" tIns="0" rIns="0" bIns="0" rtlCol="0" anchor="t"/>
          <a:lstStyle/>
          <a:p>
            <a:pPr marL="0" indent="0">
              <a:buNone/>
            </a:pPr>
            <a:r>
              <a:rPr lang="en-US" sz="2000" dirty="0">
                <a:solidFill>
                  <a:srgbClr val="1B517B"/>
                </a:solidFill>
                <a:latin typeface="Arial" pitchFamily="34" charset="0"/>
                <a:ea typeface="Arial" pitchFamily="34" charset="-122"/>
                <a:cs typeface="Arial" pitchFamily="34" charset="-120"/>
              </a:rPr>
              <a:t>1. Các giải pháp liên quan</a:t>
            </a:r>
            <a:endParaRPr lang="en-US" sz="2000" dirty="0"/>
          </a:p>
        </p:txBody>
      </p:sp>
      <p:sp>
        <p:nvSpPr>
          <p:cNvPr id="6" name="Text 2"/>
          <p:cNvSpPr txBox="1"/>
          <p:nvPr/>
        </p:nvSpPr>
        <p:spPr>
          <a:xfrm>
            <a:off x="10104120" y="6355080"/>
            <a:ext cx="548640" cy="274320"/>
          </a:xfrm>
          <a:prstGeom prst="rect">
            <a:avLst/>
          </a:prstGeom>
          <a:noFill/>
          <a:ln/>
        </p:spPr>
        <p:txBody>
          <a:bodyPr wrap="square" lIns="0" tIns="0" rIns="0" bIns="0" rtlCol="0" anchor="t"/>
          <a:lstStyle/>
          <a:p>
            <a:pPr marL="0" indent="0" algn="r">
              <a:buNone/>
            </a:pPr>
            <a:r>
              <a:rPr lang="en-US" sz="1100" dirty="0">
                <a:solidFill>
                  <a:srgbClr val="5F6B76"/>
                </a:solidFill>
                <a:latin typeface="Arial" pitchFamily="34" charset="0"/>
                <a:ea typeface="Arial" pitchFamily="34" charset="-122"/>
                <a:cs typeface="Arial" pitchFamily="34" charset="-120"/>
              </a:rPr>
              <a:t>4</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417320"/>
          <a:ext cx="10332720" cy="3191256"/>
        </p:xfrm>
        <a:graphic>
          <a:graphicData uri="http://schemas.openxmlformats.org/drawingml/2006/table">
            <a:tbl>
              <a:tblPr/>
              <a:tblGrid>
                <a:gridCol w="28346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280160">
                  <a:extLst>
                    <a:ext uri="{9D8B030D-6E8A-4147-A177-3AD203B41FA5}">
                      <a16:colId xmlns:a16="http://schemas.microsoft.com/office/drawing/2014/main" val="20005"/>
                    </a:ext>
                  </a:extLst>
                </a:gridCol>
              </a:tblGrid>
              <a:tr h="384048">
                <a:tc>
                  <a:txBody>
                    <a:bodyPr/>
                    <a:lstStyle/>
                    <a:p>
                      <a:pPr marL="0" indent="0" algn="ctr">
                        <a:buNone/>
                      </a:pPr>
                      <a:r>
                        <a:rPr lang="en-US" sz="1350" b="1" dirty="0">
                          <a:solidFill>
                            <a:srgbClr val="FFFFFF"/>
                          </a:solidFill>
                          <a:latin typeface="Arial" pitchFamily="34" charset="0"/>
                          <a:ea typeface="Arial" pitchFamily="34" charset="-122"/>
                          <a:cs typeface="Arial" pitchFamily="34" charset="-120"/>
                        </a:rPr>
                        <a:t>Tiêu chí</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1B517B"/>
                    </a:solidFill>
                  </a:tcPr>
                </a:tc>
                <a:tc>
                  <a:txBody>
                    <a:bodyPr/>
                    <a:lstStyle/>
                    <a:p>
                      <a:pPr marL="0" indent="0" algn="ctr">
                        <a:buNone/>
                      </a:pPr>
                      <a:r>
                        <a:rPr lang="en-US" sz="1350" b="1" dirty="0">
                          <a:solidFill>
                            <a:srgbClr val="FFFFFF"/>
                          </a:solidFill>
                          <a:latin typeface="Arial" pitchFamily="34" charset="0"/>
                          <a:ea typeface="Arial" pitchFamily="34" charset="-122"/>
                          <a:cs typeface="Arial" pitchFamily="34" charset="-120"/>
                        </a:rPr>
                        <a:t>Google Meet [7]</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1B517B"/>
                    </a:solidFill>
                  </a:tcPr>
                </a:tc>
                <a:tc>
                  <a:txBody>
                    <a:bodyPr/>
                    <a:lstStyle/>
                    <a:p>
                      <a:pPr marL="0" indent="0" algn="ctr">
                        <a:buNone/>
                      </a:pPr>
                      <a:r>
                        <a:rPr lang="en-US" sz="1350" b="1" dirty="0">
                          <a:solidFill>
                            <a:srgbClr val="FFFFFF"/>
                          </a:solidFill>
                          <a:latin typeface="Arial" pitchFamily="34" charset="0"/>
                          <a:ea typeface="Arial" pitchFamily="34" charset="-122"/>
                          <a:cs typeface="Arial" pitchFamily="34" charset="-120"/>
                        </a:rPr>
                        <a:t>SeamlessM4T [23]</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1B517B"/>
                    </a:solidFill>
                  </a:tcPr>
                </a:tc>
                <a:tc>
                  <a:txBody>
                    <a:bodyPr/>
                    <a:lstStyle/>
                    <a:p>
                      <a:pPr marL="0" indent="0" algn="ctr">
                        <a:buNone/>
                      </a:pPr>
                      <a:r>
                        <a:rPr lang="en-US" sz="1350" b="1" dirty="0">
                          <a:solidFill>
                            <a:srgbClr val="FFFFFF"/>
                          </a:solidFill>
                          <a:latin typeface="Arial" pitchFamily="34" charset="0"/>
                          <a:ea typeface="Arial" pitchFamily="34" charset="-122"/>
                          <a:cs typeface="Arial" pitchFamily="34" charset="-120"/>
                        </a:rPr>
                        <a:t>TranscriptionSuite [10]</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1B517B"/>
                    </a:solidFill>
                  </a:tcPr>
                </a:tc>
                <a:tc>
                  <a:txBody>
                    <a:bodyPr/>
                    <a:lstStyle/>
                    <a:p>
                      <a:pPr marL="0" indent="0" algn="ctr">
                        <a:buNone/>
                      </a:pPr>
                      <a:r>
                        <a:rPr lang="en-US" sz="1350" b="1" dirty="0">
                          <a:solidFill>
                            <a:srgbClr val="FFFFFF"/>
                          </a:solidFill>
                          <a:latin typeface="Arial" pitchFamily="34" charset="0"/>
                          <a:ea typeface="Arial" pitchFamily="34" charset="-122"/>
                          <a:cs typeface="Arial" pitchFamily="34" charset="-120"/>
                        </a:rPr>
                        <a:t>LocalVocal [22]</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1B517B"/>
                    </a:solidFill>
                  </a:tcPr>
                </a:tc>
                <a:tc>
                  <a:txBody>
                    <a:bodyPr/>
                    <a:lstStyle/>
                    <a:p>
                      <a:pPr marL="0" indent="0" algn="ctr">
                        <a:buNone/>
                      </a:pPr>
                      <a:r>
                        <a:rPr lang="en-US" sz="1350" b="1" dirty="0">
                          <a:solidFill>
                            <a:srgbClr val="FFFFFF"/>
                          </a:solidFill>
                          <a:latin typeface="Arial" pitchFamily="34" charset="0"/>
                          <a:ea typeface="Arial" pitchFamily="34" charset="-122"/>
                          <a:cs typeface="Arial" pitchFamily="34" charset="-120"/>
                        </a:rPr>
                        <a:t>Đề tài</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1B517B"/>
                    </a:solidFill>
                  </a:tcPr>
                </a:tc>
                <a:extLst>
                  <a:ext uri="{0D108BD9-81ED-4DB2-BD59-A6C34878D82A}">
                    <a16:rowId xmlns:a16="http://schemas.microsoft.com/office/drawing/2014/main" val="10000"/>
                  </a:ext>
                </a:extLst>
              </a:tr>
              <a:tr h="384048">
                <a:tc>
                  <a:txBody>
                    <a:bodyPr/>
                    <a:lstStyle/>
                    <a:p>
                      <a:pPr marL="0" indent="0">
                        <a:buNone/>
                      </a:pPr>
                      <a:r>
                        <a:rPr lang="en-US" sz="1350" b="1" dirty="0">
                          <a:solidFill>
                            <a:srgbClr val="000000"/>
                          </a:solidFill>
                          <a:latin typeface="Arial" pitchFamily="34" charset="0"/>
                          <a:ea typeface="Arial" pitchFamily="34" charset="-122"/>
                          <a:cs typeface="Arial" pitchFamily="34" charset="-120"/>
                        </a:rPr>
                        <a:t>Chạy cục bộ, không cần mạng</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350" dirty="0">
                          <a:solidFill>
                            <a:srgbClr val="B8262B"/>
                          </a:solidFill>
                          <a:latin typeface="Arial" pitchFamily="34" charset="0"/>
                          <a:ea typeface="Arial" pitchFamily="34" charset="-122"/>
                          <a:cs typeface="Arial" pitchFamily="34" charset="-120"/>
                        </a:rPr>
                        <a:t>Không</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2E8B57"/>
                          </a:solidFill>
                          <a:latin typeface="Arial" pitchFamily="34" charset="0"/>
                          <a:ea typeface="Arial" pitchFamily="34" charset="-122"/>
                          <a:cs typeface="Arial" pitchFamily="34" charset="-120"/>
                        </a:rPr>
                        <a:t>Có</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2E8B57"/>
                          </a:solidFill>
                          <a:latin typeface="Arial" pitchFamily="34" charset="0"/>
                          <a:ea typeface="Arial" pitchFamily="34" charset="-122"/>
                          <a:cs typeface="Arial" pitchFamily="34" charset="-120"/>
                        </a:rPr>
                        <a:t>Có</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2E8B57"/>
                          </a:solidFill>
                          <a:latin typeface="Arial" pitchFamily="34" charset="0"/>
                          <a:ea typeface="Arial" pitchFamily="34" charset="-122"/>
                          <a:cs typeface="Arial" pitchFamily="34" charset="-120"/>
                        </a:rPr>
                        <a:t>Có</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350" b="1" dirty="0">
                          <a:solidFill>
                            <a:srgbClr val="FFFFFF"/>
                          </a:solidFill>
                          <a:latin typeface="Arial" pitchFamily="34" charset="0"/>
                          <a:ea typeface="Arial" pitchFamily="34" charset="-122"/>
                          <a:cs typeface="Arial" pitchFamily="34" charset="-120"/>
                        </a:rPr>
                        <a:t>Có</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487BA2"/>
                    </a:solidFill>
                  </a:tcPr>
                </a:tc>
                <a:extLst>
                  <a:ext uri="{0D108BD9-81ED-4DB2-BD59-A6C34878D82A}">
                    <a16:rowId xmlns:a16="http://schemas.microsoft.com/office/drawing/2014/main" val="10001"/>
                  </a:ext>
                </a:extLst>
              </a:tr>
              <a:tr h="384048">
                <a:tc>
                  <a:txBody>
                    <a:bodyPr/>
                    <a:lstStyle/>
                    <a:p>
                      <a:pPr marL="0" indent="0">
                        <a:buNone/>
                      </a:pPr>
                      <a:r>
                        <a:rPr lang="en-US" sz="1350" b="1" dirty="0">
                          <a:solidFill>
                            <a:srgbClr val="000000"/>
                          </a:solidFill>
                          <a:latin typeface="Arial" pitchFamily="34" charset="0"/>
                          <a:ea typeface="Arial" pitchFamily="34" charset="-122"/>
                          <a:cs typeface="Arial" pitchFamily="34" charset="-120"/>
                        </a:rPr>
                        <a:t>Có tiếng Việt</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350" dirty="0">
                          <a:solidFill>
                            <a:srgbClr val="B8262B"/>
                          </a:solidFill>
                          <a:latin typeface="Arial" pitchFamily="34" charset="0"/>
                          <a:ea typeface="Arial" pitchFamily="34" charset="-122"/>
                          <a:cs typeface="Arial" pitchFamily="34" charset="-120"/>
                        </a:rPr>
                        <a:t>Không</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2E8B57"/>
                          </a:solidFill>
                          <a:latin typeface="Arial" pitchFamily="34" charset="0"/>
                          <a:ea typeface="Arial" pitchFamily="34" charset="-122"/>
                          <a:cs typeface="Arial" pitchFamily="34" charset="-120"/>
                        </a:rPr>
                        <a:t>Có</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2E8B57"/>
                          </a:solidFill>
                          <a:latin typeface="Arial" pitchFamily="34" charset="0"/>
                          <a:ea typeface="Arial" pitchFamily="34" charset="-122"/>
                          <a:cs typeface="Arial" pitchFamily="34" charset="-120"/>
                        </a:rPr>
                        <a:t>Có</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2E8B57"/>
                          </a:solidFill>
                          <a:latin typeface="Arial" pitchFamily="34" charset="0"/>
                          <a:ea typeface="Arial" pitchFamily="34" charset="-122"/>
                          <a:cs typeface="Arial" pitchFamily="34" charset="-120"/>
                        </a:rPr>
                        <a:t>Có</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350" b="1" dirty="0">
                          <a:solidFill>
                            <a:srgbClr val="FFFFFF"/>
                          </a:solidFill>
                          <a:latin typeface="Arial" pitchFamily="34" charset="0"/>
                          <a:ea typeface="Arial" pitchFamily="34" charset="-122"/>
                          <a:cs typeface="Arial" pitchFamily="34" charset="-120"/>
                        </a:rPr>
                        <a:t>Có</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487BA2"/>
                    </a:solidFill>
                  </a:tcPr>
                </a:tc>
                <a:extLst>
                  <a:ext uri="{0D108BD9-81ED-4DB2-BD59-A6C34878D82A}">
                    <a16:rowId xmlns:a16="http://schemas.microsoft.com/office/drawing/2014/main" val="10002"/>
                  </a:ext>
                </a:extLst>
              </a:tr>
              <a:tr h="384048">
                <a:tc>
                  <a:txBody>
                    <a:bodyPr/>
                    <a:lstStyle/>
                    <a:p>
                      <a:pPr marL="0" indent="0">
                        <a:buNone/>
                      </a:pPr>
                      <a:r>
                        <a:rPr lang="en-US" sz="1350" b="1" dirty="0">
                          <a:solidFill>
                            <a:srgbClr val="000000"/>
                          </a:solidFill>
                          <a:latin typeface="Arial" pitchFamily="34" charset="0"/>
                          <a:ea typeface="Arial" pitchFamily="34" charset="-122"/>
                          <a:cs typeface="Arial" pitchFamily="34" charset="-120"/>
                        </a:rPr>
                        <a:t>Dịch</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350" dirty="0">
                          <a:solidFill>
                            <a:srgbClr val="2E8B57"/>
                          </a:solidFill>
                          <a:latin typeface="Arial" pitchFamily="34" charset="0"/>
                          <a:ea typeface="Arial" pitchFamily="34" charset="-122"/>
                          <a:cs typeface="Arial" pitchFamily="34" charset="-120"/>
                        </a:rPr>
                        <a:t>Có</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2E8B57"/>
                          </a:solidFill>
                          <a:latin typeface="Arial" pitchFamily="34" charset="0"/>
                          <a:ea typeface="Arial" pitchFamily="34" charset="-122"/>
                          <a:cs typeface="Arial" pitchFamily="34" charset="-120"/>
                        </a:rPr>
                        <a:t>Có</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B8262B"/>
                          </a:solidFill>
                          <a:latin typeface="Arial" pitchFamily="34" charset="0"/>
                          <a:ea typeface="Arial" pitchFamily="34" charset="-122"/>
                          <a:cs typeface="Arial" pitchFamily="34" charset="-120"/>
                        </a:rPr>
                        <a:t>Không</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2E8B57"/>
                          </a:solidFill>
                          <a:latin typeface="Arial" pitchFamily="34" charset="0"/>
                          <a:ea typeface="Arial" pitchFamily="34" charset="-122"/>
                          <a:cs typeface="Arial" pitchFamily="34" charset="-120"/>
                        </a:rPr>
                        <a:t>Có</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350" b="1" dirty="0">
                          <a:solidFill>
                            <a:srgbClr val="FFFFFF"/>
                          </a:solidFill>
                          <a:latin typeface="Arial" pitchFamily="34" charset="0"/>
                          <a:ea typeface="Arial" pitchFamily="34" charset="-122"/>
                          <a:cs typeface="Arial" pitchFamily="34" charset="-120"/>
                        </a:rPr>
                        <a:t>Có</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487BA2"/>
                    </a:solidFill>
                  </a:tcPr>
                </a:tc>
                <a:extLst>
                  <a:ext uri="{0D108BD9-81ED-4DB2-BD59-A6C34878D82A}">
                    <a16:rowId xmlns:a16="http://schemas.microsoft.com/office/drawing/2014/main" val="10003"/>
                  </a:ext>
                </a:extLst>
              </a:tr>
              <a:tr h="384048">
                <a:tc>
                  <a:txBody>
                    <a:bodyPr/>
                    <a:lstStyle/>
                    <a:p>
                      <a:pPr marL="0" indent="0">
                        <a:buNone/>
                      </a:pPr>
                      <a:r>
                        <a:rPr lang="en-US" sz="1350" b="1" dirty="0">
                          <a:solidFill>
                            <a:srgbClr val="000000"/>
                          </a:solidFill>
                          <a:latin typeface="Arial" pitchFamily="34" charset="0"/>
                          <a:ea typeface="Arial" pitchFamily="34" charset="-122"/>
                          <a:cs typeface="Arial" pitchFamily="34" charset="-120"/>
                        </a:rPr>
                        <a:t>Tổng hợp giọng nói</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350" dirty="0">
                          <a:solidFill>
                            <a:srgbClr val="2E8B57"/>
                          </a:solidFill>
                          <a:latin typeface="Arial" pitchFamily="34" charset="0"/>
                          <a:ea typeface="Arial" pitchFamily="34" charset="-122"/>
                          <a:cs typeface="Arial" pitchFamily="34" charset="-120"/>
                        </a:rPr>
                        <a:t>Có</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2E8B57"/>
                          </a:solidFill>
                          <a:latin typeface="Arial" pitchFamily="34" charset="0"/>
                          <a:ea typeface="Arial" pitchFamily="34" charset="-122"/>
                          <a:cs typeface="Arial" pitchFamily="34" charset="-120"/>
                        </a:rPr>
                        <a:t>Có</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B8262B"/>
                          </a:solidFill>
                          <a:latin typeface="Arial" pitchFamily="34" charset="0"/>
                          <a:ea typeface="Arial" pitchFamily="34" charset="-122"/>
                          <a:cs typeface="Arial" pitchFamily="34" charset="-120"/>
                        </a:rPr>
                        <a:t>Không</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B8262B"/>
                          </a:solidFill>
                          <a:latin typeface="Arial" pitchFamily="34" charset="0"/>
                          <a:ea typeface="Arial" pitchFamily="34" charset="-122"/>
                          <a:cs typeface="Arial" pitchFamily="34" charset="-120"/>
                        </a:rPr>
                        <a:t>Không</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350" b="1" dirty="0">
                          <a:solidFill>
                            <a:srgbClr val="FFFFFF"/>
                          </a:solidFill>
                          <a:latin typeface="Arial" pitchFamily="34" charset="0"/>
                          <a:ea typeface="Arial" pitchFamily="34" charset="-122"/>
                          <a:cs typeface="Arial" pitchFamily="34" charset="-120"/>
                        </a:rPr>
                        <a:t>Có</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487BA2"/>
                    </a:solidFill>
                  </a:tcPr>
                </a:tc>
                <a:extLst>
                  <a:ext uri="{0D108BD9-81ED-4DB2-BD59-A6C34878D82A}">
                    <a16:rowId xmlns:a16="http://schemas.microsoft.com/office/drawing/2014/main" val="10004"/>
                  </a:ext>
                </a:extLst>
              </a:tr>
              <a:tr h="384048">
                <a:tc>
                  <a:txBody>
                    <a:bodyPr/>
                    <a:lstStyle/>
                    <a:p>
                      <a:pPr marL="0" indent="0">
                        <a:buNone/>
                      </a:pPr>
                      <a:r>
                        <a:rPr lang="en-US" sz="1350" b="1" dirty="0">
                          <a:solidFill>
                            <a:srgbClr val="000000"/>
                          </a:solidFill>
                          <a:latin typeface="Arial" pitchFamily="34" charset="0"/>
                          <a:ea typeface="Arial" pitchFamily="34" charset="-122"/>
                          <a:cs typeface="Arial" pitchFamily="34" charset="-120"/>
                        </a:rPr>
                        <a:t>Thu âm thanh cuộc gọi</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350" dirty="0">
                          <a:solidFill>
                            <a:srgbClr val="2E8B57"/>
                          </a:solidFill>
                          <a:latin typeface="Arial" pitchFamily="34" charset="0"/>
                          <a:ea typeface="Arial" pitchFamily="34" charset="-122"/>
                          <a:cs typeface="Arial" pitchFamily="34" charset="-120"/>
                        </a:rPr>
                        <a:t>Có</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B8262B"/>
                          </a:solidFill>
                          <a:latin typeface="Arial" pitchFamily="34" charset="0"/>
                          <a:ea typeface="Arial" pitchFamily="34" charset="-122"/>
                          <a:cs typeface="Arial" pitchFamily="34" charset="-120"/>
                        </a:rPr>
                        <a:t>Không</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B8262B"/>
                          </a:solidFill>
                          <a:latin typeface="Arial" pitchFamily="34" charset="0"/>
                          <a:ea typeface="Arial" pitchFamily="34" charset="-122"/>
                          <a:cs typeface="Arial" pitchFamily="34" charset="-120"/>
                        </a:rPr>
                        <a:t>Không</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B8262B"/>
                          </a:solidFill>
                          <a:latin typeface="Arial" pitchFamily="34" charset="0"/>
                          <a:ea typeface="Arial" pitchFamily="34" charset="-122"/>
                          <a:cs typeface="Arial" pitchFamily="34" charset="-120"/>
                        </a:rPr>
                        <a:t>Không</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350" b="1" dirty="0">
                          <a:solidFill>
                            <a:srgbClr val="FFFFFF"/>
                          </a:solidFill>
                          <a:latin typeface="Arial" pitchFamily="34" charset="0"/>
                          <a:ea typeface="Arial" pitchFamily="34" charset="-122"/>
                          <a:cs typeface="Arial" pitchFamily="34" charset="-120"/>
                        </a:rPr>
                        <a:t>Có</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487BA2"/>
                    </a:solidFill>
                  </a:tcPr>
                </a:tc>
                <a:extLst>
                  <a:ext uri="{0D108BD9-81ED-4DB2-BD59-A6C34878D82A}">
                    <a16:rowId xmlns:a16="http://schemas.microsoft.com/office/drawing/2014/main" val="10005"/>
                  </a:ext>
                </a:extLst>
              </a:tr>
              <a:tr h="384048">
                <a:tc>
                  <a:txBody>
                    <a:bodyPr/>
                    <a:lstStyle/>
                    <a:p>
                      <a:pPr marL="0" indent="0">
                        <a:buNone/>
                      </a:pPr>
                      <a:r>
                        <a:rPr lang="en-US" sz="1350" b="1" dirty="0">
                          <a:solidFill>
                            <a:srgbClr val="000000"/>
                          </a:solidFill>
                          <a:latin typeface="Arial" pitchFamily="34" charset="0"/>
                          <a:ea typeface="Arial" pitchFamily="34" charset="-122"/>
                          <a:cs typeface="Arial" pitchFamily="34" charset="-120"/>
                        </a:rPr>
                        <a:t>Ứng dụng desktop độc lập</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350" dirty="0">
                          <a:solidFill>
                            <a:srgbClr val="B8262B"/>
                          </a:solidFill>
                          <a:latin typeface="Arial" pitchFamily="34" charset="0"/>
                          <a:ea typeface="Arial" pitchFamily="34" charset="-122"/>
                          <a:cs typeface="Arial" pitchFamily="34" charset="-120"/>
                        </a:rPr>
                        <a:t>Không</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B8262B"/>
                          </a:solidFill>
                          <a:latin typeface="Arial" pitchFamily="34" charset="0"/>
                          <a:ea typeface="Arial" pitchFamily="34" charset="-122"/>
                          <a:cs typeface="Arial" pitchFamily="34" charset="-120"/>
                        </a:rPr>
                        <a:t>Không</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2E8B57"/>
                          </a:solidFill>
                          <a:latin typeface="Arial" pitchFamily="34" charset="0"/>
                          <a:ea typeface="Arial" pitchFamily="34" charset="-122"/>
                          <a:cs typeface="Arial" pitchFamily="34" charset="-120"/>
                        </a:rPr>
                        <a:t>Có</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B8262B"/>
                          </a:solidFill>
                          <a:latin typeface="Arial" pitchFamily="34" charset="0"/>
                          <a:ea typeface="Arial" pitchFamily="34" charset="-122"/>
                          <a:cs typeface="Arial" pitchFamily="34" charset="-120"/>
                        </a:rPr>
                        <a:t>Không</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350" b="1" dirty="0">
                          <a:solidFill>
                            <a:srgbClr val="FFFFFF"/>
                          </a:solidFill>
                          <a:latin typeface="Arial" pitchFamily="34" charset="0"/>
                          <a:ea typeface="Arial" pitchFamily="34" charset="-122"/>
                          <a:cs typeface="Arial" pitchFamily="34" charset="-120"/>
                        </a:rPr>
                        <a:t>Có</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487BA2"/>
                    </a:solidFill>
                  </a:tcPr>
                </a:tc>
                <a:extLst>
                  <a:ext uri="{0D108BD9-81ED-4DB2-BD59-A6C34878D82A}">
                    <a16:rowId xmlns:a16="http://schemas.microsoft.com/office/drawing/2014/main" val="10006"/>
                  </a:ext>
                </a:extLst>
              </a:tr>
              <a:tr h="384048">
                <a:tc>
                  <a:txBody>
                    <a:bodyPr/>
                    <a:lstStyle/>
                    <a:p>
                      <a:pPr marL="0" indent="0">
                        <a:buNone/>
                      </a:pPr>
                      <a:r>
                        <a:rPr lang="en-US" sz="1350" b="1" dirty="0">
                          <a:solidFill>
                            <a:srgbClr val="000000"/>
                          </a:solidFill>
                          <a:latin typeface="Arial" pitchFamily="34" charset="0"/>
                          <a:ea typeface="Arial" pitchFamily="34" charset="-122"/>
                          <a:cs typeface="Arial" pitchFamily="34" charset="-120"/>
                        </a:rPr>
                        <a:t>Đo được lỗi từng khâu</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350" dirty="0">
                          <a:solidFill>
                            <a:srgbClr val="B8262B"/>
                          </a:solidFill>
                          <a:latin typeface="Arial" pitchFamily="34" charset="0"/>
                          <a:ea typeface="Arial" pitchFamily="34" charset="-122"/>
                          <a:cs typeface="Arial" pitchFamily="34" charset="-120"/>
                        </a:rPr>
                        <a:t>Không</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B8262B"/>
                          </a:solidFill>
                          <a:latin typeface="Arial" pitchFamily="34" charset="0"/>
                          <a:ea typeface="Arial" pitchFamily="34" charset="-122"/>
                          <a:cs typeface="Arial" pitchFamily="34" charset="-120"/>
                        </a:rPr>
                        <a:t>Không</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5F6B76"/>
                          </a:solidFill>
                          <a:latin typeface="Arial" pitchFamily="34" charset="0"/>
                          <a:ea typeface="Arial" pitchFamily="34" charset="-122"/>
                          <a:cs typeface="Arial" pitchFamily="34" charset="-120"/>
                        </a:rPr>
                        <a:t>Không áp dụng</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B8262B"/>
                          </a:solidFill>
                          <a:latin typeface="Arial" pitchFamily="34" charset="0"/>
                          <a:ea typeface="Arial" pitchFamily="34" charset="-122"/>
                          <a:cs typeface="Arial" pitchFamily="34" charset="-120"/>
                        </a:rPr>
                        <a:t>Không</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350" b="1" dirty="0">
                          <a:solidFill>
                            <a:srgbClr val="FFFFFF"/>
                          </a:solidFill>
                          <a:latin typeface="Arial" pitchFamily="34" charset="0"/>
                          <a:ea typeface="Arial" pitchFamily="34" charset="-122"/>
                          <a:cs typeface="Arial" pitchFamily="34" charset="-120"/>
                        </a:rPr>
                        <a:t>Có</a:t>
                      </a:r>
                      <a:endParaRPr lang="en-US" sz="13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487BA2"/>
                    </a:solidFill>
                  </a:tcPr>
                </a:tc>
                <a:extLst>
                  <a:ext uri="{0D108BD9-81ED-4DB2-BD59-A6C34878D82A}">
                    <a16:rowId xmlns:a16="http://schemas.microsoft.com/office/drawing/2014/main" val="10007"/>
                  </a:ext>
                </a:extLst>
              </a:tr>
            </a:tbl>
          </a:graphicData>
        </a:graphic>
      </p:graphicFrame>
      <p:sp>
        <p:nvSpPr>
          <p:cNvPr id="8" name="Text 3"/>
          <p:cNvSpPr txBox="1"/>
          <p:nvPr/>
        </p:nvSpPr>
        <p:spPr>
          <a:xfrm>
            <a:off x="411480" y="4937760"/>
            <a:ext cx="10058400" cy="1005840"/>
          </a:xfrm>
          <a:prstGeom prst="rect">
            <a:avLst/>
          </a:prstGeom>
          <a:noFill/>
          <a:ln/>
        </p:spPr>
        <p:txBody>
          <a:bodyPr wrap="square" lIns="0" tIns="0" rIns="0" bIns="0" rtlCol="0" anchor="t"/>
          <a:lstStyle/>
          <a:p>
            <a:pPr marL="0" indent="0">
              <a:buNone/>
            </a:pPr>
            <a:r>
              <a:rPr lang="en-US" sz="1600" dirty="0">
                <a:solidFill>
                  <a:srgbClr val="B8262B"/>
                </a:solidFill>
                <a:latin typeface="Arial" pitchFamily="34" charset="0"/>
                <a:ea typeface="Arial" pitchFamily="34" charset="-122"/>
                <a:cs typeface="Arial" pitchFamily="34" charset="-120"/>
              </a:rPr>
              <a:t>Chưa có giải pháp nào vừa chạy hoàn toàn cục bộ, vừa có tiếng Việt, vừa đủ bốn khâu thu, nghe, dịch và đọc cho cả hai phía của một cuộc gọi. Mô hình của các dịch vụ đám mây lớn hơn nhiều bậc, nên mục tiêu của đề tài là đủ dùng trên phần cứng phổ thông, có số đo cho từng khâu.</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2" name="Image 0" descr="C:\Users\hhung\AppData\Local\Temp\claude\d--Project-local-live-voice-translator\d0343c7e-f558-4e8b-8c62-5b900df8bea6\scratchpad\build\img\deco_right.png"/>
          <p:cNvPicPr>
            <a:picLocks noChangeAspect="1"/>
          </p:cNvPicPr>
          <p:nvPr/>
        </p:nvPicPr>
        <p:blipFill>
          <a:blip r:embed="rId3"/>
          <a:stretch>
            <a:fillRect/>
          </a:stretch>
        </p:blipFill>
        <p:spPr>
          <a:xfrm>
            <a:off x="0" y="0"/>
            <a:ext cx="12191695" cy="6858000"/>
          </a:xfrm>
          <a:prstGeom prst="rect">
            <a:avLst/>
          </a:prstGeom>
        </p:spPr>
      </p:pic>
      <p:pic>
        <p:nvPicPr>
          <p:cNvPr id="3" name="Image 1" descr="C:\Users\hhung\AppData\Local\Temp\claude\d--Project-local-live-voice-translator\d0343c7e-f558-4e8b-8c62-5b900df8bea6\scratchpad\build\img\logo_header.png"/>
          <p:cNvPicPr>
            <a:picLocks noChangeAspect="1"/>
          </p:cNvPicPr>
          <p:nvPr/>
        </p:nvPicPr>
        <p:blipFill>
          <a:blip r:embed="rId4"/>
          <a:stretch>
            <a:fillRect/>
          </a:stretch>
        </p:blipFill>
        <p:spPr>
          <a:xfrm>
            <a:off x="8549640" y="292608"/>
            <a:ext cx="2560320" cy="459250"/>
          </a:xfrm>
          <a:prstGeom prst="rect">
            <a:avLst/>
          </a:prstGeom>
        </p:spPr>
      </p:pic>
      <p:sp>
        <p:nvSpPr>
          <p:cNvPr id="4" name="Text 0"/>
          <p:cNvSpPr txBox="1"/>
          <p:nvPr/>
        </p:nvSpPr>
        <p:spPr>
          <a:xfrm>
            <a:off x="411480" y="256032"/>
            <a:ext cx="7955280" cy="548640"/>
          </a:xfrm>
          <a:prstGeom prst="rect">
            <a:avLst/>
          </a:prstGeom>
          <a:noFill/>
          <a:ln/>
        </p:spPr>
        <p:txBody>
          <a:bodyPr wrap="square" lIns="0" tIns="0" rIns="0" bIns="0" rtlCol="0" anchor="t"/>
          <a:lstStyle/>
          <a:p>
            <a:pPr marL="0" indent="0">
              <a:buNone/>
            </a:pPr>
            <a:r>
              <a:rPr lang="en-US" sz="2800" b="1" dirty="0">
                <a:solidFill>
                  <a:srgbClr val="487BA2"/>
                </a:solidFill>
                <a:latin typeface="Arial" pitchFamily="34" charset="0"/>
                <a:ea typeface="Arial" pitchFamily="34" charset="-122"/>
                <a:cs typeface="Arial" pitchFamily="34" charset="-120"/>
              </a:rPr>
              <a:t>I. Tổng quan đề tài</a:t>
            </a:r>
            <a:endParaRPr lang="en-US" sz="2800" dirty="0"/>
          </a:p>
        </p:txBody>
      </p:sp>
      <p:sp>
        <p:nvSpPr>
          <p:cNvPr id="5" name="Text 1"/>
          <p:cNvSpPr txBox="1"/>
          <p:nvPr/>
        </p:nvSpPr>
        <p:spPr>
          <a:xfrm>
            <a:off x="411480" y="841248"/>
            <a:ext cx="8046720" cy="411480"/>
          </a:xfrm>
          <a:prstGeom prst="rect">
            <a:avLst/>
          </a:prstGeom>
          <a:noFill/>
          <a:ln/>
        </p:spPr>
        <p:txBody>
          <a:bodyPr wrap="square" lIns="0" tIns="0" rIns="0" bIns="0" rtlCol="0" anchor="t"/>
          <a:lstStyle/>
          <a:p>
            <a:pPr marL="0" indent="0">
              <a:buNone/>
            </a:pPr>
            <a:r>
              <a:rPr lang="en-US" sz="2000" dirty="0">
                <a:solidFill>
                  <a:srgbClr val="1B517B"/>
                </a:solidFill>
                <a:latin typeface="Arial" pitchFamily="34" charset="0"/>
                <a:ea typeface="Arial" pitchFamily="34" charset="-122"/>
                <a:cs typeface="Arial" pitchFamily="34" charset="-120"/>
              </a:rPr>
              <a:t>2. Mục tiêu và phạm vi</a:t>
            </a:r>
            <a:endParaRPr lang="en-US" sz="2000" dirty="0"/>
          </a:p>
        </p:txBody>
      </p:sp>
      <p:sp>
        <p:nvSpPr>
          <p:cNvPr id="6" name="Text 2"/>
          <p:cNvSpPr txBox="1"/>
          <p:nvPr/>
        </p:nvSpPr>
        <p:spPr>
          <a:xfrm>
            <a:off x="10104120" y="6355080"/>
            <a:ext cx="548640" cy="274320"/>
          </a:xfrm>
          <a:prstGeom prst="rect">
            <a:avLst/>
          </a:prstGeom>
          <a:noFill/>
          <a:ln/>
        </p:spPr>
        <p:txBody>
          <a:bodyPr wrap="square" lIns="0" tIns="0" rIns="0" bIns="0" rtlCol="0" anchor="t"/>
          <a:lstStyle/>
          <a:p>
            <a:pPr marL="0" indent="0" algn="r">
              <a:buNone/>
            </a:pPr>
            <a:r>
              <a:rPr lang="en-US" sz="1100" dirty="0">
                <a:solidFill>
                  <a:srgbClr val="5F6B76"/>
                </a:solidFill>
                <a:latin typeface="Arial" pitchFamily="34" charset="0"/>
                <a:ea typeface="Arial" pitchFamily="34" charset="-122"/>
                <a:cs typeface="Arial" pitchFamily="34" charset="-120"/>
              </a:rPr>
              <a:t>5</a:t>
            </a:r>
            <a:endParaRPr lang="en-US" sz="1100" dirty="0"/>
          </a:p>
        </p:txBody>
      </p:sp>
      <p:sp>
        <p:nvSpPr>
          <p:cNvPr id="7" name="Text 3"/>
          <p:cNvSpPr txBox="1"/>
          <p:nvPr/>
        </p:nvSpPr>
        <p:spPr>
          <a:xfrm>
            <a:off x="411480" y="1417320"/>
            <a:ext cx="6035040" cy="3291840"/>
          </a:xfrm>
          <a:prstGeom prst="rect">
            <a:avLst/>
          </a:prstGeom>
          <a:noFill/>
          <a:ln/>
        </p:spPr>
        <p:txBody>
          <a:bodyPr wrap="square" lIns="0" tIns="0" rIns="0" bIns="0" rtlCol="0" anchor="t"/>
          <a:lstStyle/>
          <a:p>
            <a:pPr marL="190500" indent="-190500">
              <a:spcAft>
                <a:spcPts val="900"/>
              </a:spcAft>
              <a:buSzPct val="100000"/>
              <a:buChar char="•"/>
            </a:pPr>
            <a:r>
              <a:rPr lang="en-US" sz="1600" b="1" dirty="0">
                <a:solidFill>
                  <a:srgbClr val="376BB4"/>
                </a:solidFill>
                <a:latin typeface="Arial" pitchFamily="34" charset="0"/>
                <a:ea typeface="Arial" pitchFamily="34" charset="-122"/>
                <a:cs typeface="Arial" pitchFamily="34" charset="-120"/>
              </a:rPr>
              <a:t>Input: </a:t>
            </a:r>
            <a:r>
              <a:rPr lang="en-US" sz="1600" dirty="0">
                <a:solidFill>
                  <a:srgbClr val="222222"/>
                </a:solidFill>
                <a:latin typeface="Arial" pitchFamily="34" charset="0"/>
                <a:ea typeface="Arial" pitchFamily="34" charset="-122"/>
                <a:cs typeface="Arial" pitchFamily="34" charset="-120"/>
              </a:rPr>
              <a:t>giọng người dùng qua microphone và âm thanh đang phát trên máy (phía bên kia cuộc gọi, video, bài giảng)</a:t>
            </a:r>
            <a:endParaRPr lang="en-US" sz="1600" dirty="0"/>
          </a:p>
          <a:p>
            <a:pPr marL="190500" indent="-190500">
              <a:spcAft>
                <a:spcPts val="900"/>
              </a:spcAft>
              <a:buSzPct val="100000"/>
              <a:buChar char="•"/>
            </a:pPr>
            <a:r>
              <a:rPr lang="en-US" sz="1600" b="1" dirty="0">
                <a:solidFill>
                  <a:srgbClr val="376BB4"/>
                </a:solidFill>
                <a:latin typeface="Arial" pitchFamily="34" charset="0"/>
                <a:ea typeface="Arial" pitchFamily="34" charset="-122"/>
                <a:cs typeface="Arial" pitchFamily="34" charset="-120"/>
              </a:rPr>
              <a:t>Output: </a:t>
            </a:r>
            <a:r>
              <a:rPr lang="en-US" sz="1600" dirty="0">
                <a:solidFill>
                  <a:srgbClr val="222222"/>
                </a:solidFill>
                <a:latin typeface="Arial" pitchFamily="34" charset="0"/>
                <a:ea typeface="Arial" pitchFamily="34" charset="-122"/>
                <a:cs typeface="Arial" pitchFamily="34" charset="-120"/>
              </a:rPr>
              <a:t>phụ đề song ngữ trên màn hình; giọng đọc bản dịch ra tai nghe</a:t>
            </a:r>
            <a:endParaRPr lang="en-US" sz="1600" dirty="0"/>
          </a:p>
          <a:p>
            <a:pPr marL="190500" indent="-190500">
              <a:spcAft>
                <a:spcPts val="900"/>
              </a:spcAft>
              <a:buSzPct val="100000"/>
              <a:buChar char="•"/>
            </a:pPr>
            <a:r>
              <a:rPr lang="en-US" sz="1600" b="1" dirty="0">
                <a:solidFill>
                  <a:srgbClr val="376BB4"/>
                </a:solidFill>
                <a:latin typeface="Arial" pitchFamily="34" charset="0"/>
                <a:ea typeface="Arial" pitchFamily="34" charset="-122"/>
                <a:cs typeface="Arial" pitchFamily="34" charset="-120"/>
              </a:rPr>
              <a:t>Ngôn ngữ: </a:t>
            </a:r>
            <a:r>
              <a:rPr lang="en-US" sz="1600" dirty="0">
                <a:solidFill>
                  <a:srgbClr val="222222"/>
                </a:solidFill>
                <a:latin typeface="Arial" pitchFamily="34" charset="0"/>
                <a:ea typeface="Arial" pitchFamily="34" charset="-122"/>
                <a:cs typeface="Arial" pitchFamily="34" charset="-120"/>
              </a:rPr>
              <a:t>6 chiều dịch Việt ↔ Anh / Nhật / Trung giản thể</a:t>
            </a:r>
            <a:endParaRPr lang="en-US" sz="1600" dirty="0"/>
          </a:p>
          <a:p>
            <a:pPr marL="190500" indent="-190500">
              <a:spcAft>
                <a:spcPts val="900"/>
              </a:spcAft>
              <a:buSzPct val="100000"/>
              <a:buChar char="•"/>
            </a:pPr>
            <a:r>
              <a:rPr lang="en-US" sz="1600" b="1" dirty="0">
                <a:solidFill>
                  <a:srgbClr val="376BB4"/>
                </a:solidFill>
                <a:latin typeface="Arial" pitchFamily="34" charset="0"/>
                <a:ea typeface="Arial" pitchFamily="34" charset="-122"/>
                <a:cs typeface="Arial" pitchFamily="34" charset="-120"/>
              </a:rPr>
              <a:t>Nền tảng: </a:t>
            </a:r>
            <a:r>
              <a:rPr lang="en-US" sz="1600" dirty="0">
                <a:solidFill>
                  <a:srgbClr val="222222"/>
                </a:solidFill>
                <a:latin typeface="Arial" pitchFamily="34" charset="0"/>
                <a:ea typeface="Arial" pitchFamily="34" charset="-122"/>
                <a:cs typeface="Arial" pitchFamily="34" charset="-120"/>
              </a:rPr>
              <a:t>Windows 11 x64 và macOS 13+ Apple Silicon, đóng gói thành bộ cài</a:t>
            </a:r>
            <a:endParaRPr lang="en-US" sz="1600" dirty="0"/>
          </a:p>
          <a:p>
            <a:pPr marL="190500" indent="-190500">
              <a:spcAft>
                <a:spcPts val="900"/>
              </a:spcAft>
              <a:buSzPct val="100000"/>
              <a:buChar char="•"/>
            </a:pPr>
            <a:r>
              <a:rPr lang="en-US" sz="1600" b="1" dirty="0">
                <a:solidFill>
                  <a:srgbClr val="376BB4"/>
                </a:solidFill>
                <a:latin typeface="Arial" pitchFamily="34" charset="0"/>
                <a:ea typeface="Arial" pitchFamily="34" charset="-122"/>
                <a:cs typeface="Arial" pitchFamily="34" charset="-120"/>
              </a:rPr>
              <a:t>Không dùng đám mây </a:t>
            </a:r>
            <a:r>
              <a:rPr lang="en-US" sz="1600" dirty="0">
                <a:solidFill>
                  <a:srgbClr val="222222"/>
                </a:solidFill>
                <a:latin typeface="Arial" pitchFamily="34" charset="0"/>
                <a:ea typeface="Arial" pitchFamily="34" charset="-122"/>
                <a:cs typeface="Arial" pitchFamily="34" charset="-120"/>
              </a:rPr>
              <a:t>trong lúc dịch; mô hình chỉ tải về một lần</a:t>
            </a:r>
            <a:endParaRPr lang="en-US" sz="1600" dirty="0"/>
          </a:p>
        </p:txBody>
      </p:sp>
      <p:sp>
        <p:nvSpPr>
          <p:cNvPr id="8" name="Shape 4"/>
          <p:cNvSpPr/>
          <p:nvPr/>
        </p:nvSpPr>
        <p:spPr>
          <a:xfrm>
            <a:off x="411480" y="4754880"/>
            <a:ext cx="6035040" cy="1463040"/>
          </a:xfrm>
          <a:prstGeom prst="roundRect">
            <a:avLst>
              <a:gd name="adj" fmla="val 5000"/>
            </a:avLst>
          </a:prstGeom>
          <a:solidFill>
            <a:srgbClr val="FBEDED"/>
          </a:solidFill>
          <a:ln w="12700">
            <a:solidFill>
              <a:srgbClr val="FBEDED"/>
            </a:solidFill>
            <a:prstDash val="solid"/>
          </a:ln>
        </p:spPr>
        <p:txBody>
          <a:bodyPr/>
          <a:lstStyle/>
          <a:p>
            <a:endParaRPr lang="en-US"/>
          </a:p>
        </p:txBody>
      </p:sp>
      <p:sp>
        <p:nvSpPr>
          <p:cNvPr id="9" name="Text 5"/>
          <p:cNvSpPr txBox="1"/>
          <p:nvPr/>
        </p:nvSpPr>
        <p:spPr>
          <a:xfrm>
            <a:off x="594360" y="4846320"/>
            <a:ext cx="5715000" cy="1325880"/>
          </a:xfrm>
          <a:prstGeom prst="rect">
            <a:avLst/>
          </a:prstGeom>
          <a:noFill/>
          <a:ln/>
        </p:spPr>
        <p:txBody>
          <a:bodyPr wrap="square" lIns="0" tIns="0" rIns="0" bIns="0" rtlCol="0" anchor="ctr"/>
          <a:lstStyle/>
          <a:p>
            <a:pPr marL="0" indent="0">
              <a:buNone/>
            </a:pPr>
            <a:r>
              <a:rPr lang="en-US" sz="1400" b="1" dirty="0">
                <a:solidFill>
                  <a:srgbClr val="B8262B"/>
                </a:solidFill>
                <a:latin typeface="Arial" pitchFamily="34" charset="0"/>
                <a:ea typeface="Arial" pitchFamily="34" charset="-122"/>
                <a:cs typeface="Arial" pitchFamily="34" charset="-120"/>
              </a:rPr>
              <a:t>Ngoài phạm vi: </a:t>
            </a:r>
            <a:r>
              <a:rPr lang="en-US" sz="1400" dirty="0">
                <a:solidFill>
                  <a:srgbClr val="222222"/>
                </a:solidFill>
                <a:latin typeface="Arial" pitchFamily="34" charset="0"/>
                <a:ea typeface="Arial" pitchFamily="34" charset="-122"/>
                <a:cs typeface="Arial" pitchFamily="34" charset="-120"/>
              </a:rPr>
              <a:t>không đề xuất mô hình AI mới (đề tài là tích hợp hệ thống); không dịch đồng thời theo từng từ, đơn vị xử lý là một câu sau khi người nói ngắt; không nhân bản giọng; không đưa bản dịch ngược vào phần mềm họp.</a:t>
            </a:r>
            <a:endParaRPr lang="en-US" sz="1400" dirty="0"/>
          </a:p>
        </p:txBody>
      </p:sp>
      <p:sp>
        <p:nvSpPr>
          <p:cNvPr id="10" name="Shape 6"/>
          <p:cNvSpPr/>
          <p:nvPr/>
        </p:nvSpPr>
        <p:spPr>
          <a:xfrm>
            <a:off x="8549640" y="2651760"/>
            <a:ext cx="0" cy="502920"/>
          </a:xfrm>
          <a:prstGeom prst="line">
            <a:avLst/>
          </a:prstGeom>
          <a:noFill/>
          <a:ln w="31750">
            <a:solidFill>
              <a:srgbClr val="487BA2"/>
            </a:solidFill>
            <a:prstDash val="solid"/>
            <a:headEnd type="triangle"/>
            <a:tailEnd type="triangle"/>
          </a:ln>
        </p:spPr>
        <p:txBody>
          <a:bodyPr/>
          <a:lstStyle/>
          <a:p>
            <a:endParaRPr lang="en-US"/>
          </a:p>
        </p:txBody>
      </p:sp>
      <p:sp>
        <p:nvSpPr>
          <p:cNvPr id="11" name="Shape 7"/>
          <p:cNvSpPr/>
          <p:nvPr/>
        </p:nvSpPr>
        <p:spPr>
          <a:xfrm>
            <a:off x="9178408" y="4260062"/>
            <a:ext cx="512701" cy="304849"/>
          </a:xfrm>
          <a:prstGeom prst="line">
            <a:avLst/>
          </a:prstGeom>
          <a:noFill/>
          <a:ln w="31750">
            <a:solidFill>
              <a:srgbClr val="487BA2"/>
            </a:solidFill>
            <a:prstDash val="solid"/>
            <a:headEnd type="triangle"/>
            <a:tailEnd type="triangle"/>
          </a:ln>
        </p:spPr>
        <p:txBody>
          <a:bodyPr/>
          <a:lstStyle/>
          <a:p>
            <a:endParaRPr lang="en-US"/>
          </a:p>
        </p:txBody>
      </p:sp>
      <p:sp>
        <p:nvSpPr>
          <p:cNvPr id="12" name="Shape 8"/>
          <p:cNvSpPr/>
          <p:nvPr/>
        </p:nvSpPr>
        <p:spPr>
          <a:xfrm flipV="1">
            <a:off x="7408172" y="4260062"/>
            <a:ext cx="512701" cy="304849"/>
          </a:xfrm>
          <a:prstGeom prst="line">
            <a:avLst/>
          </a:prstGeom>
          <a:noFill/>
          <a:ln w="31750">
            <a:solidFill>
              <a:srgbClr val="487BA2"/>
            </a:solidFill>
            <a:prstDash val="solid"/>
            <a:headEnd type="triangle"/>
            <a:tailEnd type="triangle"/>
          </a:ln>
        </p:spPr>
        <p:txBody>
          <a:bodyPr/>
          <a:lstStyle/>
          <a:p>
            <a:endParaRPr lang="en-US"/>
          </a:p>
        </p:txBody>
      </p:sp>
      <p:sp>
        <p:nvSpPr>
          <p:cNvPr id="13" name="Shape 9"/>
          <p:cNvSpPr/>
          <p:nvPr/>
        </p:nvSpPr>
        <p:spPr>
          <a:xfrm>
            <a:off x="7886700" y="3223260"/>
            <a:ext cx="1325880" cy="1325880"/>
          </a:xfrm>
          <a:prstGeom prst="ellipse">
            <a:avLst/>
          </a:prstGeom>
          <a:solidFill>
            <a:srgbClr val="1B517B"/>
          </a:solidFill>
          <a:ln w="12700">
            <a:solidFill>
              <a:srgbClr val="1B517B"/>
            </a:solidFill>
            <a:prstDash val="solid"/>
          </a:ln>
        </p:spPr>
        <p:txBody>
          <a:bodyPr/>
          <a:lstStyle/>
          <a:p>
            <a:endParaRPr lang="en-US"/>
          </a:p>
        </p:txBody>
      </p:sp>
      <p:sp>
        <p:nvSpPr>
          <p:cNvPr id="14" name="Text 10"/>
          <p:cNvSpPr txBox="1"/>
          <p:nvPr/>
        </p:nvSpPr>
        <p:spPr>
          <a:xfrm>
            <a:off x="7886700" y="3223260"/>
            <a:ext cx="1325880" cy="132588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VI</a:t>
            </a:r>
            <a:endParaRPr lang="en-US" sz="2200" dirty="0"/>
          </a:p>
          <a:p>
            <a:pPr marL="0" indent="0" algn="ctr">
              <a:buNone/>
            </a:pPr>
            <a:r>
              <a:rPr lang="en-US" sz="1100" dirty="0">
                <a:solidFill>
                  <a:srgbClr val="FFFFFF"/>
                </a:solidFill>
                <a:latin typeface="Arial" pitchFamily="34" charset="0"/>
                <a:ea typeface="Arial" pitchFamily="34" charset="-122"/>
                <a:cs typeface="Arial" pitchFamily="34" charset="-120"/>
              </a:rPr>
              <a:t>Tiếng Việt</a:t>
            </a:r>
            <a:endParaRPr lang="en-US" sz="2200" dirty="0"/>
          </a:p>
        </p:txBody>
      </p:sp>
      <p:sp>
        <p:nvSpPr>
          <p:cNvPr id="15" name="Shape 11"/>
          <p:cNvSpPr/>
          <p:nvPr/>
        </p:nvSpPr>
        <p:spPr>
          <a:xfrm>
            <a:off x="7978140" y="1440180"/>
            <a:ext cx="1143000" cy="1143000"/>
          </a:xfrm>
          <a:prstGeom prst="ellipse">
            <a:avLst/>
          </a:prstGeom>
          <a:solidFill>
            <a:srgbClr val="487BA2"/>
          </a:solidFill>
          <a:ln w="12700">
            <a:solidFill>
              <a:srgbClr val="487BA2"/>
            </a:solidFill>
            <a:prstDash val="solid"/>
          </a:ln>
        </p:spPr>
        <p:txBody>
          <a:bodyPr/>
          <a:lstStyle/>
          <a:p>
            <a:endParaRPr lang="en-US"/>
          </a:p>
        </p:txBody>
      </p:sp>
      <p:sp>
        <p:nvSpPr>
          <p:cNvPr id="16" name="Text 12"/>
          <p:cNvSpPr txBox="1"/>
          <p:nvPr/>
        </p:nvSpPr>
        <p:spPr>
          <a:xfrm>
            <a:off x="7978140" y="1440180"/>
            <a:ext cx="1143000" cy="11430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EN</a:t>
            </a:r>
            <a:endParaRPr lang="en-US" sz="2200" dirty="0"/>
          </a:p>
          <a:p>
            <a:pPr marL="0" indent="0" algn="ctr">
              <a:buNone/>
            </a:pPr>
            <a:r>
              <a:rPr lang="en-US" sz="1100" dirty="0">
                <a:solidFill>
                  <a:srgbClr val="FFFFFF"/>
                </a:solidFill>
                <a:latin typeface="Arial" pitchFamily="34" charset="0"/>
                <a:ea typeface="Arial" pitchFamily="34" charset="-122"/>
                <a:cs typeface="Arial" pitchFamily="34" charset="-120"/>
              </a:rPr>
              <a:t>Tiếng Anh</a:t>
            </a:r>
            <a:endParaRPr lang="en-US" sz="2200" dirty="0"/>
          </a:p>
        </p:txBody>
      </p:sp>
      <p:sp>
        <p:nvSpPr>
          <p:cNvPr id="17" name="Shape 13"/>
          <p:cNvSpPr/>
          <p:nvPr/>
        </p:nvSpPr>
        <p:spPr>
          <a:xfrm>
            <a:off x="9669780" y="4320540"/>
            <a:ext cx="1143000" cy="1143000"/>
          </a:xfrm>
          <a:prstGeom prst="ellipse">
            <a:avLst/>
          </a:prstGeom>
          <a:solidFill>
            <a:srgbClr val="487BA2"/>
          </a:solidFill>
          <a:ln w="12700">
            <a:solidFill>
              <a:srgbClr val="487BA2"/>
            </a:solidFill>
            <a:prstDash val="solid"/>
          </a:ln>
        </p:spPr>
        <p:txBody>
          <a:bodyPr/>
          <a:lstStyle/>
          <a:p>
            <a:endParaRPr lang="en-US"/>
          </a:p>
        </p:txBody>
      </p:sp>
      <p:sp>
        <p:nvSpPr>
          <p:cNvPr id="18" name="Text 14"/>
          <p:cNvSpPr txBox="1"/>
          <p:nvPr/>
        </p:nvSpPr>
        <p:spPr>
          <a:xfrm>
            <a:off x="9669780" y="4320540"/>
            <a:ext cx="1143000" cy="11430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JA</a:t>
            </a:r>
            <a:endParaRPr lang="en-US" sz="2200" dirty="0"/>
          </a:p>
          <a:p>
            <a:pPr marL="0" indent="0" algn="ctr">
              <a:buNone/>
            </a:pPr>
            <a:r>
              <a:rPr lang="en-US" sz="1100" dirty="0">
                <a:solidFill>
                  <a:srgbClr val="FFFFFF"/>
                </a:solidFill>
                <a:latin typeface="Arial" pitchFamily="34" charset="0"/>
                <a:ea typeface="Arial" pitchFamily="34" charset="-122"/>
                <a:cs typeface="Arial" pitchFamily="34" charset="-120"/>
              </a:rPr>
              <a:t>Tiếng Nhật</a:t>
            </a:r>
            <a:endParaRPr lang="en-US" sz="2200" dirty="0"/>
          </a:p>
        </p:txBody>
      </p:sp>
      <p:sp>
        <p:nvSpPr>
          <p:cNvPr id="19" name="Shape 15"/>
          <p:cNvSpPr/>
          <p:nvPr/>
        </p:nvSpPr>
        <p:spPr>
          <a:xfrm>
            <a:off x="6286500" y="4320540"/>
            <a:ext cx="1143000" cy="1143000"/>
          </a:xfrm>
          <a:prstGeom prst="ellipse">
            <a:avLst/>
          </a:prstGeom>
          <a:solidFill>
            <a:srgbClr val="487BA2"/>
          </a:solidFill>
          <a:ln w="12700">
            <a:solidFill>
              <a:srgbClr val="487BA2"/>
            </a:solidFill>
            <a:prstDash val="solid"/>
          </a:ln>
        </p:spPr>
        <p:txBody>
          <a:bodyPr/>
          <a:lstStyle/>
          <a:p>
            <a:endParaRPr lang="en-US"/>
          </a:p>
        </p:txBody>
      </p:sp>
      <p:sp>
        <p:nvSpPr>
          <p:cNvPr id="20" name="Text 16"/>
          <p:cNvSpPr txBox="1"/>
          <p:nvPr/>
        </p:nvSpPr>
        <p:spPr>
          <a:xfrm>
            <a:off x="6286500" y="4320540"/>
            <a:ext cx="1143000" cy="11430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ZH</a:t>
            </a:r>
            <a:endParaRPr lang="en-US" sz="2200" dirty="0"/>
          </a:p>
          <a:p>
            <a:pPr marL="0" indent="0" algn="ctr">
              <a:buNone/>
            </a:pPr>
            <a:r>
              <a:rPr lang="en-US" sz="1100" dirty="0">
                <a:solidFill>
                  <a:srgbClr val="FFFFFF"/>
                </a:solidFill>
                <a:latin typeface="Arial" pitchFamily="34" charset="0"/>
                <a:ea typeface="Arial" pitchFamily="34" charset="-122"/>
                <a:cs typeface="Arial" pitchFamily="34" charset="-120"/>
              </a:rPr>
              <a:t>Tiếng Trung</a:t>
            </a:r>
            <a:endParaRPr lang="en-US" sz="2200" dirty="0"/>
          </a:p>
        </p:txBody>
      </p:sp>
      <p:sp>
        <p:nvSpPr>
          <p:cNvPr id="21" name="Text 17"/>
          <p:cNvSpPr txBox="1"/>
          <p:nvPr/>
        </p:nvSpPr>
        <p:spPr>
          <a:xfrm>
            <a:off x="6949440" y="5852160"/>
            <a:ext cx="3200400" cy="320040"/>
          </a:xfrm>
          <a:prstGeom prst="rect">
            <a:avLst/>
          </a:prstGeom>
          <a:noFill/>
          <a:ln/>
        </p:spPr>
        <p:txBody>
          <a:bodyPr wrap="square" lIns="0" tIns="0" rIns="0" bIns="0" rtlCol="0" anchor="t"/>
          <a:lstStyle/>
          <a:p>
            <a:pPr marL="0" indent="0" algn="ctr">
              <a:buNone/>
            </a:pPr>
            <a:r>
              <a:rPr lang="en-US" sz="1200" i="1" dirty="0">
                <a:solidFill>
                  <a:srgbClr val="5F6B76"/>
                </a:solidFill>
                <a:latin typeface="Arial" pitchFamily="34" charset="0"/>
                <a:ea typeface="Arial" pitchFamily="34" charset="-122"/>
                <a:cs typeface="Arial" pitchFamily="34" charset="-120"/>
              </a:rPr>
              <a:t>6 chiều dịch, tiếng Việt là trục</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C:\Users\hhung\AppData\Local\Temp\claude\d--Project-local-live-voice-translator\d0343c7e-f558-4e8b-8c62-5b900df8bea6\scratchpad\build\img\deco_left.png"/>
          <p:cNvPicPr>
            <a:picLocks noChangeAspect="1"/>
          </p:cNvPicPr>
          <p:nvPr/>
        </p:nvPicPr>
        <p:blipFill>
          <a:blip r:embed="rId3"/>
          <a:stretch>
            <a:fillRect/>
          </a:stretch>
        </p:blipFill>
        <p:spPr>
          <a:xfrm>
            <a:off x="0" y="0"/>
            <a:ext cx="12191695" cy="6858000"/>
          </a:xfrm>
          <a:prstGeom prst="rect">
            <a:avLst/>
          </a:prstGeom>
        </p:spPr>
      </p:pic>
      <p:pic>
        <p:nvPicPr>
          <p:cNvPr id="3" name="Image 1" descr="C:\Users\hhung\AppData\Local\Temp\claude\d--Project-local-live-voice-translator\d0343c7e-f558-4e8b-8c62-5b900df8bea6\scratchpad\build\img\logo_header.png"/>
          <p:cNvPicPr>
            <a:picLocks noChangeAspect="1"/>
          </p:cNvPicPr>
          <p:nvPr/>
        </p:nvPicPr>
        <p:blipFill>
          <a:blip r:embed="rId4"/>
          <a:stretch>
            <a:fillRect/>
          </a:stretch>
        </p:blipFill>
        <p:spPr>
          <a:xfrm>
            <a:off x="8549640" y="292608"/>
            <a:ext cx="2560320" cy="459250"/>
          </a:xfrm>
          <a:prstGeom prst="rect">
            <a:avLst/>
          </a:prstGeom>
        </p:spPr>
      </p:pic>
      <p:sp>
        <p:nvSpPr>
          <p:cNvPr id="4" name="Text 0"/>
          <p:cNvSpPr txBox="1"/>
          <p:nvPr/>
        </p:nvSpPr>
        <p:spPr>
          <a:xfrm>
            <a:off x="685800" y="256032"/>
            <a:ext cx="7955280" cy="548640"/>
          </a:xfrm>
          <a:prstGeom prst="rect">
            <a:avLst/>
          </a:prstGeom>
          <a:noFill/>
          <a:ln/>
        </p:spPr>
        <p:txBody>
          <a:bodyPr wrap="square" lIns="0" tIns="0" rIns="0" bIns="0" rtlCol="0" anchor="t"/>
          <a:lstStyle/>
          <a:p>
            <a:pPr marL="0" indent="0">
              <a:buNone/>
            </a:pPr>
            <a:r>
              <a:rPr lang="en-US" sz="2800" b="1" dirty="0">
                <a:solidFill>
                  <a:srgbClr val="487BA2"/>
                </a:solidFill>
                <a:latin typeface="Arial" pitchFamily="34" charset="0"/>
                <a:ea typeface="Arial" pitchFamily="34" charset="-122"/>
                <a:cs typeface="Arial" pitchFamily="34" charset="-120"/>
              </a:rPr>
              <a:t>II. Phương pháp thực hiện</a:t>
            </a:r>
            <a:endParaRPr lang="en-US" sz="2800" dirty="0"/>
          </a:p>
        </p:txBody>
      </p:sp>
      <p:sp>
        <p:nvSpPr>
          <p:cNvPr id="5" name="Text 1"/>
          <p:cNvSpPr txBox="1"/>
          <p:nvPr/>
        </p:nvSpPr>
        <p:spPr>
          <a:xfrm>
            <a:off x="10104120" y="6355080"/>
            <a:ext cx="548640" cy="274320"/>
          </a:xfrm>
          <a:prstGeom prst="rect">
            <a:avLst/>
          </a:prstGeom>
          <a:noFill/>
          <a:ln/>
        </p:spPr>
        <p:txBody>
          <a:bodyPr wrap="square" lIns="0" tIns="0" rIns="0" bIns="0" rtlCol="0" anchor="t"/>
          <a:lstStyle/>
          <a:p>
            <a:pPr marL="0" indent="0" algn="r">
              <a:buNone/>
            </a:pPr>
            <a:r>
              <a:rPr lang="en-US" sz="1100" dirty="0">
                <a:solidFill>
                  <a:srgbClr val="5F6B76"/>
                </a:solidFill>
                <a:latin typeface="Arial" pitchFamily="34" charset="0"/>
                <a:ea typeface="Arial" pitchFamily="34" charset="-122"/>
                <a:cs typeface="Arial" pitchFamily="34" charset="-120"/>
              </a:rPr>
              <a:t>6</a:t>
            </a:r>
            <a:endParaRPr lang="en-US" sz="1100" dirty="0"/>
          </a:p>
        </p:txBody>
      </p:sp>
      <p:sp>
        <p:nvSpPr>
          <p:cNvPr id="6" name="Shape 2"/>
          <p:cNvSpPr/>
          <p:nvPr/>
        </p:nvSpPr>
        <p:spPr>
          <a:xfrm>
            <a:off x="4754880" y="2011680"/>
            <a:ext cx="0" cy="3566160"/>
          </a:xfrm>
          <a:prstGeom prst="line">
            <a:avLst/>
          </a:prstGeom>
          <a:noFill/>
          <a:ln w="25400">
            <a:solidFill>
              <a:srgbClr val="1F1F1F"/>
            </a:solidFill>
            <a:prstDash val="solid"/>
          </a:ln>
        </p:spPr>
        <p:txBody>
          <a:bodyPr/>
          <a:lstStyle/>
          <a:p>
            <a:endParaRPr lang="en-US"/>
          </a:p>
        </p:txBody>
      </p:sp>
      <p:sp>
        <p:nvSpPr>
          <p:cNvPr id="7" name="Shape 3"/>
          <p:cNvSpPr/>
          <p:nvPr/>
        </p:nvSpPr>
        <p:spPr>
          <a:xfrm>
            <a:off x="4754880" y="2011680"/>
            <a:ext cx="502920" cy="0"/>
          </a:xfrm>
          <a:prstGeom prst="line">
            <a:avLst/>
          </a:prstGeom>
          <a:noFill/>
          <a:ln w="25400">
            <a:solidFill>
              <a:srgbClr val="1F1F1F"/>
            </a:solidFill>
            <a:prstDash val="solid"/>
          </a:ln>
        </p:spPr>
        <p:txBody>
          <a:bodyPr/>
          <a:lstStyle/>
          <a:p>
            <a:endParaRPr lang="en-US"/>
          </a:p>
        </p:txBody>
      </p:sp>
      <p:sp>
        <p:nvSpPr>
          <p:cNvPr id="8" name="Shape 4"/>
          <p:cNvSpPr/>
          <p:nvPr/>
        </p:nvSpPr>
        <p:spPr>
          <a:xfrm>
            <a:off x="5257800" y="1655064"/>
            <a:ext cx="3840480" cy="713232"/>
          </a:xfrm>
          <a:prstGeom prst="rect">
            <a:avLst/>
          </a:prstGeom>
          <a:solidFill>
            <a:srgbClr val="D5D8F2"/>
          </a:solidFill>
          <a:ln w="12700">
            <a:solidFill>
              <a:srgbClr val="D5D8F2"/>
            </a:solidFill>
            <a:prstDash val="solid"/>
          </a:ln>
          <a:effectLst>
            <a:outerShdw blurRad="50800" dist="25400" dir="5400000" algn="bl" rotWithShape="0">
              <a:srgbClr val="000000">
                <a:alpha val="18000"/>
              </a:srgbClr>
            </a:outerShdw>
          </a:effectLst>
        </p:spPr>
        <p:txBody>
          <a:bodyPr/>
          <a:lstStyle/>
          <a:p>
            <a:endParaRPr lang="en-US"/>
          </a:p>
        </p:txBody>
      </p:sp>
      <p:sp>
        <p:nvSpPr>
          <p:cNvPr id="9" name="Text 5"/>
          <p:cNvSpPr txBox="1"/>
          <p:nvPr/>
        </p:nvSpPr>
        <p:spPr>
          <a:xfrm>
            <a:off x="5257800" y="1655064"/>
            <a:ext cx="3840480" cy="713232"/>
          </a:xfrm>
          <a:prstGeom prst="rect">
            <a:avLst/>
          </a:prstGeom>
          <a:noFill/>
          <a:ln/>
        </p:spPr>
        <p:txBody>
          <a:bodyPr wrap="square" lIns="50800" tIns="50800" rIns="50800" bIns="50800" rtlCol="0" anchor="ctr"/>
          <a:lstStyle/>
          <a:p>
            <a:pPr marL="0" indent="0" algn="ctr">
              <a:buNone/>
            </a:pPr>
            <a:r>
              <a:rPr lang="en-US" sz="1600" dirty="0">
                <a:solidFill>
                  <a:srgbClr val="34488F"/>
                </a:solidFill>
                <a:latin typeface="Arial" pitchFamily="34" charset="0"/>
                <a:ea typeface="Arial" pitchFamily="34" charset="-122"/>
                <a:cs typeface="Arial" pitchFamily="34" charset="-120"/>
              </a:rPr>
              <a:t>1. Chuỗi xử lý và lựa chọn mô hình</a:t>
            </a:r>
            <a:endParaRPr lang="en-US" sz="1600" dirty="0"/>
          </a:p>
        </p:txBody>
      </p:sp>
      <p:sp>
        <p:nvSpPr>
          <p:cNvPr id="10" name="Shape 6"/>
          <p:cNvSpPr/>
          <p:nvPr/>
        </p:nvSpPr>
        <p:spPr>
          <a:xfrm>
            <a:off x="4251960" y="3200400"/>
            <a:ext cx="502920" cy="0"/>
          </a:xfrm>
          <a:prstGeom prst="line">
            <a:avLst/>
          </a:prstGeom>
          <a:noFill/>
          <a:ln w="25400">
            <a:solidFill>
              <a:srgbClr val="1F1F1F"/>
            </a:solidFill>
            <a:prstDash val="solid"/>
          </a:ln>
        </p:spPr>
        <p:txBody>
          <a:bodyPr/>
          <a:lstStyle/>
          <a:p>
            <a:endParaRPr lang="en-US"/>
          </a:p>
        </p:txBody>
      </p:sp>
      <p:sp>
        <p:nvSpPr>
          <p:cNvPr id="11" name="Shape 7"/>
          <p:cNvSpPr/>
          <p:nvPr/>
        </p:nvSpPr>
        <p:spPr>
          <a:xfrm>
            <a:off x="411480" y="2843784"/>
            <a:ext cx="3840480" cy="713232"/>
          </a:xfrm>
          <a:prstGeom prst="rect">
            <a:avLst/>
          </a:prstGeom>
          <a:solidFill>
            <a:srgbClr val="FCE9A0"/>
          </a:solidFill>
          <a:ln w="12700">
            <a:solidFill>
              <a:srgbClr val="FCE9A0"/>
            </a:solidFill>
            <a:prstDash val="solid"/>
          </a:ln>
          <a:effectLst>
            <a:outerShdw blurRad="50800" dist="25400" dir="5400000" algn="bl" rotWithShape="0">
              <a:srgbClr val="000000">
                <a:alpha val="18000"/>
              </a:srgbClr>
            </a:outerShdw>
          </a:effectLst>
        </p:spPr>
        <p:txBody>
          <a:bodyPr/>
          <a:lstStyle/>
          <a:p>
            <a:endParaRPr lang="en-US"/>
          </a:p>
        </p:txBody>
      </p:sp>
      <p:sp>
        <p:nvSpPr>
          <p:cNvPr id="12" name="Text 8"/>
          <p:cNvSpPr txBox="1"/>
          <p:nvPr/>
        </p:nvSpPr>
        <p:spPr>
          <a:xfrm>
            <a:off x="411480" y="2843784"/>
            <a:ext cx="3840480" cy="713232"/>
          </a:xfrm>
          <a:prstGeom prst="rect">
            <a:avLst/>
          </a:prstGeom>
          <a:noFill/>
          <a:ln/>
        </p:spPr>
        <p:txBody>
          <a:bodyPr wrap="square" lIns="50800" tIns="50800" rIns="50800" bIns="50800" rtlCol="0" anchor="ctr"/>
          <a:lstStyle/>
          <a:p>
            <a:pPr marL="0" indent="0" algn="ctr">
              <a:buNone/>
            </a:pPr>
            <a:r>
              <a:rPr lang="en-US" sz="1600" dirty="0">
                <a:solidFill>
                  <a:srgbClr val="34488F"/>
                </a:solidFill>
                <a:latin typeface="Arial" pitchFamily="34" charset="0"/>
                <a:ea typeface="Arial" pitchFamily="34" charset="-122"/>
                <a:cs typeface="Arial" pitchFamily="34" charset="-120"/>
              </a:rPr>
              <a:t>2. Kiến trúc hệ thống</a:t>
            </a:r>
            <a:endParaRPr lang="en-US" sz="1600" dirty="0"/>
          </a:p>
        </p:txBody>
      </p:sp>
      <p:sp>
        <p:nvSpPr>
          <p:cNvPr id="13" name="Shape 9"/>
          <p:cNvSpPr/>
          <p:nvPr/>
        </p:nvSpPr>
        <p:spPr>
          <a:xfrm>
            <a:off x="4754880" y="4389120"/>
            <a:ext cx="502920" cy="0"/>
          </a:xfrm>
          <a:prstGeom prst="line">
            <a:avLst/>
          </a:prstGeom>
          <a:noFill/>
          <a:ln w="25400">
            <a:solidFill>
              <a:srgbClr val="1F1F1F"/>
            </a:solidFill>
            <a:prstDash val="solid"/>
          </a:ln>
        </p:spPr>
        <p:txBody>
          <a:bodyPr/>
          <a:lstStyle/>
          <a:p>
            <a:endParaRPr lang="en-US"/>
          </a:p>
        </p:txBody>
      </p:sp>
      <p:sp>
        <p:nvSpPr>
          <p:cNvPr id="14" name="Shape 10"/>
          <p:cNvSpPr/>
          <p:nvPr/>
        </p:nvSpPr>
        <p:spPr>
          <a:xfrm>
            <a:off x="5257800" y="4032504"/>
            <a:ext cx="3840480" cy="713232"/>
          </a:xfrm>
          <a:prstGeom prst="rect">
            <a:avLst/>
          </a:prstGeom>
          <a:solidFill>
            <a:srgbClr val="FCE9A0"/>
          </a:solidFill>
          <a:ln w="12700">
            <a:solidFill>
              <a:srgbClr val="FCE9A0"/>
            </a:solidFill>
            <a:prstDash val="solid"/>
          </a:ln>
          <a:effectLst>
            <a:outerShdw blurRad="50800" dist="25400" dir="5400000" algn="bl" rotWithShape="0">
              <a:srgbClr val="000000">
                <a:alpha val="18000"/>
              </a:srgbClr>
            </a:outerShdw>
          </a:effectLst>
        </p:spPr>
        <p:txBody>
          <a:bodyPr/>
          <a:lstStyle/>
          <a:p>
            <a:endParaRPr lang="en-US"/>
          </a:p>
        </p:txBody>
      </p:sp>
      <p:sp>
        <p:nvSpPr>
          <p:cNvPr id="15" name="Text 11"/>
          <p:cNvSpPr txBox="1"/>
          <p:nvPr/>
        </p:nvSpPr>
        <p:spPr>
          <a:xfrm>
            <a:off x="5257800" y="4032504"/>
            <a:ext cx="3840480" cy="713232"/>
          </a:xfrm>
          <a:prstGeom prst="rect">
            <a:avLst/>
          </a:prstGeom>
          <a:noFill/>
          <a:ln/>
        </p:spPr>
        <p:txBody>
          <a:bodyPr wrap="square" lIns="50800" tIns="50800" rIns="50800" bIns="50800" rtlCol="0" anchor="ctr"/>
          <a:lstStyle/>
          <a:p>
            <a:pPr marL="0" indent="0" algn="ctr">
              <a:buNone/>
            </a:pPr>
            <a:r>
              <a:rPr lang="en-US" sz="1600" dirty="0">
                <a:solidFill>
                  <a:srgbClr val="34488F"/>
                </a:solidFill>
                <a:latin typeface="Arial" pitchFamily="34" charset="0"/>
                <a:ea typeface="Arial" pitchFamily="34" charset="-122"/>
                <a:cs typeface="Arial" pitchFamily="34" charset="-120"/>
              </a:rPr>
              <a:t>3. Các kỹ thuật xử lý chính</a:t>
            </a:r>
            <a:endParaRPr lang="en-US" sz="1600" dirty="0"/>
          </a:p>
        </p:txBody>
      </p:sp>
      <p:sp>
        <p:nvSpPr>
          <p:cNvPr id="16" name="Shape 12"/>
          <p:cNvSpPr/>
          <p:nvPr/>
        </p:nvSpPr>
        <p:spPr>
          <a:xfrm>
            <a:off x="4251960" y="5577840"/>
            <a:ext cx="502920" cy="0"/>
          </a:xfrm>
          <a:prstGeom prst="line">
            <a:avLst/>
          </a:prstGeom>
          <a:noFill/>
          <a:ln w="25400">
            <a:solidFill>
              <a:srgbClr val="1F1F1F"/>
            </a:solidFill>
            <a:prstDash val="solid"/>
          </a:ln>
        </p:spPr>
        <p:txBody>
          <a:bodyPr/>
          <a:lstStyle/>
          <a:p>
            <a:endParaRPr lang="en-US"/>
          </a:p>
        </p:txBody>
      </p:sp>
      <p:sp>
        <p:nvSpPr>
          <p:cNvPr id="17" name="Shape 13"/>
          <p:cNvSpPr/>
          <p:nvPr/>
        </p:nvSpPr>
        <p:spPr>
          <a:xfrm>
            <a:off x="411480" y="5221224"/>
            <a:ext cx="3840480" cy="713232"/>
          </a:xfrm>
          <a:prstGeom prst="rect">
            <a:avLst/>
          </a:prstGeom>
          <a:solidFill>
            <a:srgbClr val="D5D8F2"/>
          </a:solidFill>
          <a:ln w="12700">
            <a:solidFill>
              <a:srgbClr val="D5D8F2"/>
            </a:solidFill>
            <a:prstDash val="solid"/>
          </a:ln>
          <a:effectLst>
            <a:outerShdw blurRad="50800" dist="25400" dir="5400000" algn="bl" rotWithShape="0">
              <a:srgbClr val="000000">
                <a:alpha val="18000"/>
              </a:srgbClr>
            </a:outerShdw>
          </a:effectLst>
        </p:spPr>
        <p:txBody>
          <a:bodyPr/>
          <a:lstStyle/>
          <a:p>
            <a:endParaRPr lang="en-US"/>
          </a:p>
        </p:txBody>
      </p:sp>
      <p:sp>
        <p:nvSpPr>
          <p:cNvPr id="18" name="Text 14"/>
          <p:cNvSpPr txBox="1"/>
          <p:nvPr/>
        </p:nvSpPr>
        <p:spPr>
          <a:xfrm>
            <a:off x="411480" y="5221224"/>
            <a:ext cx="3840480" cy="713232"/>
          </a:xfrm>
          <a:prstGeom prst="rect">
            <a:avLst/>
          </a:prstGeom>
          <a:noFill/>
          <a:ln/>
        </p:spPr>
        <p:txBody>
          <a:bodyPr wrap="square" lIns="50800" tIns="50800" rIns="50800" bIns="50800" rtlCol="0" anchor="ctr"/>
          <a:lstStyle/>
          <a:p>
            <a:pPr marL="0" indent="0" algn="ctr">
              <a:buNone/>
            </a:pPr>
            <a:r>
              <a:rPr lang="en-US" sz="1600" dirty="0">
                <a:solidFill>
                  <a:srgbClr val="34488F"/>
                </a:solidFill>
                <a:latin typeface="Arial" pitchFamily="34" charset="0"/>
                <a:ea typeface="Arial" pitchFamily="34" charset="-122"/>
                <a:cs typeface="Arial" pitchFamily="34" charset="-120"/>
              </a:rPr>
              <a:t>4. Ứng dụng, đóng gói và kiểm thử</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2" name="Image 0" descr="C:\Users\hhung\AppData\Local\Temp\claude\d--Project-local-live-voice-translator\d0343c7e-f558-4e8b-8c62-5b900df8bea6\scratchpad\build\img\deco_right.png"/>
          <p:cNvPicPr>
            <a:picLocks noChangeAspect="1"/>
          </p:cNvPicPr>
          <p:nvPr/>
        </p:nvPicPr>
        <p:blipFill>
          <a:blip r:embed="rId3"/>
          <a:stretch>
            <a:fillRect/>
          </a:stretch>
        </p:blipFill>
        <p:spPr>
          <a:xfrm>
            <a:off x="0" y="0"/>
            <a:ext cx="12191695" cy="6858000"/>
          </a:xfrm>
          <a:prstGeom prst="rect">
            <a:avLst/>
          </a:prstGeom>
        </p:spPr>
      </p:pic>
      <p:pic>
        <p:nvPicPr>
          <p:cNvPr id="3" name="Image 1" descr="C:\Users\hhung\AppData\Local\Temp\claude\d--Project-local-live-voice-translator\d0343c7e-f558-4e8b-8c62-5b900df8bea6\scratchpad\build\img\logo_header.png"/>
          <p:cNvPicPr>
            <a:picLocks noChangeAspect="1"/>
          </p:cNvPicPr>
          <p:nvPr/>
        </p:nvPicPr>
        <p:blipFill>
          <a:blip r:embed="rId4"/>
          <a:stretch>
            <a:fillRect/>
          </a:stretch>
        </p:blipFill>
        <p:spPr>
          <a:xfrm>
            <a:off x="8549640" y="292608"/>
            <a:ext cx="2560320" cy="459250"/>
          </a:xfrm>
          <a:prstGeom prst="rect">
            <a:avLst/>
          </a:prstGeom>
        </p:spPr>
      </p:pic>
      <p:sp>
        <p:nvSpPr>
          <p:cNvPr id="4" name="Text 0"/>
          <p:cNvSpPr txBox="1"/>
          <p:nvPr/>
        </p:nvSpPr>
        <p:spPr>
          <a:xfrm>
            <a:off x="411480" y="256032"/>
            <a:ext cx="7955280" cy="548640"/>
          </a:xfrm>
          <a:prstGeom prst="rect">
            <a:avLst/>
          </a:prstGeom>
          <a:noFill/>
          <a:ln/>
        </p:spPr>
        <p:txBody>
          <a:bodyPr wrap="square" lIns="0" tIns="0" rIns="0" bIns="0" rtlCol="0" anchor="t"/>
          <a:lstStyle/>
          <a:p>
            <a:pPr marL="0" indent="0">
              <a:buNone/>
            </a:pPr>
            <a:r>
              <a:rPr lang="en-US" sz="2800" b="1" dirty="0">
                <a:solidFill>
                  <a:srgbClr val="487BA2"/>
                </a:solidFill>
                <a:latin typeface="Arial" pitchFamily="34" charset="0"/>
                <a:ea typeface="Arial" pitchFamily="34" charset="-122"/>
                <a:cs typeface="Arial" pitchFamily="34" charset="-120"/>
              </a:rPr>
              <a:t>II. Phương pháp thực hiện</a:t>
            </a:r>
            <a:endParaRPr lang="en-US" sz="2800" dirty="0"/>
          </a:p>
        </p:txBody>
      </p:sp>
      <p:sp>
        <p:nvSpPr>
          <p:cNvPr id="5" name="Text 1"/>
          <p:cNvSpPr txBox="1"/>
          <p:nvPr/>
        </p:nvSpPr>
        <p:spPr>
          <a:xfrm>
            <a:off x="411480" y="841248"/>
            <a:ext cx="8046720" cy="411480"/>
          </a:xfrm>
          <a:prstGeom prst="rect">
            <a:avLst/>
          </a:prstGeom>
          <a:noFill/>
          <a:ln/>
        </p:spPr>
        <p:txBody>
          <a:bodyPr wrap="square" lIns="0" tIns="0" rIns="0" bIns="0" rtlCol="0" anchor="t"/>
          <a:lstStyle/>
          <a:p>
            <a:pPr marL="0" indent="0">
              <a:buNone/>
            </a:pPr>
            <a:r>
              <a:rPr lang="en-US" sz="2000" dirty="0">
                <a:solidFill>
                  <a:srgbClr val="1B517B"/>
                </a:solidFill>
                <a:latin typeface="Arial" pitchFamily="34" charset="0"/>
                <a:ea typeface="Arial" pitchFamily="34" charset="-122"/>
                <a:cs typeface="Arial" pitchFamily="34" charset="-120"/>
              </a:rPr>
              <a:t>1. Chuỗi xử lý dịch giọng nói</a:t>
            </a:r>
            <a:endParaRPr lang="en-US" sz="2000" dirty="0"/>
          </a:p>
        </p:txBody>
      </p:sp>
      <p:sp>
        <p:nvSpPr>
          <p:cNvPr id="6" name="Text 2"/>
          <p:cNvSpPr txBox="1"/>
          <p:nvPr/>
        </p:nvSpPr>
        <p:spPr>
          <a:xfrm>
            <a:off x="10104120" y="6355080"/>
            <a:ext cx="548640" cy="274320"/>
          </a:xfrm>
          <a:prstGeom prst="rect">
            <a:avLst/>
          </a:prstGeom>
          <a:noFill/>
          <a:ln/>
        </p:spPr>
        <p:txBody>
          <a:bodyPr wrap="square" lIns="0" tIns="0" rIns="0" bIns="0" rtlCol="0" anchor="t"/>
          <a:lstStyle/>
          <a:p>
            <a:pPr marL="0" indent="0" algn="r">
              <a:buNone/>
            </a:pPr>
            <a:r>
              <a:rPr lang="en-US" sz="1100" dirty="0">
                <a:solidFill>
                  <a:srgbClr val="5F6B76"/>
                </a:solidFill>
                <a:latin typeface="Arial" pitchFamily="34" charset="0"/>
                <a:ea typeface="Arial" pitchFamily="34" charset="-122"/>
                <a:cs typeface="Arial" pitchFamily="34" charset="-120"/>
              </a:rPr>
              <a:t>7</a:t>
            </a:r>
            <a:endParaRPr lang="en-US" sz="1100" dirty="0"/>
          </a:p>
        </p:txBody>
      </p:sp>
      <p:sp>
        <p:nvSpPr>
          <p:cNvPr id="7" name="Shape 3"/>
          <p:cNvSpPr/>
          <p:nvPr/>
        </p:nvSpPr>
        <p:spPr>
          <a:xfrm>
            <a:off x="411480" y="1481328"/>
            <a:ext cx="1828800" cy="713232"/>
          </a:xfrm>
          <a:prstGeom prst="roundRect">
            <a:avLst>
              <a:gd name="adj" fmla="val 10256"/>
            </a:avLst>
          </a:prstGeom>
          <a:solidFill>
            <a:srgbClr val="DCE8F2"/>
          </a:solidFill>
          <a:ln w="12700">
            <a:solidFill>
              <a:srgbClr val="DCE8F2"/>
            </a:solidFill>
            <a:prstDash val="solid"/>
          </a:ln>
        </p:spPr>
        <p:txBody>
          <a:bodyPr/>
          <a:lstStyle/>
          <a:p>
            <a:endParaRPr lang="en-US"/>
          </a:p>
        </p:txBody>
      </p:sp>
      <p:sp>
        <p:nvSpPr>
          <p:cNvPr id="8" name="Shape 4"/>
          <p:cNvSpPr/>
          <p:nvPr/>
        </p:nvSpPr>
        <p:spPr>
          <a:xfrm>
            <a:off x="475488" y="1655064"/>
            <a:ext cx="365760" cy="365760"/>
          </a:xfrm>
          <a:prstGeom prst="ellipse">
            <a:avLst/>
          </a:prstGeom>
          <a:solidFill>
            <a:srgbClr val="1B517B"/>
          </a:solidFill>
          <a:ln w="12700">
            <a:solidFill>
              <a:srgbClr val="1B517B"/>
            </a:solidFill>
            <a:prstDash val="solid"/>
          </a:ln>
        </p:spPr>
        <p:txBody>
          <a:bodyPr/>
          <a:lstStyle/>
          <a:p>
            <a:endParaRPr lang="en-US"/>
          </a:p>
        </p:txBody>
      </p:sp>
      <p:pic>
        <p:nvPicPr>
          <p:cNvPr id="9" name="Image 2" descr="preencoded.png"/>
          <p:cNvPicPr>
            <a:picLocks noChangeAspect="1"/>
          </p:cNvPicPr>
          <p:nvPr/>
        </p:nvPicPr>
        <p:blipFill>
          <a:blip r:embed="rId5"/>
          <a:stretch>
            <a:fillRect/>
          </a:stretch>
        </p:blipFill>
        <p:spPr>
          <a:xfrm>
            <a:off x="548640" y="1728216"/>
            <a:ext cx="219456" cy="219456"/>
          </a:xfrm>
          <a:prstGeom prst="rect">
            <a:avLst/>
          </a:prstGeom>
        </p:spPr>
      </p:pic>
      <p:sp>
        <p:nvSpPr>
          <p:cNvPr id="10" name="Text 5"/>
          <p:cNvSpPr txBox="1"/>
          <p:nvPr/>
        </p:nvSpPr>
        <p:spPr>
          <a:xfrm>
            <a:off x="896112" y="1481328"/>
            <a:ext cx="1325880" cy="713232"/>
          </a:xfrm>
          <a:prstGeom prst="rect">
            <a:avLst/>
          </a:prstGeom>
          <a:noFill/>
          <a:ln/>
        </p:spPr>
        <p:txBody>
          <a:bodyPr wrap="square" lIns="0" tIns="0" rIns="0" bIns="0" rtlCol="0" anchor="ctr"/>
          <a:lstStyle/>
          <a:p>
            <a:pPr marL="0" indent="0">
              <a:buNone/>
            </a:pPr>
            <a:r>
              <a:rPr lang="en-US" sz="1200" b="1" dirty="0">
                <a:solidFill>
                  <a:srgbClr val="1B517B"/>
                </a:solidFill>
                <a:latin typeface="Arial" pitchFamily="34" charset="0"/>
                <a:ea typeface="Arial" pitchFamily="34" charset="-122"/>
                <a:cs typeface="Arial" pitchFamily="34" charset="-120"/>
              </a:rPr>
              <a:t>Microphone</a:t>
            </a:r>
            <a:endParaRPr lang="en-US" sz="1200" dirty="0"/>
          </a:p>
        </p:txBody>
      </p:sp>
      <p:sp>
        <p:nvSpPr>
          <p:cNvPr id="11" name="Shape 6"/>
          <p:cNvSpPr/>
          <p:nvPr/>
        </p:nvSpPr>
        <p:spPr>
          <a:xfrm>
            <a:off x="411480" y="2487168"/>
            <a:ext cx="1828800" cy="713232"/>
          </a:xfrm>
          <a:prstGeom prst="roundRect">
            <a:avLst>
              <a:gd name="adj" fmla="val 10256"/>
            </a:avLst>
          </a:prstGeom>
          <a:solidFill>
            <a:srgbClr val="DCE8F2"/>
          </a:solidFill>
          <a:ln w="12700">
            <a:solidFill>
              <a:srgbClr val="DCE8F2"/>
            </a:solidFill>
            <a:prstDash val="solid"/>
          </a:ln>
        </p:spPr>
        <p:txBody>
          <a:bodyPr/>
          <a:lstStyle/>
          <a:p>
            <a:endParaRPr lang="en-US"/>
          </a:p>
        </p:txBody>
      </p:sp>
      <p:sp>
        <p:nvSpPr>
          <p:cNvPr id="12" name="Shape 7"/>
          <p:cNvSpPr/>
          <p:nvPr/>
        </p:nvSpPr>
        <p:spPr>
          <a:xfrm>
            <a:off x="475488" y="2660904"/>
            <a:ext cx="365760" cy="365760"/>
          </a:xfrm>
          <a:prstGeom prst="ellipse">
            <a:avLst/>
          </a:prstGeom>
          <a:solidFill>
            <a:srgbClr val="1B517B"/>
          </a:solidFill>
          <a:ln w="12700">
            <a:solidFill>
              <a:srgbClr val="1B517B"/>
            </a:solidFill>
            <a:prstDash val="solid"/>
          </a:ln>
        </p:spPr>
        <p:txBody>
          <a:bodyPr/>
          <a:lstStyle/>
          <a:p>
            <a:endParaRPr lang="en-US"/>
          </a:p>
        </p:txBody>
      </p:sp>
      <p:pic>
        <p:nvPicPr>
          <p:cNvPr id="13" name="Image 3" descr="preencoded.png"/>
          <p:cNvPicPr>
            <a:picLocks noChangeAspect="1"/>
          </p:cNvPicPr>
          <p:nvPr/>
        </p:nvPicPr>
        <p:blipFill>
          <a:blip r:embed="rId6"/>
          <a:stretch>
            <a:fillRect/>
          </a:stretch>
        </p:blipFill>
        <p:spPr>
          <a:xfrm>
            <a:off x="548640" y="2734056"/>
            <a:ext cx="219456" cy="219456"/>
          </a:xfrm>
          <a:prstGeom prst="rect">
            <a:avLst/>
          </a:prstGeom>
        </p:spPr>
      </p:pic>
      <p:sp>
        <p:nvSpPr>
          <p:cNvPr id="14" name="Text 8"/>
          <p:cNvSpPr txBox="1"/>
          <p:nvPr/>
        </p:nvSpPr>
        <p:spPr>
          <a:xfrm>
            <a:off x="896112" y="2487168"/>
            <a:ext cx="1325880" cy="713232"/>
          </a:xfrm>
          <a:prstGeom prst="rect">
            <a:avLst/>
          </a:prstGeom>
          <a:noFill/>
          <a:ln/>
        </p:spPr>
        <p:txBody>
          <a:bodyPr wrap="square" lIns="0" tIns="0" rIns="0" bIns="0" rtlCol="0" anchor="ctr"/>
          <a:lstStyle/>
          <a:p>
            <a:pPr marL="0" indent="0">
              <a:buNone/>
            </a:pPr>
            <a:r>
              <a:rPr lang="en-US" sz="1200" b="1" dirty="0">
                <a:solidFill>
                  <a:srgbClr val="1B517B"/>
                </a:solidFill>
                <a:latin typeface="Arial" pitchFamily="34" charset="0"/>
                <a:ea typeface="Arial" pitchFamily="34" charset="-122"/>
                <a:cs typeface="Arial" pitchFamily="34" charset="-120"/>
              </a:rPr>
              <a:t>Âm thanh hệ thống</a:t>
            </a:r>
            <a:endParaRPr lang="en-US" sz="1200" dirty="0"/>
          </a:p>
        </p:txBody>
      </p:sp>
      <p:sp>
        <p:nvSpPr>
          <p:cNvPr id="15" name="Shape 9"/>
          <p:cNvSpPr/>
          <p:nvPr/>
        </p:nvSpPr>
        <p:spPr>
          <a:xfrm>
            <a:off x="2240280" y="1837944"/>
            <a:ext cx="411480" cy="493776"/>
          </a:xfrm>
          <a:prstGeom prst="line">
            <a:avLst/>
          </a:prstGeom>
          <a:noFill/>
          <a:ln w="22225">
            <a:solidFill>
              <a:srgbClr val="1B517B"/>
            </a:solidFill>
            <a:prstDash val="solid"/>
            <a:tailEnd type="triangle"/>
          </a:ln>
        </p:spPr>
        <p:txBody>
          <a:bodyPr/>
          <a:lstStyle/>
          <a:p>
            <a:endParaRPr lang="en-US"/>
          </a:p>
        </p:txBody>
      </p:sp>
      <p:sp>
        <p:nvSpPr>
          <p:cNvPr id="16" name="Shape 10"/>
          <p:cNvSpPr/>
          <p:nvPr/>
        </p:nvSpPr>
        <p:spPr>
          <a:xfrm flipV="1">
            <a:off x="2240280" y="2331720"/>
            <a:ext cx="411480" cy="512064"/>
          </a:xfrm>
          <a:prstGeom prst="line">
            <a:avLst/>
          </a:prstGeom>
          <a:noFill/>
          <a:ln w="22225">
            <a:solidFill>
              <a:srgbClr val="1B517B"/>
            </a:solidFill>
            <a:prstDash val="solid"/>
            <a:tailEnd type="triangle"/>
          </a:ln>
        </p:spPr>
        <p:txBody>
          <a:bodyPr/>
          <a:lstStyle/>
          <a:p>
            <a:endParaRPr lang="en-US"/>
          </a:p>
        </p:txBody>
      </p:sp>
      <p:sp>
        <p:nvSpPr>
          <p:cNvPr id="17" name="Shape 11"/>
          <p:cNvSpPr/>
          <p:nvPr/>
        </p:nvSpPr>
        <p:spPr>
          <a:xfrm>
            <a:off x="2697480" y="1874520"/>
            <a:ext cx="1691640" cy="914400"/>
          </a:xfrm>
          <a:prstGeom prst="roundRect">
            <a:avLst>
              <a:gd name="adj" fmla="val 8000"/>
            </a:avLst>
          </a:prstGeom>
          <a:solidFill>
            <a:srgbClr val="1B517B"/>
          </a:solidFill>
          <a:ln w="12700">
            <a:solidFill>
              <a:srgbClr val="1B517B"/>
            </a:solidFill>
            <a:prstDash val="solid"/>
          </a:ln>
        </p:spPr>
        <p:txBody>
          <a:bodyPr/>
          <a:lstStyle/>
          <a:p>
            <a:endParaRPr lang="en-US"/>
          </a:p>
        </p:txBody>
      </p:sp>
      <p:sp>
        <p:nvSpPr>
          <p:cNvPr id="18" name="Text 12"/>
          <p:cNvSpPr txBox="1"/>
          <p:nvPr/>
        </p:nvSpPr>
        <p:spPr>
          <a:xfrm>
            <a:off x="2697480" y="1874520"/>
            <a:ext cx="1691640" cy="914400"/>
          </a:xfrm>
          <a:prstGeom prst="rect">
            <a:avLst/>
          </a:prstGeom>
          <a:noFill/>
          <a:ln/>
        </p:spPr>
        <p:txBody>
          <a:bodyPr wrap="square" lIns="25400" tIns="25400" rIns="25400" bIns="25400"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VAD</a:t>
            </a:r>
            <a:endParaRPr lang="en-US" sz="2000" dirty="0"/>
          </a:p>
          <a:p>
            <a:pPr marL="0" indent="0" algn="ctr">
              <a:buNone/>
            </a:pPr>
            <a:r>
              <a:rPr lang="en-US" sz="1200" dirty="0">
                <a:solidFill>
                  <a:srgbClr val="FFFFFF"/>
                </a:solidFill>
                <a:latin typeface="Arial" pitchFamily="34" charset="0"/>
                <a:ea typeface="Arial" pitchFamily="34" charset="-122"/>
                <a:cs typeface="Arial" pitchFamily="34" charset="-120"/>
              </a:rPr>
              <a:t>Silero</a:t>
            </a:r>
            <a:endParaRPr lang="en-US" sz="2000" dirty="0"/>
          </a:p>
          <a:p>
            <a:pPr marL="0" indent="0" algn="ctr">
              <a:buNone/>
            </a:pPr>
            <a:r>
              <a:rPr lang="en-US" sz="1100" i="1" dirty="0">
                <a:solidFill>
                  <a:srgbClr val="FFFFFF"/>
                </a:solidFill>
                <a:latin typeface="Arial" pitchFamily="34" charset="0"/>
                <a:ea typeface="Arial" pitchFamily="34" charset="-122"/>
                <a:cs typeface="Arial" pitchFamily="34" charset="-120"/>
              </a:rPr>
              <a:t>tách câu</a:t>
            </a:r>
            <a:endParaRPr lang="en-US" sz="2000" dirty="0"/>
          </a:p>
        </p:txBody>
      </p:sp>
      <p:sp>
        <p:nvSpPr>
          <p:cNvPr id="19" name="Shape 13"/>
          <p:cNvSpPr/>
          <p:nvPr/>
        </p:nvSpPr>
        <p:spPr>
          <a:xfrm>
            <a:off x="4389120" y="2331720"/>
            <a:ext cx="384048" cy="0"/>
          </a:xfrm>
          <a:prstGeom prst="line">
            <a:avLst/>
          </a:prstGeom>
          <a:noFill/>
          <a:ln w="22225">
            <a:solidFill>
              <a:srgbClr val="1B517B"/>
            </a:solidFill>
            <a:prstDash val="solid"/>
            <a:tailEnd type="triangle"/>
          </a:ln>
        </p:spPr>
        <p:txBody>
          <a:bodyPr/>
          <a:lstStyle/>
          <a:p>
            <a:endParaRPr lang="en-US"/>
          </a:p>
        </p:txBody>
      </p:sp>
      <p:sp>
        <p:nvSpPr>
          <p:cNvPr id="20" name="Shape 14"/>
          <p:cNvSpPr/>
          <p:nvPr/>
        </p:nvSpPr>
        <p:spPr>
          <a:xfrm>
            <a:off x="4773168" y="1874520"/>
            <a:ext cx="1691640" cy="914400"/>
          </a:xfrm>
          <a:prstGeom prst="roundRect">
            <a:avLst>
              <a:gd name="adj" fmla="val 8000"/>
            </a:avLst>
          </a:prstGeom>
          <a:solidFill>
            <a:srgbClr val="1B517B"/>
          </a:solidFill>
          <a:ln w="12700">
            <a:solidFill>
              <a:srgbClr val="1B517B"/>
            </a:solidFill>
            <a:prstDash val="solid"/>
          </a:ln>
        </p:spPr>
        <p:txBody>
          <a:bodyPr/>
          <a:lstStyle/>
          <a:p>
            <a:endParaRPr lang="en-US"/>
          </a:p>
        </p:txBody>
      </p:sp>
      <p:sp>
        <p:nvSpPr>
          <p:cNvPr id="21" name="Text 15"/>
          <p:cNvSpPr txBox="1"/>
          <p:nvPr/>
        </p:nvSpPr>
        <p:spPr>
          <a:xfrm>
            <a:off x="4773168" y="1874520"/>
            <a:ext cx="1691640" cy="914400"/>
          </a:xfrm>
          <a:prstGeom prst="rect">
            <a:avLst/>
          </a:prstGeom>
          <a:noFill/>
          <a:ln/>
        </p:spPr>
        <p:txBody>
          <a:bodyPr wrap="square" lIns="25400" tIns="25400" rIns="25400" bIns="25400"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ASR</a:t>
            </a:r>
            <a:endParaRPr lang="en-US" sz="2000" dirty="0"/>
          </a:p>
          <a:p>
            <a:pPr marL="0" indent="0" algn="ctr">
              <a:buNone/>
            </a:pPr>
            <a:r>
              <a:rPr lang="en-US" sz="1200" dirty="0">
                <a:solidFill>
                  <a:srgbClr val="FFFFFF"/>
                </a:solidFill>
                <a:latin typeface="Arial" pitchFamily="34" charset="0"/>
                <a:ea typeface="Arial" pitchFamily="34" charset="-122"/>
                <a:cs typeface="Arial" pitchFamily="34" charset="-120"/>
              </a:rPr>
              <a:t>Whisper</a:t>
            </a:r>
            <a:endParaRPr lang="en-US" sz="2000" dirty="0"/>
          </a:p>
          <a:p>
            <a:pPr marL="0" indent="0" algn="ctr">
              <a:buNone/>
            </a:pPr>
            <a:r>
              <a:rPr lang="en-US" sz="1100" i="1" dirty="0">
                <a:solidFill>
                  <a:srgbClr val="FFFFFF"/>
                </a:solidFill>
                <a:latin typeface="Arial" pitchFamily="34" charset="0"/>
                <a:ea typeface="Arial" pitchFamily="34" charset="-122"/>
                <a:cs typeface="Arial" pitchFamily="34" charset="-120"/>
              </a:rPr>
              <a:t>tiếng nói → văn bản</a:t>
            </a:r>
            <a:endParaRPr lang="en-US" sz="2000" dirty="0"/>
          </a:p>
        </p:txBody>
      </p:sp>
      <p:sp>
        <p:nvSpPr>
          <p:cNvPr id="22" name="Shape 16"/>
          <p:cNvSpPr/>
          <p:nvPr/>
        </p:nvSpPr>
        <p:spPr>
          <a:xfrm>
            <a:off x="6464808" y="2331720"/>
            <a:ext cx="384048" cy="0"/>
          </a:xfrm>
          <a:prstGeom prst="line">
            <a:avLst/>
          </a:prstGeom>
          <a:noFill/>
          <a:ln w="22225">
            <a:solidFill>
              <a:srgbClr val="1B517B"/>
            </a:solidFill>
            <a:prstDash val="solid"/>
            <a:tailEnd type="triangle"/>
          </a:ln>
        </p:spPr>
        <p:txBody>
          <a:bodyPr/>
          <a:lstStyle/>
          <a:p>
            <a:endParaRPr lang="en-US"/>
          </a:p>
        </p:txBody>
      </p:sp>
      <p:sp>
        <p:nvSpPr>
          <p:cNvPr id="23" name="Shape 17"/>
          <p:cNvSpPr/>
          <p:nvPr/>
        </p:nvSpPr>
        <p:spPr>
          <a:xfrm>
            <a:off x="6848856" y="1874520"/>
            <a:ext cx="1691640" cy="914400"/>
          </a:xfrm>
          <a:prstGeom prst="roundRect">
            <a:avLst>
              <a:gd name="adj" fmla="val 8000"/>
            </a:avLst>
          </a:prstGeom>
          <a:solidFill>
            <a:srgbClr val="1B517B"/>
          </a:solidFill>
          <a:ln w="12700">
            <a:solidFill>
              <a:srgbClr val="1B517B"/>
            </a:solidFill>
            <a:prstDash val="solid"/>
          </a:ln>
        </p:spPr>
        <p:txBody>
          <a:bodyPr/>
          <a:lstStyle/>
          <a:p>
            <a:endParaRPr lang="en-US"/>
          </a:p>
        </p:txBody>
      </p:sp>
      <p:sp>
        <p:nvSpPr>
          <p:cNvPr id="24" name="Text 18"/>
          <p:cNvSpPr txBox="1"/>
          <p:nvPr/>
        </p:nvSpPr>
        <p:spPr>
          <a:xfrm>
            <a:off x="6848856" y="1874520"/>
            <a:ext cx="1691640" cy="914400"/>
          </a:xfrm>
          <a:prstGeom prst="rect">
            <a:avLst/>
          </a:prstGeom>
          <a:noFill/>
          <a:ln/>
        </p:spPr>
        <p:txBody>
          <a:bodyPr wrap="square" lIns="25400" tIns="25400" rIns="25400" bIns="25400"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MT</a:t>
            </a:r>
            <a:endParaRPr lang="en-US" sz="2000" dirty="0"/>
          </a:p>
          <a:p>
            <a:pPr marL="0" indent="0" algn="ctr">
              <a:buNone/>
            </a:pPr>
            <a:r>
              <a:rPr lang="en-US" sz="1200" dirty="0">
                <a:solidFill>
                  <a:srgbClr val="FFFFFF"/>
                </a:solidFill>
                <a:latin typeface="Arial" pitchFamily="34" charset="0"/>
                <a:ea typeface="Arial" pitchFamily="34" charset="-122"/>
                <a:cs typeface="Arial" pitchFamily="34" charset="-120"/>
              </a:rPr>
              <a:t>NLLB-200</a:t>
            </a:r>
            <a:endParaRPr lang="en-US" sz="2000" dirty="0"/>
          </a:p>
          <a:p>
            <a:pPr marL="0" indent="0" algn="ctr">
              <a:buNone/>
            </a:pPr>
            <a:r>
              <a:rPr lang="en-US" sz="1100" i="1" dirty="0">
                <a:solidFill>
                  <a:srgbClr val="FFFFFF"/>
                </a:solidFill>
                <a:latin typeface="Arial" pitchFamily="34" charset="0"/>
                <a:ea typeface="Arial" pitchFamily="34" charset="-122"/>
                <a:cs typeface="Arial" pitchFamily="34" charset="-120"/>
              </a:rPr>
              <a:t>dịch văn bản</a:t>
            </a:r>
            <a:endParaRPr lang="en-US" sz="2000" dirty="0"/>
          </a:p>
        </p:txBody>
      </p:sp>
      <p:sp>
        <p:nvSpPr>
          <p:cNvPr id="25" name="Shape 19"/>
          <p:cNvSpPr/>
          <p:nvPr/>
        </p:nvSpPr>
        <p:spPr>
          <a:xfrm>
            <a:off x="8540496" y="2331720"/>
            <a:ext cx="384048" cy="0"/>
          </a:xfrm>
          <a:prstGeom prst="line">
            <a:avLst/>
          </a:prstGeom>
          <a:noFill/>
          <a:ln w="22225">
            <a:solidFill>
              <a:srgbClr val="1B517B"/>
            </a:solidFill>
            <a:prstDash val="solid"/>
            <a:tailEnd type="triangle"/>
          </a:ln>
        </p:spPr>
        <p:txBody>
          <a:bodyPr/>
          <a:lstStyle/>
          <a:p>
            <a:endParaRPr lang="en-US"/>
          </a:p>
        </p:txBody>
      </p:sp>
      <p:sp>
        <p:nvSpPr>
          <p:cNvPr id="26" name="Shape 20"/>
          <p:cNvSpPr/>
          <p:nvPr/>
        </p:nvSpPr>
        <p:spPr>
          <a:xfrm>
            <a:off x="8924544" y="1874520"/>
            <a:ext cx="1691640" cy="914400"/>
          </a:xfrm>
          <a:prstGeom prst="roundRect">
            <a:avLst>
              <a:gd name="adj" fmla="val 8000"/>
            </a:avLst>
          </a:prstGeom>
          <a:solidFill>
            <a:srgbClr val="487BA2"/>
          </a:solidFill>
          <a:ln w="12700">
            <a:solidFill>
              <a:srgbClr val="1B517B"/>
            </a:solidFill>
            <a:prstDash val="solid"/>
          </a:ln>
        </p:spPr>
        <p:txBody>
          <a:bodyPr/>
          <a:lstStyle/>
          <a:p>
            <a:endParaRPr lang="en-US"/>
          </a:p>
        </p:txBody>
      </p:sp>
      <p:sp>
        <p:nvSpPr>
          <p:cNvPr id="27" name="Text 21"/>
          <p:cNvSpPr txBox="1"/>
          <p:nvPr/>
        </p:nvSpPr>
        <p:spPr>
          <a:xfrm>
            <a:off x="8924544" y="1874520"/>
            <a:ext cx="1691640" cy="914400"/>
          </a:xfrm>
          <a:prstGeom prst="rect">
            <a:avLst/>
          </a:prstGeom>
          <a:noFill/>
          <a:ln/>
        </p:spPr>
        <p:txBody>
          <a:bodyPr wrap="square" lIns="25400" tIns="25400" rIns="25400" bIns="25400"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TTS</a:t>
            </a:r>
            <a:endParaRPr lang="en-US" sz="2000" dirty="0"/>
          </a:p>
          <a:p>
            <a:pPr marL="0" indent="0" algn="ctr">
              <a:buNone/>
            </a:pPr>
            <a:r>
              <a:rPr lang="en-US" sz="1200" dirty="0">
                <a:solidFill>
                  <a:srgbClr val="FFFFFF"/>
                </a:solidFill>
                <a:latin typeface="Arial" pitchFamily="34" charset="0"/>
                <a:ea typeface="Arial" pitchFamily="34" charset="-122"/>
                <a:cs typeface="Arial" pitchFamily="34" charset="-120"/>
              </a:rPr>
              <a:t>sherpa-onnx / Kokoro</a:t>
            </a:r>
            <a:endParaRPr lang="en-US" sz="2000" dirty="0"/>
          </a:p>
          <a:p>
            <a:pPr marL="0" indent="0" algn="ctr">
              <a:buNone/>
            </a:pPr>
            <a:r>
              <a:rPr lang="en-US" sz="1100" i="1" dirty="0">
                <a:solidFill>
                  <a:srgbClr val="FFFFFF"/>
                </a:solidFill>
                <a:latin typeface="Arial" pitchFamily="34" charset="0"/>
                <a:ea typeface="Arial" pitchFamily="34" charset="-122"/>
                <a:cs typeface="Arial" pitchFamily="34" charset="-120"/>
              </a:rPr>
              <a:t>văn bản → giọng nói</a:t>
            </a:r>
            <a:endParaRPr lang="en-US" sz="2000" dirty="0"/>
          </a:p>
        </p:txBody>
      </p:sp>
      <p:sp>
        <p:nvSpPr>
          <p:cNvPr id="28" name="Shape 22"/>
          <p:cNvSpPr/>
          <p:nvPr/>
        </p:nvSpPr>
        <p:spPr>
          <a:xfrm>
            <a:off x="10616184" y="2331720"/>
            <a:ext cx="274320" cy="0"/>
          </a:xfrm>
          <a:prstGeom prst="line">
            <a:avLst/>
          </a:prstGeom>
          <a:noFill/>
          <a:ln w="22225">
            <a:solidFill>
              <a:srgbClr val="1B517B"/>
            </a:solidFill>
            <a:prstDash val="solid"/>
            <a:tailEnd type="triangle"/>
          </a:ln>
        </p:spPr>
        <p:txBody>
          <a:bodyPr/>
          <a:lstStyle/>
          <a:p>
            <a:endParaRPr lang="en-US"/>
          </a:p>
        </p:txBody>
      </p:sp>
      <p:sp>
        <p:nvSpPr>
          <p:cNvPr id="29" name="Shape 23"/>
          <p:cNvSpPr/>
          <p:nvPr/>
        </p:nvSpPr>
        <p:spPr>
          <a:xfrm>
            <a:off x="10908792" y="2057400"/>
            <a:ext cx="548640" cy="548640"/>
          </a:xfrm>
          <a:prstGeom prst="ellipse">
            <a:avLst/>
          </a:prstGeom>
          <a:solidFill>
            <a:srgbClr val="1B517B"/>
          </a:solidFill>
          <a:ln w="12700">
            <a:solidFill>
              <a:srgbClr val="1B517B"/>
            </a:solidFill>
            <a:prstDash val="solid"/>
          </a:ln>
        </p:spPr>
        <p:txBody>
          <a:bodyPr/>
          <a:lstStyle/>
          <a:p>
            <a:endParaRPr lang="en-US"/>
          </a:p>
        </p:txBody>
      </p:sp>
      <p:pic>
        <p:nvPicPr>
          <p:cNvPr id="30" name="Image 4" descr="preencoded.png"/>
          <p:cNvPicPr>
            <a:picLocks noChangeAspect="1"/>
          </p:cNvPicPr>
          <p:nvPr/>
        </p:nvPicPr>
        <p:blipFill>
          <a:blip r:embed="rId7"/>
          <a:stretch>
            <a:fillRect/>
          </a:stretch>
        </p:blipFill>
        <p:spPr>
          <a:xfrm>
            <a:off x="11045952" y="2194560"/>
            <a:ext cx="274320" cy="274320"/>
          </a:xfrm>
          <a:prstGeom prst="rect">
            <a:avLst/>
          </a:prstGeom>
        </p:spPr>
      </p:pic>
      <p:sp>
        <p:nvSpPr>
          <p:cNvPr id="31" name="Text 24"/>
          <p:cNvSpPr txBox="1"/>
          <p:nvPr/>
        </p:nvSpPr>
        <p:spPr>
          <a:xfrm>
            <a:off x="10680192" y="2633472"/>
            <a:ext cx="1005840" cy="274320"/>
          </a:xfrm>
          <a:prstGeom prst="rect">
            <a:avLst/>
          </a:prstGeom>
          <a:noFill/>
          <a:ln/>
        </p:spPr>
        <p:txBody>
          <a:bodyPr wrap="square" lIns="0" tIns="0" rIns="0" bIns="0" rtlCol="0" anchor="t"/>
          <a:lstStyle/>
          <a:p>
            <a:pPr marL="0" indent="0" algn="ctr">
              <a:buNone/>
            </a:pPr>
            <a:r>
              <a:rPr lang="en-US" sz="1100" dirty="0">
                <a:solidFill>
                  <a:srgbClr val="222222"/>
                </a:solidFill>
                <a:latin typeface="Arial" pitchFamily="34" charset="0"/>
                <a:ea typeface="Arial" pitchFamily="34" charset="-122"/>
                <a:cs typeface="Arial" pitchFamily="34" charset="-120"/>
              </a:rPr>
              <a:t>Tai nghe</a:t>
            </a:r>
            <a:endParaRPr lang="en-US" sz="1100" dirty="0"/>
          </a:p>
        </p:txBody>
      </p:sp>
      <p:sp>
        <p:nvSpPr>
          <p:cNvPr id="32" name="Shape 25"/>
          <p:cNvSpPr/>
          <p:nvPr/>
        </p:nvSpPr>
        <p:spPr>
          <a:xfrm>
            <a:off x="5618988" y="2788920"/>
            <a:ext cx="0" cy="411480"/>
          </a:xfrm>
          <a:prstGeom prst="line">
            <a:avLst/>
          </a:prstGeom>
          <a:noFill/>
          <a:ln w="19050">
            <a:solidFill>
              <a:srgbClr val="487BA2"/>
            </a:solidFill>
            <a:prstDash val="solid"/>
            <a:tailEnd type="triangle"/>
          </a:ln>
        </p:spPr>
        <p:txBody>
          <a:bodyPr/>
          <a:lstStyle/>
          <a:p>
            <a:endParaRPr lang="en-US"/>
          </a:p>
        </p:txBody>
      </p:sp>
      <p:sp>
        <p:nvSpPr>
          <p:cNvPr id="33" name="Shape 26"/>
          <p:cNvSpPr/>
          <p:nvPr/>
        </p:nvSpPr>
        <p:spPr>
          <a:xfrm>
            <a:off x="7694676" y="2788920"/>
            <a:ext cx="0" cy="411480"/>
          </a:xfrm>
          <a:prstGeom prst="line">
            <a:avLst/>
          </a:prstGeom>
          <a:noFill/>
          <a:ln w="19050">
            <a:solidFill>
              <a:srgbClr val="487BA2"/>
            </a:solidFill>
            <a:prstDash val="solid"/>
            <a:tailEnd type="triangle"/>
          </a:ln>
        </p:spPr>
        <p:txBody>
          <a:bodyPr/>
          <a:lstStyle/>
          <a:p>
            <a:endParaRPr lang="en-US"/>
          </a:p>
        </p:txBody>
      </p:sp>
      <p:sp>
        <p:nvSpPr>
          <p:cNvPr id="34" name="Shape 27"/>
          <p:cNvSpPr/>
          <p:nvPr/>
        </p:nvSpPr>
        <p:spPr>
          <a:xfrm>
            <a:off x="4773168" y="3218688"/>
            <a:ext cx="3767328" cy="457200"/>
          </a:xfrm>
          <a:prstGeom prst="roundRect">
            <a:avLst>
              <a:gd name="adj" fmla="val 16000"/>
            </a:avLst>
          </a:prstGeom>
          <a:solidFill>
            <a:srgbClr val="FCE9A0"/>
          </a:solidFill>
          <a:ln w="12700">
            <a:solidFill>
              <a:srgbClr val="FCE9A0"/>
            </a:solidFill>
            <a:prstDash val="solid"/>
          </a:ln>
        </p:spPr>
        <p:txBody>
          <a:bodyPr/>
          <a:lstStyle/>
          <a:p>
            <a:endParaRPr lang="en-US"/>
          </a:p>
        </p:txBody>
      </p:sp>
      <p:pic>
        <p:nvPicPr>
          <p:cNvPr id="35" name="Image 5" descr="preencoded.png"/>
          <p:cNvPicPr>
            <a:picLocks noChangeAspect="1"/>
          </p:cNvPicPr>
          <p:nvPr/>
        </p:nvPicPr>
        <p:blipFill>
          <a:blip r:embed="rId8"/>
          <a:stretch>
            <a:fillRect/>
          </a:stretch>
        </p:blipFill>
        <p:spPr>
          <a:xfrm>
            <a:off x="4956048" y="3310128"/>
            <a:ext cx="274320" cy="274320"/>
          </a:xfrm>
          <a:prstGeom prst="rect">
            <a:avLst/>
          </a:prstGeom>
        </p:spPr>
      </p:pic>
      <p:sp>
        <p:nvSpPr>
          <p:cNvPr id="36" name="Text 28"/>
          <p:cNvSpPr txBox="1"/>
          <p:nvPr/>
        </p:nvSpPr>
        <p:spPr>
          <a:xfrm>
            <a:off x="5321808" y="3218688"/>
            <a:ext cx="3200400" cy="457200"/>
          </a:xfrm>
          <a:prstGeom prst="rect">
            <a:avLst/>
          </a:prstGeom>
          <a:noFill/>
          <a:ln/>
        </p:spPr>
        <p:txBody>
          <a:bodyPr wrap="square" lIns="0" tIns="0" rIns="0" bIns="0" rtlCol="0" anchor="ctr"/>
          <a:lstStyle/>
          <a:p>
            <a:pPr marL="0" indent="0">
              <a:buNone/>
            </a:pPr>
            <a:r>
              <a:rPr lang="en-US" sz="1300" b="1" dirty="0">
                <a:solidFill>
                  <a:srgbClr val="1B517B"/>
                </a:solidFill>
                <a:latin typeface="Arial" pitchFamily="34" charset="0"/>
                <a:ea typeface="Arial" pitchFamily="34" charset="-122"/>
                <a:cs typeface="Arial" pitchFamily="34" charset="-120"/>
              </a:rPr>
              <a:t>Phụ đề song ngữ hiện ngay</a:t>
            </a:r>
            <a:endParaRPr lang="en-US" sz="1300" dirty="0"/>
          </a:p>
        </p:txBody>
      </p:sp>
      <p:sp>
        <p:nvSpPr>
          <p:cNvPr id="37" name="Text 29"/>
          <p:cNvSpPr txBox="1"/>
          <p:nvPr/>
        </p:nvSpPr>
        <p:spPr>
          <a:xfrm>
            <a:off x="411480" y="3291840"/>
            <a:ext cx="2103120" cy="548640"/>
          </a:xfrm>
          <a:prstGeom prst="rect">
            <a:avLst/>
          </a:prstGeom>
          <a:noFill/>
          <a:ln/>
        </p:spPr>
        <p:txBody>
          <a:bodyPr wrap="square" lIns="0" tIns="0" rIns="0" bIns="0" rtlCol="0" anchor="t"/>
          <a:lstStyle/>
          <a:p>
            <a:pPr marL="0" indent="0">
              <a:buNone/>
            </a:pPr>
            <a:r>
              <a:rPr lang="en-US" sz="1100" i="1" dirty="0">
                <a:solidFill>
                  <a:srgbClr val="5F6B76"/>
                </a:solidFill>
                <a:latin typeface="Arial" pitchFamily="34" charset="0"/>
                <a:ea typeface="Arial" pitchFamily="34" charset="-122"/>
                <a:cs typeface="Arial" pitchFamily="34" charset="-120"/>
              </a:rPr>
              <a:t>Âm thanh chuẩn hóa về PCM 16-bit, 16 kHz, một kênh</a:t>
            </a:r>
            <a:endParaRPr lang="en-US" sz="1100" dirty="0"/>
          </a:p>
        </p:txBody>
      </p:sp>
      <p:sp>
        <p:nvSpPr>
          <p:cNvPr id="38" name="Shape 30"/>
          <p:cNvSpPr/>
          <p:nvPr/>
        </p:nvSpPr>
        <p:spPr>
          <a:xfrm>
            <a:off x="411480" y="4069080"/>
            <a:ext cx="5120640" cy="2148840"/>
          </a:xfrm>
          <a:prstGeom prst="roundRect">
            <a:avLst>
              <a:gd name="adj" fmla="val 3404"/>
            </a:avLst>
          </a:prstGeom>
          <a:solidFill>
            <a:srgbClr val="EEF4F9"/>
          </a:solidFill>
          <a:ln w="12700">
            <a:solidFill>
              <a:srgbClr val="EEF4F9"/>
            </a:solidFill>
            <a:prstDash val="solid"/>
          </a:ln>
        </p:spPr>
        <p:txBody>
          <a:bodyPr/>
          <a:lstStyle/>
          <a:p>
            <a:endParaRPr lang="en-US"/>
          </a:p>
        </p:txBody>
      </p:sp>
      <p:sp>
        <p:nvSpPr>
          <p:cNvPr id="39" name="Text 31"/>
          <p:cNvSpPr txBox="1"/>
          <p:nvPr/>
        </p:nvSpPr>
        <p:spPr>
          <a:xfrm>
            <a:off x="594360" y="4160520"/>
            <a:ext cx="4846320" cy="365760"/>
          </a:xfrm>
          <a:prstGeom prst="rect">
            <a:avLst/>
          </a:prstGeom>
          <a:noFill/>
          <a:ln/>
        </p:spPr>
        <p:txBody>
          <a:bodyPr wrap="square" lIns="0" tIns="0" rIns="0" bIns="0" rtlCol="0" anchor="t"/>
          <a:lstStyle/>
          <a:p>
            <a:pPr marL="0" indent="0">
              <a:buNone/>
            </a:pPr>
            <a:r>
              <a:rPr lang="en-US" sz="1500" b="1" dirty="0">
                <a:solidFill>
                  <a:srgbClr val="1B517B"/>
                </a:solidFill>
                <a:latin typeface="Arial" pitchFamily="34" charset="0"/>
                <a:ea typeface="Arial" pitchFamily="34" charset="-122"/>
                <a:cs typeface="Arial" pitchFamily="34" charset="-120"/>
              </a:rPr>
              <a:t>Vì sao chọn cách chuỗi (thay vì đầu-cuối)</a:t>
            </a:r>
            <a:endParaRPr lang="en-US" sz="1500" dirty="0"/>
          </a:p>
        </p:txBody>
      </p:sp>
      <p:sp>
        <p:nvSpPr>
          <p:cNvPr id="40" name="Text 32"/>
          <p:cNvSpPr txBox="1"/>
          <p:nvPr/>
        </p:nvSpPr>
        <p:spPr>
          <a:xfrm>
            <a:off x="594360" y="4572000"/>
            <a:ext cx="4800600" cy="1600200"/>
          </a:xfrm>
          <a:prstGeom prst="rect">
            <a:avLst/>
          </a:prstGeom>
          <a:noFill/>
          <a:ln/>
        </p:spPr>
        <p:txBody>
          <a:bodyPr wrap="square" lIns="0" tIns="0" rIns="0" bIns="0" rtlCol="0" anchor="t"/>
          <a:lstStyle/>
          <a:p>
            <a:pPr marL="190500" indent="-1905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Đo được lỗi từng khâu: biết bản dịch sai do nghe nhầm hay dịch nhầm</a:t>
            </a:r>
            <a:endParaRPr lang="en-US" sz="1400" dirty="0"/>
          </a:p>
          <a:p>
            <a:pPr marL="190500" indent="-1905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Thay được từng khâu theo phần cứng: đổi runtime ASR không đụng khâu dịch</a:t>
            </a:r>
            <a:endParaRPr lang="en-US" sz="1400" dirty="0"/>
          </a:p>
          <a:p>
            <a:pPr marL="190500" indent="-1905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Mỗi khâu đã có mô hình mã nguồn mở đủ tốt, phủ đủ 4 ngôn ngữ</a:t>
            </a:r>
            <a:endParaRPr lang="en-US" sz="1400" dirty="0"/>
          </a:p>
        </p:txBody>
      </p:sp>
      <p:sp>
        <p:nvSpPr>
          <p:cNvPr id="41" name="Shape 33"/>
          <p:cNvSpPr/>
          <p:nvPr/>
        </p:nvSpPr>
        <p:spPr>
          <a:xfrm>
            <a:off x="5760720" y="4069080"/>
            <a:ext cx="4846320" cy="2148840"/>
          </a:xfrm>
          <a:prstGeom prst="roundRect">
            <a:avLst>
              <a:gd name="adj" fmla="val 3404"/>
            </a:avLst>
          </a:prstGeom>
          <a:solidFill>
            <a:srgbClr val="FBEDED"/>
          </a:solidFill>
          <a:ln w="12700">
            <a:solidFill>
              <a:srgbClr val="FBEDED"/>
            </a:solidFill>
            <a:prstDash val="solid"/>
          </a:ln>
        </p:spPr>
        <p:txBody>
          <a:bodyPr/>
          <a:lstStyle/>
          <a:p>
            <a:endParaRPr lang="en-US"/>
          </a:p>
        </p:txBody>
      </p:sp>
      <p:sp>
        <p:nvSpPr>
          <p:cNvPr id="42" name="Text 34"/>
          <p:cNvSpPr txBox="1"/>
          <p:nvPr/>
        </p:nvSpPr>
        <p:spPr>
          <a:xfrm>
            <a:off x="5943600" y="4160520"/>
            <a:ext cx="4572000" cy="365760"/>
          </a:xfrm>
          <a:prstGeom prst="rect">
            <a:avLst/>
          </a:prstGeom>
          <a:noFill/>
          <a:ln/>
        </p:spPr>
        <p:txBody>
          <a:bodyPr wrap="square" lIns="0" tIns="0" rIns="0" bIns="0" rtlCol="0" anchor="t"/>
          <a:lstStyle/>
          <a:p>
            <a:pPr marL="0" indent="0">
              <a:buNone/>
            </a:pPr>
            <a:r>
              <a:rPr lang="en-US" sz="1500" b="1" dirty="0">
                <a:solidFill>
                  <a:srgbClr val="B8262B"/>
                </a:solidFill>
                <a:latin typeface="Arial" pitchFamily="34" charset="0"/>
                <a:ea typeface="Arial" pitchFamily="34" charset="-122"/>
                <a:cs typeface="Arial" pitchFamily="34" charset="-120"/>
              </a:rPr>
              <a:t>Cái giá phải trả</a:t>
            </a:r>
            <a:endParaRPr lang="en-US" sz="1500" dirty="0"/>
          </a:p>
        </p:txBody>
      </p:sp>
      <p:sp>
        <p:nvSpPr>
          <p:cNvPr id="43" name="Text 35"/>
          <p:cNvSpPr txBox="1"/>
          <p:nvPr/>
        </p:nvSpPr>
        <p:spPr>
          <a:xfrm>
            <a:off x="5943600" y="4572000"/>
            <a:ext cx="4480560" cy="1600200"/>
          </a:xfrm>
          <a:prstGeom prst="rect">
            <a:avLst/>
          </a:prstGeom>
          <a:noFill/>
          <a:ln/>
        </p:spPr>
        <p:txBody>
          <a:bodyPr wrap="square" lIns="0" tIns="0" rIns="0" bIns="0" rtlCol="0" anchor="t"/>
          <a:lstStyle/>
          <a:p>
            <a:pPr marL="190500" indent="-1905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Lỗi cộng dồn: từ nghe nhầm được dịch luôn cái sai</a:t>
            </a:r>
            <a:endParaRPr lang="en-US" sz="1400" dirty="0"/>
          </a:p>
          <a:p>
            <a:pPr marL="190500" indent="-1905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Độ trễ cộng dồn: bốn khâu chạy nối tiếp</a:t>
            </a:r>
            <a:endParaRPr lang="en-US" sz="1400" dirty="0"/>
          </a:p>
          <a:p>
            <a:pPr marL="190500" indent="-1905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Cả hai được đo cụ thể ở phần III</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2" name="Image 0" descr="C:\Users\hhung\AppData\Local\Temp\claude\d--Project-local-live-voice-translator\d0343c7e-f558-4e8b-8c62-5b900df8bea6\scratchpad\build\img\deco_right.png"/>
          <p:cNvPicPr>
            <a:picLocks noChangeAspect="1"/>
          </p:cNvPicPr>
          <p:nvPr/>
        </p:nvPicPr>
        <p:blipFill>
          <a:blip r:embed="rId3"/>
          <a:stretch>
            <a:fillRect/>
          </a:stretch>
        </p:blipFill>
        <p:spPr>
          <a:xfrm>
            <a:off x="0" y="0"/>
            <a:ext cx="12191695" cy="6858000"/>
          </a:xfrm>
          <a:prstGeom prst="rect">
            <a:avLst/>
          </a:prstGeom>
        </p:spPr>
      </p:pic>
      <p:pic>
        <p:nvPicPr>
          <p:cNvPr id="3" name="Image 1" descr="C:\Users\hhung\AppData\Local\Temp\claude\d--Project-local-live-voice-translator\d0343c7e-f558-4e8b-8c62-5b900df8bea6\scratchpad\build\img\logo_header.png"/>
          <p:cNvPicPr>
            <a:picLocks noChangeAspect="1"/>
          </p:cNvPicPr>
          <p:nvPr/>
        </p:nvPicPr>
        <p:blipFill>
          <a:blip r:embed="rId4"/>
          <a:stretch>
            <a:fillRect/>
          </a:stretch>
        </p:blipFill>
        <p:spPr>
          <a:xfrm>
            <a:off x="8549640" y="292608"/>
            <a:ext cx="2560320" cy="459250"/>
          </a:xfrm>
          <a:prstGeom prst="rect">
            <a:avLst/>
          </a:prstGeom>
        </p:spPr>
      </p:pic>
      <p:sp>
        <p:nvSpPr>
          <p:cNvPr id="4" name="Text 0"/>
          <p:cNvSpPr txBox="1"/>
          <p:nvPr/>
        </p:nvSpPr>
        <p:spPr>
          <a:xfrm>
            <a:off x="411480" y="256032"/>
            <a:ext cx="7955280" cy="548640"/>
          </a:xfrm>
          <a:prstGeom prst="rect">
            <a:avLst/>
          </a:prstGeom>
          <a:noFill/>
          <a:ln/>
        </p:spPr>
        <p:txBody>
          <a:bodyPr wrap="square" lIns="0" tIns="0" rIns="0" bIns="0" rtlCol="0" anchor="t"/>
          <a:lstStyle/>
          <a:p>
            <a:pPr marL="0" indent="0">
              <a:buNone/>
            </a:pPr>
            <a:r>
              <a:rPr lang="en-US" sz="2800" b="1" dirty="0">
                <a:solidFill>
                  <a:srgbClr val="487BA2"/>
                </a:solidFill>
                <a:latin typeface="Arial" pitchFamily="34" charset="0"/>
                <a:ea typeface="Arial" pitchFamily="34" charset="-122"/>
                <a:cs typeface="Arial" pitchFamily="34" charset="-120"/>
              </a:rPr>
              <a:t>II. Phương pháp thực hiện</a:t>
            </a:r>
            <a:endParaRPr lang="en-US" sz="2800" dirty="0"/>
          </a:p>
        </p:txBody>
      </p:sp>
      <p:sp>
        <p:nvSpPr>
          <p:cNvPr id="5" name="Text 1"/>
          <p:cNvSpPr txBox="1"/>
          <p:nvPr/>
        </p:nvSpPr>
        <p:spPr>
          <a:xfrm>
            <a:off x="411480" y="841248"/>
            <a:ext cx="8046720" cy="411480"/>
          </a:xfrm>
          <a:prstGeom prst="rect">
            <a:avLst/>
          </a:prstGeom>
          <a:noFill/>
          <a:ln/>
        </p:spPr>
        <p:txBody>
          <a:bodyPr wrap="square" lIns="0" tIns="0" rIns="0" bIns="0" rtlCol="0" anchor="t"/>
          <a:lstStyle/>
          <a:p>
            <a:pPr marL="0" indent="0">
              <a:buNone/>
            </a:pPr>
            <a:r>
              <a:rPr lang="en-US" sz="2000" dirty="0">
                <a:solidFill>
                  <a:srgbClr val="1B517B"/>
                </a:solidFill>
                <a:latin typeface="Arial" pitchFamily="34" charset="0"/>
                <a:ea typeface="Arial" pitchFamily="34" charset="-122"/>
                <a:cs typeface="Arial" pitchFamily="34" charset="-120"/>
              </a:rPr>
              <a:t>1. Lựa chọn mô hình</a:t>
            </a:r>
            <a:endParaRPr lang="en-US" sz="2000" dirty="0"/>
          </a:p>
        </p:txBody>
      </p:sp>
      <p:sp>
        <p:nvSpPr>
          <p:cNvPr id="6" name="Text 2"/>
          <p:cNvSpPr txBox="1"/>
          <p:nvPr/>
        </p:nvSpPr>
        <p:spPr>
          <a:xfrm>
            <a:off x="10104120" y="6355080"/>
            <a:ext cx="548640" cy="274320"/>
          </a:xfrm>
          <a:prstGeom prst="rect">
            <a:avLst/>
          </a:prstGeom>
          <a:noFill/>
          <a:ln/>
        </p:spPr>
        <p:txBody>
          <a:bodyPr wrap="square" lIns="0" tIns="0" rIns="0" bIns="0" rtlCol="0" anchor="t"/>
          <a:lstStyle/>
          <a:p>
            <a:pPr marL="0" indent="0" algn="r">
              <a:buNone/>
            </a:pPr>
            <a:r>
              <a:rPr lang="en-US" sz="1100" dirty="0">
                <a:solidFill>
                  <a:srgbClr val="5F6B76"/>
                </a:solidFill>
                <a:latin typeface="Arial" pitchFamily="34" charset="0"/>
                <a:ea typeface="Arial" pitchFamily="34" charset="-122"/>
                <a:cs typeface="Arial" pitchFamily="34" charset="-120"/>
              </a:rPr>
              <a:t>8</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417320"/>
          <a:ext cx="10332720" cy="3383280"/>
        </p:xfrm>
        <a:graphic>
          <a:graphicData uri="http://schemas.openxmlformats.org/drawingml/2006/table">
            <a:tbl>
              <a:tblPr/>
              <a:tblGrid>
                <a:gridCol w="91440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411480">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Khâu</a:t>
                      </a:r>
                      <a:endParaRPr lang="en-US" sz="1400" dirty="0">
                        <a:latin typeface="Arial" charset="0"/>
                        <a:ea typeface="Arial" charset="0"/>
                        <a:cs typeface="Arial" charset="0"/>
                      </a:endParaRPr>
                    </a:p>
                  </a:txBody>
                  <a:tcPr marL="73152" marR="73152" marT="73152" marB="73152"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1B517B"/>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Mô hình / runtime</a:t>
                      </a:r>
                      <a:endParaRPr lang="en-US" sz="1400" dirty="0">
                        <a:latin typeface="Arial" charset="0"/>
                        <a:ea typeface="Arial" charset="0"/>
                        <a:cs typeface="Arial" charset="0"/>
                      </a:endParaRPr>
                    </a:p>
                  </a:txBody>
                  <a:tcPr marL="73152" marR="73152" marT="73152" marB="73152"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1B517B"/>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Lý do chọn</a:t>
                      </a:r>
                      <a:endParaRPr lang="en-US" sz="1400" dirty="0">
                        <a:latin typeface="Arial" charset="0"/>
                        <a:ea typeface="Arial" charset="0"/>
                        <a:cs typeface="Arial" charset="0"/>
                      </a:endParaRPr>
                    </a:p>
                  </a:txBody>
                  <a:tcPr marL="73152" marR="73152" marT="73152" marB="73152"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1B517B"/>
                    </a:solidFill>
                  </a:tcPr>
                </a:tc>
                <a:extLst>
                  <a:ext uri="{0D108BD9-81ED-4DB2-BD59-A6C34878D82A}">
                    <a16:rowId xmlns:a16="http://schemas.microsoft.com/office/drawing/2014/main" val="10000"/>
                  </a:ext>
                </a:extLst>
              </a:tr>
              <a:tr h="548640">
                <a:tc>
                  <a:txBody>
                    <a:bodyPr/>
                    <a:lstStyle/>
                    <a:p>
                      <a:pPr marL="0" indent="0" algn="ctr">
                        <a:buNone/>
                      </a:pPr>
                      <a:r>
                        <a:rPr lang="en-US" sz="1400" b="1" dirty="0">
                          <a:solidFill>
                            <a:srgbClr val="1B517B"/>
                          </a:solidFill>
                          <a:latin typeface="Arial" pitchFamily="34" charset="0"/>
                          <a:ea typeface="Arial" pitchFamily="34" charset="-122"/>
                          <a:cs typeface="Arial" pitchFamily="34" charset="-120"/>
                        </a:rPr>
                        <a:t>VAD</a:t>
                      </a:r>
                      <a:endParaRPr lang="en-US" sz="1400" dirty="0">
                        <a:latin typeface="Arial" charset="0"/>
                        <a:ea typeface="Arial" charset="0"/>
                        <a:cs typeface="Arial" charset="0"/>
                      </a:endParaRPr>
                    </a:p>
                  </a:txBody>
                  <a:tcPr marL="73152" marR="73152" marT="73152" marB="73152"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EEF4F9"/>
                    </a:solidFill>
                  </a:tcPr>
                </a:tc>
                <a:tc>
                  <a:txBody>
                    <a:bodyPr/>
                    <a:lstStyle/>
                    <a:p>
                      <a:pPr marL="0" indent="0">
                        <a:buNone/>
                      </a:pPr>
                      <a:r>
                        <a:rPr lang="en-US" sz="1400" dirty="0">
                          <a:solidFill>
                            <a:srgbClr val="000000"/>
                          </a:solidFill>
                          <a:latin typeface="Arial" pitchFamily="34" charset="0"/>
                          <a:ea typeface="Arial" pitchFamily="34" charset="-122"/>
                          <a:cs typeface="Arial" pitchFamily="34" charset="-120"/>
                        </a:rPr>
                        <a:t>Silero VAD [24]</a:t>
                      </a:r>
                      <a:endParaRPr lang="en-US" sz="1400" dirty="0">
                        <a:latin typeface="Arial" charset="0"/>
                        <a:ea typeface="Arial" charset="0"/>
                        <a:cs typeface="Arial" charset="0"/>
                      </a:endParaRPr>
                    </a:p>
                  </a:txBody>
                  <a:tcPr marL="73152" marR="73152" marT="73152" marB="73152"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400" dirty="0">
                          <a:solidFill>
                            <a:srgbClr val="000000"/>
                          </a:solidFill>
                          <a:latin typeface="Arial" pitchFamily="34" charset="0"/>
                          <a:ea typeface="Arial" pitchFamily="34" charset="-122"/>
                          <a:cs typeface="Arial" pitchFamily="34" charset="-120"/>
                        </a:rPr>
                        <a:t>~1 MB, chạy CPU, xử lý cửa sổ 32 ms trong vài chục ms</a:t>
                      </a:r>
                      <a:endParaRPr lang="en-US" sz="1400" dirty="0">
                        <a:latin typeface="Arial" charset="0"/>
                        <a:ea typeface="Arial" charset="0"/>
                        <a:cs typeface="Arial" charset="0"/>
                      </a:endParaRPr>
                    </a:p>
                  </a:txBody>
                  <a:tcPr marL="73152" marR="73152" marT="73152" marB="73152"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extLst>
                  <a:ext uri="{0D108BD9-81ED-4DB2-BD59-A6C34878D82A}">
                    <a16:rowId xmlns:a16="http://schemas.microsoft.com/office/drawing/2014/main" val="10001"/>
                  </a:ext>
                </a:extLst>
              </a:tr>
              <a:tr h="960120">
                <a:tc>
                  <a:txBody>
                    <a:bodyPr/>
                    <a:lstStyle/>
                    <a:p>
                      <a:pPr marL="0" indent="0" algn="ctr">
                        <a:buNone/>
                      </a:pPr>
                      <a:r>
                        <a:rPr lang="en-US" sz="1400" b="1" dirty="0">
                          <a:solidFill>
                            <a:srgbClr val="1B517B"/>
                          </a:solidFill>
                          <a:latin typeface="Arial" pitchFamily="34" charset="0"/>
                          <a:ea typeface="Arial" pitchFamily="34" charset="-122"/>
                          <a:cs typeface="Arial" pitchFamily="34" charset="-120"/>
                        </a:rPr>
                        <a:t>ASR</a:t>
                      </a:r>
                      <a:endParaRPr lang="en-US" sz="1400" dirty="0">
                        <a:latin typeface="Arial" charset="0"/>
                        <a:ea typeface="Arial" charset="0"/>
                        <a:cs typeface="Arial" charset="0"/>
                      </a:endParaRPr>
                    </a:p>
                  </a:txBody>
                  <a:tcPr marL="73152" marR="73152" marT="73152" marB="73152"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EEF4F9"/>
                    </a:solidFill>
                  </a:tcPr>
                </a:tc>
                <a:tc>
                  <a:txBody>
                    <a:bodyPr/>
                    <a:lstStyle/>
                    <a:p>
                      <a:pPr marL="0" indent="0">
                        <a:buNone/>
                      </a:pPr>
                      <a:r>
                        <a:rPr lang="en-US" sz="1400" dirty="0">
                          <a:solidFill>
                            <a:srgbClr val="000000"/>
                          </a:solidFill>
                          <a:latin typeface="Arial" pitchFamily="34" charset="0"/>
                          <a:ea typeface="Arial" pitchFamily="34" charset="-122"/>
                          <a:cs typeface="Arial" pitchFamily="34" charset="-120"/>
                        </a:rPr>
                        <a:t>Whisper large-v3 / large-v3-turbo [19] trên 3 runtime: whisper.cpp (Vulkan, Metal), faster-whisper (CUDA), MLX (Apple Silicon)</a:t>
                      </a:r>
                      <a:endParaRPr lang="en-US" sz="1400" dirty="0">
                        <a:latin typeface="Arial" charset="0"/>
                        <a:ea typeface="Arial" charset="0"/>
                        <a:cs typeface="Arial" charset="0"/>
                      </a:endParaRPr>
                    </a:p>
                  </a:txBody>
                  <a:tcPr marL="73152" marR="73152" marT="73152" marB="73152"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400" dirty="0">
                          <a:solidFill>
                            <a:srgbClr val="000000"/>
                          </a:solidFill>
                          <a:latin typeface="Arial" pitchFamily="34" charset="0"/>
                          <a:ea typeface="Arial" pitchFamily="34" charset="-122"/>
                          <a:cs typeface="Arial" pitchFamily="34" charset="-120"/>
                        </a:rPr>
                        <a:t>Đa ngôn ngữ sẵn; có bản lượng tử hóa chạy được trên máy cá nhân; mỗi nền tảng một runtime nhanh nhất</a:t>
                      </a:r>
                      <a:endParaRPr lang="en-US" sz="1400" dirty="0">
                        <a:latin typeface="Arial" charset="0"/>
                        <a:ea typeface="Arial" charset="0"/>
                        <a:cs typeface="Arial" charset="0"/>
                      </a:endParaRPr>
                    </a:p>
                  </a:txBody>
                  <a:tcPr marL="73152" marR="73152" marT="73152" marB="73152"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extLst>
                  <a:ext uri="{0D108BD9-81ED-4DB2-BD59-A6C34878D82A}">
                    <a16:rowId xmlns:a16="http://schemas.microsoft.com/office/drawing/2014/main" val="10002"/>
                  </a:ext>
                </a:extLst>
              </a:tr>
              <a:tr h="731520">
                <a:tc>
                  <a:txBody>
                    <a:bodyPr/>
                    <a:lstStyle/>
                    <a:p>
                      <a:pPr marL="0" indent="0" algn="ctr">
                        <a:buNone/>
                      </a:pPr>
                      <a:r>
                        <a:rPr lang="en-US" sz="1400" b="1" dirty="0">
                          <a:solidFill>
                            <a:srgbClr val="1B517B"/>
                          </a:solidFill>
                          <a:latin typeface="Arial" pitchFamily="34" charset="0"/>
                          <a:ea typeface="Arial" pitchFamily="34" charset="-122"/>
                          <a:cs typeface="Arial" pitchFamily="34" charset="-120"/>
                        </a:rPr>
                        <a:t>MT</a:t>
                      </a:r>
                      <a:endParaRPr lang="en-US" sz="1400" dirty="0">
                        <a:latin typeface="Arial" charset="0"/>
                        <a:ea typeface="Arial" charset="0"/>
                        <a:cs typeface="Arial" charset="0"/>
                      </a:endParaRPr>
                    </a:p>
                  </a:txBody>
                  <a:tcPr marL="73152" marR="73152" marT="73152" marB="73152"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EEF4F9"/>
                    </a:solidFill>
                  </a:tcPr>
                </a:tc>
                <a:tc>
                  <a:txBody>
                    <a:bodyPr/>
                    <a:lstStyle/>
                    <a:p>
                      <a:pPr marL="0" indent="0">
                        <a:buNone/>
                      </a:pPr>
                      <a:r>
                        <a:rPr lang="en-US" sz="1400" dirty="0">
                          <a:solidFill>
                            <a:srgbClr val="000000"/>
                          </a:solidFill>
                          <a:latin typeface="Arial" pitchFamily="34" charset="0"/>
                          <a:ea typeface="Arial" pitchFamily="34" charset="-122"/>
                          <a:cs typeface="Arial" pitchFamily="34" charset="-120"/>
                        </a:rPr>
                        <a:t>NLLB-200 distilled 600M [4]</a:t>
                      </a:r>
                      <a:endParaRPr lang="en-US" sz="1400" dirty="0">
                        <a:latin typeface="Arial" charset="0"/>
                        <a:ea typeface="Arial" charset="0"/>
                        <a:cs typeface="Arial" charset="0"/>
                      </a:endParaRPr>
                    </a:p>
                  </a:txBody>
                  <a:tcPr marL="73152" marR="73152" marT="73152" marB="73152"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400" dirty="0">
                          <a:solidFill>
                            <a:srgbClr val="000000"/>
                          </a:solidFill>
                          <a:latin typeface="Arial" pitchFamily="34" charset="0"/>
                          <a:ea typeface="Arial" pitchFamily="34" charset="-122"/>
                          <a:cs typeface="Arial" pitchFamily="34" charset="-120"/>
                        </a:rPr>
                        <a:t>Một mô hình phủ đủ 6 chiều, dịch trực tiếp Việt ↔ Nhật / Trung không qua tiếng Anh</a:t>
                      </a:r>
                      <a:endParaRPr lang="en-US" sz="1400" dirty="0">
                        <a:latin typeface="Arial" charset="0"/>
                        <a:ea typeface="Arial" charset="0"/>
                        <a:cs typeface="Arial" charset="0"/>
                      </a:endParaRPr>
                    </a:p>
                  </a:txBody>
                  <a:tcPr marL="73152" marR="73152" marT="73152" marB="73152"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extLst>
                  <a:ext uri="{0D108BD9-81ED-4DB2-BD59-A6C34878D82A}">
                    <a16:rowId xmlns:a16="http://schemas.microsoft.com/office/drawing/2014/main" val="10003"/>
                  </a:ext>
                </a:extLst>
              </a:tr>
              <a:tr h="731520">
                <a:tc>
                  <a:txBody>
                    <a:bodyPr/>
                    <a:lstStyle/>
                    <a:p>
                      <a:pPr marL="0" indent="0" algn="ctr">
                        <a:buNone/>
                      </a:pPr>
                      <a:r>
                        <a:rPr lang="en-US" sz="1400" b="1" dirty="0">
                          <a:solidFill>
                            <a:srgbClr val="1B517B"/>
                          </a:solidFill>
                          <a:latin typeface="Arial" pitchFamily="34" charset="0"/>
                          <a:ea typeface="Arial" pitchFamily="34" charset="-122"/>
                          <a:cs typeface="Arial" pitchFamily="34" charset="-120"/>
                        </a:rPr>
                        <a:t>TTS</a:t>
                      </a:r>
                      <a:endParaRPr lang="en-US" sz="1400" dirty="0">
                        <a:latin typeface="Arial" charset="0"/>
                        <a:ea typeface="Arial" charset="0"/>
                        <a:cs typeface="Arial" charset="0"/>
                      </a:endParaRPr>
                    </a:p>
                  </a:txBody>
                  <a:tcPr marL="73152" marR="73152" marT="73152" marB="73152"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EEF4F9"/>
                    </a:solidFill>
                  </a:tcPr>
                </a:tc>
                <a:tc>
                  <a:txBody>
                    <a:bodyPr/>
                    <a:lstStyle/>
                    <a:p>
                      <a:pPr marL="0" indent="0">
                        <a:buNone/>
                      </a:pPr>
                      <a:r>
                        <a:rPr lang="en-US" sz="1400" dirty="0">
                          <a:solidFill>
                            <a:srgbClr val="000000"/>
                          </a:solidFill>
                          <a:latin typeface="Arial" pitchFamily="34" charset="0"/>
                          <a:ea typeface="Arial" pitchFamily="34" charset="-122"/>
                          <a:cs typeface="Arial" pitchFamily="34" charset="-120"/>
                        </a:rPr>
                        <a:t>sherpa-onnx [12] (vi, en, zh) + Kokoro [9] với OpenJTalk (ja)</a:t>
                      </a:r>
                      <a:endParaRPr lang="en-US" sz="1400" dirty="0">
                        <a:latin typeface="Arial" charset="0"/>
                        <a:ea typeface="Arial" charset="0"/>
                        <a:cs typeface="Arial" charset="0"/>
                      </a:endParaRPr>
                    </a:p>
                  </a:txBody>
                  <a:tcPr marL="73152" marR="73152" marT="73152" marB="73152"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400" dirty="0">
                          <a:solidFill>
                            <a:srgbClr val="000000"/>
                          </a:solidFill>
                          <a:latin typeface="Arial" pitchFamily="34" charset="0"/>
                          <a:ea typeface="Arial" pitchFamily="34" charset="-122"/>
                          <a:cs typeface="Arial" pitchFamily="34" charset="-120"/>
                        </a:rPr>
                        <a:t>Chạy ONNX offline; sherpa-onnx không có front-end tiếng Nhật dùng được nên ghép thêm Kokoro</a:t>
                      </a:r>
                      <a:endParaRPr lang="en-US" sz="1400" dirty="0">
                        <a:latin typeface="Arial" charset="0"/>
                        <a:ea typeface="Arial" charset="0"/>
                        <a:cs typeface="Arial" charset="0"/>
                      </a:endParaRPr>
                    </a:p>
                  </a:txBody>
                  <a:tcPr marL="73152" marR="73152" marT="73152" marB="73152"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8" name="Text 3"/>
          <p:cNvSpPr txBox="1"/>
          <p:nvPr/>
        </p:nvSpPr>
        <p:spPr>
          <a:xfrm>
            <a:off x="411480" y="4983480"/>
            <a:ext cx="5486400" cy="320040"/>
          </a:xfrm>
          <a:prstGeom prst="rect">
            <a:avLst/>
          </a:prstGeom>
          <a:noFill/>
          <a:ln/>
        </p:spPr>
        <p:txBody>
          <a:bodyPr wrap="square" lIns="0" tIns="0" rIns="0" bIns="0" rtlCol="0" anchor="t"/>
          <a:lstStyle/>
          <a:p>
            <a:pPr marL="0" indent="0">
              <a:buNone/>
            </a:pPr>
            <a:r>
              <a:rPr lang="en-US" sz="1500" b="1" dirty="0">
                <a:solidFill>
                  <a:srgbClr val="1B517B"/>
                </a:solidFill>
                <a:latin typeface="Arial" pitchFamily="34" charset="0"/>
                <a:ea typeface="Arial" pitchFamily="34" charset="-122"/>
                <a:cs typeface="Arial" pitchFamily="34" charset="-120"/>
              </a:rPr>
              <a:t>Ba mức cấu hình sẵn, đổi được ngay trong ứng dụng:</a:t>
            </a:r>
            <a:endParaRPr lang="en-US" sz="1500" dirty="0"/>
          </a:p>
        </p:txBody>
      </p:sp>
      <p:sp>
        <p:nvSpPr>
          <p:cNvPr id="7" name="Shape 4"/>
          <p:cNvSpPr/>
          <p:nvPr/>
        </p:nvSpPr>
        <p:spPr>
          <a:xfrm>
            <a:off x="411480" y="5394960"/>
            <a:ext cx="3200400" cy="777240"/>
          </a:xfrm>
          <a:prstGeom prst="roundRect">
            <a:avLst>
              <a:gd name="adj" fmla="val 9412"/>
            </a:avLst>
          </a:prstGeom>
          <a:solidFill>
            <a:srgbClr val="EEF4F9"/>
          </a:solidFill>
          <a:ln w="12700">
            <a:solidFill>
              <a:srgbClr val="EEF4F9"/>
            </a:solidFill>
            <a:prstDash val="solid"/>
          </a:ln>
        </p:spPr>
        <p:txBody>
          <a:bodyPr/>
          <a:lstStyle/>
          <a:p>
            <a:endParaRPr lang="en-US"/>
          </a:p>
        </p:txBody>
      </p:sp>
      <p:sp>
        <p:nvSpPr>
          <p:cNvPr id="10" name="Text 5"/>
          <p:cNvSpPr txBox="1"/>
          <p:nvPr/>
        </p:nvSpPr>
        <p:spPr>
          <a:xfrm>
            <a:off x="548640" y="5394960"/>
            <a:ext cx="2926080" cy="777240"/>
          </a:xfrm>
          <a:prstGeom prst="rect">
            <a:avLst/>
          </a:prstGeom>
          <a:noFill/>
          <a:ln/>
        </p:spPr>
        <p:txBody>
          <a:bodyPr wrap="square" lIns="0" tIns="0" rIns="0" bIns="0" rtlCol="0" anchor="ctr"/>
          <a:lstStyle/>
          <a:p>
            <a:pPr marL="0" indent="0">
              <a:buNone/>
            </a:pPr>
            <a:r>
              <a:rPr lang="en-US" sz="1500" b="1" dirty="0">
                <a:solidFill>
                  <a:srgbClr val="1B517B"/>
                </a:solidFill>
                <a:latin typeface="Arial" pitchFamily="34" charset="0"/>
                <a:ea typeface="Arial" pitchFamily="34" charset="-122"/>
                <a:cs typeface="Arial" pitchFamily="34" charset="-120"/>
              </a:rPr>
              <a:t>Nhanh</a:t>
            </a:r>
            <a:endParaRPr lang="en-US" sz="1500" dirty="0"/>
          </a:p>
          <a:p>
            <a:pPr marL="0" indent="0">
              <a:buNone/>
            </a:pPr>
            <a:r>
              <a:rPr lang="en-US" sz="1200" dirty="0">
                <a:solidFill>
                  <a:srgbClr val="5F6B76"/>
                </a:solidFill>
                <a:latin typeface="Arial" pitchFamily="34" charset="0"/>
                <a:ea typeface="Arial" pitchFamily="34" charset="-122"/>
                <a:cs typeface="Arial" pitchFamily="34" charset="-120"/>
              </a:rPr>
              <a:t>whisper small · trần câu 4,5 s</a:t>
            </a:r>
            <a:endParaRPr lang="en-US" sz="1500" dirty="0"/>
          </a:p>
        </p:txBody>
      </p:sp>
      <p:sp>
        <p:nvSpPr>
          <p:cNvPr id="11" name="Shape 6"/>
          <p:cNvSpPr/>
          <p:nvPr/>
        </p:nvSpPr>
        <p:spPr>
          <a:xfrm>
            <a:off x="3886200" y="5394960"/>
            <a:ext cx="3200400" cy="777240"/>
          </a:xfrm>
          <a:prstGeom prst="roundRect">
            <a:avLst>
              <a:gd name="adj" fmla="val 9412"/>
            </a:avLst>
          </a:prstGeom>
          <a:solidFill>
            <a:srgbClr val="DCE8F2"/>
          </a:solidFill>
          <a:ln w="12700">
            <a:solidFill>
              <a:srgbClr val="DCE8F2"/>
            </a:solidFill>
            <a:prstDash val="solid"/>
          </a:ln>
        </p:spPr>
        <p:txBody>
          <a:bodyPr/>
          <a:lstStyle/>
          <a:p>
            <a:endParaRPr lang="en-US"/>
          </a:p>
        </p:txBody>
      </p:sp>
      <p:sp>
        <p:nvSpPr>
          <p:cNvPr id="12" name="Text 7"/>
          <p:cNvSpPr txBox="1"/>
          <p:nvPr/>
        </p:nvSpPr>
        <p:spPr>
          <a:xfrm>
            <a:off x="4023360" y="5394960"/>
            <a:ext cx="2926080" cy="777240"/>
          </a:xfrm>
          <a:prstGeom prst="rect">
            <a:avLst/>
          </a:prstGeom>
          <a:noFill/>
          <a:ln/>
        </p:spPr>
        <p:txBody>
          <a:bodyPr wrap="square" lIns="0" tIns="0" rIns="0" bIns="0" rtlCol="0" anchor="ctr"/>
          <a:lstStyle/>
          <a:p>
            <a:pPr marL="0" indent="0">
              <a:buNone/>
            </a:pPr>
            <a:r>
              <a:rPr lang="en-US" sz="1500" b="1" dirty="0">
                <a:solidFill>
                  <a:srgbClr val="1B517B"/>
                </a:solidFill>
                <a:latin typeface="Arial" pitchFamily="34" charset="0"/>
                <a:ea typeface="Arial" pitchFamily="34" charset="-122"/>
                <a:cs typeface="Arial" pitchFamily="34" charset="-120"/>
              </a:rPr>
              <a:t>Cân bằng</a:t>
            </a:r>
            <a:endParaRPr lang="en-US" sz="1500" dirty="0"/>
          </a:p>
          <a:p>
            <a:pPr marL="0" indent="0">
              <a:buNone/>
            </a:pPr>
            <a:r>
              <a:rPr lang="en-US" sz="1200" dirty="0">
                <a:solidFill>
                  <a:srgbClr val="5F6B76"/>
                </a:solidFill>
                <a:latin typeface="Arial" pitchFamily="34" charset="0"/>
                <a:ea typeface="Arial" pitchFamily="34" charset="-122"/>
                <a:cs typeface="Arial" pitchFamily="34" charset="-120"/>
              </a:rPr>
              <a:t>large-v3-turbo q5 · trần câu 6 s</a:t>
            </a:r>
            <a:endParaRPr lang="en-US" sz="1500" dirty="0"/>
          </a:p>
        </p:txBody>
      </p:sp>
      <p:sp>
        <p:nvSpPr>
          <p:cNvPr id="13" name="Shape 8"/>
          <p:cNvSpPr/>
          <p:nvPr/>
        </p:nvSpPr>
        <p:spPr>
          <a:xfrm>
            <a:off x="7360920" y="5394960"/>
            <a:ext cx="3200400" cy="777240"/>
          </a:xfrm>
          <a:prstGeom prst="roundRect">
            <a:avLst>
              <a:gd name="adj" fmla="val 9412"/>
            </a:avLst>
          </a:prstGeom>
          <a:solidFill>
            <a:srgbClr val="EEF4F9"/>
          </a:solidFill>
          <a:ln w="12700">
            <a:solidFill>
              <a:srgbClr val="EEF4F9"/>
            </a:solidFill>
            <a:prstDash val="solid"/>
          </a:ln>
        </p:spPr>
        <p:txBody>
          <a:bodyPr/>
          <a:lstStyle/>
          <a:p>
            <a:endParaRPr lang="en-US"/>
          </a:p>
        </p:txBody>
      </p:sp>
      <p:sp>
        <p:nvSpPr>
          <p:cNvPr id="14" name="Text 9"/>
          <p:cNvSpPr txBox="1"/>
          <p:nvPr/>
        </p:nvSpPr>
        <p:spPr>
          <a:xfrm>
            <a:off x="7498080" y="5394960"/>
            <a:ext cx="2926080" cy="777240"/>
          </a:xfrm>
          <a:prstGeom prst="rect">
            <a:avLst/>
          </a:prstGeom>
          <a:noFill/>
          <a:ln/>
        </p:spPr>
        <p:txBody>
          <a:bodyPr wrap="square" lIns="0" tIns="0" rIns="0" bIns="0" rtlCol="0" anchor="ctr"/>
          <a:lstStyle/>
          <a:p>
            <a:pPr marL="0" indent="0">
              <a:buNone/>
            </a:pPr>
            <a:r>
              <a:rPr lang="en-US" sz="1500" b="1" dirty="0">
                <a:solidFill>
                  <a:srgbClr val="1B517B"/>
                </a:solidFill>
                <a:latin typeface="Arial" pitchFamily="34" charset="0"/>
                <a:ea typeface="Arial" pitchFamily="34" charset="-122"/>
                <a:cs typeface="Arial" pitchFamily="34" charset="-120"/>
              </a:rPr>
              <a:t>Chất lượng</a:t>
            </a:r>
            <a:endParaRPr lang="en-US" sz="1500" dirty="0"/>
          </a:p>
          <a:p>
            <a:pPr marL="0" indent="0">
              <a:buNone/>
            </a:pPr>
            <a:r>
              <a:rPr lang="en-US" sz="1200" dirty="0">
                <a:solidFill>
                  <a:srgbClr val="5F6B76"/>
                </a:solidFill>
                <a:latin typeface="Arial" pitchFamily="34" charset="0"/>
                <a:ea typeface="Arial" pitchFamily="34" charset="-122"/>
                <a:cs typeface="Arial" pitchFamily="34" charset="-120"/>
              </a:rPr>
              <a:t>large-v3 · trần câu 8 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pic>
        <p:nvPicPr>
          <p:cNvPr id="2" name="Image 0" descr="C:\Users\hhung\AppData\Local\Temp\claude\d--Project-local-live-voice-translator\d0343c7e-f558-4e8b-8c62-5b900df8bea6\scratchpad\build\img\deco_right.png"/>
          <p:cNvPicPr>
            <a:picLocks noChangeAspect="1"/>
          </p:cNvPicPr>
          <p:nvPr/>
        </p:nvPicPr>
        <p:blipFill>
          <a:blip r:embed="rId3"/>
          <a:stretch>
            <a:fillRect/>
          </a:stretch>
        </p:blipFill>
        <p:spPr>
          <a:xfrm>
            <a:off x="0" y="0"/>
            <a:ext cx="12191695" cy="6858000"/>
          </a:xfrm>
          <a:prstGeom prst="rect">
            <a:avLst/>
          </a:prstGeom>
        </p:spPr>
      </p:pic>
      <p:pic>
        <p:nvPicPr>
          <p:cNvPr id="3" name="Image 1" descr="C:\Users\hhung\AppData\Local\Temp\claude\d--Project-local-live-voice-translator\d0343c7e-f558-4e8b-8c62-5b900df8bea6\scratchpad\build\img\logo_header.png"/>
          <p:cNvPicPr>
            <a:picLocks noChangeAspect="1"/>
          </p:cNvPicPr>
          <p:nvPr/>
        </p:nvPicPr>
        <p:blipFill>
          <a:blip r:embed="rId4"/>
          <a:stretch>
            <a:fillRect/>
          </a:stretch>
        </p:blipFill>
        <p:spPr>
          <a:xfrm>
            <a:off x="8549640" y="292608"/>
            <a:ext cx="2560320" cy="459250"/>
          </a:xfrm>
          <a:prstGeom prst="rect">
            <a:avLst/>
          </a:prstGeom>
        </p:spPr>
      </p:pic>
      <p:sp>
        <p:nvSpPr>
          <p:cNvPr id="4" name="Text 0"/>
          <p:cNvSpPr txBox="1"/>
          <p:nvPr/>
        </p:nvSpPr>
        <p:spPr>
          <a:xfrm>
            <a:off x="411480" y="256032"/>
            <a:ext cx="7955280" cy="548640"/>
          </a:xfrm>
          <a:prstGeom prst="rect">
            <a:avLst/>
          </a:prstGeom>
          <a:noFill/>
          <a:ln/>
        </p:spPr>
        <p:txBody>
          <a:bodyPr wrap="square" lIns="0" tIns="0" rIns="0" bIns="0" rtlCol="0" anchor="t"/>
          <a:lstStyle/>
          <a:p>
            <a:pPr marL="0" indent="0">
              <a:buNone/>
            </a:pPr>
            <a:r>
              <a:rPr lang="en-US" sz="2800" b="1" dirty="0">
                <a:solidFill>
                  <a:srgbClr val="487BA2"/>
                </a:solidFill>
                <a:latin typeface="Arial" pitchFamily="34" charset="0"/>
                <a:ea typeface="Arial" pitchFamily="34" charset="-122"/>
                <a:cs typeface="Arial" pitchFamily="34" charset="-120"/>
              </a:rPr>
              <a:t>II. Phương pháp thực hiện</a:t>
            </a:r>
            <a:endParaRPr lang="en-US" sz="2800" dirty="0"/>
          </a:p>
        </p:txBody>
      </p:sp>
      <p:sp>
        <p:nvSpPr>
          <p:cNvPr id="5" name="Text 1"/>
          <p:cNvSpPr txBox="1"/>
          <p:nvPr/>
        </p:nvSpPr>
        <p:spPr>
          <a:xfrm>
            <a:off x="411480" y="841248"/>
            <a:ext cx="8046720" cy="411480"/>
          </a:xfrm>
          <a:prstGeom prst="rect">
            <a:avLst/>
          </a:prstGeom>
          <a:noFill/>
          <a:ln/>
        </p:spPr>
        <p:txBody>
          <a:bodyPr wrap="square" lIns="0" tIns="0" rIns="0" bIns="0" rtlCol="0" anchor="t"/>
          <a:lstStyle/>
          <a:p>
            <a:pPr marL="0" indent="0">
              <a:buNone/>
            </a:pPr>
            <a:r>
              <a:rPr lang="en-US" sz="2000" dirty="0">
                <a:solidFill>
                  <a:srgbClr val="1B517B"/>
                </a:solidFill>
                <a:latin typeface="Arial" pitchFamily="34" charset="0"/>
                <a:ea typeface="Arial" pitchFamily="34" charset="-122"/>
                <a:cs typeface="Arial" pitchFamily="34" charset="-120"/>
              </a:rPr>
              <a:t>2. Kiến trúc: hai tiến trình trên một máy</a:t>
            </a:r>
            <a:endParaRPr lang="en-US" sz="2000" dirty="0"/>
          </a:p>
        </p:txBody>
      </p:sp>
      <p:sp>
        <p:nvSpPr>
          <p:cNvPr id="6" name="Text 2"/>
          <p:cNvSpPr txBox="1"/>
          <p:nvPr/>
        </p:nvSpPr>
        <p:spPr>
          <a:xfrm>
            <a:off x="10104120" y="6355080"/>
            <a:ext cx="548640" cy="274320"/>
          </a:xfrm>
          <a:prstGeom prst="rect">
            <a:avLst/>
          </a:prstGeom>
          <a:noFill/>
          <a:ln/>
        </p:spPr>
        <p:txBody>
          <a:bodyPr wrap="square" lIns="0" tIns="0" rIns="0" bIns="0" rtlCol="0" anchor="t"/>
          <a:lstStyle/>
          <a:p>
            <a:pPr marL="0" indent="0" algn="r">
              <a:buNone/>
            </a:pPr>
            <a:r>
              <a:rPr lang="en-US" sz="1100" dirty="0">
                <a:solidFill>
                  <a:srgbClr val="5F6B76"/>
                </a:solidFill>
                <a:latin typeface="Arial" pitchFamily="34" charset="0"/>
                <a:ea typeface="Arial" pitchFamily="34" charset="-122"/>
                <a:cs typeface="Arial" pitchFamily="34" charset="-120"/>
              </a:rPr>
              <a:t>9</a:t>
            </a:r>
            <a:endParaRPr lang="en-US" sz="1100" dirty="0"/>
          </a:p>
        </p:txBody>
      </p:sp>
      <p:sp>
        <p:nvSpPr>
          <p:cNvPr id="7" name="Shape 3"/>
          <p:cNvSpPr/>
          <p:nvPr/>
        </p:nvSpPr>
        <p:spPr>
          <a:xfrm>
            <a:off x="411480" y="1463040"/>
            <a:ext cx="3749040" cy="2743200"/>
          </a:xfrm>
          <a:prstGeom prst="roundRect">
            <a:avLst>
              <a:gd name="adj" fmla="val 3333"/>
            </a:avLst>
          </a:prstGeom>
          <a:solidFill>
            <a:srgbClr val="EEF4F9"/>
          </a:solidFill>
          <a:ln w="15875">
            <a:solidFill>
              <a:srgbClr val="487BA2"/>
            </a:solidFill>
            <a:prstDash val="solid"/>
          </a:ln>
        </p:spPr>
        <p:txBody>
          <a:bodyPr/>
          <a:lstStyle/>
          <a:p>
            <a:endParaRPr lang="en-US"/>
          </a:p>
        </p:txBody>
      </p:sp>
      <p:sp>
        <p:nvSpPr>
          <p:cNvPr id="8" name="Text 4"/>
          <p:cNvSpPr txBox="1"/>
          <p:nvPr/>
        </p:nvSpPr>
        <p:spPr>
          <a:xfrm>
            <a:off x="594360" y="1554480"/>
            <a:ext cx="3383280" cy="411480"/>
          </a:xfrm>
          <a:prstGeom prst="rect">
            <a:avLst/>
          </a:prstGeom>
          <a:noFill/>
          <a:ln/>
        </p:spPr>
        <p:txBody>
          <a:bodyPr wrap="square" lIns="0" tIns="0" rIns="0" bIns="0" rtlCol="0" anchor="t"/>
          <a:lstStyle/>
          <a:p>
            <a:pPr marL="0" indent="0">
              <a:buNone/>
            </a:pPr>
            <a:r>
              <a:rPr lang="en-US" sz="1800" b="1" dirty="0">
                <a:solidFill>
                  <a:srgbClr val="1B517B"/>
                </a:solidFill>
                <a:latin typeface="Arial" pitchFamily="34" charset="0"/>
                <a:ea typeface="Arial" pitchFamily="34" charset="-122"/>
                <a:cs typeface="Arial" pitchFamily="34" charset="-120"/>
              </a:rPr>
              <a:t>Ứng dụng desktop</a:t>
            </a:r>
            <a:endParaRPr lang="en-US" sz="1800" dirty="0"/>
          </a:p>
        </p:txBody>
      </p:sp>
      <p:sp>
        <p:nvSpPr>
          <p:cNvPr id="9" name="Text 5"/>
          <p:cNvSpPr txBox="1"/>
          <p:nvPr/>
        </p:nvSpPr>
        <p:spPr>
          <a:xfrm>
            <a:off x="594360" y="1938528"/>
            <a:ext cx="3383280" cy="320040"/>
          </a:xfrm>
          <a:prstGeom prst="rect">
            <a:avLst/>
          </a:prstGeom>
          <a:noFill/>
          <a:ln/>
        </p:spPr>
        <p:txBody>
          <a:bodyPr wrap="square" lIns="0" tIns="0" rIns="0" bIns="0" rtlCol="0" anchor="t"/>
          <a:lstStyle/>
          <a:p>
            <a:pPr marL="0" indent="0">
              <a:buNone/>
            </a:pPr>
            <a:r>
              <a:rPr lang="en-US" sz="1300" i="1" dirty="0">
                <a:solidFill>
                  <a:srgbClr val="5F6B76"/>
                </a:solidFill>
                <a:latin typeface="Arial" pitchFamily="34" charset="0"/>
                <a:ea typeface="Arial" pitchFamily="34" charset="-122"/>
                <a:cs typeface="Arial" pitchFamily="34" charset="-120"/>
              </a:rPr>
              <a:t>Electron · React · TypeScript</a:t>
            </a:r>
            <a:endParaRPr lang="en-US" sz="1300" dirty="0"/>
          </a:p>
        </p:txBody>
      </p:sp>
      <p:sp>
        <p:nvSpPr>
          <p:cNvPr id="10" name="Text 6"/>
          <p:cNvSpPr txBox="1"/>
          <p:nvPr/>
        </p:nvSpPr>
        <p:spPr>
          <a:xfrm>
            <a:off x="594360" y="2331720"/>
            <a:ext cx="3383280" cy="1828800"/>
          </a:xfrm>
          <a:prstGeom prst="rect">
            <a:avLst/>
          </a:prstGeom>
          <a:noFill/>
          <a:ln/>
        </p:spPr>
        <p:txBody>
          <a:bodyPr wrap="square" lIns="0" tIns="0" rIns="0" bIns="0" rtlCol="0" anchor="t"/>
          <a:lstStyle/>
          <a:p>
            <a:pPr marL="190500" indent="-1905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Giao diện, phụ đề song ngữ</a:t>
            </a:r>
            <a:endParaRPr lang="en-US" sz="1400" dirty="0"/>
          </a:p>
          <a:p>
            <a:pPr marL="190500" indent="-1905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Thu microphone + âm thanh hệ thống (WASAPI loopback / ScreenCaptureKit)</a:t>
            </a:r>
            <a:endParaRPr lang="en-US" sz="1400" dirty="0"/>
          </a:p>
          <a:p>
            <a:pPr marL="190500" indent="-1905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Phát bản dịch ra tai nghe</a:t>
            </a:r>
            <a:endParaRPr lang="en-US" sz="1400" dirty="0"/>
          </a:p>
        </p:txBody>
      </p:sp>
      <p:sp>
        <p:nvSpPr>
          <p:cNvPr id="11" name="Shape 7"/>
          <p:cNvSpPr/>
          <p:nvPr/>
        </p:nvSpPr>
        <p:spPr>
          <a:xfrm>
            <a:off x="6903720" y="1463040"/>
            <a:ext cx="3749040" cy="2743200"/>
          </a:xfrm>
          <a:prstGeom prst="roundRect">
            <a:avLst>
              <a:gd name="adj" fmla="val 3333"/>
            </a:avLst>
          </a:prstGeom>
          <a:solidFill>
            <a:srgbClr val="EEF4F9"/>
          </a:solidFill>
          <a:ln w="15875">
            <a:solidFill>
              <a:srgbClr val="487BA2"/>
            </a:solidFill>
            <a:prstDash val="solid"/>
          </a:ln>
        </p:spPr>
        <p:txBody>
          <a:bodyPr/>
          <a:lstStyle/>
          <a:p>
            <a:endParaRPr lang="en-US"/>
          </a:p>
        </p:txBody>
      </p:sp>
      <p:sp>
        <p:nvSpPr>
          <p:cNvPr id="12" name="Text 8"/>
          <p:cNvSpPr txBox="1"/>
          <p:nvPr/>
        </p:nvSpPr>
        <p:spPr>
          <a:xfrm>
            <a:off x="7086600" y="1554480"/>
            <a:ext cx="3383280" cy="411480"/>
          </a:xfrm>
          <a:prstGeom prst="rect">
            <a:avLst/>
          </a:prstGeom>
          <a:noFill/>
          <a:ln/>
        </p:spPr>
        <p:txBody>
          <a:bodyPr wrap="square" lIns="0" tIns="0" rIns="0" bIns="0" rtlCol="0" anchor="t"/>
          <a:lstStyle/>
          <a:p>
            <a:pPr marL="0" indent="0">
              <a:buNone/>
            </a:pPr>
            <a:r>
              <a:rPr lang="en-US" sz="1800" b="1" dirty="0">
                <a:solidFill>
                  <a:srgbClr val="1B517B"/>
                </a:solidFill>
                <a:latin typeface="Arial" pitchFamily="34" charset="0"/>
                <a:ea typeface="Arial" pitchFamily="34" charset="-122"/>
                <a:cs typeface="Arial" pitchFamily="34" charset="-120"/>
              </a:rPr>
              <a:t>Dịch vụ AI</a:t>
            </a:r>
            <a:endParaRPr lang="en-US" sz="1800" dirty="0"/>
          </a:p>
        </p:txBody>
      </p:sp>
      <p:sp>
        <p:nvSpPr>
          <p:cNvPr id="13" name="Text 9"/>
          <p:cNvSpPr txBox="1"/>
          <p:nvPr/>
        </p:nvSpPr>
        <p:spPr>
          <a:xfrm>
            <a:off x="7086600" y="1938528"/>
            <a:ext cx="3383280" cy="320040"/>
          </a:xfrm>
          <a:prstGeom prst="rect">
            <a:avLst/>
          </a:prstGeom>
          <a:noFill/>
          <a:ln/>
        </p:spPr>
        <p:txBody>
          <a:bodyPr wrap="square" lIns="0" tIns="0" rIns="0" bIns="0" rtlCol="0" anchor="t"/>
          <a:lstStyle/>
          <a:p>
            <a:pPr marL="0" indent="0">
              <a:buNone/>
            </a:pPr>
            <a:r>
              <a:rPr lang="en-US" sz="1300" i="1" dirty="0">
                <a:solidFill>
                  <a:srgbClr val="5F6B76"/>
                </a:solidFill>
                <a:latin typeface="Arial" pitchFamily="34" charset="0"/>
                <a:ea typeface="Arial" pitchFamily="34" charset="-122"/>
                <a:cs typeface="Arial" pitchFamily="34" charset="-120"/>
              </a:rPr>
              <a:t>Python · FastAPI · SQLite</a:t>
            </a:r>
            <a:endParaRPr lang="en-US" sz="1300" dirty="0"/>
          </a:p>
        </p:txBody>
      </p:sp>
      <p:sp>
        <p:nvSpPr>
          <p:cNvPr id="14" name="Text 10"/>
          <p:cNvSpPr txBox="1"/>
          <p:nvPr/>
        </p:nvSpPr>
        <p:spPr>
          <a:xfrm>
            <a:off x="7086600" y="2331720"/>
            <a:ext cx="3383280" cy="1828800"/>
          </a:xfrm>
          <a:prstGeom prst="rect">
            <a:avLst/>
          </a:prstGeom>
          <a:noFill/>
          <a:ln/>
        </p:spPr>
        <p:txBody>
          <a:bodyPr wrap="square" lIns="0" tIns="0" rIns="0" bIns="0" rtlCol="0" anchor="t"/>
          <a:lstStyle/>
          <a:p>
            <a:pPr marL="190500" indent="-1905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VAD / ASR / MT / TTS</a:t>
            </a:r>
            <a:endParaRPr lang="en-US" sz="1400" dirty="0"/>
          </a:p>
          <a:p>
            <a:pPr marL="190500" indent="-1905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Quản lý vòng đời mô hình</a:t>
            </a:r>
            <a:endParaRPr lang="en-US" sz="1400" dirty="0"/>
          </a:p>
          <a:p>
            <a:pPr marL="190500" indent="-1905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Lịch sử phiên, đo đạc, đánh giá</a:t>
            </a:r>
            <a:endParaRPr lang="en-US" sz="1400" dirty="0"/>
          </a:p>
        </p:txBody>
      </p:sp>
      <p:sp>
        <p:nvSpPr>
          <p:cNvPr id="15" name="Shape 11"/>
          <p:cNvSpPr/>
          <p:nvPr/>
        </p:nvSpPr>
        <p:spPr>
          <a:xfrm>
            <a:off x="4206240" y="2331720"/>
            <a:ext cx="2651760" cy="0"/>
          </a:xfrm>
          <a:prstGeom prst="line">
            <a:avLst/>
          </a:prstGeom>
          <a:noFill/>
          <a:ln w="25400">
            <a:solidFill>
              <a:srgbClr val="1B517B"/>
            </a:solidFill>
            <a:prstDash val="solid"/>
            <a:headEnd type="triangle"/>
            <a:tailEnd type="triangle"/>
          </a:ln>
        </p:spPr>
        <p:txBody>
          <a:bodyPr/>
          <a:lstStyle/>
          <a:p>
            <a:endParaRPr lang="en-US"/>
          </a:p>
        </p:txBody>
      </p:sp>
      <p:sp>
        <p:nvSpPr>
          <p:cNvPr id="16" name="Text 12"/>
          <p:cNvSpPr txBox="1"/>
          <p:nvPr/>
        </p:nvSpPr>
        <p:spPr>
          <a:xfrm>
            <a:off x="4206240" y="1764792"/>
            <a:ext cx="2651760" cy="530352"/>
          </a:xfrm>
          <a:prstGeom prst="rect">
            <a:avLst/>
          </a:prstGeom>
          <a:noFill/>
          <a:ln/>
        </p:spPr>
        <p:txBody>
          <a:bodyPr wrap="square" lIns="0" tIns="0" rIns="0" bIns="0" rtlCol="0" anchor="b"/>
          <a:lstStyle/>
          <a:p>
            <a:pPr marL="0" indent="0" algn="ctr">
              <a:buNone/>
            </a:pPr>
            <a:r>
              <a:rPr lang="en-US" sz="1400" b="1" dirty="0">
                <a:solidFill>
                  <a:srgbClr val="1B517B"/>
                </a:solidFill>
                <a:latin typeface="Arial" pitchFamily="34" charset="0"/>
                <a:ea typeface="Arial" pitchFamily="34" charset="-122"/>
                <a:cs typeface="Arial" pitchFamily="34" charset="-120"/>
              </a:rPr>
              <a:t>REST</a:t>
            </a:r>
            <a:endParaRPr lang="en-US" sz="1400" dirty="0"/>
          </a:p>
          <a:p>
            <a:pPr marL="0" indent="0" algn="ctr">
              <a:buNone/>
            </a:pPr>
            <a:r>
              <a:rPr lang="en-US" sz="1100" dirty="0">
                <a:solidFill>
                  <a:srgbClr val="5F6B76"/>
                </a:solidFill>
                <a:latin typeface="Arial" pitchFamily="34" charset="0"/>
                <a:ea typeface="Arial" pitchFamily="34" charset="-122"/>
                <a:cs typeface="Arial" pitchFamily="34" charset="-120"/>
              </a:rPr>
              <a:t>cấu hình, mô hình, lịch sử</a:t>
            </a:r>
            <a:endParaRPr lang="en-US" sz="1400" dirty="0"/>
          </a:p>
        </p:txBody>
      </p:sp>
      <p:sp>
        <p:nvSpPr>
          <p:cNvPr id="17" name="Shape 13"/>
          <p:cNvSpPr/>
          <p:nvPr/>
        </p:nvSpPr>
        <p:spPr>
          <a:xfrm>
            <a:off x="4206240" y="3520440"/>
            <a:ext cx="2651760" cy="0"/>
          </a:xfrm>
          <a:prstGeom prst="line">
            <a:avLst/>
          </a:prstGeom>
          <a:noFill/>
          <a:ln w="25400">
            <a:solidFill>
              <a:srgbClr val="1B517B"/>
            </a:solidFill>
            <a:prstDash val="solid"/>
            <a:headEnd type="triangle"/>
            <a:tailEnd type="triangle"/>
          </a:ln>
        </p:spPr>
        <p:txBody>
          <a:bodyPr/>
          <a:lstStyle/>
          <a:p>
            <a:endParaRPr lang="en-US"/>
          </a:p>
        </p:txBody>
      </p:sp>
      <p:sp>
        <p:nvSpPr>
          <p:cNvPr id="18" name="Text 14"/>
          <p:cNvSpPr txBox="1"/>
          <p:nvPr/>
        </p:nvSpPr>
        <p:spPr>
          <a:xfrm>
            <a:off x="4206240" y="2953512"/>
            <a:ext cx="2651760" cy="530352"/>
          </a:xfrm>
          <a:prstGeom prst="rect">
            <a:avLst/>
          </a:prstGeom>
          <a:noFill/>
          <a:ln/>
        </p:spPr>
        <p:txBody>
          <a:bodyPr wrap="square" lIns="0" tIns="0" rIns="0" bIns="0" rtlCol="0" anchor="b"/>
          <a:lstStyle/>
          <a:p>
            <a:pPr marL="0" indent="0" algn="ctr">
              <a:buNone/>
            </a:pPr>
            <a:r>
              <a:rPr lang="en-US" sz="1400" b="1" dirty="0">
                <a:solidFill>
                  <a:srgbClr val="1B517B"/>
                </a:solidFill>
                <a:latin typeface="Arial" pitchFamily="34" charset="0"/>
                <a:ea typeface="Arial" pitchFamily="34" charset="-122"/>
                <a:cs typeface="Arial" pitchFamily="34" charset="-120"/>
              </a:rPr>
              <a:t>WebSocket /ws</a:t>
            </a:r>
            <a:endParaRPr lang="en-US" sz="1400" dirty="0"/>
          </a:p>
          <a:p>
            <a:pPr marL="0" indent="0" algn="ctr">
              <a:buNone/>
            </a:pPr>
            <a:r>
              <a:rPr lang="en-US" sz="1100" dirty="0">
                <a:solidFill>
                  <a:srgbClr val="5F6B76"/>
                </a:solidFill>
                <a:latin typeface="Arial" pitchFamily="34" charset="0"/>
                <a:ea typeface="Arial" pitchFamily="34" charset="-122"/>
                <a:cs typeface="Arial" pitchFamily="34" charset="-120"/>
              </a:rPr>
              <a:t>audio.chunk ⇄ asr / mt / tts</a:t>
            </a:r>
            <a:endParaRPr lang="en-US" sz="1400" dirty="0"/>
          </a:p>
        </p:txBody>
      </p:sp>
      <p:sp>
        <p:nvSpPr>
          <p:cNvPr id="19" name="Shape 15"/>
          <p:cNvSpPr/>
          <p:nvPr/>
        </p:nvSpPr>
        <p:spPr>
          <a:xfrm>
            <a:off x="411480" y="4389120"/>
            <a:ext cx="10241280" cy="457200"/>
          </a:xfrm>
          <a:prstGeom prst="roundRect">
            <a:avLst>
              <a:gd name="adj" fmla="val 16000"/>
            </a:avLst>
          </a:prstGeom>
          <a:solidFill>
            <a:srgbClr val="1B517B"/>
          </a:solidFill>
          <a:ln w="12700">
            <a:solidFill>
              <a:srgbClr val="1B517B"/>
            </a:solidFill>
            <a:prstDash val="solid"/>
          </a:ln>
        </p:spPr>
        <p:txBody>
          <a:bodyPr/>
          <a:lstStyle/>
          <a:p>
            <a:endParaRPr lang="en-US"/>
          </a:p>
        </p:txBody>
      </p:sp>
      <p:sp>
        <p:nvSpPr>
          <p:cNvPr id="20" name="Text 16"/>
          <p:cNvSpPr txBox="1"/>
          <p:nvPr/>
        </p:nvSpPr>
        <p:spPr>
          <a:xfrm>
            <a:off x="411480" y="4389120"/>
            <a:ext cx="1024128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Chỉ lắng nghe trên 127.0.0.1: không mở ra mạng LAN, không gọi dịch vụ đám mây trong lúc dịch</a:t>
            </a:r>
            <a:endParaRPr lang="en-US" sz="1400" dirty="0"/>
          </a:p>
        </p:txBody>
      </p:sp>
      <p:sp>
        <p:nvSpPr>
          <p:cNvPr id="21" name="Text 17"/>
          <p:cNvSpPr txBox="1"/>
          <p:nvPr/>
        </p:nvSpPr>
        <p:spPr>
          <a:xfrm>
            <a:off x="411480" y="4983480"/>
            <a:ext cx="4572000" cy="320040"/>
          </a:xfrm>
          <a:prstGeom prst="rect">
            <a:avLst/>
          </a:prstGeom>
          <a:noFill/>
          <a:ln/>
        </p:spPr>
        <p:txBody>
          <a:bodyPr wrap="square" lIns="0" tIns="0" rIns="0" bIns="0" rtlCol="0" anchor="t"/>
          <a:lstStyle/>
          <a:p>
            <a:pPr marL="0" indent="0">
              <a:buNone/>
            </a:pPr>
            <a:r>
              <a:rPr lang="en-US" sz="1500" b="1" dirty="0">
                <a:solidFill>
                  <a:srgbClr val="1B517B"/>
                </a:solidFill>
                <a:latin typeface="Arial" pitchFamily="34" charset="0"/>
                <a:ea typeface="Arial" pitchFamily="34" charset="-122"/>
                <a:cs typeface="Arial" pitchFamily="34" charset="-120"/>
              </a:rPr>
              <a:t>Vì sao tách hai tiến trình:</a:t>
            </a:r>
            <a:endParaRPr lang="en-US" sz="1500" dirty="0"/>
          </a:p>
        </p:txBody>
      </p:sp>
      <p:sp>
        <p:nvSpPr>
          <p:cNvPr id="22" name="Text 18"/>
          <p:cNvSpPr txBox="1"/>
          <p:nvPr/>
        </p:nvSpPr>
        <p:spPr>
          <a:xfrm>
            <a:off x="411480" y="5349240"/>
            <a:ext cx="3246120" cy="914400"/>
          </a:xfrm>
          <a:prstGeom prst="rect">
            <a:avLst/>
          </a:prstGeom>
          <a:noFill/>
          <a:ln/>
        </p:spPr>
        <p:txBody>
          <a:bodyPr wrap="square" lIns="0" tIns="0" rIns="0" bIns="0" rtlCol="0" anchor="t"/>
          <a:lstStyle/>
          <a:p>
            <a:pPr marL="0" indent="0">
              <a:buNone/>
            </a:pPr>
            <a:r>
              <a:rPr lang="en-US" sz="1300" dirty="0">
                <a:solidFill>
                  <a:srgbClr val="222222"/>
                </a:solidFill>
                <a:latin typeface="Arial" pitchFamily="34" charset="0"/>
                <a:ea typeface="Arial" pitchFamily="34" charset="-122"/>
                <a:cs typeface="Arial" pitchFamily="34" charset="-120"/>
              </a:rPr>
              <a:t>Hệ sinh thái mô hình (whisper.cpp, transformers, sherpa-onnx) nằm ở Python; thu âm thanh hệ thống là thứ Chromium làm sẵn</a:t>
            </a:r>
            <a:endParaRPr lang="en-US" sz="1300" dirty="0"/>
          </a:p>
        </p:txBody>
      </p:sp>
      <p:sp>
        <p:nvSpPr>
          <p:cNvPr id="23" name="Text 19"/>
          <p:cNvSpPr txBox="1"/>
          <p:nvPr/>
        </p:nvSpPr>
        <p:spPr>
          <a:xfrm>
            <a:off x="3886200" y="5349240"/>
            <a:ext cx="3246120" cy="914400"/>
          </a:xfrm>
          <a:prstGeom prst="rect">
            <a:avLst/>
          </a:prstGeom>
          <a:noFill/>
          <a:ln/>
        </p:spPr>
        <p:txBody>
          <a:bodyPr wrap="square" lIns="0" tIns="0" rIns="0" bIns="0" rtlCol="0" anchor="t"/>
          <a:lstStyle/>
          <a:p>
            <a:pPr marL="0" indent="0">
              <a:buNone/>
            </a:pPr>
            <a:r>
              <a:rPr lang="en-US" sz="1300" dirty="0">
                <a:solidFill>
                  <a:srgbClr val="222222"/>
                </a:solidFill>
                <a:latin typeface="Arial" pitchFamily="34" charset="0"/>
                <a:ea typeface="Arial" pitchFamily="34" charset="-122"/>
                <a:cs typeface="Arial" pitchFamily="34" charset="-120"/>
              </a:rPr>
              <a:t>Mô hình chiếm ~2 GB RAM và chặn CPU hàng giây: chung tiến trình thì giao diện đơ mỗi câu</a:t>
            </a:r>
            <a:endParaRPr lang="en-US" sz="1300" dirty="0"/>
          </a:p>
        </p:txBody>
      </p:sp>
      <p:sp>
        <p:nvSpPr>
          <p:cNvPr id="24" name="Text 20"/>
          <p:cNvSpPr txBox="1"/>
          <p:nvPr/>
        </p:nvSpPr>
        <p:spPr>
          <a:xfrm>
            <a:off x="7360920" y="5349240"/>
            <a:ext cx="3246120" cy="914400"/>
          </a:xfrm>
          <a:prstGeom prst="rect">
            <a:avLst/>
          </a:prstGeom>
          <a:noFill/>
          <a:ln/>
        </p:spPr>
        <p:txBody>
          <a:bodyPr wrap="square" lIns="0" tIns="0" rIns="0" bIns="0" rtlCol="0" anchor="t"/>
          <a:lstStyle/>
          <a:p>
            <a:pPr marL="0" indent="0">
              <a:buNone/>
            </a:pPr>
            <a:r>
              <a:rPr lang="en-US" sz="1300" dirty="0">
                <a:solidFill>
                  <a:srgbClr val="222222"/>
                </a:solidFill>
                <a:latin typeface="Arial" pitchFamily="34" charset="0"/>
                <a:ea typeface="Arial" pitchFamily="34" charset="-122"/>
                <a:cs typeface="Arial" pitchFamily="34" charset="-120"/>
              </a:rPr>
              <a:t>Dịch vụ lỗi thì cửa sổ vẫn sống để báo lỗi và khởi động lại</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pic>
        <p:nvPicPr>
          <p:cNvPr id="2" name="Image 0" descr="C:\Users\hhung\AppData\Local\Temp\claude\d--Project-local-live-voice-translator\d0343c7e-f558-4e8b-8c62-5b900df8bea6\scratchpad\build\img\deco_right.png"/>
          <p:cNvPicPr>
            <a:picLocks noChangeAspect="1"/>
          </p:cNvPicPr>
          <p:nvPr/>
        </p:nvPicPr>
        <p:blipFill>
          <a:blip r:embed="rId3"/>
          <a:stretch>
            <a:fillRect/>
          </a:stretch>
        </p:blipFill>
        <p:spPr>
          <a:xfrm>
            <a:off x="0" y="0"/>
            <a:ext cx="12191695" cy="6858000"/>
          </a:xfrm>
          <a:prstGeom prst="rect">
            <a:avLst/>
          </a:prstGeom>
        </p:spPr>
      </p:pic>
      <p:pic>
        <p:nvPicPr>
          <p:cNvPr id="3" name="Image 1" descr="C:\Users\hhung\AppData\Local\Temp\claude\d--Project-local-live-voice-translator\d0343c7e-f558-4e8b-8c62-5b900df8bea6\scratchpad\build\img\logo_header.png"/>
          <p:cNvPicPr>
            <a:picLocks noChangeAspect="1"/>
          </p:cNvPicPr>
          <p:nvPr/>
        </p:nvPicPr>
        <p:blipFill>
          <a:blip r:embed="rId4"/>
          <a:stretch>
            <a:fillRect/>
          </a:stretch>
        </p:blipFill>
        <p:spPr>
          <a:xfrm>
            <a:off x="8549640" y="292608"/>
            <a:ext cx="2560320" cy="459250"/>
          </a:xfrm>
          <a:prstGeom prst="rect">
            <a:avLst/>
          </a:prstGeom>
        </p:spPr>
      </p:pic>
      <p:sp>
        <p:nvSpPr>
          <p:cNvPr id="4" name="Text 0"/>
          <p:cNvSpPr txBox="1"/>
          <p:nvPr/>
        </p:nvSpPr>
        <p:spPr>
          <a:xfrm>
            <a:off x="411480" y="256032"/>
            <a:ext cx="7955280" cy="548640"/>
          </a:xfrm>
          <a:prstGeom prst="rect">
            <a:avLst/>
          </a:prstGeom>
          <a:noFill/>
          <a:ln/>
        </p:spPr>
        <p:txBody>
          <a:bodyPr wrap="square" lIns="0" tIns="0" rIns="0" bIns="0" rtlCol="0" anchor="t"/>
          <a:lstStyle/>
          <a:p>
            <a:pPr marL="0" indent="0">
              <a:buNone/>
            </a:pPr>
            <a:r>
              <a:rPr lang="en-US" sz="2800" b="1" dirty="0">
                <a:solidFill>
                  <a:srgbClr val="487BA2"/>
                </a:solidFill>
                <a:latin typeface="Arial" pitchFamily="34" charset="0"/>
                <a:ea typeface="Arial" pitchFamily="34" charset="-122"/>
                <a:cs typeface="Arial" pitchFamily="34" charset="-120"/>
              </a:rPr>
              <a:t>II. Phương pháp thực hiện</a:t>
            </a:r>
            <a:endParaRPr lang="en-US" sz="2800" dirty="0"/>
          </a:p>
        </p:txBody>
      </p:sp>
      <p:sp>
        <p:nvSpPr>
          <p:cNvPr id="5" name="Text 1"/>
          <p:cNvSpPr txBox="1"/>
          <p:nvPr/>
        </p:nvSpPr>
        <p:spPr>
          <a:xfrm>
            <a:off x="411480" y="841248"/>
            <a:ext cx="8046720" cy="411480"/>
          </a:xfrm>
          <a:prstGeom prst="rect">
            <a:avLst/>
          </a:prstGeom>
          <a:noFill/>
          <a:ln/>
        </p:spPr>
        <p:txBody>
          <a:bodyPr wrap="square" lIns="0" tIns="0" rIns="0" bIns="0" rtlCol="0" anchor="t"/>
          <a:lstStyle/>
          <a:p>
            <a:pPr marL="0" indent="0">
              <a:buNone/>
            </a:pPr>
            <a:r>
              <a:rPr lang="en-US" sz="2000" dirty="0">
                <a:solidFill>
                  <a:srgbClr val="1B517B"/>
                </a:solidFill>
                <a:latin typeface="Arial" pitchFamily="34" charset="0"/>
                <a:ea typeface="Arial" pitchFamily="34" charset="-122"/>
                <a:cs typeface="Arial" pitchFamily="34" charset="-120"/>
              </a:rPr>
              <a:t>2. Kiến trúc lục giác (Ports &amp; Adapters) [2]</a:t>
            </a:r>
            <a:endParaRPr lang="en-US" sz="2000" dirty="0"/>
          </a:p>
        </p:txBody>
      </p:sp>
      <p:sp>
        <p:nvSpPr>
          <p:cNvPr id="6" name="Text 2"/>
          <p:cNvSpPr txBox="1"/>
          <p:nvPr/>
        </p:nvSpPr>
        <p:spPr>
          <a:xfrm>
            <a:off x="10104120" y="6355080"/>
            <a:ext cx="548640" cy="274320"/>
          </a:xfrm>
          <a:prstGeom prst="rect">
            <a:avLst/>
          </a:prstGeom>
          <a:noFill/>
          <a:ln/>
        </p:spPr>
        <p:txBody>
          <a:bodyPr wrap="square" lIns="0" tIns="0" rIns="0" bIns="0" rtlCol="0" anchor="t"/>
          <a:lstStyle/>
          <a:p>
            <a:pPr marL="0" indent="0" algn="r">
              <a:buNone/>
            </a:pPr>
            <a:r>
              <a:rPr lang="en-US" sz="1100" dirty="0">
                <a:solidFill>
                  <a:srgbClr val="5F6B76"/>
                </a:solidFill>
                <a:latin typeface="Arial" pitchFamily="34" charset="0"/>
                <a:ea typeface="Arial" pitchFamily="34" charset="-122"/>
                <a:cs typeface="Arial" pitchFamily="34" charset="-120"/>
              </a:rPr>
              <a:t>10</a:t>
            </a:r>
            <a:endParaRPr lang="en-US" sz="1100" dirty="0"/>
          </a:p>
        </p:txBody>
      </p:sp>
      <p:sp>
        <p:nvSpPr>
          <p:cNvPr id="7" name="Shape 3"/>
          <p:cNvSpPr/>
          <p:nvPr/>
        </p:nvSpPr>
        <p:spPr>
          <a:xfrm>
            <a:off x="548640" y="1554480"/>
            <a:ext cx="4663440" cy="4663440"/>
          </a:xfrm>
          <a:prstGeom prst="ellipse">
            <a:avLst/>
          </a:prstGeom>
          <a:solidFill>
            <a:srgbClr val="D6E4F0"/>
          </a:solidFill>
          <a:ln w="19050">
            <a:solidFill>
              <a:srgbClr val="FFFFFF"/>
            </a:solidFill>
            <a:prstDash val="solid"/>
          </a:ln>
        </p:spPr>
        <p:txBody>
          <a:bodyPr/>
          <a:lstStyle/>
          <a:p>
            <a:endParaRPr lang="en-US"/>
          </a:p>
        </p:txBody>
      </p:sp>
      <p:sp>
        <p:nvSpPr>
          <p:cNvPr id="8" name="Shape 4"/>
          <p:cNvSpPr/>
          <p:nvPr/>
        </p:nvSpPr>
        <p:spPr>
          <a:xfrm>
            <a:off x="1143000" y="2148840"/>
            <a:ext cx="3474720" cy="3474720"/>
          </a:xfrm>
          <a:prstGeom prst="ellipse">
            <a:avLst/>
          </a:prstGeom>
          <a:solidFill>
            <a:srgbClr val="B3CCE2"/>
          </a:solidFill>
          <a:ln w="19050">
            <a:solidFill>
              <a:srgbClr val="FFFFFF"/>
            </a:solidFill>
            <a:prstDash val="solid"/>
          </a:ln>
        </p:spPr>
        <p:txBody>
          <a:bodyPr/>
          <a:lstStyle/>
          <a:p>
            <a:endParaRPr lang="en-US"/>
          </a:p>
        </p:txBody>
      </p:sp>
      <p:sp>
        <p:nvSpPr>
          <p:cNvPr id="9" name="Shape 5"/>
          <p:cNvSpPr/>
          <p:nvPr/>
        </p:nvSpPr>
        <p:spPr>
          <a:xfrm>
            <a:off x="1737360" y="2743200"/>
            <a:ext cx="2286000" cy="2286000"/>
          </a:xfrm>
          <a:prstGeom prst="ellipse">
            <a:avLst/>
          </a:prstGeom>
          <a:solidFill>
            <a:srgbClr val="7FA6C8"/>
          </a:solidFill>
          <a:ln w="19050">
            <a:solidFill>
              <a:srgbClr val="FFFFFF"/>
            </a:solidFill>
            <a:prstDash val="solid"/>
          </a:ln>
        </p:spPr>
        <p:txBody>
          <a:bodyPr/>
          <a:lstStyle/>
          <a:p>
            <a:endParaRPr lang="en-US"/>
          </a:p>
        </p:txBody>
      </p:sp>
      <p:sp>
        <p:nvSpPr>
          <p:cNvPr id="10" name="Shape 6"/>
          <p:cNvSpPr/>
          <p:nvPr/>
        </p:nvSpPr>
        <p:spPr>
          <a:xfrm>
            <a:off x="2313432" y="3319272"/>
            <a:ext cx="1133856" cy="1133856"/>
          </a:xfrm>
          <a:prstGeom prst="ellipse">
            <a:avLst/>
          </a:prstGeom>
          <a:solidFill>
            <a:srgbClr val="1B517B"/>
          </a:solidFill>
          <a:ln w="19050">
            <a:solidFill>
              <a:srgbClr val="FFFFFF"/>
            </a:solidFill>
            <a:prstDash val="solid"/>
          </a:ln>
        </p:spPr>
        <p:txBody>
          <a:bodyPr/>
          <a:lstStyle/>
          <a:p>
            <a:endParaRPr lang="en-US"/>
          </a:p>
        </p:txBody>
      </p:sp>
      <p:sp>
        <p:nvSpPr>
          <p:cNvPr id="11" name="Text 7"/>
          <p:cNvSpPr txBox="1"/>
          <p:nvPr/>
        </p:nvSpPr>
        <p:spPr>
          <a:xfrm>
            <a:off x="1508760" y="1687068"/>
            <a:ext cx="2743200" cy="329184"/>
          </a:xfrm>
          <a:prstGeom prst="rect">
            <a:avLst/>
          </a:prstGeom>
          <a:noFill/>
          <a:ln/>
        </p:spPr>
        <p:txBody>
          <a:bodyPr wrap="square" lIns="0" tIns="0" rIns="0" bIns="0" rtlCol="0" anchor="ctr"/>
          <a:lstStyle/>
          <a:p>
            <a:pPr marL="0" indent="0" algn="ctr">
              <a:buNone/>
            </a:pPr>
            <a:r>
              <a:rPr lang="en-US" sz="1400" b="1" dirty="0">
                <a:solidFill>
                  <a:srgbClr val="1B517B"/>
                </a:solidFill>
                <a:latin typeface="Arial" pitchFamily="34" charset="0"/>
                <a:ea typeface="Arial" pitchFamily="34" charset="-122"/>
                <a:cs typeface="Arial" pitchFamily="34" charset="-120"/>
              </a:rPr>
              <a:t>Adapters · Transport</a:t>
            </a:r>
            <a:endParaRPr lang="en-US" sz="1400" dirty="0"/>
          </a:p>
        </p:txBody>
      </p:sp>
      <p:sp>
        <p:nvSpPr>
          <p:cNvPr id="12" name="Text 8"/>
          <p:cNvSpPr txBox="1"/>
          <p:nvPr/>
        </p:nvSpPr>
        <p:spPr>
          <a:xfrm>
            <a:off x="1508760" y="2281428"/>
            <a:ext cx="2743200" cy="329184"/>
          </a:xfrm>
          <a:prstGeom prst="rect">
            <a:avLst/>
          </a:prstGeom>
          <a:noFill/>
          <a:ln/>
        </p:spPr>
        <p:txBody>
          <a:bodyPr wrap="square" lIns="0" tIns="0" rIns="0" bIns="0" rtlCol="0" anchor="ctr"/>
          <a:lstStyle/>
          <a:p>
            <a:pPr marL="0" indent="0" algn="ctr">
              <a:buNone/>
            </a:pPr>
            <a:r>
              <a:rPr lang="en-US" sz="1400" b="1" dirty="0">
                <a:solidFill>
                  <a:srgbClr val="1B517B"/>
                </a:solidFill>
                <a:latin typeface="Arial" pitchFamily="34" charset="0"/>
                <a:ea typeface="Arial" pitchFamily="34" charset="-122"/>
                <a:cs typeface="Arial" pitchFamily="34" charset="-120"/>
              </a:rPr>
              <a:t>Ports</a:t>
            </a:r>
            <a:endParaRPr lang="en-US" sz="1400" dirty="0"/>
          </a:p>
        </p:txBody>
      </p:sp>
      <p:sp>
        <p:nvSpPr>
          <p:cNvPr id="13" name="Text 9"/>
          <p:cNvSpPr txBox="1"/>
          <p:nvPr/>
        </p:nvSpPr>
        <p:spPr>
          <a:xfrm>
            <a:off x="1508760" y="2866644"/>
            <a:ext cx="2743200" cy="329184"/>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Application</a:t>
            </a:r>
            <a:endParaRPr lang="en-US" sz="1400" dirty="0"/>
          </a:p>
        </p:txBody>
      </p:sp>
      <p:sp>
        <p:nvSpPr>
          <p:cNvPr id="14" name="Text 10"/>
          <p:cNvSpPr txBox="1"/>
          <p:nvPr/>
        </p:nvSpPr>
        <p:spPr>
          <a:xfrm>
            <a:off x="1508760" y="3703320"/>
            <a:ext cx="2743200"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Domain</a:t>
            </a:r>
            <a:endParaRPr lang="en-US" sz="1300" dirty="0"/>
          </a:p>
        </p:txBody>
      </p:sp>
      <p:sp>
        <p:nvSpPr>
          <p:cNvPr id="15" name="Text 11"/>
          <p:cNvSpPr txBox="1"/>
          <p:nvPr/>
        </p:nvSpPr>
        <p:spPr>
          <a:xfrm>
            <a:off x="1143000" y="5623560"/>
            <a:ext cx="3474720" cy="502920"/>
          </a:xfrm>
          <a:prstGeom prst="rect">
            <a:avLst/>
          </a:prstGeom>
          <a:noFill/>
          <a:ln/>
        </p:spPr>
        <p:txBody>
          <a:bodyPr wrap="square" lIns="0" tIns="0" rIns="0" bIns="0" rtlCol="0" anchor="t"/>
          <a:lstStyle/>
          <a:p>
            <a:pPr marL="0" indent="0" algn="ctr">
              <a:buNone/>
            </a:pPr>
            <a:r>
              <a:rPr lang="en-US" sz="1050" dirty="0">
                <a:solidFill>
                  <a:srgbClr val="1B517B"/>
                </a:solidFill>
                <a:latin typeface="Arial" pitchFamily="34" charset="0"/>
                <a:ea typeface="Arial" pitchFamily="34" charset="-122"/>
                <a:cs typeface="Arial" pitchFamily="34" charset="-120"/>
              </a:rPr>
              <a:t>whisper.cpp · MLX · faster-whisper</a:t>
            </a:r>
            <a:endParaRPr lang="en-US" sz="1050" dirty="0"/>
          </a:p>
          <a:p>
            <a:pPr marL="0" indent="0" algn="ctr">
              <a:buNone/>
            </a:pPr>
            <a:r>
              <a:rPr lang="en-US" sz="1050" dirty="0">
                <a:solidFill>
                  <a:srgbClr val="1B517B"/>
                </a:solidFill>
                <a:latin typeface="Arial" pitchFamily="34" charset="0"/>
                <a:ea typeface="Arial" pitchFamily="34" charset="-122"/>
                <a:cs typeface="Arial" pitchFamily="34" charset="-120"/>
              </a:rPr>
              <a:t>NLLB · sherpa-onnx · Kokoro · SQLite</a:t>
            </a:r>
            <a:endParaRPr lang="en-US" sz="1050" dirty="0"/>
          </a:p>
        </p:txBody>
      </p:sp>
      <p:sp>
        <p:nvSpPr>
          <p:cNvPr id="16" name="Text 12"/>
          <p:cNvSpPr txBox="1"/>
          <p:nvPr/>
        </p:nvSpPr>
        <p:spPr>
          <a:xfrm>
            <a:off x="1691640" y="5056632"/>
            <a:ext cx="2377440" cy="274320"/>
          </a:xfrm>
          <a:prstGeom prst="rect">
            <a:avLst/>
          </a:prstGeom>
          <a:noFill/>
          <a:ln/>
        </p:spPr>
        <p:txBody>
          <a:bodyPr wrap="square" lIns="0" tIns="0" rIns="0" bIns="0" rtlCol="0" anchor="t"/>
          <a:lstStyle/>
          <a:p>
            <a:pPr marL="0" indent="0" algn="ctr">
              <a:buNone/>
            </a:pPr>
            <a:r>
              <a:rPr lang="en-US" sz="1050" dirty="0">
                <a:solidFill>
                  <a:srgbClr val="1B517B"/>
                </a:solidFill>
                <a:latin typeface="Arial" pitchFamily="34" charset="0"/>
                <a:ea typeface="Arial" pitchFamily="34" charset="-122"/>
                <a:cs typeface="Arial" pitchFamily="34" charset="-120"/>
              </a:rPr>
              <a:t>SpeechToTextProvider…</a:t>
            </a:r>
            <a:endParaRPr lang="en-US" sz="1050" dirty="0"/>
          </a:p>
        </p:txBody>
      </p:sp>
      <p:sp>
        <p:nvSpPr>
          <p:cNvPr id="17" name="Text 13"/>
          <p:cNvSpPr txBox="1"/>
          <p:nvPr/>
        </p:nvSpPr>
        <p:spPr>
          <a:xfrm>
            <a:off x="1874520" y="4507992"/>
            <a:ext cx="2011680" cy="274320"/>
          </a:xfrm>
          <a:prstGeom prst="rect">
            <a:avLst/>
          </a:prstGeom>
          <a:noFill/>
          <a:ln/>
        </p:spPr>
        <p:txBody>
          <a:bodyPr wrap="square" lIns="0" tIns="0" rIns="0" bIns="0" rtlCol="0" anchor="t"/>
          <a:lstStyle/>
          <a:p>
            <a:pPr marL="0" indent="0" algn="ctr">
              <a:buNone/>
            </a:pPr>
            <a:r>
              <a:rPr lang="en-US" sz="1050" dirty="0">
                <a:solidFill>
                  <a:srgbClr val="FFFFFF"/>
                </a:solidFill>
                <a:latin typeface="Arial" pitchFamily="34" charset="0"/>
                <a:ea typeface="Arial" pitchFamily="34" charset="-122"/>
                <a:cs typeface="Arial" pitchFamily="34" charset="-120"/>
              </a:rPr>
              <a:t>TranslationPipeline</a:t>
            </a:r>
            <a:endParaRPr lang="en-US" sz="1050" dirty="0"/>
          </a:p>
        </p:txBody>
      </p:sp>
      <p:sp>
        <p:nvSpPr>
          <p:cNvPr id="18" name="Text 14"/>
          <p:cNvSpPr txBox="1"/>
          <p:nvPr/>
        </p:nvSpPr>
        <p:spPr>
          <a:xfrm>
            <a:off x="5760720" y="1463040"/>
            <a:ext cx="5029200" cy="411480"/>
          </a:xfrm>
          <a:prstGeom prst="rect">
            <a:avLst/>
          </a:prstGeom>
          <a:noFill/>
          <a:ln/>
        </p:spPr>
        <p:txBody>
          <a:bodyPr wrap="square" lIns="0" tIns="0" rIns="0" bIns="0" rtlCol="0" anchor="t"/>
          <a:lstStyle/>
          <a:p>
            <a:pPr marL="0" indent="0">
              <a:buNone/>
            </a:pPr>
            <a:r>
              <a:rPr lang="en-US" sz="1600" b="1" dirty="0">
                <a:solidFill>
                  <a:srgbClr val="1B517B"/>
                </a:solidFill>
                <a:latin typeface="Arial" pitchFamily="34" charset="0"/>
                <a:ea typeface="Arial" pitchFamily="34" charset="-122"/>
                <a:cs typeface="Arial" pitchFamily="34" charset="-120"/>
              </a:rPr>
              <a:t>Một quy tắc: phụ thuộc luôn hướng vào trong</a:t>
            </a:r>
            <a:endParaRPr lang="en-US" sz="1600" dirty="0"/>
          </a:p>
        </p:txBody>
      </p:sp>
      <p:sp>
        <p:nvSpPr>
          <p:cNvPr id="19" name="Text 15"/>
          <p:cNvSpPr txBox="1"/>
          <p:nvPr/>
        </p:nvSpPr>
        <p:spPr>
          <a:xfrm>
            <a:off x="5760720" y="1874520"/>
            <a:ext cx="4846320" cy="594360"/>
          </a:xfrm>
          <a:prstGeom prst="rect">
            <a:avLst/>
          </a:prstGeom>
          <a:noFill/>
          <a:ln/>
        </p:spPr>
        <p:txBody>
          <a:bodyPr wrap="square" lIns="0" tIns="0" rIns="0" bIns="0" rtlCol="0" anchor="t"/>
          <a:lstStyle/>
          <a:p>
            <a:pPr marL="0" indent="0">
              <a:buNone/>
            </a:pPr>
            <a:r>
              <a:rPr lang="en-US" sz="1400" dirty="0">
                <a:solidFill>
                  <a:srgbClr val="5F6B76"/>
                </a:solidFill>
                <a:latin typeface="Arial" pitchFamily="34" charset="0"/>
                <a:ea typeface="Arial" pitchFamily="34" charset="-122"/>
                <a:cs typeface="Arial" pitchFamily="34" charset="-120"/>
              </a:rPr>
              <a:t>Chuỗi xử lý chỉ biết các port (giao diện trừu tượng), không biết mô hình nào đang chạy phía sau.</a:t>
            </a:r>
            <a:endParaRPr lang="en-US" sz="1400" dirty="0"/>
          </a:p>
        </p:txBody>
      </p:sp>
      <p:sp>
        <p:nvSpPr>
          <p:cNvPr id="20" name="Shape 16"/>
          <p:cNvSpPr/>
          <p:nvPr/>
        </p:nvSpPr>
        <p:spPr>
          <a:xfrm>
            <a:off x="5760720" y="2651760"/>
            <a:ext cx="566928" cy="566928"/>
          </a:xfrm>
          <a:prstGeom prst="ellipse">
            <a:avLst/>
          </a:prstGeom>
          <a:solidFill>
            <a:srgbClr val="1B517B"/>
          </a:solidFill>
          <a:ln w="12700">
            <a:solidFill>
              <a:srgbClr val="1B517B"/>
            </a:solidFill>
            <a:prstDash val="solid"/>
          </a:ln>
        </p:spPr>
        <p:txBody>
          <a:bodyPr/>
          <a:lstStyle/>
          <a:p>
            <a:endParaRPr lang="en-US"/>
          </a:p>
        </p:txBody>
      </p:sp>
      <p:pic>
        <p:nvPicPr>
          <p:cNvPr id="21" name="Image 2" descr="preencoded.png"/>
          <p:cNvPicPr>
            <a:picLocks noChangeAspect="1"/>
          </p:cNvPicPr>
          <p:nvPr/>
        </p:nvPicPr>
        <p:blipFill>
          <a:blip r:embed="rId5"/>
          <a:stretch>
            <a:fillRect/>
          </a:stretch>
        </p:blipFill>
        <p:spPr>
          <a:xfrm>
            <a:off x="5896783" y="2787823"/>
            <a:ext cx="294803" cy="294803"/>
          </a:xfrm>
          <a:prstGeom prst="rect">
            <a:avLst/>
          </a:prstGeom>
        </p:spPr>
      </p:pic>
      <p:sp>
        <p:nvSpPr>
          <p:cNvPr id="22" name="Text 17"/>
          <p:cNvSpPr txBox="1"/>
          <p:nvPr/>
        </p:nvSpPr>
        <p:spPr>
          <a:xfrm>
            <a:off x="6492240" y="2606040"/>
            <a:ext cx="4206240" cy="347472"/>
          </a:xfrm>
          <a:prstGeom prst="rect">
            <a:avLst/>
          </a:prstGeom>
          <a:noFill/>
          <a:ln/>
        </p:spPr>
        <p:txBody>
          <a:bodyPr wrap="square" lIns="0" tIns="0" rIns="0" bIns="0" rtlCol="0" anchor="t"/>
          <a:lstStyle/>
          <a:p>
            <a:pPr marL="0" indent="0">
              <a:buNone/>
            </a:pPr>
            <a:r>
              <a:rPr lang="en-US" sz="1500" b="1" dirty="0">
                <a:solidFill>
                  <a:srgbClr val="1B517B"/>
                </a:solidFill>
                <a:latin typeface="Arial" pitchFamily="34" charset="0"/>
                <a:ea typeface="Arial" pitchFamily="34" charset="-122"/>
                <a:cs typeface="Arial" pitchFamily="34" charset="-120"/>
              </a:rPr>
              <a:t>Thêm 2 runtime ASR (MLX, faster-whisper)</a:t>
            </a:r>
            <a:endParaRPr lang="en-US" sz="1500" dirty="0"/>
          </a:p>
        </p:txBody>
      </p:sp>
      <p:sp>
        <p:nvSpPr>
          <p:cNvPr id="23" name="Text 18"/>
          <p:cNvSpPr txBox="1"/>
          <p:nvPr/>
        </p:nvSpPr>
        <p:spPr>
          <a:xfrm>
            <a:off x="6492240" y="2953512"/>
            <a:ext cx="4023360" cy="777240"/>
          </a:xfrm>
          <a:prstGeom prst="rect">
            <a:avLst/>
          </a:prstGeom>
          <a:noFill/>
          <a:ln/>
        </p:spPr>
        <p:txBody>
          <a:bodyPr wrap="square" lIns="0" tIns="0" rIns="0" bIns="0" rtlCol="0" anchor="t"/>
          <a:lstStyle/>
          <a:p>
            <a:pPr marL="0" indent="0">
              <a:buNone/>
            </a:pPr>
            <a:r>
              <a:rPr lang="en-US" sz="1300" dirty="0">
                <a:solidFill>
                  <a:srgbClr val="222222"/>
                </a:solidFill>
                <a:latin typeface="Arial" pitchFamily="34" charset="0"/>
                <a:ea typeface="Arial" pitchFamily="34" charset="-122"/>
                <a:cs typeface="Arial" pitchFamily="34" charset="-120"/>
              </a:rPr>
              <a:t>Mỗi runtime: 1 adapter + 1 dòng đăng ký + 1 dòng preset. Không sửa dòng nào của chuỗi xử lý.</a:t>
            </a:r>
            <a:endParaRPr lang="en-US" sz="1300" dirty="0"/>
          </a:p>
        </p:txBody>
      </p:sp>
      <p:sp>
        <p:nvSpPr>
          <p:cNvPr id="24" name="Shape 19"/>
          <p:cNvSpPr/>
          <p:nvPr/>
        </p:nvSpPr>
        <p:spPr>
          <a:xfrm>
            <a:off x="5760720" y="3886200"/>
            <a:ext cx="566928" cy="566928"/>
          </a:xfrm>
          <a:prstGeom prst="ellipse">
            <a:avLst/>
          </a:prstGeom>
          <a:solidFill>
            <a:srgbClr val="1B517B"/>
          </a:solidFill>
          <a:ln w="12700">
            <a:solidFill>
              <a:srgbClr val="1B517B"/>
            </a:solidFill>
            <a:prstDash val="solid"/>
          </a:ln>
        </p:spPr>
        <p:txBody>
          <a:bodyPr/>
          <a:lstStyle/>
          <a:p>
            <a:endParaRPr lang="en-US"/>
          </a:p>
        </p:txBody>
      </p:sp>
      <p:pic>
        <p:nvPicPr>
          <p:cNvPr id="25" name="Image 3" descr="preencoded.png"/>
          <p:cNvPicPr>
            <a:picLocks noChangeAspect="1"/>
          </p:cNvPicPr>
          <p:nvPr/>
        </p:nvPicPr>
        <p:blipFill>
          <a:blip r:embed="rId6"/>
          <a:stretch>
            <a:fillRect/>
          </a:stretch>
        </p:blipFill>
        <p:spPr>
          <a:xfrm>
            <a:off x="5896783" y="4022263"/>
            <a:ext cx="294803" cy="294803"/>
          </a:xfrm>
          <a:prstGeom prst="rect">
            <a:avLst/>
          </a:prstGeom>
        </p:spPr>
      </p:pic>
      <p:sp>
        <p:nvSpPr>
          <p:cNvPr id="26" name="Text 20"/>
          <p:cNvSpPr txBox="1"/>
          <p:nvPr/>
        </p:nvSpPr>
        <p:spPr>
          <a:xfrm>
            <a:off x="6492240" y="3840480"/>
            <a:ext cx="4206240" cy="347472"/>
          </a:xfrm>
          <a:prstGeom prst="rect">
            <a:avLst/>
          </a:prstGeom>
          <a:noFill/>
          <a:ln/>
        </p:spPr>
        <p:txBody>
          <a:bodyPr wrap="square" lIns="0" tIns="0" rIns="0" bIns="0" rtlCol="0" anchor="t"/>
          <a:lstStyle/>
          <a:p>
            <a:pPr marL="0" indent="0">
              <a:buNone/>
            </a:pPr>
            <a:r>
              <a:rPr lang="en-US" sz="1500" b="1" dirty="0">
                <a:solidFill>
                  <a:srgbClr val="1B517B"/>
                </a:solidFill>
                <a:latin typeface="Arial" pitchFamily="34" charset="0"/>
                <a:ea typeface="Arial" pitchFamily="34" charset="-122"/>
                <a:cs typeface="Arial" pitchFamily="34" charset="-120"/>
              </a:rPr>
              <a:t>TTS tiếng Nhật hỏng giữa chừng</a:t>
            </a:r>
            <a:endParaRPr lang="en-US" sz="1500" dirty="0"/>
          </a:p>
        </p:txBody>
      </p:sp>
      <p:sp>
        <p:nvSpPr>
          <p:cNvPr id="27" name="Text 21"/>
          <p:cNvSpPr txBox="1"/>
          <p:nvPr/>
        </p:nvSpPr>
        <p:spPr>
          <a:xfrm>
            <a:off x="6492240" y="4187952"/>
            <a:ext cx="4023360" cy="777240"/>
          </a:xfrm>
          <a:prstGeom prst="rect">
            <a:avLst/>
          </a:prstGeom>
          <a:noFill/>
          <a:ln/>
        </p:spPr>
        <p:txBody>
          <a:bodyPr wrap="square" lIns="0" tIns="0" rIns="0" bIns="0" rtlCol="0" anchor="t"/>
          <a:lstStyle/>
          <a:p>
            <a:pPr marL="0" indent="0">
              <a:buNone/>
            </a:pPr>
            <a:r>
              <a:rPr lang="en-US" sz="1300" dirty="0">
                <a:solidFill>
                  <a:srgbClr val="222222"/>
                </a:solidFill>
                <a:latin typeface="Arial" pitchFamily="34" charset="0"/>
                <a:ea typeface="Arial" pitchFamily="34" charset="-122"/>
                <a:cs typeface="Arial" pitchFamily="34" charset="-120"/>
              </a:rPr>
              <a:t>Thêm adapter Kokoro và LanguageRoutedTts chọn engine theo ngôn ngữ đích; chuỗi xử lý vẫn chỉ thấy một TTS.</a:t>
            </a:r>
            <a:endParaRPr lang="en-US" sz="1300" dirty="0"/>
          </a:p>
        </p:txBody>
      </p:sp>
      <p:sp>
        <p:nvSpPr>
          <p:cNvPr id="28" name="Shape 22"/>
          <p:cNvSpPr/>
          <p:nvPr/>
        </p:nvSpPr>
        <p:spPr>
          <a:xfrm>
            <a:off x="5760720" y="5120640"/>
            <a:ext cx="566928" cy="566928"/>
          </a:xfrm>
          <a:prstGeom prst="ellipse">
            <a:avLst/>
          </a:prstGeom>
          <a:solidFill>
            <a:srgbClr val="1B517B"/>
          </a:solidFill>
          <a:ln w="12700">
            <a:solidFill>
              <a:srgbClr val="1B517B"/>
            </a:solidFill>
            <a:prstDash val="solid"/>
          </a:ln>
        </p:spPr>
        <p:txBody>
          <a:bodyPr/>
          <a:lstStyle/>
          <a:p>
            <a:endParaRPr lang="en-US"/>
          </a:p>
        </p:txBody>
      </p:sp>
      <p:pic>
        <p:nvPicPr>
          <p:cNvPr id="29" name="Image 4" descr="preencoded.png"/>
          <p:cNvPicPr>
            <a:picLocks noChangeAspect="1"/>
          </p:cNvPicPr>
          <p:nvPr/>
        </p:nvPicPr>
        <p:blipFill>
          <a:blip r:embed="rId7"/>
          <a:stretch>
            <a:fillRect/>
          </a:stretch>
        </p:blipFill>
        <p:spPr>
          <a:xfrm>
            <a:off x="5896783" y="5256703"/>
            <a:ext cx="294803" cy="294803"/>
          </a:xfrm>
          <a:prstGeom prst="rect">
            <a:avLst/>
          </a:prstGeom>
        </p:spPr>
      </p:pic>
      <p:sp>
        <p:nvSpPr>
          <p:cNvPr id="30" name="Text 23"/>
          <p:cNvSpPr txBox="1"/>
          <p:nvPr/>
        </p:nvSpPr>
        <p:spPr>
          <a:xfrm>
            <a:off x="6492240" y="5074920"/>
            <a:ext cx="4206240" cy="347472"/>
          </a:xfrm>
          <a:prstGeom prst="rect">
            <a:avLst/>
          </a:prstGeom>
          <a:noFill/>
          <a:ln/>
        </p:spPr>
        <p:txBody>
          <a:bodyPr wrap="square" lIns="0" tIns="0" rIns="0" bIns="0" rtlCol="0" anchor="t"/>
          <a:lstStyle/>
          <a:p>
            <a:pPr marL="0" indent="0">
              <a:buNone/>
            </a:pPr>
            <a:r>
              <a:rPr lang="en-US" sz="1500" b="1" dirty="0">
                <a:solidFill>
                  <a:srgbClr val="1B517B"/>
                </a:solidFill>
                <a:latin typeface="Arial" pitchFamily="34" charset="0"/>
                <a:ea typeface="Arial" pitchFamily="34" charset="-122"/>
                <a:cs typeface="Arial" pitchFamily="34" charset="-120"/>
              </a:rPr>
              <a:t>Kiểm thử không cần mô hình thật</a:t>
            </a:r>
            <a:endParaRPr lang="en-US" sz="1500" dirty="0"/>
          </a:p>
        </p:txBody>
      </p:sp>
      <p:sp>
        <p:nvSpPr>
          <p:cNvPr id="31" name="Text 24"/>
          <p:cNvSpPr txBox="1"/>
          <p:nvPr/>
        </p:nvSpPr>
        <p:spPr>
          <a:xfrm>
            <a:off x="6492240" y="5422392"/>
            <a:ext cx="4023360" cy="777240"/>
          </a:xfrm>
          <a:prstGeom prst="rect">
            <a:avLst/>
          </a:prstGeom>
          <a:noFill/>
          <a:ln/>
        </p:spPr>
        <p:txBody>
          <a:bodyPr wrap="square" lIns="0" tIns="0" rIns="0" bIns="0" rtlCol="0" anchor="t"/>
          <a:lstStyle/>
          <a:p>
            <a:pPr marL="0" indent="0">
              <a:buNone/>
            </a:pPr>
            <a:r>
              <a:rPr lang="en-US" sz="1300" dirty="0">
                <a:solidFill>
                  <a:srgbClr val="222222"/>
                </a:solidFill>
                <a:latin typeface="Arial" pitchFamily="34" charset="0"/>
                <a:ea typeface="Arial" pitchFamily="34" charset="-122"/>
                <a:cs typeface="Arial" pitchFamily="34" charset="-120"/>
              </a:rPr>
              <a:t>Thay adapter bằng mô hình giả: 327 bài kiểm thử dịch vụ chạy trong vài giây, tất định.</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pic>
        <p:nvPicPr>
          <p:cNvPr id="2" name="Image 0" descr="C:\Users\hhung\AppData\Local\Temp\claude\d--Project-local-live-voice-translator\d0343c7e-f558-4e8b-8c62-5b900df8bea6\scratchpad\build\img\deco_right.png"/>
          <p:cNvPicPr>
            <a:picLocks noChangeAspect="1"/>
          </p:cNvPicPr>
          <p:nvPr/>
        </p:nvPicPr>
        <p:blipFill>
          <a:blip r:embed="rId3"/>
          <a:stretch>
            <a:fillRect/>
          </a:stretch>
        </p:blipFill>
        <p:spPr>
          <a:xfrm>
            <a:off x="0" y="0"/>
            <a:ext cx="12191695" cy="6858000"/>
          </a:xfrm>
          <a:prstGeom prst="rect">
            <a:avLst/>
          </a:prstGeom>
        </p:spPr>
      </p:pic>
      <p:pic>
        <p:nvPicPr>
          <p:cNvPr id="3" name="Image 1" descr="C:\Users\hhung\AppData\Local\Temp\claude\d--Project-local-live-voice-translator\d0343c7e-f558-4e8b-8c62-5b900df8bea6\scratchpad\build\img\logo_header.png"/>
          <p:cNvPicPr>
            <a:picLocks noChangeAspect="1"/>
          </p:cNvPicPr>
          <p:nvPr/>
        </p:nvPicPr>
        <p:blipFill>
          <a:blip r:embed="rId4"/>
          <a:stretch>
            <a:fillRect/>
          </a:stretch>
        </p:blipFill>
        <p:spPr>
          <a:xfrm>
            <a:off x="8549640" y="292608"/>
            <a:ext cx="2560320" cy="459250"/>
          </a:xfrm>
          <a:prstGeom prst="rect">
            <a:avLst/>
          </a:prstGeom>
        </p:spPr>
      </p:pic>
      <p:sp>
        <p:nvSpPr>
          <p:cNvPr id="4" name="Text 0"/>
          <p:cNvSpPr txBox="1"/>
          <p:nvPr/>
        </p:nvSpPr>
        <p:spPr>
          <a:xfrm>
            <a:off x="411480" y="256032"/>
            <a:ext cx="7955280" cy="548640"/>
          </a:xfrm>
          <a:prstGeom prst="rect">
            <a:avLst/>
          </a:prstGeom>
          <a:noFill/>
          <a:ln/>
        </p:spPr>
        <p:txBody>
          <a:bodyPr wrap="square" lIns="0" tIns="0" rIns="0" bIns="0" rtlCol="0" anchor="t"/>
          <a:lstStyle/>
          <a:p>
            <a:pPr marL="0" indent="0">
              <a:buNone/>
            </a:pPr>
            <a:r>
              <a:rPr lang="en-US" sz="2800" b="1" dirty="0">
                <a:solidFill>
                  <a:srgbClr val="487BA2"/>
                </a:solidFill>
                <a:latin typeface="Arial" pitchFamily="34" charset="0"/>
                <a:ea typeface="Arial" pitchFamily="34" charset="-122"/>
                <a:cs typeface="Arial" pitchFamily="34" charset="-120"/>
              </a:rPr>
              <a:t>II. Phương pháp thực hiện</a:t>
            </a:r>
            <a:endParaRPr lang="en-US" sz="2800" dirty="0"/>
          </a:p>
        </p:txBody>
      </p:sp>
      <p:sp>
        <p:nvSpPr>
          <p:cNvPr id="5" name="Text 1"/>
          <p:cNvSpPr txBox="1"/>
          <p:nvPr/>
        </p:nvSpPr>
        <p:spPr>
          <a:xfrm>
            <a:off x="411480" y="841248"/>
            <a:ext cx="8046720" cy="411480"/>
          </a:xfrm>
          <a:prstGeom prst="rect">
            <a:avLst/>
          </a:prstGeom>
          <a:noFill/>
          <a:ln/>
        </p:spPr>
        <p:txBody>
          <a:bodyPr wrap="square" lIns="0" tIns="0" rIns="0" bIns="0" rtlCol="0" anchor="t"/>
          <a:lstStyle/>
          <a:p>
            <a:pPr marL="0" indent="0">
              <a:buNone/>
            </a:pPr>
            <a:r>
              <a:rPr lang="en-US" sz="2000" dirty="0">
                <a:solidFill>
                  <a:srgbClr val="1B517B"/>
                </a:solidFill>
                <a:latin typeface="Arial" pitchFamily="34" charset="0"/>
                <a:ea typeface="Arial" pitchFamily="34" charset="-122"/>
                <a:cs typeface="Arial" pitchFamily="34" charset="-120"/>
              </a:rPr>
              <a:t>3. Bộ tách câu: khi nào một câu kết thúc?</a:t>
            </a:r>
            <a:endParaRPr lang="en-US" sz="2000" dirty="0"/>
          </a:p>
        </p:txBody>
      </p:sp>
      <p:sp>
        <p:nvSpPr>
          <p:cNvPr id="6" name="Text 2"/>
          <p:cNvSpPr txBox="1"/>
          <p:nvPr/>
        </p:nvSpPr>
        <p:spPr>
          <a:xfrm>
            <a:off x="10104120" y="6355080"/>
            <a:ext cx="548640" cy="274320"/>
          </a:xfrm>
          <a:prstGeom prst="rect">
            <a:avLst/>
          </a:prstGeom>
          <a:noFill/>
          <a:ln/>
        </p:spPr>
        <p:txBody>
          <a:bodyPr wrap="square" lIns="0" tIns="0" rIns="0" bIns="0" rtlCol="0" anchor="t"/>
          <a:lstStyle/>
          <a:p>
            <a:pPr marL="0" indent="0" algn="r">
              <a:buNone/>
            </a:pPr>
            <a:r>
              <a:rPr lang="en-US" sz="1100" dirty="0">
                <a:solidFill>
                  <a:srgbClr val="5F6B76"/>
                </a:solidFill>
                <a:latin typeface="Arial" pitchFamily="34" charset="0"/>
                <a:ea typeface="Arial" pitchFamily="34" charset="-122"/>
                <a:cs typeface="Arial" pitchFamily="34" charset="-120"/>
              </a:rPr>
              <a:t>11</a:t>
            </a:r>
            <a:endParaRPr lang="en-US" sz="1100" dirty="0"/>
          </a:p>
        </p:txBody>
      </p:sp>
      <p:sp>
        <p:nvSpPr>
          <p:cNvPr id="7" name="Text 3"/>
          <p:cNvSpPr txBox="1"/>
          <p:nvPr/>
        </p:nvSpPr>
        <p:spPr>
          <a:xfrm>
            <a:off x="411480" y="1371600"/>
            <a:ext cx="10241280" cy="640080"/>
          </a:xfrm>
          <a:prstGeom prst="rect">
            <a:avLst/>
          </a:prstGeom>
          <a:noFill/>
          <a:ln/>
        </p:spPr>
        <p:txBody>
          <a:bodyPr wrap="square" lIns="0" tIns="0" rIns="0" bIns="0" rtlCol="0" anchor="t"/>
          <a:lstStyle/>
          <a:p>
            <a:pPr marL="0" indent="0">
              <a:buNone/>
            </a:pPr>
            <a:r>
              <a:rPr lang="en-US" sz="1600" b="1" dirty="0">
                <a:solidFill>
                  <a:srgbClr val="B8262B"/>
                </a:solidFill>
                <a:latin typeface="Arial" pitchFamily="34" charset="0"/>
                <a:ea typeface="Arial" pitchFamily="34" charset="-122"/>
                <a:cs typeface="Arial" pitchFamily="34" charset="-120"/>
              </a:rPr>
              <a:t>Vấn đề: </a:t>
            </a:r>
            <a:r>
              <a:rPr lang="en-US" sz="1600" dirty="0">
                <a:solidFill>
                  <a:srgbClr val="222222"/>
                </a:solidFill>
                <a:latin typeface="Arial" pitchFamily="34" charset="0"/>
                <a:ea typeface="Arial" pitchFamily="34" charset="-122"/>
                <a:cs typeface="Arial" pitchFamily="34" charset="-120"/>
              </a:rPr>
              <a:t>lời nói không có dấu chấm câu. Phiên bản đầu dùng một ngưỡng im lặng 300 ms và trần 20 s: người nói liền mạch phải chờ tới 20 s mới có bản dịch (GVHD góp ý, 19/08/2026).</a:t>
            </a:r>
            <a:endParaRPr lang="en-US" sz="1600" dirty="0"/>
          </a:p>
        </p:txBody>
      </p:sp>
      <p:sp>
        <p:nvSpPr>
          <p:cNvPr id="8" name="Shape 4"/>
          <p:cNvSpPr/>
          <p:nvPr/>
        </p:nvSpPr>
        <p:spPr>
          <a:xfrm>
            <a:off x="822960" y="2880360"/>
            <a:ext cx="4000500" cy="502920"/>
          </a:xfrm>
          <a:prstGeom prst="rect">
            <a:avLst/>
          </a:prstGeom>
          <a:solidFill>
            <a:srgbClr val="DCE8F2"/>
          </a:solidFill>
          <a:ln w="12700">
            <a:solidFill>
              <a:srgbClr val="DCE8F2"/>
            </a:solidFill>
            <a:prstDash val="solid"/>
          </a:ln>
        </p:spPr>
        <p:txBody>
          <a:bodyPr/>
          <a:lstStyle/>
          <a:p>
            <a:endParaRPr lang="en-US"/>
          </a:p>
        </p:txBody>
      </p:sp>
      <p:sp>
        <p:nvSpPr>
          <p:cNvPr id="9" name="Shape 5"/>
          <p:cNvSpPr/>
          <p:nvPr/>
        </p:nvSpPr>
        <p:spPr>
          <a:xfrm>
            <a:off x="4823460" y="2880360"/>
            <a:ext cx="2857500" cy="502920"/>
          </a:xfrm>
          <a:prstGeom prst="rect">
            <a:avLst/>
          </a:prstGeom>
          <a:solidFill>
            <a:srgbClr val="9DBBD6"/>
          </a:solidFill>
          <a:ln w="12700">
            <a:solidFill>
              <a:srgbClr val="9DBBD6"/>
            </a:solidFill>
            <a:prstDash val="solid"/>
          </a:ln>
        </p:spPr>
        <p:txBody>
          <a:bodyPr/>
          <a:lstStyle/>
          <a:p>
            <a:endParaRPr lang="en-US"/>
          </a:p>
        </p:txBody>
      </p:sp>
      <p:sp>
        <p:nvSpPr>
          <p:cNvPr id="10" name="Shape 6"/>
          <p:cNvSpPr/>
          <p:nvPr/>
        </p:nvSpPr>
        <p:spPr>
          <a:xfrm>
            <a:off x="7680960" y="2697480"/>
            <a:ext cx="64008" cy="685800"/>
          </a:xfrm>
          <a:prstGeom prst="rect">
            <a:avLst/>
          </a:prstGeom>
          <a:solidFill>
            <a:srgbClr val="B8262B"/>
          </a:solidFill>
          <a:ln w="12700">
            <a:solidFill>
              <a:srgbClr val="B8262B"/>
            </a:solidFill>
            <a:prstDash val="solid"/>
          </a:ln>
        </p:spPr>
        <p:txBody>
          <a:bodyPr/>
          <a:lstStyle/>
          <a:p>
            <a:endParaRPr lang="en-US"/>
          </a:p>
        </p:txBody>
      </p:sp>
      <p:sp>
        <p:nvSpPr>
          <p:cNvPr id="11" name="Text 7"/>
          <p:cNvSpPr txBox="1"/>
          <p:nvPr/>
        </p:nvSpPr>
        <p:spPr>
          <a:xfrm>
            <a:off x="822960" y="2514600"/>
            <a:ext cx="2743200" cy="274320"/>
          </a:xfrm>
          <a:prstGeom prst="rect">
            <a:avLst/>
          </a:prstGeom>
          <a:noFill/>
          <a:ln/>
        </p:spPr>
        <p:txBody>
          <a:bodyPr wrap="square" lIns="0" tIns="0" rIns="0" bIns="0" rtlCol="0" anchor="t"/>
          <a:lstStyle/>
          <a:p>
            <a:pPr marL="0" indent="0">
              <a:buNone/>
            </a:pPr>
            <a:r>
              <a:rPr lang="en-US" sz="1200" i="1" dirty="0">
                <a:solidFill>
                  <a:srgbClr val="5F6B76"/>
                </a:solidFill>
                <a:latin typeface="Arial" pitchFamily="34" charset="0"/>
                <a:ea typeface="Arial" pitchFamily="34" charset="-122"/>
                <a:cs typeface="Arial" pitchFamily="34" charset="-120"/>
              </a:rPr>
              <a:t>Độ dài câu đang nói</a:t>
            </a:r>
            <a:endParaRPr lang="en-US" sz="1200" dirty="0"/>
          </a:p>
        </p:txBody>
      </p:sp>
      <p:sp>
        <p:nvSpPr>
          <p:cNvPr id="12" name="Text 8"/>
          <p:cNvSpPr txBox="1"/>
          <p:nvPr/>
        </p:nvSpPr>
        <p:spPr>
          <a:xfrm>
            <a:off x="457200" y="3429000"/>
            <a:ext cx="731520" cy="274320"/>
          </a:xfrm>
          <a:prstGeom prst="rect">
            <a:avLst/>
          </a:prstGeom>
          <a:noFill/>
          <a:ln/>
        </p:spPr>
        <p:txBody>
          <a:bodyPr wrap="square" lIns="0" tIns="0" rIns="0" bIns="0" rtlCol="0" anchor="t"/>
          <a:lstStyle/>
          <a:p>
            <a:pPr marL="0" indent="0" algn="ctr">
              <a:buNone/>
            </a:pPr>
            <a:r>
              <a:rPr lang="en-US" sz="1200" b="1" dirty="0">
                <a:solidFill>
                  <a:srgbClr val="222222"/>
                </a:solidFill>
                <a:latin typeface="Arial" pitchFamily="34" charset="0"/>
                <a:ea typeface="Arial" pitchFamily="34" charset="-122"/>
                <a:cs typeface="Arial" pitchFamily="34" charset="-120"/>
              </a:rPr>
              <a:t>0 s</a:t>
            </a:r>
            <a:endParaRPr lang="en-US" sz="1200" dirty="0"/>
          </a:p>
        </p:txBody>
      </p:sp>
      <p:sp>
        <p:nvSpPr>
          <p:cNvPr id="13" name="Text 9"/>
          <p:cNvSpPr txBox="1"/>
          <p:nvPr/>
        </p:nvSpPr>
        <p:spPr>
          <a:xfrm>
            <a:off x="4457700" y="3429000"/>
            <a:ext cx="731520" cy="274320"/>
          </a:xfrm>
          <a:prstGeom prst="rect">
            <a:avLst/>
          </a:prstGeom>
          <a:noFill/>
          <a:ln/>
        </p:spPr>
        <p:txBody>
          <a:bodyPr wrap="square" lIns="0" tIns="0" rIns="0" bIns="0" rtlCol="0" anchor="t"/>
          <a:lstStyle/>
          <a:p>
            <a:pPr marL="0" indent="0" algn="ctr">
              <a:buNone/>
            </a:pPr>
            <a:r>
              <a:rPr lang="en-US" sz="1200" b="1" dirty="0">
                <a:solidFill>
                  <a:srgbClr val="222222"/>
                </a:solidFill>
                <a:latin typeface="Arial" pitchFamily="34" charset="0"/>
                <a:ea typeface="Arial" pitchFamily="34" charset="-122"/>
                <a:cs typeface="Arial" pitchFamily="34" charset="-120"/>
              </a:rPr>
              <a:t>3,5 s</a:t>
            </a:r>
            <a:endParaRPr lang="en-US" sz="1200" dirty="0"/>
          </a:p>
        </p:txBody>
      </p:sp>
      <p:sp>
        <p:nvSpPr>
          <p:cNvPr id="14" name="Text 10"/>
          <p:cNvSpPr txBox="1"/>
          <p:nvPr/>
        </p:nvSpPr>
        <p:spPr>
          <a:xfrm>
            <a:off x="7315200" y="3429000"/>
            <a:ext cx="731520" cy="274320"/>
          </a:xfrm>
          <a:prstGeom prst="rect">
            <a:avLst/>
          </a:prstGeom>
          <a:noFill/>
          <a:ln/>
        </p:spPr>
        <p:txBody>
          <a:bodyPr wrap="square" lIns="0" tIns="0" rIns="0" bIns="0" rtlCol="0" anchor="t"/>
          <a:lstStyle/>
          <a:p>
            <a:pPr marL="0" indent="0" algn="ctr">
              <a:buNone/>
            </a:pPr>
            <a:r>
              <a:rPr lang="en-US" sz="1200" b="1" dirty="0">
                <a:solidFill>
                  <a:srgbClr val="222222"/>
                </a:solidFill>
                <a:latin typeface="Arial" pitchFamily="34" charset="0"/>
                <a:ea typeface="Arial" pitchFamily="34" charset="-122"/>
                <a:cs typeface="Arial" pitchFamily="34" charset="-120"/>
              </a:rPr>
              <a:t>6 s</a:t>
            </a:r>
            <a:endParaRPr lang="en-US" sz="1200" dirty="0"/>
          </a:p>
        </p:txBody>
      </p:sp>
      <p:sp>
        <p:nvSpPr>
          <p:cNvPr id="15" name="Text 11"/>
          <p:cNvSpPr txBox="1"/>
          <p:nvPr/>
        </p:nvSpPr>
        <p:spPr>
          <a:xfrm>
            <a:off x="822960" y="2880360"/>
            <a:ext cx="4000500" cy="502920"/>
          </a:xfrm>
          <a:prstGeom prst="rect">
            <a:avLst/>
          </a:prstGeom>
          <a:noFill/>
          <a:ln/>
        </p:spPr>
        <p:txBody>
          <a:bodyPr wrap="square" lIns="0" tIns="0" rIns="0" bIns="0" rtlCol="0" anchor="ctr"/>
          <a:lstStyle/>
          <a:p>
            <a:pPr marL="0" indent="0" algn="ctr">
              <a:buNone/>
            </a:pPr>
            <a:r>
              <a:rPr lang="en-US" sz="1400" b="1" dirty="0">
                <a:solidFill>
                  <a:srgbClr val="1B517B"/>
                </a:solidFill>
                <a:latin typeface="Arial" pitchFamily="34" charset="0"/>
                <a:ea typeface="Arial" pitchFamily="34" charset="-122"/>
                <a:cs typeface="Arial" pitchFamily="34" charset="-120"/>
              </a:rPr>
              <a:t>Câu còn ngắn</a:t>
            </a:r>
            <a:endParaRPr lang="en-US" sz="1400" dirty="0"/>
          </a:p>
        </p:txBody>
      </p:sp>
      <p:sp>
        <p:nvSpPr>
          <p:cNvPr id="16" name="Text 12"/>
          <p:cNvSpPr txBox="1"/>
          <p:nvPr/>
        </p:nvSpPr>
        <p:spPr>
          <a:xfrm>
            <a:off x="4823460" y="2880360"/>
            <a:ext cx="2857500" cy="502920"/>
          </a:xfrm>
          <a:prstGeom prst="rect">
            <a:avLst/>
          </a:prstGeom>
          <a:noFill/>
          <a:ln/>
        </p:spPr>
        <p:txBody>
          <a:bodyPr wrap="square" lIns="0" tIns="0" rIns="0" bIns="0" rtlCol="0" anchor="ctr"/>
          <a:lstStyle/>
          <a:p>
            <a:pPr marL="0" indent="0" algn="ctr">
              <a:buNone/>
            </a:pPr>
            <a:r>
              <a:rPr lang="en-US" sz="1400" b="1" dirty="0">
                <a:solidFill>
                  <a:srgbClr val="1B517B"/>
                </a:solidFill>
                <a:latin typeface="Arial" pitchFamily="34" charset="0"/>
                <a:ea typeface="Arial" pitchFamily="34" charset="-122"/>
                <a:cs typeface="Arial" pitchFamily="34" charset="-120"/>
              </a:rPr>
              <a:t>Câu đã dài</a:t>
            </a:r>
            <a:endParaRPr lang="en-US" sz="1400" dirty="0"/>
          </a:p>
        </p:txBody>
      </p:sp>
      <p:sp>
        <p:nvSpPr>
          <p:cNvPr id="17" name="Text 13"/>
          <p:cNvSpPr txBox="1"/>
          <p:nvPr/>
        </p:nvSpPr>
        <p:spPr>
          <a:xfrm>
            <a:off x="7818120" y="2880360"/>
            <a:ext cx="1645920" cy="502920"/>
          </a:xfrm>
          <a:prstGeom prst="rect">
            <a:avLst/>
          </a:prstGeom>
          <a:noFill/>
          <a:ln/>
        </p:spPr>
        <p:txBody>
          <a:bodyPr wrap="square" lIns="0" tIns="0" rIns="0" bIns="0" rtlCol="0" anchor="ctr"/>
          <a:lstStyle/>
          <a:p>
            <a:pPr marL="0" indent="0">
              <a:buNone/>
            </a:pPr>
            <a:r>
              <a:rPr lang="en-US" sz="1400" b="1" dirty="0">
                <a:solidFill>
                  <a:srgbClr val="B8262B"/>
                </a:solidFill>
                <a:latin typeface="Arial" pitchFamily="34" charset="0"/>
                <a:ea typeface="Arial" pitchFamily="34" charset="-122"/>
                <a:cs typeface="Arial" pitchFamily="34" charset="-120"/>
              </a:rPr>
              <a:t>Trần cứng</a:t>
            </a:r>
            <a:endParaRPr lang="en-US" sz="1400" dirty="0"/>
          </a:p>
        </p:txBody>
      </p:sp>
      <p:sp>
        <p:nvSpPr>
          <p:cNvPr id="18" name="Shape 14"/>
          <p:cNvSpPr/>
          <p:nvPr/>
        </p:nvSpPr>
        <p:spPr>
          <a:xfrm>
            <a:off x="822960" y="3794760"/>
            <a:ext cx="3863340" cy="1463040"/>
          </a:xfrm>
          <a:prstGeom prst="roundRect">
            <a:avLst>
              <a:gd name="adj" fmla="val 5000"/>
            </a:avLst>
          </a:prstGeom>
          <a:solidFill>
            <a:srgbClr val="EEF4F9"/>
          </a:solidFill>
          <a:ln w="12700">
            <a:solidFill>
              <a:srgbClr val="EEF4F9"/>
            </a:solidFill>
            <a:prstDash val="solid"/>
          </a:ln>
        </p:spPr>
        <p:txBody>
          <a:bodyPr/>
          <a:lstStyle/>
          <a:p>
            <a:endParaRPr lang="en-US"/>
          </a:p>
        </p:txBody>
      </p:sp>
      <p:sp>
        <p:nvSpPr>
          <p:cNvPr id="19" name="Text 15"/>
          <p:cNvSpPr txBox="1"/>
          <p:nvPr/>
        </p:nvSpPr>
        <p:spPr>
          <a:xfrm>
            <a:off x="960120" y="3858768"/>
            <a:ext cx="3589020" cy="365760"/>
          </a:xfrm>
          <a:prstGeom prst="rect">
            <a:avLst/>
          </a:prstGeom>
          <a:noFill/>
          <a:ln/>
        </p:spPr>
        <p:txBody>
          <a:bodyPr wrap="square" lIns="0" tIns="0" rIns="0" bIns="0" rtlCol="0" anchor="t"/>
          <a:lstStyle/>
          <a:p>
            <a:pPr marL="0" indent="0">
              <a:buNone/>
            </a:pPr>
            <a:r>
              <a:rPr lang="en-US" sz="1500" b="1" dirty="0">
                <a:solidFill>
                  <a:srgbClr val="1B517B"/>
                </a:solidFill>
                <a:latin typeface="Arial" pitchFamily="34" charset="0"/>
                <a:ea typeface="Arial" pitchFamily="34" charset="-122"/>
                <a:cs typeface="Arial" pitchFamily="34" charset="-120"/>
              </a:rPr>
              <a:t>Chờ im lặng 320 ms</a:t>
            </a:r>
            <a:endParaRPr lang="en-US" sz="1500" dirty="0"/>
          </a:p>
        </p:txBody>
      </p:sp>
      <p:sp>
        <p:nvSpPr>
          <p:cNvPr id="20" name="Text 16"/>
          <p:cNvSpPr txBox="1"/>
          <p:nvPr/>
        </p:nvSpPr>
        <p:spPr>
          <a:xfrm>
            <a:off x="960120" y="4251960"/>
            <a:ext cx="3589020" cy="960120"/>
          </a:xfrm>
          <a:prstGeom prst="rect">
            <a:avLst/>
          </a:prstGeom>
          <a:noFill/>
          <a:ln/>
        </p:spPr>
        <p:txBody>
          <a:bodyPr wrap="square" lIns="0" tIns="0" rIns="0" bIns="0" rtlCol="0" anchor="t"/>
          <a:lstStyle/>
          <a:p>
            <a:pPr marL="0" indent="0">
              <a:buNone/>
            </a:pPr>
            <a:r>
              <a:rPr lang="en-US" sz="1300" dirty="0">
                <a:solidFill>
                  <a:srgbClr val="222222"/>
                </a:solidFill>
                <a:latin typeface="Arial" pitchFamily="34" charset="0"/>
                <a:ea typeface="Arial" pitchFamily="34" charset="-122"/>
                <a:cs typeface="Arial" pitchFamily="34" charset="-120"/>
              </a:rPr>
              <a:t>Nhịp ngắt giữa câu thì nối tiếp vào đoạn cũ: người nói chậm không bị băm câu.</a:t>
            </a:r>
            <a:endParaRPr lang="en-US" sz="1300" dirty="0"/>
          </a:p>
        </p:txBody>
      </p:sp>
      <p:sp>
        <p:nvSpPr>
          <p:cNvPr id="21" name="Shape 17"/>
          <p:cNvSpPr/>
          <p:nvPr/>
        </p:nvSpPr>
        <p:spPr>
          <a:xfrm>
            <a:off x="4823460" y="3794760"/>
            <a:ext cx="2720340" cy="1463040"/>
          </a:xfrm>
          <a:prstGeom prst="roundRect">
            <a:avLst>
              <a:gd name="adj" fmla="val 5000"/>
            </a:avLst>
          </a:prstGeom>
          <a:solidFill>
            <a:srgbClr val="EEF4F9"/>
          </a:solidFill>
          <a:ln w="12700">
            <a:solidFill>
              <a:srgbClr val="EEF4F9"/>
            </a:solidFill>
            <a:prstDash val="solid"/>
          </a:ln>
        </p:spPr>
        <p:txBody>
          <a:bodyPr/>
          <a:lstStyle/>
          <a:p>
            <a:endParaRPr lang="en-US"/>
          </a:p>
        </p:txBody>
      </p:sp>
      <p:sp>
        <p:nvSpPr>
          <p:cNvPr id="22" name="Text 18"/>
          <p:cNvSpPr txBox="1"/>
          <p:nvPr/>
        </p:nvSpPr>
        <p:spPr>
          <a:xfrm>
            <a:off x="4960620" y="3858768"/>
            <a:ext cx="2446020" cy="365760"/>
          </a:xfrm>
          <a:prstGeom prst="rect">
            <a:avLst/>
          </a:prstGeom>
          <a:noFill/>
          <a:ln/>
        </p:spPr>
        <p:txBody>
          <a:bodyPr wrap="square" lIns="0" tIns="0" rIns="0" bIns="0" rtlCol="0" anchor="t"/>
          <a:lstStyle/>
          <a:p>
            <a:pPr marL="0" indent="0">
              <a:buNone/>
            </a:pPr>
            <a:r>
              <a:rPr lang="en-US" sz="1500" b="1" dirty="0">
                <a:solidFill>
                  <a:srgbClr val="1B517B"/>
                </a:solidFill>
                <a:latin typeface="Arial" pitchFamily="34" charset="0"/>
                <a:ea typeface="Arial" pitchFamily="34" charset="-122"/>
                <a:cs typeface="Arial" pitchFamily="34" charset="-120"/>
              </a:rPr>
              <a:t>Chốt ở hụt hơi 140 ms</a:t>
            </a:r>
            <a:endParaRPr lang="en-US" sz="1500" dirty="0"/>
          </a:p>
        </p:txBody>
      </p:sp>
      <p:sp>
        <p:nvSpPr>
          <p:cNvPr id="23" name="Text 19"/>
          <p:cNvSpPr txBox="1"/>
          <p:nvPr/>
        </p:nvSpPr>
        <p:spPr>
          <a:xfrm>
            <a:off x="4960620" y="4251960"/>
            <a:ext cx="2446020" cy="960120"/>
          </a:xfrm>
          <a:prstGeom prst="rect">
            <a:avLst/>
          </a:prstGeom>
          <a:noFill/>
          <a:ln/>
        </p:spPr>
        <p:txBody>
          <a:bodyPr wrap="square" lIns="0" tIns="0" rIns="0" bIns="0" rtlCol="0" anchor="t"/>
          <a:lstStyle/>
          <a:p>
            <a:pPr marL="0" indent="0">
              <a:buNone/>
            </a:pPr>
            <a:r>
              <a:rPr lang="en-US" sz="1300" dirty="0">
                <a:solidFill>
                  <a:srgbClr val="222222"/>
                </a:solidFill>
                <a:latin typeface="Arial" pitchFamily="34" charset="0"/>
                <a:ea typeface="Arial" pitchFamily="34" charset="-122"/>
                <a:cs typeface="Arial" pitchFamily="34" charset="-120"/>
              </a:rPr>
              <a:t>Câu dài được chốt sớm: không phải chờ hết câu mới dịch.</a:t>
            </a:r>
            <a:endParaRPr lang="en-US" sz="1300" dirty="0"/>
          </a:p>
        </p:txBody>
      </p:sp>
      <p:sp>
        <p:nvSpPr>
          <p:cNvPr id="24" name="Shape 20"/>
          <p:cNvSpPr/>
          <p:nvPr/>
        </p:nvSpPr>
        <p:spPr>
          <a:xfrm>
            <a:off x="7680960" y="3794760"/>
            <a:ext cx="2971800" cy="1463040"/>
          </a:xfrm>
          <a:prstGeom prst="roundRect">
            <a:avLst>
              <a:gd name="adj" fmla="val 5000"/>
            </a:avLst>
          </a:prstGeom>
          <a:solidFill>
            <a:srgbClr val="FBEDED"/>
          </a:solidFill>
          <a:ln w="12700">
            <a:solidFill>
              <a:srgbClr val="FBEDED"/>
            </a:solidFill>
            <a:prstDash val="solid"/>
          </a:ln>
        </p:spPr>
        <p:txBody>
          <a:bodyPr/>
          <a:lstStyle/>
          <a:p>
            <a:endParaRPr lang="en-US"/>
          </a:p>
        </p:txBody>
      </p:sp>
      <p:sp>
        <p:nvSpPr>
          <p:cNvPr id="25" name="Text 21"/>
          <p:cNvSpPr txBox="1"/>
          <p:nvPr/>
        </p:nvSpPr>
        <p:spPr>
          <a:xfrm>
            <a:off x="7818120" y="3858768"/>
            <a:ext cx="2697480" cy="365760"/>
          </a:xfrm>
          <a:prstGeom prst="rect">
            <a:avLst/>
          </a:prstGeom>
          <a:noFill/>
          <a:ln/>
        </p:spPr>
        <p:txBody>
          <a:bodyPr wrap="square" lIns="0" tIns="0" rIns="0" bIns="0" rtlCol="0" anchor="t"/>
          <a:lstStyle/>
          <a:p>
            <a:pPr marL="0" indent="0">
              <a:buNone/>
            </a:pPr>
            <a:r>
              <a:rPr lang="en-US" sz="1500" b="1" dirty="0">
                <a:solidFill>
                  <a:srgbClr val="B8262B"/>
                </a:solidFill>
                <a:latin typeface="Arial" pitchFamily="34" charset="0"/>
                <a:ea typeface="Arial" pitchFamily="34" charset="-122"/>
                <a:cs typeface="Arial" pitchFamily="34" charset="-120"/>
              </a:rPr>
              <a:t>Cắt có lùi</a:t>
            </a:r>
            <a:endParaRPr lang="en-US" sz="1500" dirty="0"/>
          </a:p>
        </p:txBody>
      </p:sp>
      <p:sp>
        <p:nvSpPr>
          <p:cNvPr id="26" name="Text 22"/>
          <p:cNvSpPr txBox="1"/>
          <p:nvPr/>
        </p:nvSpPr>
        <p:spPr>
          <a:xfrm>
            <a:off x="7818120" y="4251960"/>
            <a:ext cx="2697480" cy="960120"/>
          </a:xfrm>
          <a:prstGeom prst="rect">
            <a:avLst/>
          </a:prstGeom>
          <a:noFill/>
          <a:ln/>
        </p:spPr>
        <p:txBody>
          <a:bodyPr wrap="square" lIns="0" tIns="0" rIns="0" bIns="0" rtlCol="0" anchor="t"/>
          <a:lstStyle/>
          <a:p>
            <a:pPr marL="0" indent="0">
              <a:buNone/>
            </a:pPr>
            <a:r>
              <a:rPr lang="en-US" sz="1300" dirty="0">
                <a:solidFill>
                  <a:srgbClr val="222222"/>
                </a:solidFill>
                <a:latin typeface="Arial" pitchFamily="34" charset="0"/>
                <a:ea typeface="Arial" pitchFamily="34" charset="-122"/>
                <a:cs typeface="Arial" pitchFamily="34" charset="-120"/>
              </a:rPr>
              <a:t>Lùi ≤ 400 ms tìm khung yên nhất để cắt, đoạn mới chồng 100 ms để không mất âm đầu từ.</a:t>
            </a:r>
            <a:endParaRPr lang="en-US" sz="1300" dirty="0"/>
          </a:p>
        </p:txBody>
      </p:sp>
      <p:sp>
        <p:nvSpPr>
          <p:cNvPr id="27" name="Text 23"/>
          <p:cNvSpPr txBox="1"/>
          <p:nvPr/>
        </p:nvSpPr>
        <p:spPr>
          <a:xfrm>
            <a:off x="411480" y="5532120"/>
            <a:ext cx="10241280" cy="731520"/>
          </a:xfrm>
          <a:prstGeom prst="rect">
            <a:avLst/>
          </a:prstGeom>
          <a:noFill/>
          <a:ln/>
        </p:spPr>
        <p:txBody>
          <a:bodyPr wrap="square" lIns="0" tIns="0" rIns="0" bIns="0" rtlCol="0" anchor="t"/>
          <a:lstStyle/>
          <a:p>
            <a:pPr marL="0" indent="0">
              <a:buNone/>
            </a:pPr>
            <a:r>
              <a:rPr lang="en-US" sz="1500" b="1" dirty="0">
                <a:solidFill>
                  <a:srgbClr val="1B517B"/>
                </a:solidFill>
                <a:latin typeface="Arial" pitchFamily="34" charset="0"/>
                <a:ea typeface="Arial" pitchFamily="34" charset="-122"/>
                <a:cs typeface="Arial" pitchFamily="34" charset="-120"/>
              </a:rPr>
              <a:t>Kết quả trên giọng thật (III.4): </a:t>
            </a:r>
            <a:r>
              <a:rPr lang="en-US" sz="1500" dirty="0">
                <a:solidFill>
                  <a:srgbClr val="222222"/>
                </a:solidFill>
                <a:latin typeface="Arial" pitchFamily="34" charset="0"/>
                <a:ea typeface="Arial" pitchFamily="34" charset="-122"/>
                <a:cs typeface="Arial" pitchFamily="34" charset="-120"/>
              </a:rPr>
              <a:t>độ dài câu p90 của bản tin đọc liên tục </a:t>
            </a:r>
            <a:r>
              <a:rPr lang="en-US" sz="1500" b="1" dirty="0">
                <a:solidFill>
                  <a:srgbClr val="B8262B"/>
                </a:solidFill>
                <a:latin typeface="Arial" pitchFamily="34" charset="0"/>
                <a:ea typeface="Arial" pitchFamily="34" charset="-122"/>
                <a:cs typeface="Arial" pitchFamily="34" charset="-120"/>
              </a:rPr>
              <a:t>12,5 s → 5,9 s</a:t>
            </a:r>
            <a:r>
              <a:rPr lang="en-US" sz="1500" dirty="0">
                <a:solidFill>
                  <a:srgbClr val="222222"/>
                </a:solidFill>
                <a:latin typeface="Arial" pitchFamily="34" charset="0"/>
                <a:ea typeface="Arial" pitchFamily="34" charset="-122"/>
                <a:cs typeface="Arial" pitchFamily="34" charset="-120"/>
              </a:rPr>
              <a:t>; hội thoại tự nhiên gần như không bị cắt giữa câu. Tham số của preset Cân bằng; mỗi preset có bộ tham số riêng.</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2" name="Image 0" descr="C:\Users\hhung\AppData\Local\Temp\claude\d--Project-local-live-voice-translator\d0343c7e-f558-4e8b-8c62-5b900df8bea6\scratchpad\build\img\deco_right.png"/>
          <p:cNvPicPr>
            <a:picLocks noChangeAspect="1"/>
          </p:cNvPicPr>
          <p:nvPr/>
        </p:nvPicPr>
        <p:blipFill>
          <a:blip r:embed="rId3"/>
          <a:stretch>
            <a:fillRect/>
          </a:stretch>
        </p:blipFill>
        <p:spPr>
          <a:xfrm>
            <a:off x="0" y="0"/>
            <a:ext cx="12191695" cy="6858000"/>
          </a:xfrm>
          <a:prstGeom prst="rect">
            <a:avLst/>
          </a:prstGeom>
        </p:spPr>
      </p:pic>
      <p:pic>
        <p:nvPicPr>
          <p:cNvPr id="3" name="Image 1" descr="C:\Users\hhung\AppData\Local\Temp\claude\d--Project-local-live-voice-translator\d0343c7e-f558-4e8b-8c62-5b900df8bea6\scratchpad\build\img\logo_header.png"/>
          <p:cNvPicPr>
            <a:picLocks noChangeAspect="1"/>
          </p:cNvPicPr>
          <p:nvPr/>
        </p:nvPicPr>
        <p:blipFill>
          <a:blip r:embed="rId4"/>
          <a:stretch>
            <a:fillRect/>
          </a:stretch>
        </p:blipFill>
        <p:spPr>
          <a:xfrm>
            <a:off x="8549640" y="292608"/>
            <a:ext cx="2560320" cy="459250"/>
          </a:xfrm>
          <a:prstGeom prst="rect">
            <a:avLst/>
          </a:prstGeom>
        </p:spPr>
      </p:pic>
      <p:sp>
        <p:nvSpPr>
          <p:cNvPr id="4" name="Text 0"/>
          <p:cNvSpPr txBox="1"/>
          <p:nvPr/>
        </p:nvSpPr>
        <p:spPr>
          <a:xfrm>
            <a:off x="411480" y="256032"/>
            <a:ext cx="7955280" cy="548640"/>
          </a:xfrm>
          <a:prstGeom prst="rect">
            <a:avLst/>
          </a:prstGeom>
          <a:noFill/>
          <a:ln/>
        </p:spPr>
        <p:txBody>
          <a:bodyPr wrap="square" lIns="0" tIns="0" rIns="0" bIns="0" rtlCol="0" anchor="t"/>
          <a:lstStyle/>
          <a:p>
            <a:pPr marL="0" indent="0">
              <a:buNone/>
            </a:pPr>
            <a:r>
              <a:rPr lang="en-US" sz="2800" b="1" dirty="0">
                <a:solidFill>
                  <a:srgbClr val="487BA2"/>
                </a:solidFill>
                <a:latin typeface="Arial" pitchFamily="34" charset="0"/>
                <a:ea typeface="Arial" pitchFamily="34" charset="-122"/>
                <a:cs typeface="Arial" pitchFamily="34" charset="-120"/>
              </a:rPr>
              <a:t>II. Phương pháp thực hiện</a:t>
            </a:r>
            <a:endParaRPr lang="en-US" sz="2800" dirty="0"/>
          </a:p>
        </p:txBody>
      </p:sp>
      <p:sp>
        <p:nvSpPr>
          <p:cNvPr id="5" name="Text 1"/>
          <p:cNvSpPr txBox="1"/>
          <p:nvPr/>
        </p:nvSpPr>
        <p:spPr>
          <a:xfrm>
            <a:off x="411480" y="841248"/>
            <a:ext cx="8046720" cy="411480"/>
          </a:xfrm>
          <a:prstGeom prst="rect">
            <a:avLst/>
          </a:prstGeom>
          <a:noFill/>
          <a:ln/>
        </p:spPr>
        <p:txBody>
          <a:bodyPr wrap="square" lIns="0" tIns="0" rIns="0" bIns="0" rtlCol="0" anchor="t"/>
          <a:lstStyle/>
          <a:p>
            <a:pPr marL="0" indent="0">
              <a:buNone/>
            </a:pPr>
            <a:r>
              <a:rPr lang="en-US" sz="2000" dirty="0">
                <a:solidFill>
                  <a:srgbClr val="1B517B"/>
                </a:solidFill>
                <a:latin typeface="Arial" pitchFamily="34" charset="0"/>
                <a:ea typeface="Arial" pitchFamily="34" charset="-122"/>
                <a:cs typeface="Arial" pitchFamily="34" charset="-120"/>
              </a:rPr>
              <a:t>3. Hai chiều dịch và chống vòng lặp âm thanh</a:t>
            </a:r>
            <a:endParaRPr lang="en-US" sz="2000" dirty="0"/>
          </a:p>
        </p:txBody>
      </p:sp>
      <p:sp>
        <p:nvSpPr>
          <p:cNvPr id="6" name="Text 2"/>
          <p:cNvSpPr txBox="1"/>
          <p:nvPr/>
        </p:nvSpPr>
        <p:spPr>
          <a:xfrm>
            <a:off x="10104120" y="6355080"/>
            <a:ext cx="548640" cy="274320"/>
          </a:xfrm>
          <a:prstGeom prst="rect">
            <a:avLst/>
          </a:prstGeom>
          <a:noFill/>
          <a:ln/>
        </p:spPr>
        <p:txBody>
          <a:bodyPr wrap="square" lIns="0" tIns="0" rIns="0" bIns="0" rtlCol="0" anchor="t"/>
          <a:lstStyle/>
          <a:p>
            <a:pPr marL="0" indent="0" algn="r">
              <a:buNone/>
            </a:pPr>
            <a:r>
              <a:rPr lang="en-US" sz="1100" dirty="0">
                <a:solidFill>
                  <a:srgbClr val="5F6B76"/>
                </a:solidFill>
                <a:latin typeface="Arial" pitchFamily="34" charset="0"/>
                <a:ea typeface="Arial" pitchFamily="34" charset="-122"/>
                <a:cs typeface="Arial" pitchFamily="34" charset="-120"/>
              </a:rPr>
              <a:t>12</a:t>
            </a:r>
            <a:endParaRPr lang="en-US" sz="1100" dirty="0"/>
          </a:p>
        </p:txBody>
      </p:sp>
      <p:sp>
        <p:nvSpPr>
          <p:cNvPr id="7" name="Shape 3"/>
          <p:cNvSpPr/>
          <p:nvPr/>
        </p:nvSpPr>
        <p:spPr>
          <a:xfrm>
            <a:off x="411480" y="1463040"/>
            <a:ext cx="1325880" cy="914400"/>
          </a:xfrm>
          <a:prstGeom prst="roundRect">
            <a:avLst>
              <a:gd name="adj" fmla="val 8000"/>
            </a:avLst>
          </a:prstGeom>
          <a:solidFill>
            <a:srgbClr val="1B517B"/>
          </a:solidFill>
          <a:ln w="12700">
            <a:solidFill>
              <a:srgbClr val="1B517B"/>
            </a:solidFill>
            <a:prstDash val="solid"/>
          </a:ln>
        </p:spPr>
        <p:txBody>
          <a:bodyPr/>
          <a:lstStyle/>
          <a:p>
            <a:endParaRPr lang="en-US"/>
          </a:p>
        </p:txBody>
      </p:sp>
      <p:sp>
        <p:nvSpPr>
          <p:cNvPr id="8" name="Text 4"/>
          <p:cNvSpPr txBox="1"/>
          <p:nvPr/>
        </p:nvSpPr>
        <p:spPr>
          <a:xfrm>
            <a:off x="411480" y="1463040"/>
            <a:ext cx="1325880" cy="9144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CHIỀU ĐI</a:t>
            </a:r>
            <a:endParaRPr lang="en-US" sz="1500" dirty="0"/>
          </a:p>
        </p:txBody>
      </p:sp>
      <p:sp>
        <p:nvSpPr>
          <p:cNvPr id="9" name="Shape 5"/>
          <p:cNvSpPr/>
          <p:nvPr/>
        </p:nvSpPr>
        <p:spPr>
          <a:xfrm>
            <a:off x="1965960" y="1463040"/>
            <a:ext cx="2377440" cy="914400"/>
          </a:xfrm>
          <a:prstGeom prst="roundRect">
            <a:avLst>
              <a:gd name="adj" fmla="val 8000"/>
            </a:avLst>
          </a:prstGeom>
          <a:solidFill>
            <a:srgbClr val="EEF4F9"/>
          </a:solidFill>
          <a:ln w="12700">
            <a:solidFill>
              <a:srgbClr val="EEF4F9"/>
            </a:solidFill>
            <a:prstDash val="solid"/>
          </a:ln>
        </p:spPr>
        <p:txBody>
          <a:bodyPr/>
          <a:lstStyle/>
          <a:p>
            <a:endParaRPr lang="en-US"/>
          </a:p>
        </p:txBody>
      </p:sp>
      <p:sp>
        <p:nvSpPr>
          <p:cNvPr id="10" name="Shape 6"/>
          <p:cNvSpPr/>
          <p:nvPr/>
        </p:nvSpPr>
        <p:spPr>
          <a:xfrm>
            <a:off x="2103120" y="1682496"/>
            <a:ext cx="475488" cy="475488"/>
          </a:xfrm>
          <a:prstGeom prst="ellipse">
            <a:avLst/>
          </a:prstGeom>
          <a:solidFill>
            <a:srgbClr val="1B517B"/>
          </a:solidFill>
          <a:ln w="12700">
            <a:solidFill>
              <a:srgbClr val="1B517B"/>
            </a:solidFill>
            <a:prstDash val="solid"/>
          </a:ln>
        </p:spPr>
        <p:txBody>
          <a:bodyPr/>
          <a:lstStyle/>
          <a:p>
            <a:endParaRPr lang="en-US"/>
          </a:p>
        </p:txBody>
      </p:sp>
      <p:pic>
        <p:nvPicPr>
          <p:cNvPr id="11" name="Image 2" descr="preencoded.png"/>
          <p:cNvPicPr>
            <a:picLocks noChangeAspect="1"/>
          </p:cNvPicPr>
          <p:nvPr/>
        </p:nvPicPr>
        <p:blipFill>
          <a:blip r:embed="rId5"/>
          <a:stretch>
            <a:fillRect/>
          </a:stretch>
        </p:blipFill>
        <p:spPr>
          <a:xfrm>
            <a:off x="2221992" y="1801368"/>
            <a:ext cx="237744" cy="237744"/>
          </a:xfrm>
          <a:prstGeom prst="rect">
            <a:avLst/>
          </a:prstGeom>
        </p:spPr>
      </p:pic>
      <p:sp>
        <p:nvSpPr>
          <p:cNvPr id="12" name="Text 7"/>
          <p:cNvSpPr txBox="1"/>
          <p:nvPr/>
        </p:nvSpPr>
        <p:spPr>
          <a:xfrm>
            <a:off x="2697480" y="1463040"/>
            <a:ext cx="1554480" cy="914400"/>
          </a:xfrm>
          <a:prstGeom prst="rect">
            <a:avLst/>
          </a:prstGeom>
          <a:noFill/>
          <a:ln/>
        </p:spPr>
        <p:txBody>
          <a:bodyPr wrap="square" lIns="0" tIns="0" rIns="0" bIns="0" rtlCol="0" anchor="ctr"/>
          <a:lstStyle/>
          <a:p>
            <a:pPr marL="0" indent="0" algn="l">
              <a:buNone/>
            </a:pPr>
            <a:r>
              <a:rPr lang="en-US" sz="1400" dirty="0">
                <a:solidFill>
                  <a:srgbClr val="222222"/>
                </a:solidFill>
                <a:latin typeface="Arial" pitchFamily="34" charset="0"/>
                <a:ea typeface="Arial" pitchFamily="34" charset="-122"/>
                <a:cs typeface="Arial" pitchFamily="34" charset="-120"/>
              </a:rPr>
              <a:t>Microphone</a:t>
            </a:r>
            <a:endParaRPr lang="en-US" sz="1400" dirty="0"/>
          </a:p>
          <a:p>
            <a:pPr marL="0" indent="0" algn="l">
              <a:buNone/>
            </a:pPr>
            <a:r>
              <a:rPr lang="en-US" sz="1400" dirty="0">
                <a:solidFill>
                  <a:srgbClr val="222222"/>
                </a:solidFill>
                <a:latin typeface="Arial" pitchFamily="34" charset="0"/>
                <a:ea typeface="Arial" pitchFamily="34" charset="-122"/>
                <a:cs typeface="Arial" pitchFamily="34" charset="-120"/>
              </a:rPr>
              <a:t>(giữ phím để nói)</a:t>
            </a:r>
            <a:endParaRPr lang="en-US" sz="1400" dirty="0"/>
          </a:p>
        </p:txBody>
      </p:sp>
      <p:sp>
        <p:nvSpPr>
          <p:cNvPr id="13" name="Shape 8"/>
          <p:cNvSpPr/>
          <p:nvPr/>
        </p:nvSpPr>
        <p:spPr>
          <a:xfrm>
            <a:off x="4343400" y="1920240"/>
            <a:ext cx="411480" cy="0"/>
          </a:xfrm>
          <a:prstGeom prst="line">
            <a:avLst/>
          </a:prstGeom>
          <a:noFill/>
          <a:ln w="22225">
            <a:solidFill>
              <a:srgbClr val="1B517B"/>
            </a:solidFill>
            <a:prstDash val="solid"/>
            <a:tailEnd type="triangle"/>
          </a:ln>
        </p:spPr>
        <p:txBody>
          <a:bodyPr/>
          <a:lstStyle/>
          <a:p>
            <a:endParaRPr lang="en-US"/>
          </a:p>
        </p:txBody>
      </p:sp>
      <p:sp>
        <p:nvSpPr>
          <p:cNvPr id="14" name="Shape 9"/>
          <p:cNvSpPr/>
          <p:nvPr/>
        </p:nvSpPr>
        <p:spPr>
          <a:xfrm>
            <a:off x="4754880" y="1463040"/>
            <a:ext cx="2743200" cy="914400"/>
          </a:xfrm>
          <a:prstGeom prst="roundRect">
            <a:avLst>
              <a:gd name="adj" fmla="val 8000"/>
            </a:avLst>
          </a:prstGeom>
          <a:solidFill>
            <a:srgbClr val="EEF4F9"/>
          </a:solidFill>
          <a:ln w="12700">
            <a:solidFill>
              <a:srgbClr val="EEF4F9"/>
            </a:solidFill>
            <a:prstDash val="solid"/>
          </a:ln>
        </p:spPr>
        <p:txBody>
          <a:bodyPr/>
          <a:lstStyle/>
          <a:p>
            <a:endParaRPr lang="en-US"/>
          </a:p>
        </p:txBody>
      </p:sp>
      <p:sp>
        <p:nvSpPr>
          <p:cNvPr id="15" name="Text 10"/>
          <p:cNvSpPr txBox="1"/>
          <p:nvPr/>
        </p:nvSpPr>
        <p:spPr>
          <a:xfrm>
            <a:off x="4846320" y="1463040"/>
            <a:ext cx="2560320" cy="914400"/>
          </a:xfrm>
          <a:prstGeom prst="rect">
            <a:avLst/>
          </a:prstGeom>
          <a:noFill/>
          <a:ln/>
        </p:spPr>
        <p:txBody>
          <a:bodyPr wrap="square" lIns="0" tIns="0" rIns="0" bIns="0" rtlCol="0" anchor="ctr"/>
          <a:lstStyle/>
          <a:p>
            <a:pPr marL="0" indent="0" algn="ctr">
              <a:buNone/>
            </a:pPr>
            <a:r>
              <a:rPr lang="en-US" sz="1400" b="1" dirty="0">
                <a:solidFill>
                  <a:srgbClr val="1B517B"/>
                </a:solidFill>
                <a:latin typeface="Arial" pitchFamily="34" charset="0"/>
                <a:ea typeface="Arial" pitchFamily="34" charset="-122"/>
                <a:cs typeface="Arial" pitchFamily="34" charset="-120"/>
              </a:rPr>
              <a:t>VAD → ASR → MT → TTS</a:t>
            </a:r>
            <a:endParaRPr lang="en-US" sz="1400" dirty="0"/>
          </a:p>
        </p:txBody>
      </p:sp>
      <p:sp>
        <p:nvSpPr>
          <p:cNvPr id="16" name="Shape 11"/>
          <p:cNvSpPr/>
          <p:nvPr/>
        </p:nvSpPr>
        <p:spPr>
          <a:xfrm>
            <a:off x="7498080" y="1920240"/>
            <a:ext cx="411480" cy="0"/>
          </a:xfrm>
          <a:prstGeom prst="line">
            <a:avLst/>
          </a:prstGeom>
          <a:noFill/>
          <a:ln w="22225">
            <a:solidFill>
              <a:srgbClr val="1B517B"/>
            </a:solidFill>
            <a:prstDash val="solid"/>
            <a:tailEnd type="triangle"/>
          </a:ln>
        </p:spPr>
        <p:txBody>
          <a:bodyPr/>
          <a:lstStyle/>
          <a:p>
            <a:endParaRPr lang="en-US"/>
          </a:p>
        </p:txBody>
      </p:sp>
      <p:sp>
        <p:nvSpPr>
          <p:cNvPr id="17" name="Shape 12"/>
          <p:cNvSpPr/>
          <p:nvPr/>
        </p:nvSpPr>
        <p:spPr>
          <a:xfrm>
            <a:off x="7909560" y="1463040"/>
            <a:ext cx="2743200" cy="914400"/>
          </a:xfrm>
          <a:prstGeom prst="roundRect">
            <a:avLst>
              <a:gd name="adj" fmla="val 8000"/>
            </a:avLst>
          </a:prstGeom>
          <a:solidFill>
            <a:srgbClr val="EEF4F9"/>
          </a:solidFill>
          <a:ln w="12700">
            <a:solidFill>
              <a:srgbClr val="EEF4F9"/>
            </a:solidFill>
            <a:prstDash val="solid"/>
          </a:ln>
        </p:spPr>
        <p:txBody>
          <a:bodyPr/>
          <a:lstStyle/>
          <a:p>
            <a:endParaRPr lang="en-US"/>
          </a:p>
        </p:txBody>
      </p:sp>
      <p:sp>
        <p:nvSpPr>
          <p:cNvPr id="18" name="Shape 13"/>
          <p:cNvSpPr/>
          <p:nvPr/>
        </p:nvSpPr>
        <p:spPr>
          <a:xfrm>
            <a:off x="8046720" y="1682496"/>
            <a:ext cx="475488" cy="475488"/>
          </a:xfrm>
          <a:prstGeom prst="ellipse">
            <a:avLst/>
          </a:prstGeom>
          <a:solidFill>
            <a:srgbClr val="1B517B"/>
          </a:solidFill>
          <a:ln w="12700">
            <a:solidFill>
              <a:srgbClr val="1B517B"/>
            </a:solidFill>
            <a:prstDash val="solid"/>
          </a:ln>
        </p:spPr>
        <p:txBody>
          <a:bodyPr/>
          <a:lstStyle/>
          <a:p>
            <a:endParaRPr lang="en-US"/>
          </a:p>
        </p:txBody>
      </p:sp>
      <p:pic>
        <p:nvPicPr>
          <p:cNvPr id="19" name="Image 3" descr="preencoded.png"/>
          <p:cNvPicPr>
            <a:picLocks noChangeAspect="1"/>
          </p:cNvPicPr>
          <p:nvPr/>
        </p:nvPicPr>
        <p:blipFill>
          <a:blip r:embed="rId6"/>
          <a:stretch>
            <a:fillRect/>
          </a:stretch>
        </p:blipFill>
        <p:spPr>
          <a:xfrm>
            <a:off x="8165592" y="1801368"/>
            <a:ext cx="237744" cy="237744"/>
          </a:xfrm>
          <a:prstGeom prst="rect">
            <a:avLst/>
          </a:prstGeom>
        </p:spPr>
      </p:pic>
      <p:sp>
        <p:nvSpPr>
          <p:cNvPr id="20" name="Text 14"/>
          <p:cNvSpPr txBox="1"/>
          <p:nvPr/>
        </p:nvSpPr>
        <p:spPr>
          <a:xfrm>
            <a:off x="8641080" y="1463040"/>
            <a:ext cx="1920240" cy="914400"/>
          </a:xfrm>
          <a:prstGeom prst="rect">
            <a:avLst/>
          </a:prstGeom>
          <a:noFill/>
          <a:ln/>
        </p:spPr>
        <p:txBody>
          <a:bodyPr wrap="square" lIns="0" tIns="0" rIns="0" bIns="0" rtlCol="0" anchor="ctr"/>
          <a:lstStyle/>
          <a:p>
            <a:pPr marL="0" indent="0" algn="l">
              <a:buNone/>
            </a:pPr>
            <a:r>
              <a:rPr lang="en-US" sz="1400" dirty="0">
                <a:solidFill>
                  <a:srgbClr val="222222"/>
                </a:solidFill>
                <a:latin typeface="Arial" pitchFamily="34" charset="0"/>
                <a:ea typeface="Arial" pitchFamily="34" charset="-122"/>
                <a:cs typeface="Arial" pitchFamily="34" charset="-120"/>
              </a:rPr>
              <a:t>Giọng đọc bản dịch ra tai nghe + phụ đề</a:t>
            </a:r>
            <a:endParaRPr lang="en-US" sz="1400" dirty="0"/>
          </a:p>
        </p:txBody>
      </p:sp>
      <p:sp>
        <p:nvSpPr>
          <p:cNvPr id="21" name="Shape 15"/>
          <p:cNvSpPr/>
          <p:nvPr/>
        </p:nvSpPr>
        <p:spPr>
          <a:xfrm>
            <a:off x="411480" y="2606040"/>
            <a:ext cx="1325880" cy="914400"/>
          </a:xfrm>
          <a:prstGeom prst="roundRect">
            <a:avLst>
              <a:gd name="adj" fmla="val 8000"/>
            </a:avLst>
          </a:prstGeom>
          <a:solidFill>
            <a:srgbClr val="487BA2"/>
          </a:solidFill>
          <a:ln w="12700">
            <a:solidFill>
              <a:srgbClr val="487BA2"/>
            </a:solidFill>
            <a:prstDash val="solid"/>
          </a:ln>
        </p:spPr>
        <p:txBody>
          <a:bodyPr/>
          <a:lstStyle/>
          <a:p>
            <a:endParaRPr lang="en-US"/>
          </a:p>
        </p:txBody>
      </p:sp>
      <p:sp>
        <p:nvSpPr>
          <p:cNvPr id="22" name="Text 16"/>
          <p:cNvSpPr txBox="1"/>
          <p:nvPr/>
        </p:nvSpPr>
        <p:spPr>
          <a:xfrm>
            <a:off x="411480" y="2606040"/>
            <a:ext cx="1325880" cy="9144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CHIỀU VỀ</a:t>
            </a:r>
            <a:endParaRPr lang="en-US" sz="1500" dirty="0"/>
          </a:p>
        </p:txBody>
      </p:sp>
      <p:sp>
        <p:nvSpPr>
          <p:cNvPr id="23" name="Shape 17"/>
          <p:cNvSpPr/>
          <p:nvPr/>
        </p:nvSpPr>
        <p:spPr>
          <a:xfrm>
            <a:off x="1965960" y="2606040"/>
            <a:ext cx="2377440" cy="914400"/>
          </a:xfrm>
          <a:prstGeom prst="roundRect">
            <a:avLst>
              <a:gd name="adj" fmla="val 8000"/>
            </a:avLst>
          </a:prstGeom>
          <a:solidFill>
            <a:srgbClr val="EEF4F9"/>
          </a:solidFill>
          <a:ln w="12700">
            <a:solidFill>
              <a:srgbClr val="EEF4F9"/>
            </a:solidFill>
            <a:prstDash val="solid"/>
          </a:ln>
        </p:spPr>
        <p:txBody>
          <a:bodyPr/>
          <a:lstStyle/>
          <a:p>
            <a:endParaRPr lang="en-US"/>
          </a:p>
        </p:txBody>
      </p:sp>
      <p:sp>
        <p:nvSpPr>
          <p:cNvPr id="24" name="Shape 18"/>
          <p:cNvSpPr/>
          <p:nvPr/>
        </p:nvSpPr>
        <p:spPr>
          <a:xfrm>
            <a:off x="2103120" y="2825496"/>
            <a:ext cx="475488" cy="475488"/>
          </a:xfrm>
          <a:prstGeom prst="ellipse">
            <a:avLst/>
          </a:prstGeom>
          <a:solidFill>
            <a:srgbClr val="1B517B"/>
          </a:solidFill>
          <a:ln w="12700">
            <a:solidFill>
              <a:srgbClr val="1B517B"/>
            </a:solidFill>
            <a:prstDash val="solid"/>
          </a:ln>
        </p:spPr>
        <p:txBody>
          <a:bodyPr/>
          <a:lstStyle/>
          <a:p>
            <a:endParaRPr lang="en-US"/>
          </a:p>
        </p:txBody>
      </p:sp>
      <p:pic>
        <p:nvPicPr>
          <p:cNvPr id="25" name="Image 4" descr="preencoded.png"/>
          <p:cNvPicPr>
            <a:picLocks noChangeAspect="1"/>
          </p:cNvPicPr>
          <p:nvPr/>
        </p:nvPicPr>
        <p:blipFill>
          <a:blip r:embed="rId7"/>
          <a:stretch>
            <a:fillRect/>
          </a:stretch>
        </p:blipFill>
        <p:spPr>
          <a:xfrm>
            <a:off x="2221992" y="2944368"/>
            <a:ext cx="237744" cy="237744"/>
          </a:xfrm>
          <a:prstGeom prst="rect">
            <a:avLst/>
          </a:prstGeom>
        </p:spPr>
      </p:pic>
      <p:sp>
        <p:nvSpPr>
          <p:cNvPr id="26" name="Text 19"/>
          <p:cNvSpPr txBox="1"/>
          <p:nvPr/>
        </p:nvSpPr>
        <p:spPr>
          <a:xfrm>
            <a:off x="2697480" y="2606040"/>
            <a:ext cx="1554480" cy="914400"/>
          </a:xfrm>
          <a:prstGeom prst="rect">
            <a:avLst/>
          </a:prstGeom>
          <a:noFill/>
          <a:ln/>
        </p:spPr>
        <p:txBody>
          <a:bodyPr wrap="square" lIns="0" tIns="0" rIns="0" bIns="0" rtlCol="0" anchor="ctr"/>
          <a:lstStyle/>
          <a:p>
            <a:pPr marL="0" indent="0" algn="l">
              <a:buNone/>
            </a:pPr>
            <a:r>
              <a:rPr lang="en-US" sz="1400" dirty="0">
                <a:solidFill>
                  <a:srgbClr val="222222"/>
                </a:solidFill>
                <a:latin typeface="Arial" pitchFamily="34" charset="0"/>
                <a:ea typeface="Arial" pitchFamily="34" charset="-122"/>
                <a:cs typeface="Arial" pitchFamily="34" charset="-120"/>
              </a:rPr>
              <a:t>Âm thanh hệ thống</a:t>
            </a:r>
            <a:endParaRPr lang="en-US" sz="1400" dirty="0"/>
          </a:p>
          <a:p>
            <a:pPr marL="0" indent="0" algn="l">
              <a:buNone/>
            </a:pPr>
            <a:r>
              <a:rPr lang="en-US" sz="1400" dirty="0">
                <a:solidFill>
                  <a:srgbClr val="222222"/>
                </a:solidFill>
                <a:latin typeface="Arial" pitchFamily="34" charset="0"/>
                <a:ea typeface="Arial" pitchFamily="34" charset="-122"/>
                <a:cs typeface="Arial" pitchFamily="34" charset="-120"/>
              </a:rPr>
              <a:t>(thu liên tục)</a:t>
            </a:r>
            <a:endParaRPr lang="en-US" sz="1400" dirty="0"/>
          </a:p>
        </p:txBody>
      </p:sp>
      <p:sp>
        <p:nvSpPr>
          <p:cNvPr id="27" name="Shape 20"/>
          <p:cNvSpPr/>
          <p:nvPr/>
        </p:nvSpPr>
        <p:spPr>
          <a:xfrm>
            <a:off x="4343400" y="3063240"/>
            <a:ext cx="411480" cy="0"/>
          </a:xfrm>
          <a:prstGeom prst="line">
            <a:avLst/>
          </a:prstGeom>
          <a:noFill/>
          <a:ln w="22225">
            <a:solidFill>
              <a:srgbClr val="1B517B"/>
            </a:solidFill>
            <a:prstDash val="solid"/>
            <a:tailEnd type="triangle"/>
          </a:ln>
        </p:spPr>
        <p:txBody>
          <a:bodyPr/>
          <a:lstStyle/>
          <a:p>
            <a:endParaRPr lang="en-US"/>
          </a:p>
        </p:txBody>
      </p:sp>
      <p:sp>
        <p:nvSpPr>
          <p:cNvPr id="28" name="Shape 21"/>
          <p:cNvSpPr/>
          <p:nvPr/>
        </p:nvSpPr>
        <p:spPr>
          <a:xfrm>
            <a:off x="4754880" y="2606040"/>
            <a:ext cx="2743200" cy="914400"/>
          </a:xfrm>
          <a:prstGeom prst="roundRect">
            <a:avLst>
              <a:gd name="adj" fmla="val 8000"/>
            </a:avLst>
          </a:prstGeom>
          <a:solidFill>
            <a:srgbClr val="EEF4F9"/>
          </a:solidFill>
          <a:ln w="12700">
            <a:solidFill>
              <a:srgbClr val="EEF4F9"/>
            </a:solidFill>
            <a:prstDash val="solid"/>
          </a:ln>
        </p:spPr>
        <p:txBody>
          <a:bodyPr/>
          <a:lstStyle/>
          <a:p>
            <a:endParaRPr lang="en-US"/>
          </a:p>
        </p:txBody>
      </p:sp>
      <p:sp>
        <p:nvSpPr>
          <p:cNvPr id="29" name="Text 22"/>
          <p:cNvSpPr txBox="1"/>
          <p:nvPr/>
        </p:nvSpPr>
        <p:spPr>
          <a:xfrm>
            <a:off x="4846320" y="2606040"/>
            <a:ext cx="2560320" cy="914400"/>
          </a:xfrm>
          <a:prstGeom prst="rect">
            <a:avLst/>
          </a:prstGeom>
          <a:noFill/>
          <a:ln/>
        </p:spPr>
        <p:txBody>
          <a:bodyPr wrap="square" lIns="0" tIns="0" rIns="0" bIns="0" rtlCol="0" anchor="ctr"/>
          <a:lstStyle/>
          <a:p>
            <a:pPr marL="0" indent="0" algn="ctr">
              <a:buNone/>
            </a:pPr>
            <a:r>
              <a:rPr lang="en-US" sz="1400" b="1" dirty="0">
                <a:solidFill>
                  <a:srgbClr val="1B517B"/>
                </a:solidFill>
                <a:latin typeface="Arial" pitchFamily="34" charset="0"/>
                <a:ea typeface="Arial" pitchFamily="34" charset="-122"/>
                <a:cs typeface="Arial" pitchFamily="34" charset="-120"/>
              </a:rPr>
              <a:t>VAD → ASR → MT</a:t>
            </a:r>
            <a:endParaRPr lang="en-US" sz="1400" dirty="0"/>
          </a:p>
        </p:txBody>
      </p:sp>
      <p:sp>
        <p:nvSpPr>
          <p:cNvPr id="30" name="Shape 23"/>
          <p:cNvSpPr/>
          <p:nvPr/>
        </p:nvSpPr>
        <p:spPr>
          <a:xfrm>
            <a:off x="7498080" y="3063240"/>
            <a:ext cx="411480" cy="0"/>
          </a:xfrm>
          <a:prstGeom prst="line">
            <a:avLst/>
          </a:prstGeom>
          <a:noFill/>
          <a:ln w="22225">
            <a:solidFill>
              <a:srgbClr val="1B517B"/>
            </a:solidFill>
            <a:prstDash val="solid"/>
            <a:tailEnd type="triangle"/>
          </a:ln>
        </p:spPr>
        <p:txBody>
          <a:bodyPr/>
          <a:lstStyle/>
          <a:p>
            <a:endParaRPr lang="en-US"/>
          </a:p>
        </p:txBody>
      </p:sp>
      <p:sp>
        <p:nvSpPr>
          <p:cNvPr id="31" name="Shape 24"/>
          <p:cNvSpPr/>
          <p:nvPr/>
        </p:nvSpPr>
        <p:spPr>
          <a:xfrm>
            <a:off x="7909560" y="2606040"/>
            <a:ext cx="2743200" cy="914400"/>
          </a:xfrm>
          <a:prstGeom prst="roundRect">
            <a:avLst>
              <a:gd name="adj" fmla="val 8000"/>
            </a:avLst>
          </a:prstGeom>
          <a:solidFill>
            <a:srgbClr val="EEF4F9"/>
          </a:solidFill>
          <a:ln w="12700">
            <a:solidFill>
              <a:srgbClr val="EEF4F9"/>
            </a:solidFill>
            <a:prstDash val="solid"/>
          </a:ln>
        </p:spPr>
        <p:txBody>
          <a:bodyPr/>
          <a:lstStyle/>
          <a:p>
            <a:endParaRPr lang="en-US"/>
          </a:p>
        </p:txBody>
      </p:sp>
      <p:sp>
        <p:nvSpPr>
          <p:cNvPr id="32" name="Shape 25"/>
          <p:cNvSpPr/>
          <p:nvPr/>
        </p:nvSpPr>
        <p:spPr>
          <a:xfrm>
            <a:off x="8046720" y="2825496"/>
            <a:ext cx="475488" cy="475488"/>
          </a:xfrm>
          <a:prstGeom prst="ellipse">
            <a:avLst/>
          </a:prstGeom>
          <a:solidFill>
            <a:srgbClr val="1B517B"/>
          </a:solidFill>
          <a:ln w="12700">
            <a:solidFill>
              <a:srgbClr val="1B517B"/>
            </a:solidFill>
            <a:prstDash val="solid"/>
          </a:ln>
        </p:spPr>
        <p:txBody>
          <a:bodyPr/>
          <a:lstStyle/>
          <a:p>
            <a:endParaRPr lang="en-US"/>
          </a:p>
        </p:txBody>
      </p:sp>
      <p:pic>
        <p:nvPicPr>
          <p:cNvPr id="33" name="Image 5" descr="preencoded.png"/>
          <p:cNvPicPr>
            <a:picLocks noChangeAspect="1"/>
          </p:cNvPicPr>
          <p:nvPr/>
        </p:nvPicPr>
        <p:blipFill>
          <a:blip r:embed="rId8"/>
          <a:stretch>
            <a:fillRect/>
          </a:stretch>
        </p:blipFill>
        <p:spPr>
          <a:xfrm>
            <a:off x="8165592" y="2944368"/>
            <a:ext cx="237744" cy="237744"/>
          </a:xfrm>
          <a:prstGeom prst="rect">
            <a:avLst/>
          </a:prstGeom>
        </p:spPr>
      </p:pic>
      <p:sp>
        <p:nvSpPr>
          <p:cNvPr id="34" name="Text 26"/>
          <p:cNvSpPr txBox="1"/>
          <p:nvPr/>
        </p:nvSpPr>
        <p:spPr>
          <a:xfrm>
            <a:off x="8641080" y="2606040"/>
            <a:ext cx="1920240" cy="914400"/>
          </a:xfrm>
          <a:prstGeom prst="rect">
            <a:avLst/>
          </a:prstGeom>
          <a:noFill/>
          <a:ln/>
        </p:spPr>
        <p:txBody>
          <a:bodyPr wrap="square" lIns="0" tIns="0" rIns="0" bIns="0" rtlCol="0" anchor="ctr"/>
          <a:lstStyle/>
          <a:p>
            <a:pPr marL="0" indent="0" algn="l">
              <a:buNone/>
            </a:pPr>
            <a:r>
              <a:rPr lang="en-US" sz="1400" dirty="0">
                <a:solidFill>
                  <a:srgbClr val="222222"/>
                </a:solidFill>
                <a:latin typeface="Arial" pitchFamily="34" charset="0"/>
                <a:ea typeface="Arial" pitchFamily="34" charset="-122"/>
                <a:cs typeface="Arial" pitchFamily="34" charset="-120"/>
              </a:rPr>
              <a:t>Phụ đề song ngữ</a:t>
            </a:r>
            <a:endParaRPr lang="en-US" sz="1400" dirty="0"/>
          </a:p>
          <a:p>
            <a:pPr marL="0" indent="0" algn="l">
              <a:buNone/>
            </a:pPr>
            <a:r>
              <a:rPr lang="en-US" sz="1400" dirty="0">
                <a:solidFill>
                  <a:srgbClr val="222222"/>
                </a:solidFill>
                <a:latin typeface="Arial" pitchFamily="34" charset="0"/>
                <a:ea typeface="Arial" pitchFamily="34" charset="-122"/>
                <a:cs typeface="Arial" pitchFamily="34" charset="-120"/>
              </a:rPr>
              <a:t>(không đọc thành tiếng)</a:t>
            </a:r>
            <a:endParaRPr lang="en-US" sz="1400" dirty="0"/>
          </a:p>
        </p:txBody>
      </p:sp>
      <p:sp>
        <p:nvSpPr>
          <p:cNvPr id="35" name="Shape 27"/>
          <p:cNvSpPr/>
          <p:nvPr/>
        </p:nvSpPr>
        <p:spPr>
          <a:xfrm>
            <a:off x="411480" y="3840480"/>
            <a:ext cx="3246120" cy="2377440"/>
          </a:xfrm>
          <a:prstGeom prst="roundRect">
            <a:avLst>
              <a:gd name="adj" fmla="val 3077"/>
            </a:avLst>
          </a:prstGeom>
          <a:solidFill>
            <a:srgbClr val="FBEDED"/>
          </a:solidFill>
          <a:ln w="12700">
            <a:solidFill>
              <a:srgbClr val="FBEDED"/>
            </a:solidFill>
            <a:prstDash val="solid"/>
          </a:ln>
        </p:spPr>
        <p:txBody>
          <a:bodyPr/>
          <a:lstStyle/>
          <a:p>
            <a:endParaRPr lang="en-US"/>
          </a:p>
        </p:txBody>
      </p:sp>
      <p:sp>
        <p:nvSpPr>
          <p:cNvPr id="36" name="Shape 28"/>
          <p:cNvSpPr/>
          <p:nvPr/>
        </p:nvSpPr>
        <p:spPr>
          <a:xfrm>
            <a:off x="594360" y="3977640"/>
            <a:ext cx="512064" cy="512064"/>
          </a:xfrm>
          <a:prstGeom prst="ellipse">
            <a:avLst/>
          </a:prstGeom>
          <a:solidFill>
            <a:srgbClr val="B8262B"/>
          </a:solidFill>
          <a:ln w="12700">
            <a:solidFill>
              <a:srgbClr val="B8262B"/>
            </a:solidFill>
            <a:prstDash val="solid"/>
          </a:ln>
        </p:spPr>
        <p:txBody>
          <a:bodyPr/>
          <a:lstStyle/>
          <a:p>
            <a:endParaRPr lang="en-US"/>
          </a:p>
        </p:txBody>
      </p:sp>
      <p:pic>
        <p:nvPicPr>
          <p:cNvPr id="37" name="Image 6" descr="preencoded.png"/>
          <p:cNvPicPr>
            <a:picLocks noChangeAspect="1"/>
          </p:cNvPicPr>
          <p:nvPr/>
        </p:nvPicPr>
        <p:blipFill>
          <a:blip r:embed="rId9"/>
          <a:stretch>
            <a:fillRect/>
          </a:stretch>
        </p:blipFill>
        <p:spPr>
          <a:xfrm>
            <a:off x="717255" y="4100535"/>
            <a:ext cx="266273" cy="266273"/>
          </a:xfrm>
          <a:prstGeom prst="rect">
            <a:avLst/>
          </a:prstGeom>
        </p:spPr>
      </p:pic>
      <p:sp>
        <p:nvSpPr>
          <p:cNvPr id="38" name="Text 29"/>
          <p:cNvSpPr txBox="1"/>
          <p:nvPr/>
        </p:nvSpPr>
        <p:spPr>
          <a:xfrm>
            <a:off x="1234440" y="3977640"/>
            <a:ext cx="2331720" cy="512064"/>
          </a:xfrm>
          <a:prstGeom prst="rect">
            <a:avLst/>
          </a:prstGeom>
          <a:noFill/>
          <a:ln/>
        </p:spPr>
        <p:txBody>
          <a:bodyPr wrap="square" lIns="0" tIns="0" rIns="0" bIns="0" rtlCol="0" anchor="ctr"/>
          <a:lstStyle/>
          <a:p>
            <a:pPr marL="0" indent="0">
              <a:buNone/>
            </a:pPr>
            <a:r>
              <a:rPr lang="en-US" sz="1500" b="1" dirty="0">
                <a:solidFill>
                  <a:srgbClr val="B8262B"/>
                </a:solidFill>
                <a:latin typeface="Arial" pitchFamily="34" charset="0"/>
                <a:ea typeface="Arial" pitchFamily="34" charset="-122"/>
                <a:cs typeface="Arial" pitchFamily="34" charset="-120"/>
              </a:rPr>
              <a:t>Chống vòng lặp</a:t>
            </a:r>
            <a:endParaRPr lang="en-US" sz="1500" dirty="0"/>
          </a:p>
        </p:txBody>
      </p:sp>
      <p:sp>
        <p:nvSpPr>
          <p:cNvPr id="39" name="Text 30"/>
          <p:cNvSpPr txBox="1"/>
          <p:nvPr/>
        </p:nvSpPr>
        <p:spPr>
          <a:xfrm>
            <a:off x="594360" y="4617720"/>
            <a:ext cx="2926080" cy="1554480"/>
          </a:xfrm>
          <a:prstGeom prst="rect">
            <a:avLst/>
          </a:prstGeom>
          <a:noFill/>
          <a:ln/>
        </p:spPr>
        <p:txBody>
          <a:bodyPr wrap="square" lIns="0" tIns="0" rIns="0" bIns="0" rtlCol="0" anchor="t"/>
          <a:lstStyle/>
          <a:p>
            <a:pPr marL="0" indent="0">
              <a:buNone/>
            </a:pPr>
            <a:r>
              <a:rPr lang="en-US" sz="1300" dirty="0">
                <a:solidFill>
                  <a:srgbClr val="222222"/>
                </a:solidFill>
                <a:latin typeface="Arial" pitchFamily="34" charset="0"/>
                <a:ea typeface="Arial" pitchFamily="34" charset="-122"/>
                <a:cs typeface="Arial" pitchFamily="34" charset="-120"/>
              </a:rPr>
              <a:t>Phát bản dịch ra loa thì chính nó bị thu lại và dịch tiếp. Ứng dụng bỏ mọi khung âm thanh hệ thống thu trong lúc đang phát bản dịch, giao diện hiện "Tạm ngưng thu".</a:t>
            </a:r>
            <a:endParaRPr lang="en-US" sz="1300" dirty="0"/>
          </a:p>
        </p:txBody>
      </p:sp>
      <p:sp>
        <p:nvSpPr>
          <p:cNvPr id="40" name="Shape 31"/>
          <p:cNvSpPr/>
          <p:nvPr/>
        </p:nvSpPr>
        <p:spPr>
          <a:xfrm>
            <a:off x="3886200" y="3840480"/>
            <a:ext cx="3246120" cy="2377440"/>
          </a:xfrm>
          <a:prstGeom prst="roundRect">
            <a:avLst>
              <a:gd name="adj" fmla="val 3077"/>
            </a:avLst>
          </a:prstGeom>
          <a:solidFill>
            <a:srgbClr val="EEF4F9"/>
          </a:solidFill>
          <a:ln w="12700">
            <a:solidFill>
              <a:srgbClr val="EEF4F9"/>
            </a:solidFill>
            <a:prstDash val="solid"/>
          </a:ln>
        </p:spPr>
        <p:txBody>
          <a:bodyPr/>
          <a:lstStyle/>
          <a:p>
            <a:endParaRPr lang="en-US"/>
          </a:p>
        </p:txBody>
      </p:sp>
      <p:sp>
        <p:nvSpPr>
          <p:cNvPr id="41" name="Shape 32"/>
          <p:cNvSpPr/>
          <p:nvPr/>
        </p:nvSpPr>
        <p:spPr>
          <a:xfrm>
            <a:off x="4069080" y="3977640"/>
            <a:ext cx="512064" cy="512064"/>
          </a:xfrm>
          <a:prstGeom prst="ellipse">
            <a:avLst/>
          </a:prstGeom>
          <a:solidFill>
            <a:srgbClr val="1B517B"/>
          </a:solidFill>
          <a:ln w="12700">
            <a:solidFill>
              <a:srgbClr val="1B517B"/>
            </a:solidFill>
            <a:prstDash val="solid"/>
          </a:ln>
        </p:spPr>
        <p:txBody>
          <a:bodyPr/>
          <a:lstStyle/>
          <a:p>
            <a:endParaRPr lang="en-US"/>
          </a:p>
        </p:txBody>
      </p:sp>
      <p:pic>
        <p:nvPicPr>
          <p:cNvPr id="42" name="Image 7" descr="preencoded.png"/>
          <p:cNvPicPr>
            <a:picLocks noChangeAspect="1"/>
          </p:cNvPicPr>
          <p:nvPr/>
        </p:nvPicPr>
        <p:blipFill>
          <a:blip r:embed="rId10"/>
          <a:stretch>
            <a:fillRect/>
          </a:stretch>
        </p:blipFill>
        <p:spPr>
          <a:xfrm>
            <a:off x="4191975" y="4100535"/>
            <a:ext cx="266273" cy="266273"/>
          </a:xfrm>
          <a:prstGeom prst="rect">
            <a:avLst/>
          </a:prstGeom>
        </p:spPr>
      </p:pic>
      <p:sp>
        <p:nvSpPr>
          <p:cNvPr id="43" name="Text 33"/>
          <p:cNvSpPr txBox="1"/>
          <p:nvPr/>
        </p:nvSpPr>
        <p:spPr>
          <a:xfrm>
            <a:off x="4709160" y="3977640"/>
            <a:ext cx="2331720" cy="512064"/>
          </a:xfrm>
          <a:prstGeom prst="rect">
            <a:avLst/>
          </a:prstGeom>
          <a:noFill/>
          <a:ln/>
        </p:spPr>
        <p:txBody>
          <a:bodyPr wrap="square" lIns="0" tIns="0" rIns="0" bIns="0" rtlCol="0" anchor="ctr"/>
          <a:lstStyle/>
          <a:p>
            <a:pPr marL="0" indent="0">
              <a:buNone/>
            </a:pPr>
            <a:r>
              <a:rPr lang="en-US" sz="1500" b="1" dirty="0">
                <a:solidFill>
                  <a:srgbClr val="1B517B"/>
                </a:solidFill>
                <a:latin typeface="Arial" pitchFamily="34" charset="0"/>
                <a:ea typeface="Arial" pitchFamily="34" charset="-122"/>
                <a:cs typeface="Arial" pitchFamily="34" charset="-120"/>
              </a:rPr>
              <a:t>Nhả phím là chốt câu</a:t>
            </a:r>
            <a:endParaRPr lang="en-US" sz="1500" dirty="0"/>
          </a:p>
        </p:txBody>
      </p:sp>
      <p:sp>
        <p:nvSpPr>
          <p:cNvPr id="44" name="Text 34"/>
          <p:cNvSpPr txBox="1"/>
          <p:nvPr/>
        </p:nvSpPr>
        <p:spPr>
          <a:xfrm>
            <a:off x="4069080" y="4617720"/>
            <a:ext cx="2926080" cy="1554480"/>
          </a:xfrm>
          <a:prstGeom prst="rect">
            <a:avLst/>
          </a:prstGeom>
          <a:noFill/>
          <a:ln/>
        </p:spPr>
        <p:txBody>
          <a:bodyPr wrap="square" lIns="0" tIns="0" rIns="0" bIns="0" rtlCol="0" anchor="t"/>
          <a:lstStyle/>
          <a:p>
            <a:pPr marL="0" indent="0">
              <a:buNone/>
            </a:pPr>
            <a:r>
              <a:rPr lang="en-US" sz="1300" dirty="0">
                <a:solidFill>
                  <a:srgbClr val="222222"/>
                </a:solidFill>
                <a:latin typeface="Arial" pitchFamily="34" charset="0"/>
                <a:ea typeface="Arial" pitchFamily="34" charset="-122"/>
                <a:cs typeface="Arial" pitchFamily="34" charset="-120"/>
              </a:rPr>
              <a:t>Ngừng gửi âm thanh thì VAD không bao giờ thấy khoảng lặng. Thêm VadStream.flush() vào port VAD để chốt câu ngay khi nhả phím.</a:t>
            </a:r>
            <a:endParaRPr lang="en-US" sz="1300" dirty="0"/>
          </a:p>
        </p:txBody>
      </p:sp>
      <p:sp>
        <p:nvSpPr>
          <p:cNvPr id="45" name="Shape 35"/>
          <p:cNvSpPr/>
          <p:nvPr/>
        </p:nvSpPr>
        <p:spPr>
          <a:xfrm>
            <a:off x="7360920" y="3840480"/>
            <a:ext cx="3246120" cy="2377440"/>
          </a:xfrm>
          <a:prstGeom prst="roundRect">
            <a:avLst>
              <a:gd name="adj" fmla="val 3077"/>
            </a:avLst>
          </a:prstGeom>
          <a:solidFill>
            <a:srgbClr val="EEF4F9"/>
          </a:solidFill>
          <a:ln w="12700">
            <a:solidFill>
              <a:srgbClr val="EEF4F9"/>
            </a:solidFill>
            <a:prstDash val="solid"/>
          </a:ln>
        </p:spPr>
        <p:txBody>
          <a:bodyPr/>
          <a:lstStyle/>
          <a:p>
            <a:endParaRPr lang="en-US"/>
          </a:p>
        </p:txBody>
      </p:sp>
      <p:sp>
        <p:nvSpPr>
          <p:cNvPr id="46" name="Shape 36"/>
          <p:cNvSpPr/>
          <p:nvPr/>
        </p:nvSpPr>
        <p:spPr>
          <a:xfrm>
            <a:off x="7543800" y="3977640"/>
            <a:ext cx="512064" cy="512064"/>
          </a:xfrm>
          <a:prstGeom prst="ellipse">
            <a:avLst/>
          </a:prstGeom>
          <a:solidFill>
            <a:srgbClr val="1B517B"/>
          </a:solidFill>
          <a:ln w="12700">
            <a:solidFill>
              <a:srgbClr val="1B517B"/>
            </a:solidFill>
            <a:prstDash val="solid"/>
          </a:ln>
        </p:spPr>
        <p:txBody>
          <a:bodyPr/>
          <a:lstStyle/>
          <a:p>
            <a:endParaRPr lang="en-US"/>
          </a:p>
        </p:txBody>
      </p:sp>
      <p:pic>
        <p:nvPicPr>
          <p:cNvPr id="47" name="Image 8" descr="preencoded.png"/>
          <p:cNvPicPr>
            <a:picLocks noChangeAspect="1"/>
          </p:cNvPicPr>
          <p:nvPr/>
        </p:nvPicPr>
        <p:blipFill>
          <a:blip r:embed="rId11"/>
          <a:stretch>
            <a:fillRect/>
          </a:stretch>
        </p:blipFill>
        <p:spPr>
          <a:xfrm>
            <a:off x="7666695" y="4100535"/>
            <a:ext cx="266273" cy="266273"/>
          </a:xfrm>
          <a:prstGeom prst="rect">
            <a:avLst/>
          </a:prstGeom>
        </p:spPr>
      </p:pic>
      <p:sp>
        <p:nvSpPr>
          <p:cNvPr id="48" name="Text 37"/>
          <p:cNvSpPr txBox="1"/>
          <p:nvPr/>
        </p:nvSpPr>
        <p:spPr>
          <a:xfrm>
            <a:off x="8183880" y="3977640"/>
            <a:ext cx="2331720" cy="512064"/>
          </a:xfrm>
          <a:prstGeom prst="rect">
            <a:avLst/>
          </a:prstGeom>
          <a:noFill/>
          <a:ln/>
        </p:spPr>
        <p:txBody>
          <a:bodyPr wrap="square" lIns="0" tIns="0" rIns="0" bIns="0" rtlCol="0" anchor="ctr"/>
          <a:lstStyle/>
          <a:p>
            <a:pPr marL="0" indent="0">
              <a:buNone/>
            </a:pPr>
            <a:r>
              <a:rPr lang="en-US" sz="1500" b="1" dirty="0">
                <a:solidFill>
                  <a:srgbClr val="1B517B"/>
                </a:solidFill>
                <a:latin typeface="Arial" pitchFamily="34" charset="0"/>
                <a:ea typeface="Arial" pitchFamily="34" charset="-122"/>
                <a:cs typeface="Arial" pitchFamily="34" charset="-120"/>
              </a:rPr>
              <a:t>Chặn hai lần</a:t>
            </a:r>
            <a:endParaRPr lang="en-US" sz="1500" dirty="0"/>
          </a:p>
        </p:txBody>
      </p:sp>
      <p:sp>
        <p:nvSpPr>
          <p:cNvPr id="49" name="Text 38"/>
          <p:cNvSpPr txBox="1"/>
          <p:nvPr/>
        </p:nvSpPr>
        <p:spPr>
          <a:xfrm>
            <a:off x="7543800" y="4617720"/>
            <a:ext cx="2926080" cy="1554480"/>
          </a:xfrm>
          <a:prstGeom prst="rect">
            <a:avLst/>
          </a:prstGeom>
          <a:noFill/>
          <a:ln/>
        </p:spPr>
        <p:txBody>
          <a:bodyPr wrap="square" lIns="0" tIns="0" rIns="0" bIns="0" rtlCol="0" anchor="t"/>
          <a:lstStyle/>
          <a:p>
            <a:pPr marL="0" indent="0">
              <a:buNone/>
            </a:pPr>
            <a:r>
              <a:rPr lang="en-US" sz="1300" dirty="0">
                <a:solidFill>
                  <a:srgbClr val="222222"/>
                </a:solidFill>
                <a:latin typeface="Arial" pitchFamily="34" charset="0"/>
                <a:ea typeface="Arial" pitchFamily="34" charset="-122"/>
                <a:cs typeface="Arial" pitchFamily="34" charset="-120"/>
              </a:rPr>
              <a:t>Ngoài lúc giữ phím, ứng dụng không gửi và dịch vụ cũng bỏ khung đến, không tin phía client.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pic>
        <p:nvPicPr>
          <p:cNvPr id="2" name="Image 0" descr="C:\Users\hhung\AppData\Local\Temp\claude\d--Project-local-live-voice-translator\d0343c7e-f558-4e8b-8c62-5b900df8bea6\scratchpad\build\img\deco_right.png"/>
          <p:cNvPicPr>
            <a:picLocks noChangeAspect="1"/>
          </p:cNvPicPr>
          <p:nvPr/>
        </p:nvPicPr>
        <p:blipFill>
          <a:blip r:embed="rId3"/>
          <a:stretch>
            <a:fillRect/>
          </a:stretch>
        </p:blipFill>
        <p:spPr>
          <a:xfrm>
            <a:off x="0" y="0"/>
            <a:ext cx="12191695" cy="6858000"/>
          </a:xfrm>
          <a:prstGeom prst="rect">
            <a:avLst/>
          </a:prstGeom>
        </p:spPr>
      </p:pic>
      <p:pic>
        <p:nvPicPr>
          <p:cNvPr id="3" name="Image 1" descr="C:\Users\hhung\AppData\Local\Temp\claude\d--Project-local-live-voice-translator\d0343c7e-f558-4e8b-8c62-5b900df8bea6\scratchpad\build\img\logo_header.png"/>
          <p:cNvPicPr>
            <a:picLocks noChangeAspect="1"/>
          </p:cNvPicPr>
          <p:nvPr/>
        </p:nvPicPr>
        <p:blipFill>
          <a:blip r:embed="rId4"/>
          <a:stretch>
            <a:fillRect/>
          </a:stretch>
        </p:blipFill>
        <p:spPr>
          <a:xfrm>
            <a:off x="8549640" y="292608"/>
            <a:ext cx="2560320" cy="459250"/>
          </a:xfrm>
          <a:prstGeom prst="rect">
            <a:avLst/>
          </a:prstGeom>
        </p:spPr>
      </p:pic>
      <p:sp>
        <p:nvSpPr>
          <p:cNvPr id="4" name="Text 0"/>
          <p:cNvSpPr txBox="1"/>
          <p:nvPr/>
        </p:nvSpPr>
        <p:spPr>
          <a:xfrm>
            <a:off x="411480" y="256032"/>
            <a:ext cx="7955280" cy="548640"/>
          </a:xfrm>
          <a:prstGeom prst="rect">
            <a:avLst/>
          </a:prstGeom>
          <a:noFill/>
          <a:ln/>
        </p:spPr>
        <p:txBody>
          <a:bodyPr wrap="square" lIns="0" tIns="0" rIns="0" bIns="0" rtlCol="0" anchor="t"/>
          <a:lstStyle/>
          <a:p>
            <a:pPr marL="0" indent="0">
              <a:buNone/>
            </a:pPr>
            <a:r>
              <a:rPr lang="en-US" sz="2800" b="1" dirty="0">
                <a:solidFill>
                  <a:srgbClr val="487BA2"/>
                </a:solidFill>
                <a:latin typeface="Arial" pitchFamily="34" charset="0"/>
                <a:ea typeface="Arial" pitchFamily="34" charset="-122"/>
                <a:cs typeface="Arial" pitchFamily="34" charset="-120"/>
              </a:rPr>
              <a:t>II. Phương pháp thực hiện</a:t>
            </a:r>
            <a:endParaRPr lang="en-US" sz="2800" dirty="0"/>
          </a:p>
        </p:txBody>
      </p:sp>
      <p:sp>
        <p:nvSpPr>
          <p:cNvPr id="5" name="Text 1"/>
          <p:cNvSpPr txBox="1"/>
          <p:nvPr/>
        </p:nvSpPr>
        <p:spPr>
          <a:xfrm>
            <a:off x="411480" y="841248"/>
            <a:ext cx="8046720" cy="411480"/>
          </a:xfrm>
          <a:prstGeom prst="rect">
            <a:avLst/>
          </a:prstGeom>
          <a:noFill/>
          <a:ln/>
        </p:spPr>
        <p:txBody>
          <a:bodyPr wrap="square" lIns="0" tIns="0" rIns="0" bIns="0" rtlCol="0" anchor="t"/>
          <a:lstStyle/>
          <a:p>
            <a:pPr marL="0" indent="0">
              <a:buNone/>
            </a:pPr>
            <a:r>
              <a:rPr lang="en-US" sz="2000" dirty="0">
                <a:solidFill>
                  <a:srgbClr val="1B517B"/>
                </a:solidFill>
                <a:latin typeface="Arial" pitchFamily="34" charset="0"/>
                <a:ea typeface="Arial" pitchFamily="34" charset="-122"/>
                <a:cs typeface="Arial" pitchFamily="34" charset="-120"/>
              </a:rPr>
              <a:t>3. Nạp mô hình theo yêu cầu và GPU trên Windows</a:t>
            </a:r>
            <a:endParaRPr lang="en-US" sz="2000" dirty="0"/>
          </a:p>
        </p:txBody>
      </p:sp>
      <p:sp>
        <p:nvSpPr>
          <p:cNvPr id="6" name="Text 2"/>
          <p:cNvSpPr txBox="1"/>
          <p:nvPr/>
        </p:nvSpPr>
        <p:spPr>
          <a:xfrm>
            <a:off x="10104120" y="6355080"/>
            <a:ext cx="548640" cy="274320"/>
          </a:xfrm>
          <a:prstGeom prst="rect">
            <a:avLst/>
          </a:prstGeom>
          <a:noFill/>
          <a:ln/>
        </p:spPr>
        <p:txBody>
          <a:bodyPr wrap="square" lIns="0" tIns="0" rIns="0" bIns="0" rtlCol="0" anchor="t"/>
          <a:lstStyle/>
          <a:p>
            <a:pPr marL="0" indent="0" algn="r">
              <a:buNone/>
            </a:pPr>
            <a:r>
              <a:rPr lang="en-US" sz="1100" dirty="0">
                <a:solidFill>
                  <a:srgbClr val="5F6B76"/>
                </a:solidFill>
                <a:latin typeface="Arial" pitchFamily="34" charset="0"/>
                <a:ea typeface="Arial" pitchFamily="34" charset="-122"/>
                <a:cs typeface="Arial" pitchFamily="34" charset="-120"/>
              </a:rPr>
              <a:t>13</a:t>
            </a:r>
            <a:endParaRPr lang="en-US" sz="1100" dirty="0"/>
          </a:p>
        </p:txBody>
      </p:sp>
      <p:sp>
        <p:nvSpPr>
          <p:cNvPr id="7" name="Shape 3"/>
          <p:cNvSpPr/>
          <p:nvPr/>
        </p:nvSpPr>
        <p:spPr>
          <a:xfrm>
            <a:off x="411480" y="1417320"/>
            <a:ext cx="4983480" cy="2240280"/>
          </a:xfrm>
          <a:prstGeom prst="roundRect">
            <a:avLst>
              <a:gd name="adj" fmla="val 3265"/>
            </a:avLst>
          </a:prstGeom>
          <a:solidFill>
            <a:srgbClr val="EEF4F9"/>
          </a:solidFill>
          <a:ln w="12700">
            <a:solidFill>
              <a:srgbClr val="EEF4F9"/>
            </a:solidFill>
            <a:prstDash val="solid"/>
          </a:ln>
        </p:spPr>
        <p:txBody>
          <a:bodyPr/>
          <a:lstStyle/>
          <a:p>
            <a:endParaRPr lang="en-US"/>
          </a:p>
        </p:txBody>
      </p:sp>
      <p:sp>
        <p:nvSpPr>
          <p:cNvPr id="8" name="Text 4"/>
          <p:cNvSpPr txBox="1"/>
          <p:nvPr/>
        </p:nvSpPr>
        <p:spPr>
          <a:xfrm>
            <a:off x="640080" y="1527048"/>
            <a:ext cx="4572000" cy="685800"/>
          </a:xfrm>
          <a:prstGeom prst="rect">
            <a:avLst/>
          </a:prstGeom>
          <a:noFill/>
          <a:ln/>
        </p:spPr>
        <p:txBody>
          <a:bodyPr wrap="square" lIns="0" tIns="0" rIns="0" bIns="0" rtlCol="0" anchor="ctr"/>
          <a:lstStyle/>
          <a:p>
            <a:pPr marL="0" indent="0">
              <a:buNone/>
            </a:pPr>
            <a:r>
              <a:rPr lang="en-US" sz="3400" b="1" dirty="0">
                <a:solidFill>
                  <a:srgbClr val="1B517B"/>
                </a:solidFill>
                <a:latin typeface="Arial" pitchFamily="34" charset="0"/>
                <a:ea typeface="Arial" pitchFamily="34" charset="-122"/>
                <a:cs typeface="Arial" pitchFamily="34" charset="-120"/>
              </a:rPr>
              <a:t>45 s → 0,4 s</a:t>
            </a:r>
            <a:endParaRPr lang="en-US" sz="3400" dirty="0"/>
          </a:p>
        </p:txBody>
      </p:sp>
      <p:sp>
        <p:nvSpPr>
          <p:cNvPr id="9" name="Text 5"/>
          <p:cNvSpPr txBox="1"/>
          <p:nvPr/>
        </p:nvSpPr>
        <p:spPr>
          <a:xfrm>
            <a:off x="640080" y="2221992"/>
            <a:ext cx="4572000" cy="347472"/>
          </a:xfrm>
          <a:prstGeom prst="rect">
            <a:avLst/>
          </a:prstGeom>
          <a:noFill/>
          <a:ln/>
        </p:spPr>
        <p:txBody>
          <a:bodyPr wrap="square" lIns="0" tIns="0" rIns="0" bIns="0" rtlCol="0" anchor="t"/>
          <a:lstStyle/>
          <a:p>
            <a:pPr marL="0" indent="0">
              <a:buNone/>
            </a:pPr>
            <a:r>
              <a:rPr lang="en-US" sz="1500" b="1" dirty="0">
                <a:solidFill>
                  <a:srgbClr val="487BA2"/>
                </a:solidFill>
                <a:latin typeface="Arial" pitchFamily="34" charset="0"/>
                <a:ea typeface="Arial" pitchFamily="34" charset="-122"/>
                <a:cs typeface="Arial" pitchFamily="34" charset="-120"/>
              </a:rPr>
              <a:t>Thời gian mở dịch vụ</a:t>
            </a:r>
            <a:endParaRPr lang="en-US" sz="1500" dirty="0"/>
          </a:p>
        </p:txBody>
      </p:sp>
      <p:sp>
        <p:nvSpPr>
          <p:cNvPr id="10" name="Text 6"/>
          <p:cNvSpPr txBox="1"/>
          <p:nvPr/>
        </p:nvSpPr>
        <p:spPr>
          <a:xfrm>
            <a:off x="640080" y="2606040"/>
            <a:ext cx="4572000" cy="1005840"/>
          </a:xfrm>
          <a:prstGeom prst="rect">
            <a:avLst/>
          </a:prstGeom>
          <a:noFill/>
          <a:ln/>
        </p:spPr>
        <p:txBody>
          <a:bodyPr wrap="square" lIns="0" tIns="0" rIns="0" bIns="0" rtlCol="0" anchor="t"/>
          <a:lstStyle/>
          <a:p>
            <a:pPr marL="0" indent="0">
              <a:buNone/>
            </a:pPr>
            <a:r>
              <a:rPr lang="en-US" sz="1300" dirty="0">
                <a:solidFill>
                  <a:srgbClr val="222222"/>
                </a:solidFill>
                <a:latin typeface="Arial" pitchFamily="34" charset="0"/>
                <a:ea typeface="Arial" pitchFamily="34" charset="-122"/>
                <a:cs typeface="Arial" pitchFamily="34" charset="-120"/>
              </a:rPr>
              <a:t>Không nạp gì lúc khởi động; mọi đường cần mô hình đi qua một cửa ModelManager.ensure_loaded(). Chọn preset không tải gì.</a:t>
            </a:r>
            <a:endParaRPr lang="en-US" sz="1300" dirty="0"/>
          </a:p>
        </p:txBody>
      </p:sp>
      <p:sp>
        <p:nvSpPr>
          <p:cNvPr id="11" name="Shape 7"/>
          <p:cNvSpPr/>
          <p:nvPr/>
        </p:nvSpPr>
        <p:spPr>
          <a:xfrm>
            <a:off x="5623560" y="1417320"/>
            <a:ext cx="4983480" cy="2240280"/>
          </a:xfrm>
          <a:prstGeom prst="roundRect">
            <a:avLst>
              <a:gd name="adj" fmla="val 3265"/>
            </a:avLst>
          </a:prstGeom>
          <a:solidFill>
            <a:srgbClr val="EEF4F9"/>
          </a:solidFill>
          <a:ln w="12700">
            <a:solidFill>
              <a:srgbClr val="EEF4F9"/>
            </a:solidFill>
            <a:prstDash val="solid"/>
          </a:ln>
        </p:spPr>
        <p:txBody>
          <a:bodyPr/>
          <a:lstStyle/>
          <a:p>
            <a:endParaRPr lang="en-US"/>
          </a:p>
        </p:txBody>
      </p:sp>
      <p:sp>
        <p:nvSpPr>
          <p:cNvPr id="12" name="Text 8"/>
          <p:cNvSpPr txBox="1"/>
          <p:nvPr/>
        </p:nvSpPr>
        <p:spPr>
          <a:xfrm>
            <a:off x="5852160" y="1527048"/>
            <a:ext cx="4572000" cy="685800"/>
          </a:xfrm>
          <a:prstGeom prst="rect">
            <a:avLst/>
          </a:prstGeom>
          <a:noFill/>
          <a:ln/>
        </p:spPr>
        <p:txBody>
          <a:bodyPr wrap="square" lIns="0" tIns="0" rIns="0" bIns="0" rtlCol="0" anchor="ctr"/>
          <a:lstStyle/>
          <a:p>
            <a:pPr marL="0" indent="0">
              <a:buNone/>
            </a:pPr>
            <a:r>
              <a:rPr lang="en-US" sz="3400" b="1" dirty="0">
                <a:solidFill>
                  <a:srgbClr val="1B517B"/>
                </a:solidFill>
                <a:latin typeface="Arial" pitchFamily="34" charset="0"/>
                <a:ea typeface="Arial" pitchFamily="34" charset="-122"/>
                <a:cs typeface="Arial" pitchFamily="34" charset="-120"/>
              </a:rPr>
              <a:t>17,6 s → 0,44 s</a:t>
            </a:r>
            <a:endParaRPr lang="en-US" sz="3400" dirty="0"/>
          </a:p>
        </p:txBody>
      </p:sp>
      <p:sp>
        <p:nvSpPr>
          <p:cNvPr id="13" name="Text 9"/>
          <p:cNvSpPr txBox="1"/>
          <p:nvPr/>
        </p:nvSpPr>
        <p:spPr>
          <a:xfrm>
            <a:off x="5852160" y="2221992"/>
            <a:ext cx="4572000" cy="347472"/>
          </a:xfrm>
          <a:prstGeom prst="rect">
            <a:avLst/>
          </a:prstGeom>
          <a:noFill/>
          <a:ln/>
        </p:spPr>
        <p:txBody>
          <a:bodyPr wrap="square" lIns="0" tIns="0" rIns="0" bIns="0" rtlCol="0" anchor="t"/>
          <a:lstStyle/>
          <a:p>
            <a:pPr marL="0" indent="0">
              <a:buNone/>
            </a:pPr>
            <a:r>
              <a:rPr lang="en-US" sz="1500" b="1" dirty="0">
                <a:solidFill>
                  <a:srgbClr val="487BA2"/>
                </a:solidFill>
                <a:latin typeface="Arial" pitchFamily="34" charset="0"/>
                <a:ea typeface="Arial" pitchFamily="34" charset="-122"/>
                <a:cs typeface="Arial" pitchFamily="34" charset="-120"/>
              </a:rPr>
              <a:t>ASR cho 3 s âm thanh trên bản cài Windows</a:t>
            </a:r>
            <a:endParaRPr lang="en-US" sz="1500" dirty="0"/>
          </a:p>
        </p:txBody>
      </p:sp>
      <p:sp>
        <p:nvSpPr>
          <p:cNvPr id="14" name="Text 10"/>
          <p:cNvSpPr txBox="1"/>
          <p:nvPr/>
        </p:nvSpPr>
        <p:spPr>
          <a:xfrm>
            <a:off x="5852160" y="2606040"/>
            <a:ext cx="4572000" cy="1005840"/>
          </a:xfrm>
          <a:prstGeom prst="rect">
            <a:avLst/>
          </a:prstGeom>
          <a:noFill/>
          <a:ln/>
        </p:spPr>
        <p:txBody>
          <a:bodyPr wrap="square" lIns="0" tIns="0" rIns="0" bIns="0" rtlCol="0" anchor="t"/>
          <a:lstStyle/>
          <a:p>
            <a:pPr marL="0" indent="0">
              <a:buNone/>
            </a:pPr>
            <a:r>
              <a:rPr lang="en-US" sz="1300" dirty="0">
                <a:solidFill>
                  <a:srgbClr val="222222"/>
                </a:solidFill>
                <a:latin typeface="Arial" pitchFamily="34" charset="0"/>
                <a:ea typeface="Arial" pitchFamily="34" charset="-122"/>
                <a:cs typeface="Arial" pitchFamily="34" charset="-120"/>
              </a:rPr>
              <a:t>whisper.cpp dựng với Vulkan thay vì chạy CPU (17.573 ms → 437 ms).</a:t>
            </a:r>
            <a:endParaRPr lang="en-US" sz="1300" dirty="0"/>
          </a:p>
        </p:txBody>
      </p:sp>
      <p:sp>
        <p:nvSpPr>
          <p:cNvPr id="15" name="Shape 11"/>
          <p:cNvSpPr/>
          <p:nvPr/>
        </p:nvSpPr>
        <p:spPr>
          <a:xfrm>
            <a:off x="411480" y="3886200"/>
            <a:ext cx="4983480" cy="2240280"/>
          </a:xfrm>
          <a:prstGeom prst="roundRect">
            <a:avLst>
              <a:gd name="adj" fmla="val 3265"/>
            </a:avLst>
          </a:prstGeom>
          <a:solidFill>
            <a:srgbClr val="EEF4F9"/>
          </a:solidFill>
          <a:ln w="12700">
            <a:solidFill>
              <a:srgbClr val="EEF4F9"/>
            </a:solidFill>
            <a:prstDash val="solid"/>
          </a:ln>
        </p:spPr>
        <p:txBody>
          <a:bodyPr/>
          <a:lstStyle/>
          <a:p>
            <a:endParaRPr lang="en-US"/>
          </a:p>
        </p:txBody>
      </p:sp>
      <p:sp>
        <p:nvSpPr>
          <p:cNvPr id="16" name="Text 12"/>
          <p:cNvSpPr txBox="1"/>
          <p:nvPr/>
        </p:nvSpPr>
        <p:spPr>
          <a:xfrm>
            <a:off x="640080" y="3995928"/>
            <a:ext cx="4572000" cy="685800"/>
          </a:xfrm>
          <a:prstGeom prst="rect">
            <a:avLst/>
          </a:prstGeom>
          <a:noFill/>
          <a:ln/>
        </p:spPr>
        <p:txBody>
          <a:bodyPr wrap="square" lIns="0" tIns="0" rIns="0" bIns="0" rtlCol="0" anchor="ctr"/>
          <a:lstStyle/>
          <a:p>
            <a:pPr marL="0" indent="0">
              <a:buNone/>
            </a:pPr>
            <a:r>
              <a:rPr lang="en-US" sz="3400" b="1" dirty="0">
                <a:solidFill>
                  <a:srgbClr val="1B517B"/>
                </a:solidFill>
                <a:latin typeface="Arial" pitchFamily="34" charset="0"/>
                <a:ea typeface="Arial" pitchFamily="34" charset="-122"/>
                <a:cs typeface="Arial" pitchFamily="34" charset="-120"/>
              </a:rPr>
              <a:t>+18 MB</a:t>
            </a:r>
            <a:endParaRPr lang="en-US" sz="3400" dirty="0"/>
          </a:p>
        </p:txBody>
      </p:sp>
      <p:sp>
        <p:nvSpPr>
          <p:cNvPr id="17" name="Text 13"/>
          <p:cNvSpPr txBox="1"/>
          <p:nvPr/>
        </p:nvSpPr>
        <p:spPr>
          <a:xfrm>
            <a:off x="640080" y="4690872"/>
            <a:ext cx="4572000" cy="347472"/>
          </a:xfrm>
          <a:prstGeom prst="rect">
            <a:avLst/>
          </a:prstGeom>
          <a:noFill/>
          <a:ln/>
        </p:spPr>
        <p:txBody>
          <a:bodyPr wrap="square" lIns="0" tIns="0" rIns="0" bIns="0" rtlCol="0" anchor="t"/>
          <a:lstStyle/>
          <a:p>
            <a:pPr marL="0" indent="0">
              <a:buNone/>
            </a:pPr>
            <a:r>
              <a:rPr lang="en-US" sz="1500" b="1" dirty="0">
                <a:solidFill>
                  <a:srgbClr val="487BA2"/>
                </a:solidFill>
                <a:latin typeface="Arial" pitchFamily="34" charset="0"/>
                <a:ea typeface="Arial" pitchFamily="34" charset="-122"/>
                <a:cs typeface="Arial" pitchFamily="34" charset="-120"/>
              </a:rPr>
              <a:t>thay vì ~1 GB nếu đóng gói CUDA</a:t>
            </a:r>
            <a:endParaRPr lang="en-US" sz="1500" dirty="0"/>
          </a:p>
        </p:txBody>
      </p:sp>
      <p:sp>
        <p:nvSpPr>
          <p:cNvPr id="18" name="Text 14"/>
          <p:cNvSpPr txBox="1"/>
          <p:nvPr/>
        </p:nvSpPr>
        <p:spPr>
          <a:xfrm>
            <a:off x="640080" y="5074920"/>
            <a:ext cx="4572000" cy="1005840"/>
          </a:xfrm>
          <a:prstGeom prst="rect">
            <a:avLst/>
          </a:prstGeom>
          <a:noFill/>
          <a:ln/>
        </p:spPr>
        <p:txBody>
          <a:bodyPr wrap="square" lIns="0" tIns="0" rIns="0" bIns="0" rtlCol="0" anchor="t"/>
          <a:lstStyle/>
          <a:p>
            <a:pPr marL="0" indent="0">
              <a:buNone/>
            </a:pPr>
            <a:r>
              <a:rPr lang="en-US" sz="1300" dirty="0">
                <a:solidFill>
                  <a:srgbClr val="222222"/>
                </a:solidFill>
                <a:latin typeface="Arial" pitchFamily="34" charset="0"/>
                <a:ea typeface="Arial" pitchFamily="34" charset="-122"/>
                <a:cs typeface="Arial" pitchFamily="34" charset="-120"/>
              </a:rPr>
              <a:t>Vulkan có sẵn trong driver NVIDIA, AMD, Intel: một bộ cài chạy GPU trên mọi hãng. Ý tưởng từ TranscriptionSuite [10].</a:t>
            </a:r>
            <a:endParaRPr lang="en-US" sz="1300" dirty="0"/>
          </a:p>
        </p:txBody>
      </p:sp>
      <p:sp>
        <p:nvSpPr>
          <p:cNvPr id="19" name="Shape 15"/>
          <p:cNvSpPr/>
          <p:nvPr/>
        </p:nvSpPr>
        <p:spPr>
          <a:xfrm>
            <a:off x="5623560" y="3886200"/>
            <a:ext cx="4983480" cy="2240280"/>
          </a:xfrm>
          <a:prstGeom prst="roundRect">
            <a:avLst>
              <a:gd name="adj" fmla="val 3265"/>
            </a:avLst>
          </a:prstGeom>
          <a:solidFill>
            <a:srgbClr val="EEF4F9"/>
          </a:solidFill>
          <a:ln w="12700">
            <a:solidFill>
              <a:srgbClr val="EEF4F9"/>
            </a:solidFill>
            <a:prstDash val="solid"/>
          </a:ln>
        </p:spPr>
        <p:txBody>
          <a:bodyPr/>
          <a:lstStyle/>
          <a:p>
            <a:endParaRPr lang="en-US"/>
          </a:p>
        </p:txBody>
      </p:sp>
      <p:sp>
        <p:nvSpPr>
          <p:cNvPr id="20" name="Text 16"/>
          <p:cNvSpPr txBox="1"/>
          <p:nvPr/>
        </p:nvSpPr>
        <p:spPr>
          <a:xfrm>
            <a:off x="5852160" y="3995928"/>
            <a:ext cx="4572000" cy="685800"/>
          </a:xfrm>
          <a:prstGeom prst="rect">
            <a:avLst/>
          </a:prstGeom>
          <a:noFill/>
          <a:ln/>
        </p:spPr>
        <p:txBody>
          <a:bodyPr wrap="square" lIns="0" tIns="0" rIns="0" bIns="0" rtlCol="0" anchor="ctr"/>
          <a:lstStyle/>
          <a:p>
            <a:pPr marL="0" indent="0">
              <a:buNone/>
            </a:pPr>
            <a:r>
              <a:rPr lang="en-US" sz="3400" b="1" dirty="0">
                <a:solidFill>
                  <a:srgbClr val="1B517B"/>
                </a:solidFill>
                <a:latin typeface="Arial" pitchFamily="34" charset="0"/>
                <a:ea typeface="Arial" pitchFamily="34" charset="-122"/>
                <a:cs typeface="Arial" pitchFamily="34" charset="-120"/>
              </a:rPr>
              <a:t>9,9 s ↔ 0,17 s</a:t>
            </a:r>
            <a:endParaRPr lang="en-US" sz="3400" dirty="0"/>
          </a:p>
        </p:txBody>
      </p:sp>
      <p:sp>
        <p:nvSpPr>
          <p:cNvPr id="21" name="Text 17"/>
          <p:cNvSpPr txBox="1"/>
          <p:nvPr/>
        </p:nvSpPr>
        <p:spPr>
          <a:xfrm>
            <a:off x="5852160" y="4690872"/>
            <a:ext cx="4572000" cy="347472"/>
          </a:xfrm>
          <a:prstGeom prst="rect">
            <a:avLst/>
          </a:prstGeom>
          <a:noFill/>
          <a:ln/>
        </p:spPr>
        <p:txBody>
          <a:bodyPr wrap="square" lIns="0" tIns="0" rIns="0" bIns="0" rtlCol="0" anchor="t"/>
          <a:lstStyle/>
          <a:p>
            <a:pPr marL="0" indent="0">
              <a:buNone/>
            </a:pPr>
            <a:r>
              <a:rPr lang="en-US" sz="1500" b="1" dirty="0">
                <a:solidFill>
                  <a:srgbClr val="487BA2"/>
                </a:solidFill>
                <a:latin typeface="Arial" pitchFamily="34" charset="0"/>
                <a:ea typeface="Arial" pitchFamily="34" charset="-122"/>
                <a:cs typeface="Arial" pitchFamily="34" charset="-120"/>
              </a:rPr>
              <a:t>GPU tích hợp so với GPU rời</a:t>
            </a:r>
            <a:endParaRPr lang="en-US" sz="1500" dirty="0"/>
          </a:p>
        </p:txBody>
      </p:sp>
      <p:sp>
        <p:nvSpPr>
          <p:cNvPr id="22" name="Text 18"/>
          <p:cNvSpPr txBox="1"/>
          <p:nvPr/>
        </p:nvSpPr>
        <p:spPr>
          <a:xfrm>
            <a:off x="5852160" y="5074920"/>
            <a:ext cx="4572000" cy="1005840"/>
          </a:xfrm>
          <a:prstGeom prst="rect">
            <a:avLst/>
          </a:prstGeom>
          <a:noFill/>
          <a:ln/>
        </p:spPr>
        <p:txBody>
          <a:bodyPr wrap="square" lIns="0" tIns="0" rIns="0" bIns="0" rtlCol="0" anchor="t"/>
          <a:lstStyle/>
          <a:p>
            <a:pPr marL="0" indent="0">
              <a:buNone/>
            </a:pPr>
            <a:r>
              <a:rPr lang="en-US" sz="1300" dirty="0">
                <a:solidFill>
                  <a:srgbClr val="222222"/>
                </a:solidFill>
                <a:latin typeface="Arial" pitchFamily="34" charset="0"/>
                <a:ea typeface="Arial" pitchFamily="34" charset="-122"/>
                <a:cs typeface="Arial" pitchFamily="34" charset="-120"/>
              </a:rPr>
              <a:t>whisper.cpp lấy GPU đầu tiên, trên laptop hai card là Iris Xe. Adapter tự liệt kê thiết bị và chọn card rời.</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2" name="Image 0" descr="C:\Users\hhung\AppData\Local\Temp\claude\d--Project-local-live-voice-translator\d0343c7e-f558-4e8b-8c62-5b900df8bea6\scratchpad\build\img\deco_right.png"/>
          <p:cNvPicPr>
            <a:picLocks noChangeAspect="1"/>
          </p:cNvPicPr>
          <p:nvPr/>
        </p:nvPicPr>
        <p:blipFill>
          <a:blip r:embed="rId3"/>
          <a:stretch>
            <a:fillRect/>
          </a:stretch>
        </p:blipFill>
        <p:spPr>
          <a:xfrm>
            <a:off x="0" y="0"/>
            <a:ext cx="12191695" cy="6858000"/>
          </a:xfrm>
          <a:prstGeom prst="rect">
            <a:avLst/>
          </a:prstGeom>
        </p:spPr>
      </p:pic>
      <p:pic>
        <p:nvPicPr>
          <p:cNvPr id="3" name="Image 1" descr="C:\Users\hhung\AppData\Local\Temp\claude\d--Project-local-live-voice-translator\d0343c7e-f558-4e8b-8c62-5b900df8bea6\scratchpad\build\img\logo_header.png"/>
          <p:cNvPicPr>
            <a:picLocks noChangeAspect="1"/>
          </p:cNvPicPr>
          <p:nvPr/>
        </p:nvPicPr>
        <p:blipFill>
          <a:blip r:embed="rId4"/>
          <a:stretch>
            <a:fillRect/>
          </a:stretch>
        </p:blipFill>
        <p:spPr>
          <a:xfrm>
            <a:off x="8549640" y="292608"/>
            <a:ext cx="2560320" cy="459250"/>
          </a:xfrm>
          <a:prstGeom prst="rect">
            <a:avLst/>
          </a:prstGeom>
        </p:spPr>
      </p:pic>
      <p:sp>
        <p:nvSpPr>
          <p:cNvPr id="4" name="Text 0"/>
          <p:cNvSpPr txBox="1"/>
          <p:nvPr/>
        </p:nvSpPr>
        <p:spPr>
          <a:xfrm>
            <a:off x="411480" y="256032"/>
            <a:ext cx="7955280" cy="548640"/>
          </a:xfrm>
          <a:prstGeom prst="rect">
            <a:avLst/>
          </a:prstGeom>
          <a:noFill/>
          <a:ln/>
        </p:spPr>
        <p:txBody>
          <a:bodyPr wrap="square" lIns="0" tIns="0" rIns="0" bIns="0" rtlCol="0" anchor="t"/>
          <a:lstStyle/>
          <a:p>
            <a:pPr marL="0" indent="0">
              <a:buNone/>
            </a:pPr>
            <a:r>
              <a:rPr lang="en-US" sz="2800" b="1" dirty="0">
                <a:solidFill>
                  <a:srgbClr val="487BA2"/>
                </a:solidFill>
                <a:latin typeface="Arial" pitchFamily="34" charset="0"/>
                <a:ea typeface="Arial" pitchFamily="34" charset="-122"/>
                <a:cs typeface="Arial" pitchFamily="34" charset="-120"/>
              </a:rPr>
              <a:t>II. Phương pháp thực hiện</a:t>
            </a:r>
            <a:endParaRPr lang="en-US" sz="2800" dirty="0"/>
          </a:p>
        </p:txBody>
      </p:sp>
      <p:sp>
        <p:nvSpPr>
          <p:cNvPr id="5" name="Text 1"/>
          <p:cNvSpPr txBox="1"/>
          <p:nvPr/>
        </p:nvSpPr>
        <p:spPr>
          <a:xfrm>
            <a:off x="411480" y="841248"/>
            <a:ext cx="8046720" cy="411480"/>
          </a:xfrm>
          <a:prstGeom prst="rect">
            <a:avLst/>
          </a:prstGeom>
          <a:noFill/>
          <a:ln/>
        </p:spPr>
        <p:txBody>
          <a:bodyPr wrap="square" lIns="0" tIns="0" rIns="0" bIns="0" rtlCol="0" anchor="t"/>
          <a:lstStyle/>
          <a:p>
            <a:pPr marL="0" indent="0">
              <a:buNone/>
            </a:pPr>
            <a:r>
              <a:rPr lang="en-US" sz="2000" dirty="0">
                <a:solidFill>
                  <a:srgbClr val="1B517B"/>
                </a:solidFill>
                <a:latin typeface="Arial" pitchFamily="34" charset="0"/>
                <a:ea typeface="Arial" pitchFamily="34" charset="-122"/>
                <a:cs typeface="Arial" pitchFamily="34" charset="-120"/>
              </a:rPr>
              <a:t>4. Ứng dụng desktop</a:t>
            </a:r>
            <a:endParaRPr lang="en-US" sz="2000" dirty="0"/>
          </a:p>
        </p:txBody>
      </p:sp>
      <p:sp>
        <p:nvSpPr>
          <p:cNvPr id="6" name="Text 2"/>
          <p:cNvSpPr txBox="1"/>
          <p:nvPr/>
        </p:nvSpPr>
        <p:spPr>
          <a:xfrm>
            <a:off x="10104120" y="6355080"/>
            <a:ext cx="548640" cy="274320"/>
          </a:xfrm>
          <a:prstGeom prst="rect">
            <a:avLst/>
          </a:prstGeom>
          <a:noFill/>
          <a:ln/>
        </p:spPr>
        <p:txBody>
          <a:bodyPr wrap="square" lIns="0" tIns="0" rIns="0" bIns="0" rtlCol="0" anchor="t"/>
          <a:lstStyle/>
          <a:p>
            <a:pPr marL="0" indent="0" algn="r">
              <a:buNone/>
            </a:pPr>
            <a:r>
              <a:rPr lang="en-US" sz="1100" dirty="0">
                <a:solidFill>
                  <a:srgbClr val="5F6B76"/>
                </a:solidFill>
                <a:latin typeface="Arial" pitchFamily="34" charset="0"/>
                <a:ea typeface="Arial" pitchFamily="34" charset="-122"/>
                <a:cs typeface="Arial" pitchFamily="34" charset="-120"/>
              </a:rPr>
              <a:t>14</a:t>
            </a:r>
            <a:endParaRPr lang="en-US" sz="1100" dirty="0"/>
          </a:p>
        </p:txBody>
      </p:sp>
      <p:pic>
        <p:nvPicPr>
          <p:cNvPr id="7" name="Image 2" descr="C:\Users\hhung\AppData\Local\Temp\claude\d--Project-local-live-voice-translator\d0343c7e-f558-4e8b-8c62-5b900df8bea6\scratchpad\build\img\h3-16-lich-su.png"/>
          <p:cNvPicPr>
            <a:picLocks noChangeAspect="1"/>
          </p:cNvPicPr>
          <p:nvPr/>
        </p:nvPicPr>
        <p:blipFill>
          <a:blip r:embed="rId5"/>
          <a:stretch>
            <a:fillRect/>
          </a:stretch>
        </p:blipFill>
        <p:spPr>
          <a:xfrm>
            <a:off x="411480" y="1417320"/>
            <a:ext cx="6035040" cy="3648995"/>
          </a:xfrm>
          <a:prstGeom prst="rect">
            <a:avLst/>
          </a:prstGeom>
        </p:spPr>
      </p:pic>
      <p:sp>
        <p:nvSpPr>
          <p:cNvPr id="8" name="Shape 3"/>
          <p:cNvSpPr/>
          <p:nvPr/>
        </p:nvSpPr>
        <p:spPr>
          <a:xfrm>
            <a:off x="411480" y="1417320"/>
            <a:ext cx="6035040" cy="3648995"/>
          </a:xfrm>
          <a:prstGeom prst="rect">
            <a:avLst/>
          </a:prstGeom>
          <a:ln w="12700">
            <a:solidFill>
              <a:srgbClr val="C9D6E2"/>
            </a:solidFill>
            <a:prstDash val="solid"/>
          </a:ln>
        </p:spPr>
        <p:txBody>
          <a:bodyPr/>
          <a:lstStyle/>
          <a:p>
            <a:endParaRPr lang="en-US"/>
          </a:p>
        </p:txBody>
      </p:sp>
      <p:sp>
        <p:nvSpPr>
          <p:cNvPr id="9" name="Text 4"/>
          <p:cNvSpPr txBox="1"/>
          <p:nvPr/>
        </p:nvSpPr>
        <p:spPr>
          <a:xfrm>
            <a:off x="411480" y="5112035"/>
            <a:ext cx="6035040" cy="274320"/>
          </a:xfrm>
          <a:prstGeom prst="rect">
            <a:avLst/>
          </a:prstGeom>
          <a:noFill/>
          <a:ln/>
        </p:spPr>
        <p:txBody>
          <a:bodyPr wrap="square" lIns="0" tIns="0" rIns="0" bIns="0" rtlCol="0" anchor="t"/>
          <a:lstStyle/>
          <a:p>
            <a:pPr marL="0" indent="0" algn="ctr">
              <a:buNone/>
            </a:pPr>
            <a:r>
              <a:rPr lang="en-US" sz="1200" i="1" dirty="0">
                <a:solidFill>
                  <a:srgbClr val="5F6B76"/>
                </a:solidFill>
                <a:latin typeface="Arial" pitchFamily="34" charset="0"/>
                <a:ea typeface="Arial" pitchFamily="34" charset="-122"/>
                <a:cs typeface="Arial" pitchFamily="34" charset="-120"/>
              </a:rPr>
              <a:t>Lịch sử: bản gốc và bản dịch của cả hai chiều</a:t>
            </a:r>
            <a:endParaRPr lang="en-US" sz="1200" dirty="0"/>
          </a:p>
        </p:txBody>
      </p:sp>
      <p:pic>
        <p:nvPicPr>
          <p:cNvPr id="10" name="Image 3" descr="C:\Users\hhung\AppData\Local\Temp\claude\d--Project-local-live-voice-translator\d0343c7e-f558-4e8b-8c62-5b900df8bea6\scratchpad\build\img\h3-11-thiet-lap.png"/>
          <p:cNvPicPr>
            <a:picLocks noChangeAspect="1"/>
          </p:cNvPicPr>
          <p:nvPr/>
        </p:nvPicPr>
        <p:blipFill>
          <a:blip r:embed="rId6"/>
          <a:stretch>
            <a:fillRect/>
          </a:stretch>
        </p:blipFill>
        <p:spPr>
          <a:xfrm>
            <a:off x="6766560" y="1417320"/>
            <a:ext cx="3566160" cy="2156225"/>
          </a:xfrm>
          <a:prstGeom prst="rect">
            <a:avLst/>
          </a:prstGeom>
        </p:spPr>
      </p:pic>
      <p:sp>
        <p:nvSpPr>
          <p:cNvPr id="11" name="Shape 5"/>
          <p:cNvSpPr/>
          <p:nvPr/>
        </p:nvSpPr>
        <p:spPr>
          <a:xfrm>
            <a:off x="6766560" y="1417320"/>
            <a:ext cx="3566160" cy="2156225"/>
          </a:xfrm>
          <a:prstGeom prst="rect">
            <a:avLst/>
          </a:prstGeom>
          <a:ln w="12700">
            <a:solidFill>
              <a:srgbClr val="C9D6E2"/>
            </a:solidFill>
            <a:prstDash val="solid"/>
          </a:ln>
        </p:spPr>
        <p:txBody>
          <a:bodyPr/>
          <a:lstStyle/>
          <a:p>
            <a:endParaRPr lang="en-US"/>
          </a:p>
        </p:txBody>
      </p:sp>
      <p:sp>
        <p:nvSpPr>
          <p:cNvPr id="12" name="Text 6"/>
          <p:cNvSpPr txBox="1"/>
          <p:nvPr/>
        </p:nvSpPr>
        <p:spPr>
          <a:xfrm>
            <a:off x="6766560" y="3600977"/>
            <a:ext cx="3566160" cy="274320"/>
          </a:xfrm>
          <a:prstGeom prst="rect">
            <a:avLst/>
          </a:prstGeom>
          <a:noFill/>
          <a:ln/>
        </p:spPr>
        <p:txBody>
          <a:bodyPr wrap="square" lIns="0" tIns="0" rIns="0" bIns="0" rtlCol="0" anchor="t"/>
          <a:lstStyle/>
          <a:p>
            <a:pPr marL="0" indent="0" algn="ctr">
              <a:buNone/>
            </a:pPr>
            <a:r>
              <a:rPr lang="en-US" sz="1200" i="1" dirty="0">
                <a:solidFill>
                  <a:srgbClr val="5F6B76"/>
                </a:solidFill>
                <a:latin typeface="Arial" pitchFamily="34" charset="0"/>
                <a:ea typeface="Arial" pitchFamily="34" charset="-122"/>
                <a:cs typeface="Arial" pitchFamily="34" charset="-120"/>
              </a:rPr>
              <a:t>Thiết bị âm thanh và GPU dịch vụ nhìn thấy</a:t>
            </a:r>
            <a:endParaRPr lang="en-US" sz="1200" dirty="0"/>
          </a:p>
        </p:txBody>
      </p:sp>
      <p:pic>
        <p:nvPicPr>
          <p:cNvPr id="13" name="Image 4" descr="C:\Users\hhung\AppData\Local\Temp\claude\d--Project-local-live-voice-translator\d0343c7e-f558-4e8b-8c62-5b900df8bea6\scratchpad\build\img\h3-13-mo-hinh.png"/>
          <p:cNvPicPr>
            <a:picLocks noChangeAspect="1"/>
          </p:cNvPicPr>
          <p:nvPr/>
        </p:nvPicPr>
        <p:blipFill>
          <a:blip r:embed="rId7"/>
          <a:stretch>
            <a:fillRect/>
          </a:stretch>
        </p:blipFill>
        <p:spPr>
          <a:xfrm>
            <a:off x="6766560" y="3921017"/>
            <a:ext cx="3566160" cy="2156225"/>
          </a:xfrm>
          <a:prstGeom prst="rect">
            <a:avLst/>
          </a:prstGeom>
        </p:spPr>
      </p:pic>
      <p:sp>
        <p:nvSpPr>
          <p:cNvPr id="14" name="Shape 7"/>
          <p:cNvSpPr/>
          <p:nvPr/>
        </p:nvSpPr>
        <p:spPr>
          <a:xfrm>
            <a:off x="6766560" y="3921017"/>
            <a:ext cx="3566160" cy="2156225"/>
          </a:xfrm>
          <a:prstGeom prst="rect">
            <a:avLst/>
          </a:prstGeom>
          <a:ln w="12700">
            <a:solidFill>
              <a:srgbClr val="C9D6E2"/>
            </a:solidFill>
            <a:prstDash val="solid"/>
          </a:ln>
        </p:spPr>
        <p:txBody>
          <a:bodyPr/>
          <a:lstStyle/>
          <a:p>
            <a:endParaRPr lang="en-US"/>
          </a:p>
        </p:txBody>
      </p:sp>
      <p:sp>
        <p:nvSpPr>
          <p:cNvPr id="15" name="Text 8"/>
          <p:cNvSpPr txBox="1"/>
          <p:nvPr/>
        </p:nvSpPr>
        <p:spPr>
          <a:xfrm>
            <a:off x="6766560" y="6104673"/>
            <a:ext cx="3566160" cy="274320"/>
          </a:xfrm>
          <a:prstGeom prst="rect">
            <a:avLst/>
          </a:prstGeom>
          <a:noFill/>
          <a:ln/>
        </p:spPr>
        <p:txBody>
          <a:bodyPr wrap="square" lIns="0" tIns="0" rIns="0" bIns="0" rtlCol="0" anchor="t"/>
          <a:lstStyle/>
          <a:p>
            <a:pPr marL="0" indent="0" algn="ctr">
              <a:buNone/>
            </a:pPr>
            <a:r>
              <a:rPr lang="en-US" sz="1200" i="1" dirty="0">
                <a:solidFill>
                  <a:srgbClr val="5F6B76"/>
                </a:solidFill>
                <a:latin typeface="Arial" pitchFamily="34" charset="0"/>
                <a:ea typeface="Arial" pitchFamily="34" charset="-122"/>
                <a:cs typeface="Arial" pitchFamily="34" charset="-120"/>
              </a:rPr>
              <a:t>Quản lý mô hình, preset và tiến độ nạp</a:t>
            </a:r>
            <a:endParaRPr lang="en-US" sz="1200" dirty="0"/>
          </a:p>
        </p:txBody>
      </p:sp>
      <p:sp>
        <p:nvSpPr>
          <p:cNvPr id="16" name="Text 9"/>
          <p:cNvSpPr txBox="1"/>
          <p:nvPr/>
        </p:nvSpPr>
        <p:spPr>
          <a:xfrm>
            <a:off x="411480" y="5468112"/>
            <a:ext cx="6126480" cy="868680"/>
          </a:xfrm>
          <a:prstGeom prst="rect">
            <a:avLst/>
          </a:prstGeom>
          <a:noFill/>
          <a:ln/>
        </p:spPr>
        <p:txBody>
          <a:bodyPr wrap="square" lIns="0" tIns="0" rIns="0" bIns="0" rtlCol="0" anchor="t"/>
          <a:lstStyle/>
          <a:p>
            <a:pPr marL="0" indent="0">
              <a:spcAft>
                <a:spcPts val="300"/>
              </a:spcAft>
              <a:buNone/>
            </a:pPr>
            <a:r>
              <a:rPr lang="en-US" sz="1250" b="1" dirty="0">
                <a:solidFill>
                  <a:srgbClr val="1B517B"/>
                </a:solidFill>
                <a:latin typeface="Arial" pitchFamily="34" charset="0"/>
                <a:ea typeface="Arial" pitchFamily="34" charset="-122"/>
                <a:cs typeface="Arial" pitchFamily="34" charset="-120"/>
              </a:rPr>
              <a:t>8 màn hình: </a:t>
            </a:r>
            <a:r>
              <a:rPr lang="en-US" sz="1250" dirty="0">
                <a:solidFill>
                  <a:srgbClr val="222222"/>
                </a:solidFill>
                <a:latin typeface="Arial" pitchFamily="34" charset="0"/>
                <a:ea typeface="Arial" pitchFamily="34" charset="-122"/>
                <a:cs typeface="Arial" pitchFamily="34" charset="-120"/>
              </a:rPr>
              <a:t>Phiên dịch · Nhập tệp · Thiết bị âm thanh · Quản lý Model · Chẩn đoán · Lịch sử · Đánh giá · Cài đặt</a:t>
            </a:r>
            <a:endParaRPr lang="en-US" sz="1250" dirty="0"/>
          </a:p>
          <a:p>
            <a:pPr marL="0" indent="0">
              <a:spcAft>
                <a:spcPts val="300"/>
              </a:spcAft>
              <a:buNone/>
            </a:pPr>
            <a:r>
              <a:rPr lang="en-US" sz="1250" b="1" dirty="0">
                <a:solidFill>
                  <a:srgbClr val="1B517B"/>
                </a:solidFill>
                <a:latin typeface="Arial" pitchFamily="34" charset="0"/>
                <a:ea typeface="Arial" pitchFamily="34" charset="-122"/>
                <a:cs typeface="Arial" pitchFamily="34" charset="-120"/>
              </a:rPr>
              <a:t>Ngoài đề cương: </a:t>
            </a:r>
            <a:r>
              <a:rPr lang="en-US" sz="1250" dirty="0">
                <a:solidFill>
                  <a:srgbClr val="222222"/>
                </a:solidFill>
                <a:latin typeface="Arial" pitchFamily="34" charset="0"/>
                <a:ea typeface="Arial" pitchFamily="34" charset="-122"/>
                <a:cs typeface="Arial" pitchFamily="34" charset="-120"/>
              </a:rPr>
              <a:t>lịch sử có tìm kiếm và tắt lưu được, nhập tệp âm thanh/video, duyệt bản dịch trước khi đọc, chấm điểm trong ứng dụng, tách người nói cho tệp nhập</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pic>
        <p:nvPicPr>
          <p:cNvPr id="2" name="Image 0" descr="C:\Users\hhung\AppData\Local\Temp\claude\d--Project-local-live-voice-translator\d0343c7e-f558-4e8b-8c62-5b900df8bea6\scratchpad\build\img\deco_right.png"/>
          <p:cNvPicPr>
            <a:picLocks noChangeAspect="1"/>
          </p:cNvPicPr>
          <p:nvPr/>
        </p:nvPicPr>
        <p:blipFill>
          <a:blip r:embed="rId3"/>
          <a:stretch>
            <a:fillRect/>
          </a:stretch>
        </p:blipFill>
        <p:spPr>
          <a:xfrm>
            <a:off x="0" y="0"/>
            <a:ext cx="12191695" cy="6858000"/>
          </a:xfrm>
          <a:prstGeom prst="rect">
            <a:avLst/>
          </a:prstGeom>
        </p:spPr>
      </p:pic>
      <p:pic>
        <p:nvPicPr>
          <p:cNvPr id="3" name="Image 1" descr="C:\Users\hhung\AppData\Local\Temp\claude\d--Project-local-live-voice-translator\d0343c7e-f558-4e8b-8c62-5b900df8bea6\scratchpad\build\img\logo_header.png"/>
          <p:cNvPicPr>
            <a:picLocks noChangeAspect="1"/>
          </p:cNvPicPr>
          <p:nvPr/>
        </p:nvPicPr>
        <p:blipFill>
          <a:blip r:embed="rId4"/>
          <a:stretch>
            <a:fillRect/>
          </a:stretch>
        </p:blipFill>
        <p:spPr>
          <a:xfrm>
            <a:off x="8549640" y="292608"/>
            <a:ext cx="2560320" cy="459250"/>
          </a:xfrm>
          <a:prstGeom prst="rect">
            <a:avLst/>
          </a:prstGeom>
        </p:spPr>
      </p:pic>
      <p:sp>
        <p:nvSpPr>
          <p:cNvPr id="4" name="Text 0"/>
          <p:cNvSpPr txBox="1"/>
          <p:nvPr/>
        </p:nvSpPr>
        <p:spPr>
          <a:xfrm>
            <a:off x="411480" y="256032"/>
            <a:ext cx="7955280" cy="548640"/>
          </a:xfrm>
          <a:prstGeom prst="rect">
            <a:avLst/>
          </a:prstGeom>
          <a:noFill/>
          <a:ln/>
        </p:spPr>
        <p:txBody>
          <a:bodyPr wrap="square" lIns="0" tIns="0" rIns="0" bIns="0" rtlCol="0" anchor="t"/>
          <a:lstStyle/>
          <a:p>
            <a:pPr marL="0" indent="0">
              <a:buNone/>
            </a:pPr>
            <a:r>
              <a:rPr lang="en-US" sz="2800" b="1" dirty="0">
                <a:solidFill>
                  <a:srgbClr val="487BA2"/>
                </a:solidFill>
                <a:latin typeface="Arial" pitchFamily="34" charset="0"/>
                <a:ea typeface="Arial" pitchFamily="34" charset="-122"/>
                <a:cs typeface="Arial" pitchFamily="34" charset="-120"/>
              </a:rPr>
              <a:t>II. Phương pháp thực hiện</a:t>
            </a:r>
            <a:endParaRPr lang="en-US" sz="2800" dirty="0"/>
          </a:p>
        </p:txBody>
      </p:sp>
      <p:sp>
        <p:nvSpPr>
          <p:cNvPr id="5" name="Text 1"/>
          <p:cNvSpPr txBox="1"/>
          <p:nvPr/>
        </p:nvSpPr>
        <p:spPr>
          <a:xfrm>
            <a:off x="411480" y="841248"/>
            <a:ext cx="8046720" cy="411480"/>
          </a:xfrm>
          <a:prstGeom prst="rect">
            <a:avLst/>
          </a:prstGeom>
          <a:noFill/>
          <a:ln/>
        </p:spPr>
        <p:txBody>
          <a:bodyPr wrap="square" lIns="0" tIns="0" rIns="0" bIns="0" rtlCol="0" anchor="t"/>
          <a:lstStyle/>
          <a:p>
            <a:pPr marL="0" indent="0">
              <a:buNone/>
            </a:pPr>
            <a:r>
              <a:rPr lang="en-US" sz="2000" dirty="0">
                <a:solidFill>
                  <a:srgbClr val="1B517B"/>
                </a:solidFill>
                <a:latin typeface="Arial" pitchFamily="34" charset="0"/>
                <a:ea typeface="Arial" pitchFamily="34" charset="-122"/>
                <a:cs typeface="Arial" pitchFamily="34" charset="-120"/>
              </a:rPr>
              <a:t>4. Đóng gói và kiểm thử</a:t>
            </a:r>
            <a:endParaRPr lang="en-US" sz="2000" dirty="0"/>
          </a:p>
        </p:txBody>
      </p:sp>
      <p:sp>
        <p:nvSpPr>
          <p:cNvPr id="6" name="Text 2"/>
          <p:cNvSpPr txBox="1"/>
          <p:nvPr/>
        </p:nvSpPr>
        <p:spPr>
          <a:xfrm>
            <a:off x="10104120" y="6355080"/>
            <a:ext cx="548640" cy="274320"/>
          </a:xfrm>
          <a:prstGeom prst="rect">
            <a:avLst/>
          </a:prstGeom>
          <a:noFill/>
          <a:ln/>
        </p:spPr>
        <p:txBody>
          <a:bodyPr wrap="square" lIns="0" tIns="0" rIns="0" bIns="0" rtlCol="0" anchor="t"/>
          <a:lstStyle/>
          <a:p>
            <a:pPr marL="0" indent="0" algn="r">
              <a:buNone/>
            </a:pPr>
            <a:r>
              <a:rPr lang="en-US" sz="1100" dirty="0">
                <a:solidFill>
                  <a:srgbClr val="5F6B76"/>
                </a:solidFill>
                <a:latin typeface="Arial" pitchFamily="34" charset="0"/>
                <a:ea typeface="Arial" pitchFamily="34" charset="-122"/>
                <a:cs typeface="Arial" pitchFamily="34" charset="-120"/>
              </a:rPr>
              <a:t>15</a:t>
            </a:r>
            <a:endParaRPr lang="en-US" sz="1100" dirty="0"/>
          </a:p>
        </p:txBody>
      </p:sp>
      <p:sp>
        <p:nvSpPr>
          <p:cNvPr id="7" name="Text 3"/>
          <p:cNvSpPr txBox="1"/>
          <p:nvPr/>
        </p:nvSpPr>
        <p:spPr>
          <a:xfrm>
            <a:off x="411480" y="1417320"/>
            <a:ext cx="6035040" cy="640080"/>
          </a:xfrm>
          <a:prstGeom prst="rect">
            <a:avLst/>
          </a:prstGeom>
          <a:noFill/>
          <a:ln/>
        </p:spPr>
        <p:txBody>
          <a:bodyPr wrap="square" lIns="0" tIns="0" rIns="0" bIns="0" rtlCol="0" anchor="t"/>
          <a:lstStyle/>
          <a:p>
            <a:pPr marL="0" indent="0">
              <a:buNone/>
            </a:pPr>
            <a:r>
              <a:rPr lang="en-US" sz="1600" b="1" dirty="0">
                <a:solidFill>
                  <a:srgbClr val="1B517B"/>
                </a:solidFill>
                <a:latin typeface="Arial" pitchFamily="34" charset="0"/>
                <a:ea typeface="Arial" pitchFamily="34" charset="-122"/>
                <a:cs typeface="Arial" pitchFamily="34" charset="-120"/>
              </a:rPr>
              <a:t>Bộ cài tự chứa: máy người dùng không cần Python, Node hay trình quản lý gói</a:t>
            </a:r>
            <a:endParaRPr lang="en-US" sz="1600" dirty="0"/>
          </a:p>
        </p:txBody>
      </p:sp>
      <p:sp>
        <p:nvSpPr>
          <p:cNvPr id="8" name="Shape 4"/>
          <p:cNvSpPr/>
          <p:nvPr/>
        </p:nvSpPr>
        <p:spPr>
          <a:xfrm>
            <a:off x="411480" y="2103120"/>
            <a:ext cx="2834640" cy="960120"/>
          </a:xfrm>
          <a:prstGeom prst="roundRect">
            <a:avLst>
              <a:gd name="adj" fmla="val 7619"/>
            </a:avLst>
          </a:prstGeom>
          <a:solidFill>
            <a:srgbClr val="EEF4F9"/>
          </a:solidFill>
          <a:ln w="12700">
            <a:solidFill>
              <a:srgbClr val="EEF4F9"/>
            </a:solidFill>
            <a:prstDash val="solid"/>
          </a:ln>
        </p:spPr>
        <p:txBody>
          <a:bodyPr/>
          <a:lstStyle/>
          <a:p>
            <a:endParaRPr lang="en-US"/>
          </a:p>
        </p:txBody>
      </p:sp>
      <p:sp>
        <p:nvSpPr>
          <p:cNvPr id="9" name="Text 5"/>
          <p:cNvSpPr txBox="1"/>
          <p:nvPr/>
        </p:nvSpPr>
        <p:spPr>
          <a:xfrm>
            <a:off x="594360" y="2103120"/>
            <a:ext cx="2560320" cy="960120"/>
          </a:xfrm>
          <a:prstGeom prst="rect">
            <a:avLst/>
          </a:prstGeom>
          <a:noFill/>
          <a:ln/>
        </p:spPr>
        <p:txBody>
          <a:bodyPr wrap="square" lIns="0" tIns="0" rIns="0" bIns="0" rtlCol="0" anchor="ctr"/>
          <a:lstStyle/>
          <a:p>
            <a:pPr marL="0" indent="0">
              <a:buNone/>
            </a:pPr>
            <a:r>
              <a:rPr lang="en-US" sz="2200" b="1" dirty="0">
                <a:solidFill>
                  <a:srgbClr val="1B517B"/>
                </a:solidFill>
                <a:latin typeface="Arial" pitchFamily="34" charset="0"/>
                <a:ea typeface="Arial" pitchFamily="34" charset="-122"/>
                <a:cs typeface="Arial" pitchFamily="34" charset="-120"/>
              </a:rPr>
              <a:t>.exe  371 MB</a:t>
            </a:r>
            <a:endParaRPr lang="en-US" sz="2200" dirty="0"/>
          </a:p>
          <a:p>
            <a:pPr marL="0" indent="0">
              <a:buNone/>
            </a:pPr>
            <a:r>
              <a:rPr lang="en-US" sz="1300" dirty="0">
                <a:solidFill>
                  <a:srgbClr val="5F6B76"/>
                </a:solidFill>
                <a:latin typeface="Arial" pitchFamily="34" charset="0"/>
                <a:ea typeface="Arial" pitchFamily="34" charset="-122"/>
                <a:cs typeface="Arial" pitchFamily="34" charset="-120"/>
              </a:rPr>
              <a:t>Windows 11 x64</a:t>
            </a:r>
            <a:endParaRPr lang="en-US" sz="2200" dirty="0"/>
          </a:p>
        </p:txBody>
      </p:sp>
      <p:sp>
        <p:nvSpPr>
          <p:cNvPr id="10" name="Shape 6"/>
          <p:cNvSpPr/>
          <p:nvPr/>
        </p:nvSpPr>
        <p:spPr>
          <a:xfrm>
            <a:off x="3474720" y="2103120"/>
            <a:ext cx="2834640" cy="960120"/>
          </a:xfrm>
          <a:prstGeom prst="roundRect">
            <a:avLst>
              <a:gd name="adj" fmla="val 7619"/>
            </a:avLst>
          </a:prstGeom>
          <a:solidFill>
            <a:srgbClr val="EEF4F9"/>
          </a:solidFill>
          <a:ln w="12700">
            <a:solidFill>
              <a:srgbClr val="EEF4F9"/>
            </a:solidFill>
            <a:prstDash val="solid"/>
          </a:ln>
        </p:spPr>
        <p:txBody>
          <a:bodyPr/>
          <a:lstStyle/>
          <a:p>
            <a:endParaRPr lang="en-US"/>
          </a:p>
        </p:txBody>
      </p:sp>
      <p:sp>
        <p:nvSpPr>
          <p:cNvPr id="11" name="Text 7"/>
          <p:cNvSpPr txBox="1"/>
          <p:nvPr/>
        </p:nvSpPr>
        <p:spPr>
          <a:xfrm>
            <a:off x="3657600" y="2103120"/>
            <a:ext cx="2560320" cy="960120"/>
          </a:xfrm>
          <a:prstGeom prst="rect">
            <a:avLst/>
          </a:prstGeom>
          <a:noFill/>
          <a:ln/>
        </p:spPr>
        <p:txBody>
          <a:bodyPr wrap="square" lIns="0" tIns="0" rIns="0" bIns="0" rtlCol="0" anchor="ctr"/>
          <a:lstStyle/>
          <a:p>
            <a:pPr marL="0" indent="0">
              <a:buNone/>
            </a:pPr>
            <a:r>
              <a:rPr lang="en-US" sz="2200" b="1" dirty="0">
                <a:solidFill>
                  <a:srgbClr val="1B517B"/>
                </a:solidFill>
                <a:latin typeface="Arial" pitchFamily="34" charset="0"/>
                <a:ea typeface="Arial" pitchFamily="34" charset="-122"/>
                <a:cs typeface="Arial" pitchFamily="34" charset="-120"/>
              </a:rPr>
              <a:t>.dmg  592 MB</a:t>
            </a:r>
            <a:endParaRPr lang="en-US" sz="2200" dirty="0"/>
          </a:p>
          <a:p>
            <a:pPr marL="0" indent="0">
              <a:buNone/>
            </a:pPr>
            <a:r>
              <a:rPr lang="en-US" sz="1300" dirty="0">
                <a:solidFill>
                  <a:srgbClr val="5F6B76"/>
                </a:solidFill>
                <a:latin typeface="Arial" pitchFamily="34" charset="0"/>
                <a:ea typeface="Arial" pitchFamily="34" charset="-122"/>
                <a:cs typeface="Arial" pitchFamily="34" charset="-120"/>
              </a:rPr>
              <a:t>macOS Apple Silicon</a:t>
            </a:r>
            <a:endParaRPr lang="en-US" sz="2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3611880"/>
          <a:ext cx="6035040" cy="1920240"/>
        </p:xfrm>
        <a:graphic>
          <a:graphicData uri="http://schemas.openxmlformats.org/drawingml/2006/table">
            <a:tbl>
              <a:tblPr/>
              <a:tblGrid>
                <a:gridCol w="6400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384048">
                <a:tc>
                  <a:txBody>
                    <a:bodyPr/>
                    <a:lstStyle/>
                    <a:p>
                      <a:pPr marL="0" indent="0" algn="ctr">
                        <a:buNone/>
                      </a:pPr>
                      <a:r>
                        <a:rPr lang="en-US" sz="1250" b="1" dirty="0">
                          <a:solidFill>
                            <a:srgbClr val="FFFFFF"/>
                          </a:solidFill>
                          <a:latin typeface="Arial" pitchFamily="34" charset="0"/>
                          <a:ea typeface="Arial" pitchFamily="34" charset="-122"/>
                          <a:cs typeface="Arial" pitchFamily="34" charset="-120"/>
                        </a:rPr>
                        <a:t>Tầng</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1B517B"/>
                    </a:solidFill>
                  </a:tcPr>
                </a:tc>
                <a:tc>
                  <a:txBody>
                    <a:bodyPr/>
                    <a:lstStyle/>
                    <a:p>
                      <a:pPr marL="0" indent="0" algn="ctr">
                        <a:buNone/>
                      </a:pPr>
                      <a:r>
                        <a:rPr lang="en-US" sz="1250" b="1" dirty="0">
                          <a:solidFill>
                            <a:srgbClr val="FFFFFF"/>
                          </a:solidFill>
                          <a:latin typeface="Arial" pitchFamily="34" charset="0"/>
                          <a:ea typeface="Arial" pitchFamily="34" charset="-122"/>
                          <a:cs typeface="Arial" pitchFamily="34" charset="-120"/>
                        </a:rPr>
                        <a:t>Kiểm gì</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1B517B"/>
                    </a:solidFill>
                  </a:tcPr>
                </a:tc>
                <a:tc>
                  <a:txBody>
                    <a:bodyPr/>
                    <a:lstStyle/>
                    <a:p>
                      <a:pPr marL="0" indent="0" algn="ctr">
                        <a:buNone/>
                      </a:pPr>
                      <a:r>
                        <a:rPr lang="en-US" sz="1250" b="1" dirty="0">
                          <a:solidFill>
                            <a:srgbClr val="FFFFFF"/>
                          </a:solidFill>
                          <a:latin typeface="Arial" pitchFamily="34" charset="0"/>
                          <a:ea typeface="Arial" pitchFamily="34" charset="-122"/>
                          <a:cs typeface="Arial" pitchFamily="34" charset="-120"/>
                        </a:rPr>
                        <a:t>Kết quả</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1B517B"/>
                    </a:solidFill>
                  </a:tcPr>
                </a:tc>
                <a:extLst>
                  <a:ext uri="{0D108BD9-81ED-4DB2-BD59-A6C34878D82A}">
                    <a16:rowId xmlns:a16="http://schemas.microsoft.com/office/drawing/2014/main" val="10000"/>
                  </a:ext>
                </a:extLst>
              </a:tr>
              <a:tr h="384048">
                <a:tc>
                  <a:txBody>
                    <a:bodyPr/>
                    <a:lstStyle/>
                    <a:p>
                      <a:pPr marL="0" indent="0" algn="ctr">
                        <a:buNone/>
                      </a:pPr>
                      <a:r>
                        <a:rPr lang="en-US" sz="1250" dirty="0">
                          <a:solidFill>
                            <a:srgbClr val="000000"/>
                          </a:solidFill>
                          <a:latin typeface="Arial" pitchFamily="34" charset="0"/>
                          <a:ea typeface="Arial" pitchFamily="34" charset="-122"/>
                          <a:cs typeface="Arial" pitchFamily="34" charset="-120"/>
                        </a:rPr>
                        <a:t>1</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250" dirty="0">
                          <a:solidFill>
                            <a:srgbClr val="000000"/>
                          </a:solidFill>
                          <a:latin typeface="Arial" pitchFamily="34" charset="0"/>
                          <a:ea typeface="Arial" pitchFamily="34" charset="-122"/>
                          <a:cs typeface="Arial" pitchFamily="34" charset="-120"/>
                        </a:rPr>
                        <a:t>Bộ Python đóng gói</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250" dirty="0">
                          <a:solidFill>
                            <a:srgbClr val="000000"/>
                          </a:solidFill>
                          <a:latin typeface="Arial" pitchFamily="34" charset="0"/>
                          <a:ea typeface="Arial" pitchFamily="34" charset="-122"/>
                          <a:cs typeface="Arial" pitchFamily="34" charset="-120"/>
                        </a:rPr>
                        <a:t>Nạp PyTorch, sherpa-onnx, pywhispercpp</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lgn="ctr">
                        <a:buNone/>
                      </a:pPr>
                      <a:r>
                        <a:rPr lang="en-US" sz="1250" dirty="0">
                          <a:solidFill>
                            <a:srgbClr val="000000"/>
                          </a:solidFill>
                          <a:latin typeface="Arial" pitchFamily="34" charset="0"/>
                          <a:ea typeface="Arial" pitchFamily="34" charset="-122"/>
                          <a:cs typeface="Arial" pitchFamily="34" charset="-120"/>
                        </a:rPr>
                        <a:t>2</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250" dirty="0">
                          <a:solidFill>
                            <a:srgbClr val="000000"/>
                          </a:solidFill>
                          <a:latin typeface="Arial" pitchFamily="34" charset="0"/>
                          <a:ea typeface="Arial" pitchFamily="34" charset="-122"/>
                          <a:cs typeface="Arial" pitchFamily="34" charset="-120"/>
                        </a:rPr>
                        <a:t>Dịch vụ chạy từ bộ đó</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250" dirty="0">
                          <a:solidFill>
                            <a:srgbClr val="000000"/>
                          </a:solidFill>
                          <a:latin typeface="Arial" pitchFamily="34" charset="0"/>
                          <a:ea typeface="Arial" pitchFamily="34" charset="-122"/>
                          <a:cs typeface="Arial" pitchFamily="34" charset="-120"/>
                        </a:rPr>
                        <a:t>Nạp 4 khâu trong 34 s, ASR báo Vulkan</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lgn="ctr">
                        <a:buNone/>
                      </a:pPr>
                      <a:r>
                        <a:rPr lang="en-US" sz="1250" dirty="0">
                          <a:solidFill>
                            <a:srgbClr val="000000"/>
                          </a:solidFill>
                          <a:latin typeface="Arial" pitchFamily="34" charset="0"/>
                          <a:ea typeface="Arial" pitchFamily="34" charset="-122"/>
                          <a:cs typeface="Arial" pitchFamily="34" charset="-120"/>
                        </a:rPr>
                        <a:t>3</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250" dirty="0">
                          <a:solidFill>
                            <a:srgbClr val="000000"/>
                          </a:solidFill>
                          <a:latin typeface="Arial" pitchFamily="34" charset="0"/>
                          <a:ea typeface="Arial" pitchFamily="34" charset="-122"/>
                          <a:cs typeface="Arial" pitchFamily="34" charset="-120"/>
                        </a:rPr>
                        <a:t>Bộ cài .exe thật</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250" dirty="0">
                          <a:solidFill>
                            <a:srgbClr val="000000"/>
                          </a:solidFill>
                          <a:latin typeface="Arial" pitchFamily="34" charset="0"/>
                          <a:ea typeface="Arial" pitchFamily="34" charset="-122"/>
                          <a:cs typeface="Arial" pitchFamily="34" charset="-120"/>
                        </a:rPr>
                        <a:t>Dịch vụ tự lên sau 12 s, tắt thì nhả cổng</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lgn="ctr">
                        <a:buNone/>
                      </a:pPr>
                      <a:r>
                        <a:rPr lang="en-US" sz="1250" dirty="0">
                          <a:solidFill>
                            <a:srgbClr val="000000"/>
                          </a:solidFill>
                          <a:latin typeface="Arial" pitchFamily="34" charset="0"/>
                          <a:ea typeface="Arial" pitchFamily="34" charset="-122"/>
                          <a:cs typeface="Arial" pitchFamily="34" charset="-120"/>
                        </a:rPr>
                        <a:t>4</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250" dirty="0">
                          <a:solidFill>
                            <a:srgbClr val="000000"/>
                          </a:solidFill>
                          <a:latin typeface="Arial" pitchFamily="34" charset="0"/>
                          <a:ea typeface="Arial" pitchFamily="34" charset="-122"/>
                          <a:cs typeface="Arial" pitchFamily="34" charset="-120"/>
                        </a:rPr>
                        <a:t>Tốc độ trên bản cài</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250" dirty="0">
                          <a:solidFill>
                            <a:srgbClr val="000000"/>
                          </a:solidFill>
                          <a:latin typeface="Arial" pitchFamily="34" charset="0"/>
                          <a:ea typeface="Arial" pitchFamily="34" charset="-122"/>
                          <a:cs typeface="Arial" pitchFamily="34" charset="-120"/>
                        </a:rPr>
                        <a:t>ASR 3 s âm thanh: 17.573 → 437 ms</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3" name="Text 8"/>
          <p:cNvSpPr txBox="1"/>
          <p:nvPr/>
        </p:nvSpPr>
        <p:spPr>
          <a:xfrm>
            <a:off x="411480" y="3246120"/>
            <a:ext cx="6035040" cy="320040"/>
          </a:xfrm>
          <a:prstGeom prst="rect">
            <a:avLst/>
          </a:prstGeom>
          <a:noFill/>
          <a:ln/>
        </p:spPr>
        <p:txBody>
          <a:bodyPr wrap="square" lIns="0" tIns="0" rIns="0" bIns="0" rtlCol="0" anchor="t"/>
          <a:lstStyle/>
          <a:p>
            <a:pPr marL="0" indent="0">
              <a:buNone/>
            </a:pPr>
            <a:r>
              <a:rPr lang="en-US" sz="1400" b="1" dirty="0">
                <a:solidFill>
                  <a:srgbClr val="1B517B"/>
                </a:solidFill>
                <a:latin typeface="Arial" pitchFamily="34" charset="0"/>
                <a:ea typeface="Arial" pitchFamily="34" charset="-122"/>
                <a:cs typeface="Arial" pitchFamily="34" charset="-120"/>
              </a:rPr>
              <a:t>Kiểm tra bộ cài Windows theo bốn tầng, từ trong ra ngoài:</a:t>
            </a:r>
            <a:endParaRPr lang="en-US" sz="1400" dirty="0"/>
          </a:p>
        </p:txBody>
      </p:sp>
      <p:sp>
        <p:nvSpPr>
          <p:cNvPr id="14" name="Text 9"/>
          <p:cNvSpPr txBox="1"/>
          <p:nvPr/>
        </p:nvSpPr>
        <p:spPr>
          <a:xfrm>
            <a:off x="6949440" y="1417320"/>
            <a:ext cx="3840480" cy="411480"/>
          </a:xfrm>
          <a:prstGeom prst="rect">
            <a:avLst/>
          </a:prstGeom>
          <a:noFill/>
          <a:ln/>
        </p:spPr>
        <p:txBody>
          <a:bodyPr wrap="square" lIns="0" tIns="0" rIns="0" bIns="0" rtlCol="0" anchor="t"/>
          <a:lstStyle/>
          <a:p>
            <a:pPr marL="0" indent="0">
              <a:buNone/>
            </a:pPr>
            <a:r>
              <a:rPr lang="en-US" sz="1600" b="1" dirty="0">
                <a:solidFill>
                  <a:srgbClr val="1B517B"/>
                </a:solidFill>
                <a:latin typeface="Arial" pitchFamily="34" charset="0"/>
                <a:ea typeface="Arial" pitchFamily="34" charset="-122"/>
                <a:cs typeface="Arial" pitchFamily="34" charset="-120"/>
              </a:rPr>
              <a:t>Ba lớp kiểm thử tự động</a:t>
            </a:r>
            <a:endParaRPr lang="en-US" sz="1600" dirty="0"/>
          </a:p>
        </p:txBody>
      </p:sp>
      <p:sp>
        <p:nvSpPr>
          <p:cNvPr id="15" name="Shape 10"/>
          <p:cNvSpPr/>
          <p:nvPr/>
        </p:nvSpPr>
        <p:spPr>
          <a:xfrm>
            <a:off x="6949440" y="1920240"/>
            <a:ext cx="3703320" cy="1051560"/>
          </a:xfrm>
          <a:prstGeom prst="roundRect">
            <a:avLst>
              <a:gd name="adj" fmla="val 6957"/>
            </a:avLst>
          </a:prstGeom>
          <a:solidFill>
            <a:srgbClr val="EEF4F9"/>
          </a:solidFill>
          <a:ln w="12700">
            <a:solidFill>
              <a:srgbClr val="EEF4F9"/>
            </a:solidFill>
            <a:prstDash val="solid"/>
          </a:ln>
        </p:spPr>
        <p:txBody>
          <a:bodyPr/>
          <a:lstStyle/>
          <a:p>
            <a:endParaRPr lang="en-US"/>
          </a:p>
        </p:txBody>
      </p:sp>
      <p:sp>
        <p:nvSpPr>
          <p:cNvPr id="12" name="Text 11"/>
          <p:cNvSpPr txBox="1"/>
          <p:nvPr/>
        </p:nvSpPr>
        <p:spPr>
          <a:xfrm>
            <a:off x="7040880" y="1920240"/>
            <a:ext cx="1188720" cy="1051560"/>
          </a:xfrm>
          <a:prstGeom prst="rect">
            <a:avLst/>
          </a:prstGeom>
          <a:noFill/>
          <a:ln/>
        </p:spPr>
        <p:txBody>
          <a:bodyPr wrap="square" lIns="0" tIns="0" rIns="0" bIns="0" rtlCol="0" anchor="ctr"/>
          <a:lstStyle/>
          <a:p>
            <a:pPr marL="0" indent="0" algn="ctr">
              <a:buNone/>
            </a:pPr>
            <a:r>
              <a:rPr lang="en-US" sz="3000" b="1" dirty="0">
                <a:solidFill>
                  <a:srgbClr val="1B517B"/>
                </a:solidFill>
                <a:latin typeface="Arial" pitchFamily="34" charset="0"/>
                <a:ea typeface="Arial" pitchFamily="34" charset="-122"/>
                <a:cs typeface="Arial" pitchFamily="34" charset="-120"/>
              </a:rPr>
              <a:t>327</a:t>
            </a:r>
            <a:endParaRPr lang="en-US" sz="3000" dirty="0"/>
          </a:p>
        </p:txBody>
      </p:sp>
      <p:sp>
        <p:nvSpPr>
          <p:cNvPr id="17" name="Text 12"/>
          <p:cNvSpPr txBox="1"/>
          <p:nvPr/>
        </p:nvSpPr>
        <p:spPr>
          <a:xfrm>
            <a:off x="8275320" y="1993392"/>
            <a:ext cx="2286000" cy="914400"/>
          </a:xfrm>
          <a:prstGeom prst="rect">
            <a:avLst/>
          </a:prstGeom>
          <a:noFill/>
          <a:ln/>
        </p:spPr>
        <p:txBody>
          <a:bodyPr wrap="square" lIns="0" tIns="0" rIns="0" bIns="0" rtlCol="0" anchor="ctr"/>
          <a:lstStyle/>
          <a:p>
            <a:pPr marL="0" indent="0">
              <a:buNone/>
            </a:pPr>
            <a:r>
              <a:rPr lang="en-US" sz="1400" b="1" dirty="0">
                <a:solidFill>
                  <a:srgbClr val="487BA2"/>
                </a:solidFill>
                <a:latin typeface="Arial" pitchFamily="34" charset="0"/>
                <a:ea typeface="Arial" pitchFamily="34" charset="-122"/>
                <a:cs typeface="Arial" pitchFamily="34" charset="-120"/>
              </a:rPr>
              <a:t>pytest</a:t>
            </a:r>
            <a:endParaRPr lang="en-US" sz="1400" dirty="0"/>
          </a:p>
          <a:p>
            <a:pPr marL="0" indent="0">
              <a:buNone/>
            </a:pPr>
            <a:r>
              <a:rPr lang="en-US" sz="1200" dirty="0">
                <a:solidFill>
                  <a:srgbClr val="222222"/>
                </a:solidFill>
                <a:latin typeface="Arial" pitchFamily="34" charset="0"/>
                <a:ea typeface="Arial" pitchFamily="34" charset="-122"/>
                <a:cs typeface="Arial" pitchFamily="34" charset="-120"/>
              </a:rPr>
              <a:t>Dịch vụ: pipeline, tách câu, lọc câu bịa, API, lịch sử</a:t>
            </a:r>
            <a:endParaRPr lang="en-US" sz="1400" dirty="0"/>
          </a:p>
        </p:txBody>
      </p:sp>
      <p:sp>
        <p:nvSpPr>
          <p:cNvPr id="18" name="Shape 13"/>
          <p:cNvSpPr/>
          <p:nvPr/>
        </p:nvSpPr>
        <p:spPr>
          <a:xfrm>
            <a:off x="6949440" y="3108960"/>
            <a:ext cx="3703320" cy="1051560"/>
          </a:xfrm>
          <a:prstGeom prst="roundRect">
            <a:avLst>
              <a:gd name="adj" fmla="val 6957"/>
            </a:avLst>
          </a:prstGeom>
          <a:solidFill>
            <a:srgbClr val="EEF4F9"/>
          </a:solidFill>
          <a:ln w="12700">
            <a:solidFill>
              <a:srgbClr val="EEF4F9"/>
            </a:solidFill>
            <a:prstDash val="solid"/>
          </a:ln>
        </p:spPr>
        <p:txBody>
          <a:bodyPr/>
          <a:lstStyle/>
          <a:p>
            <a:endParaRPr lang="en-US"/>
          </a:p>
        </p:txBody>
      </p:sp>
      <p:sp>
        <p:nvSpPr>
          <p:cNvPr id="19" name="Text 14"/>
          <p:cNvSpPr txBox="1"/>
          <p:nvPr/>
        </p:nvSpPr>
        <p:spPr>
          <a:xfrm>
            <a:off x="7040880" y="3108960"/>
            <a:ext cx="1188720" cy="1051560"/>
          </a:xfrm>
          <a:prstGeom prst="rect">
            <a:avLst/>
          </a:prstGeom>
          <a:noFill/>
          <a:ln/>
        </p:spPr>
        <p:txBody>
          <a:bodyPr wrap="square" lIns="0" tIns="0" rIns="0" bIns="0" rtlCol="0" anchor="ctr"/>
          <a:lstStyle/>
          <a:p>
            <a:pPr marL="0" indent="0" algn="ctr">
              <a:buNone/>
            </a:pPr>
            <a:r>
              <a:rPr lang="en-US" sz="3000" b="1" dirty="0">
                <a:solidFill>
                  <a:srgbClr val="1B517B"/>
                </a:solidFill>
                <a:latin typeface="Arial" pitchFamily="34" charset="0"/>
                <a:ea typeface="Arial" pitchFamily="34" charset="-122"/>
                <a:cs typeface="Arial" pitchFamily="34" charset="-120"/>
              </a:rPr>
              <a:t>69</a:t>
            </a:r>
            <a:endParaRPr lang="en-US" sz="3000" dirty="0"/>
          </a:p>
        </p:txBody>
      </p:sp>
      <p:sp>
        <p:nvSpPr>
          <p:cNvPr id="20" name="Text 15"/>
          <p:cNvSpPr txBox="1"/>
          <p:nvPr/>
        </p:nvSpPr>
        <p:spPr>
          <a:xfrm>
            <a:off x="8275320" y="3182112"/>
            <a:ext cx="2286000" cy="914400"/>
          </a:xfrm>
          <a:prstGeom prst="rect">
            <a:avLst/>
          </a:prstGeom>
          <a:noFill/>
          <a:ln/>
        </p:spPr>
        <p:txBody>
          <a:bodyPr wrap="square" lIns="0" tIns="0" rIns="0" bIns="0" rtlCol="0" anchor="ctr"/>
          <a:lstStyle/>
          <a:p>
            <a:pPr marL="0" indent="0">
              <a:buNone/>
            </a:pPr>
            <a:r>
              <a:rPr lang="en-US" sz="1400" b="1" dirty="0">
                <a:solidFill>
                  <a:srgbClr val="487BA2"/>
                </a:solidFill>
                <a:latin typeface="Arial" pitchFamily="34" charset="0"/>
                <a:ea typeface="Arial" pitchFamily="34" charset="-122"/>
                <a:cs typeface="Arial" pitchFamily="34" charset="-120"/>
              </a:rPr>
              <a:t>vitest + jsdom</a:t>
            </a:r>
            <a:endParaRPr lang="en-US" sz="1400" dirty="0"/>
          </a:p>
          <a:p>
            <a:pPr marL="0" indent="0">
              <a:buNone/>
            </a:pPr>
            <a:r>
              <a:rPr lang="en-US" sz="1200" dirty="0">
                <a:solidFill>
                  <a:srgbClr val="222222"/>
                </a:solidFill>
                <a:latin typeface="Arial" pitchFamily="34" charset="0"/>
                <a:ea typeface="Arial" pitchFamily="34" charset="-122"/>
                <a:cs typeface="Arial" pitchFamily="34" charset="-120"/>
              </a:rPr>
              <a:t>Giao diện trên dịch vụ giả</a:t>
            </a:r>
            <a:endParaRPr lang="en-US" sz="1400" dirty="0"/>
          </a:p>
        </p:txBody>
      </p:sp>
      <p:sp>
        <p:nvSpPr>
          <p:cNvPr id="21" name="Shape 16"/>
          <p:cNvSpPr/>
          <p:nvPr/>
        </p:nvSpPr>
        <p:spPr>
          <a:xfrm>
            <a:off x="6949440" y="4297680"/>
            <a:ext cx="3703320" cy="1051560"/>
          </a:xfrm>
          <a:prstGeom prst="roundRect">
            <a:avLst>
              <a:gd name="adj" fmla="val 6957"/>
            </a:avLst>
          </a:prstGeom>
          <a:solidFill>
            <a:srgbClr val="EEF4F9"/>
          </a:solidFill>
          <a:ln w="12700">
            <a:solidFill>
              <a:srgbClr val="EEF4F9"/>
            </a:solidFill>
            <a:prstDash val="solid"/>
          </a:ln>
        </p:spPr>
        <p:txBody>
          <a:bodyPr/>
          <a:lstStyle/>
          <a:p>
            <a:endParaRPr lang="en-US"/>
          </a:p>
        </p:txBody>
      </p:sp>
      <p:sp>
        <p:nvSpPr>
          <p:cNvPr id="22" name="Text 17"/>
          <p:cNvSpPr txBox="1"/>
          <p:nvPr/>
        </p:nvSpPr>
        <p:spPr>
          <a:xfrm>
            <a:off x="7040880" y="4297680"/>
            <a:ext cx="1188720" cy="1051560"/>
          </a:xfrm>
          <a:prstGeom prst="rect">
            <a:avLst/>
          </a:prstGeom>
          <a:noFill/>
          <a:ln/>
        </p:spPr>
        <p:txBody>
          <a:bodyPr wrap="square" lIns="0" tIns="0" rIns="0" bIns="0" rtlCol="0" anchor="ctr"/>
          <a:lstStyle/>
          <a:p>
            <a:pPr marL="0" indent="0" algn="ctr">
              <a:buNone/>
            </a:pPr>
            <a:r>
              <a:rPr lang="en-US" sz="3000" b="1" dirty="0">
                <a:solidFill>
                  <a:srgbClr val="1B517B"/>
                </a:solidFill>
                <a:latin typeface="Arial" pitchFamily="34" charset="0"/>
                <a:ea typeface="Arial" pitchFamily="34" charset="-122"/>
                <a:cs typeface="Arial" pitchFamily="34" charset="-120"/>
              </a:rPr>
              <a:t>11</a:t>
            </a:r>
            <a:endParaRPr lang="en-US" sz="3000" dirty="0"/>
          </a:p>
        </p:txBody>
      </p:sp>
      <p:sp>
        <p:nvSpPr>
          <p:cNvPr id="23" name="Text 18"/>
          <p:cNvSpPr txBox="1"/>
          <p:nvPr/>
        </p:nvSpPr>
        <p:spPr>
          <a:xfrm>
            <a:off x="8275320" y="4370832"/>
            <a:ext cx="2286000" cy="914400"/>
          </a:xfrm>
          <a:prstGeom prst="rect">
            <a:avLst/>
          </a:prstGeom>
          <a:noFill/>
          <a:ln/>
        </p:spPr>
        <p:txBody>
          <a:bodyPr wrap="square" lIns="0" tIns="0" rIns="0" bIns="0" rtlCol="0" anchor="ctr"/>
          <a:lstStyle/>
          <a:p>
            <a:pPr marL="0" indent="0">
              <a:buNone/>
            </a:pPr>
            <a:r>
              <a:rPr lang="en-US" sz="1400" b="1" dirty="0">
                <a:solidFill>
                  <a:srgbClr val="487BA2"/>
                </a:solidFill>
                <a:latin typeface="Arial" pitchFamily="34" charset="0"/>
                <a:ea typeface="Arial" pitchFamily="34" charset="-122"/>
                <a:cs typeface="Arial" pitchFamily="34" charset="-120"/>
              </a:rPr>
              <a:t>Playwright</a:t>
            </a:r>
            <a:endParaRPr lang="en-US" sz="1400" dirty="0"/>
          </a:p>
          <a:p>
            <a:pPr marL="0" indent="0">
              <a:buNone/>
            </a:pPr>
            <a:r>
              <a:rPr lang="en-US" sz="1200" dirty="0">
                <a:solidFill>
                  <a:srgbClr val="222222"/>
                </a:solidFill>
                <a:latin typeface="Arial" pitchFamily="34" charset="0"/>
                <a:ea typeface="Arial" pitchFamily="34" charset="-122"/>
                <a:cs typeface="Arial" pitchFamily="34" charset="-120"/>
              </a:rPr>
              <a:t>App Electron đã dựng + dịch vụ thật + tải mô hình thật</a:t>
            </a:r>
            <a:endParaRPr lang="en-US" sz="1400" dirty="0"/>
          </a:p>
        </p:txBody>
      </p:sp>
      <p:sp>
        <p:nvSpPr>
          <p:cNvPr id="24" name="Text 19"/>
          <p:cNvSpPr txBox="1"/>
          <p:nvPr/>
        </p:nvSpPr>
        <p:spPr>
          <a:xfrm>
            <a:off x="6949440" y="5532120"/>
            <a:ext cx="3749040" cy="594360"/>
          </a:xfrm>
          <a:prstGeom prst="rect">
            <a:avLst/>
          </a:prstGeom>
          <a:noFill/>
          <a:ln/>
        </p:spPr>
        <p:txBody>
          <a:bodyPr wrap="square" lIns="0" tIns="0" rIns="0" bIns="0" rtlCol="0" anchor="t"/>
          <a:lstStyle/>
          <a:p>
            <a:pPr marL="0" indent="0">
              <a:buNone/>
            </a:pPr>
            <a:r>
              <a:rPr lang="en-US" sz="1200" i="1" dirty="0">
                <a:solidFill>
                  <a:srgbClr val="5F6B76"/>
                </a:solidFill>
                <a:latin typeface="Arial" pitchFamily="34" charset="0"/>
                <a:ea typeface="Arial" pitchFamily="34" charset="-122"/>
                <a:cs typeface="Arial" pitchFamily="34" charset="-120"/>
              </a:rPr>
              <a:t>Hai lớp đầu dùng mô hình giả: chạy vài giây, tất định, không cần mạng.</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pic>
        <p:nvPicPr>
          <p:cNvPr id="2" name="Image 0" descr="C:\Users\hhung\AppData\Local\Temp\claude\d--Project-local-live-voice-translator\d0343c7e-f558-4e8b-8c62-5b900df8bea6\scratchpad\build\img\deco_left.png"/>
          <p:cNvPicPr>
            <a:picLocks noChangeAspect="1"/>
          </p:cNvPicPr>
          <p:nvPr/>
        </p:nvPicPr>
        <p:blipFill>
          <a:blip r:embed="rId3"/>
          <a:stretch>
            <a:fillRect/>
          </a:stretch>
        </p:blipFill>
        <p:spPr>
          <a:xfrm>
            <a:off x="0" y="0"/>
            <a:ext cx="12191695" cy="6858000"/>
          </a:xfrm>
          <a:prstGeom prst="rect">
            <a:avLst/>
          </a:prstGeom>
        </p:spPr>
      </p:pic>
      <p:pic>
        <p:nvPicPr>
          <p:cNvPr id="3" name="Image 1" descr="C:\Users\hhung\AppData\Local\Temp\claude\d--Project-local-live-voice-translator\d0343c7e-f558-4e8b-8c62-5b900df8bea6\scratchpad\build\img\logo_header.png"/>
          <p:cNvPicPr>
            <a:picLocks noChangeAspect="1"/>
          </p:cNvPicPr>
          <p:nvPr/>
        </p:nvPicPr>
        <p:blipFill>
          <a:blip r:embed="rId4"/>
          <a:stretch>
            <a:fillRect/>
          </a:stretch>
        </p:blipFill>
        <p:spPr>
          <a:xfrm>
            <a:off x="8549640" y="292608"/>
            <a:ext cx="2560320" cy="459250"/>
          </a:xfrm>
          <a:prstGeom prst="rect">
            <a:avLst/>
          </a:prstGeom>
        </p:spPr>
      </p:pic>
      <p:sp>
        <p:nvSpPr>
          <p:cNvPr id="4" name="Text 0"/>
          <p:cNvSpPr txBox="1"/>
          <p:nvPr/>
        </p:nvSpPr>
        <p:spPr>
          <a:xfrm>
            <a:off x="685800" y="256032"/>
            <a:ext cx="7955280" cy="548640"/>
          </a:xfrm>
          <a:prstGeom prst="rect">
            <a:avLst/>
          </a:prstGeom>
          <a:noFill/>
          <a:ln/>
        </p:spPr>
        <p:txBody>
          <a:bodyPr wrap="square" lIns="0" tIns="0" rIns="0" bIns="0" rtlCol="0" anchor="t"/>
          <a:lstStyle/>
          <a:p>
            <a:pPr marL="0" indent="0">
              <a:buNone/>
            </a:pPr>
            <a:r>
              <a:rPr lang="en-US" sz="2800" b="1" dirty="0">
                <a:solidFill>
                  <a:srgbClr val="487BA2"/>
                </a:solidFill>
                <a:latin typeface="Arial" pitchFamily="34" charset="0"/>
                <a:ea typeface="Arial" pitchFamily="34" charset="-122"/>
                <a:cs typeface="Arial" pitchFamily="34" charset="-120"/>
              </a:rPr>
              <a:t>III. Kết quả thực nghiệm</a:t>
            </a:r>
            <a:endParaRPr lang="en-US" sz="2800" dirty="0"/>
          </a:p>
        </p:txBody>
      </p:sp>
      <p:sp>
        <p:nvSpPr>
          <p:cNvPr id="5" name="Text 1"/>
          <p:cNvSpPr txBox="1"/>
          <p:nvPr/>
        </p:nvSpPr>
        <p:spPr>
          <a:xfrm>
            <a:off x="10104120" y="6355080"/>
            <a:ext cx="548640" cy="274320"/>
          </a:xfrm>
          <a:prstGeom prst="rect">
            <a:avLst/>
          </a:prstGeom>
          <a:noFill/>
          <a:ln/>
        </p:spPr>
        <p:txBody>
          <a:bodyPr wrap="square" lIns="0" tIns="0" rIns="0" bIns="0" rtlCol="0" anchor="t"/>
          <a:lstStyle/>
          <a:p>
            <a:pPr marL="0" indent="0" algn="r">
              <a:buNone/>
            </a:pPr>
            <a:r>
              <a:rPr lang="en-US" sz="1100" dirty="0">
                <a:solidFill>
                  <a:srgbClr val="5F6B76"/>
                </a:solidFill>
                <a:latin typeface="Arial" pitchFamily="34" charset="0"/>
                <a:ea typeface="Arial" pitchFamily="34" charset="-122"/>
                <a:cs typeface="Arial" pitchFamily="34" charset="-120"/>
              </a:rPr>
              <a:t>16</a:t>
            </a:r>
            <a:endParaRPr lang="en-US" sz="1100" dirty="0"/>
          </a:p>
        </p:txBody>
      </p:sp>
      <p:sp>
        <p:nvSpPr>
          <p:cNvPr id="6" name="Shape 2"/>
          <p:cNvSpPr/>
          <p:nvPr/>
        </p:nvSpPr>
        <p:spPr>
          <a:xfrm>
            <a:off x="4754880" y="1892808"/>
            <a:ext cx="0" cy="3803904"/>
          </a:xfrm>
          <a:prstGeom prst="line">
            <a:avLst/>
          </a:prstGeom>
          <a:noFill/>
          <a:ln w="25400">
            <a:solidFill>
              <a:srgbClr val="1F1F1F"/>
            </a:solidFill>
            <a:prstDash val="solid"/>
          </a:ln>
        </p:spPr>
        <p:txBody>
          <a:bodyPr/>
          <a:lstStyle/>
          <a:p>
            <a:endParaRPr lang="en-US"/>
          </a:p>
        </p:txBody>
      </p:sp>
      <p:sp>
        <p:nvSpPr>
          <p:cNvPr id="7" name="Shape 3"/>
          <p:cNvSpPr/>
          <p:nvPr/>
        </p:nvSpPr>
        <p:spPr>
          <a:xfrm>
            <a:off x="4754880" y="1892808"/>
            <a:ext cx="502920" cy="0"/>
          </a:xfrm>
          <a:prstGeom prst="line">
            <a:avLst/>
          </a:prstGeom>
          <a:noFill/>
          <a:ln w="25400">
            <a:solidFill>
              <a:srgbClr val="1F1F1F"/>
            </a:solidFill>
            <a:prstDash val="solid"/>
          </a:ln>
        </p:spPr>
        <p:txBody>
          <a:bodyPr/>
          <a:lstStyle/>
          <a:p>
            <a:endParaRPr lang="en-US"/>
          </a:p>
        </p:txBody>
      </p:sp>
      <p:sp>
        <p:nvSpPr>
          <p:cNvPr id="8" name="Shape 4"/>
          <p:cNvSpPr/>
          <p:nvPr/>
        </p:nvSpPr>
        <p:spPr>
          <a:xfrm>
            <a:off x="5257800" y="1536192"/>
            <a:ext cx="3840480" cy="713232"/>
          </a:xfrm>
          <a:prstGeom prst="rect">
            <a:avLst/>
          </a:prstGeom>
          <a:solidFill>
            <a:srgbClr val="D5D8F2"/>
          </a:solidFill>
          <a:ln w="12700">
            <a:solidFill>
              <a:srgbClr val="D5D8F2"/>
            </a:solidFill>
            <a:prstDash val="solid"/>
          </a:ln>
          <a:effectLst>
            <a:outerShdw blurRad="50800" dist="25400" dir="5400000" algn="bl" rotWithShape="0">
              <a:srgbClr val="000000">
                <a:alpha val="18000"/>
              </a:srgbClr>
            </a:outerShdw>
          </a:effectLst>
        </p:spPr>
        <p:txBody>
          <a:bodyPr/>
          <a:lstStyle/>
          <a:p>
            <a:endParaRPr lang="en-US"/>
          </a:p>
        </p:txBody>
      </p:sp>
      <p:sp>
        <p:nvSpPr>
          <p:cNvPr id="9" name="Text 5"/>
          <p:cNvSpPr txBox="1"/>
          <p:nvPr/>
        </p:nvSpPr>
        <p:spPr>
          <a:xfrm>
            <a:off x="5257800" y="1536192"/>
            <a:ext cx="3840480" cy="713232"/>
          </a:xfrm>
          <a:prstGeom prst="rect">
            <a:avLst/>
          </a:prstGeom>
          <a:noFill/>
          <a:ln/>
        </p:spPr>
        <p:txBody>
          <a:bodyPr wrap="square" lIns="50800" tIns="50800" rIns="50800" bIns="50800" rtlCol="0" anchor="ctr"/>
          <a:lstStyle/>
          <a:p>
            <a:pPr marL="0" indent="0" algn="ctr">
              <a:buNone/>
            </a:pPr>
            <a:r>
              <a:rPr lang="en-US" sz="1600" dirty="0">
                <a:solidFill>
                  <a:srgbClr val="34488F"/>
                </a:solidFill>
                <a:latin typeface="Arial" pitchFamily="34" charset="0"/>
                <a:ea typeface="Arial" pitchFamily="34" charset="-122"/>
                <a:cs typeface="Arial" pitchFamily="34" charset="-120"/>
              </a:rPr>
              <a:t>1. Môi trường và dữ liệu</a:t>
            </a:r>
            <a:endParaRPr lang="en-US" sz="1600" dirty="0"/>
          </a:p>
        </p:txBody>
      </p:sp>
      <p:sp>
        <p:nvSpPr>
          <p:cNvPr id="10" name="Shape 6"/>
          <p:cNvSpPr/>
          <p:nvPr/>
        </p:nvSpPr>
        <p:spPr>
          <a:xfrm>
            <a:off x="4251960" y="2843784"/>
            <a:ext cx="502920" cy="0"/>
          </a:xfrm>
          <a:prstGeom prst="line">
            <a:avLst/>
          </a:prstGeom>
          <a:noFill/>
          <a:ln w="25400">
            <a:solidFill>
              <a:srgbClr val="1F1F1F"/>
            </a:solidFill>
            <a:prstDash val="solid"/>
          </a:ln>
        </p:spPr>
        <p:txBody>
          <a:bodyPr/>
          <a:lstStyle/>
          <a:p>
            <a:endParaRPr lang="en-US"/>
          </a:p>
        </p:txBody>
      </p:sp>
      <p:sp>
        <p:nvSpPr>
          <p:cNvPr id="11" name="Shape 7"/>
          <p:cNvSpPr/>
          <p:nvPr/>
        </p:nvSpPr>
        <p:spPr>
          <a:xfrm>
            <a:off x="411480" y="2487168"/>
            <a:ext cx="3840480" cy="713232"/>
          </a:xfrm>
          <a:prstGeom prst="rect">
            <a:avLst/>
          </a:prstGeom>
          <a:solidFill>
            <a:srgbClr val="FCE9A0"/>
          </a:solidFill>
          <a:ln w="12700">
            <a:solidFill>
              <a:srgbClr val="FCE9A0"/>
            </a:solidFill>
            <a:prstDash val="solid"/>
          </a:ln>
          <a:effectLst>
            <a:outerShdw blurRad="50800" dist="25400" dir="5400000" algn="bl" rotWithShape="0">
              <a:srgbClr val="000000">
                <a:alpha val="18000"/>
              </a:srgbClr>
            </a:outerShdw>
          </a:effectLst>
        </p:spPr>
        <p:txBody>
          <a:bodyPr/>
          <a:lstStyle/>
          <a:p>
            <a:endParaRPr lang="en-US"/>
          </a:p>
        </p:txBody>
      </p:sp>
      <p:sp>
        <p:nvSpPr>
          <p:cNvPr id="12" name="Text 8"/>
          <p:cNvSpPr txBox="1"/>
          <p:nvPr/>
        </p:nvSpPr>
        <p:spPr>
          <a:xfrm>
            <a:off x="411480" y="2487168"/>
            <a:ext cx="3840480" cy="713232"/>
          </a:xfrm>
          <a:prstGeom prst="rect">
            <a:avLst/>
          </a:prstGeom>
          <a:noFill/>
          <a:ln/>
        </p:spPr>
        <p:txBody>
          <a:bodyPr wrap="square" lIns="50800" tIns="50800" rIns="50800" bIns="50800" rtlCol="0" anchor="ctr"/>
          <a:lstStyle/>
          <a:p>
            <a:pPr marL="0" indent="0" algn="ctr">
              <a:buNone/>
            </a:pPr>
            <a:r>
              <a:rPr lang="en-US" sz="1600" dirty="0">
                <a:solidFill>
                  <a:srgbClr val="34488F"/>
                </a:solidFill>
                <a:latin typeface="Arial" pitchFamily="34" charset="0"/>
                <a:ea typeface="Arial" pitchFamily="34" charset="-122"/>
                <a:cs typeface="Arial" pitchFamily="34" charset="-120"/>
              </a:rPr>
              <a:t>2. Độ chính xác: nhận dạng và dịch</a:t>
            </a:r>
            <a:endParaRPr lang="en-US" sz="1600" dirty="0"/>
          </a:p>
        </p:txBody>
      </p:sp>
      <p:sp>
        <p:nvSpPr>
          <p:cNvPr id="13" name="Shape 9"/>
          <p:cNvSpPr/>
          <p:nvPr/>
        </p:nvSpPr>
        <p:spPr>
          <a:xfrm>
            <a:off x="4754880" y="3794760"/>
            <a:ext cx="502920" cy="0"/>
          </a:xfrm>
          <a:prstGeom prst="line">
            <a:avLst/>
          </a:prstGeom>
          <a:noFill/>
          <a:ln w="25400">
            <a:solidFill>
              <a:srgbClr val="1F1F1F"/>
            </a:solidFill>
            <a:prstDash val="solid"/>
          </a:ln>
        </p:spPr>
        <p:txBody>
          <a:bodyPr/>
          <a:lstStyle/>
          <a:p>
            <a:endParaRPr lang="en-US"/>
          </a:p>
        </p:txBody>
      </p:sp>
      <p:sp>
        <p:nvSpPr>
          <p:cNvPr id="14" name="Shape 10"/>
          <p:cNvSpPr/>
          <p:nvPr/>
        </p:nvSpPr>
        <p:spPr>
          <a:xfrm>
            <a:off x="5257800" y="3438144"/>
            <a:ext cx="3840480" cy="713232"/>
          </a:xfrm>
          <a:prstGeom prst="rect">
            <a:avLst/>
          </a:prstGeom>
          <a:solidFill>
            <a:srgbClr val="FCE9A0"/>
          </a:solidFill>
          <a:ln w="12700">
            <a:solidFill>
              <a:srgbClr val="FCE9A0"/>
            </a:solidFill>
            <a:prstDash val="solid"/>
          </a:ln>
          <a:effectLst>
            <a:outerShdw blurRad="50800" dist="25400" dir="5400000" algn="bl" rotWithShape="0">
              <a:srgbClr val="000000">
                <a:alpha val="18000"/>
              </a:srgbClr>
            </a:outerShdw>
          </a:effectLst>
        </p:spPr>
        <p:txBody>
          <a:bodyPr/>
          <a:lstStyle/>
          <a:p>
            <a:endParaRPr lang="en-US"/>
          </a:p>
        </p:txBody>
      </p:sp>
      <p:sp>
        <p:nvSpPr>
          <p:cNvPr id="15" name="Text 11"/>
          <p:cNvSpPr txBox="1"/>
          <p:nvPr/>
        </p:nvSpPr>
        <p:spPr>
          <a:xfrm>
            <a:off x="5257800" y="3438144"/>
            <a:ext cx="3840480" cy="713232"/>
          </a:xfrm>
          <a:prstGeom prst="rect">
            <a:avLst/>
          </a:prstGeom>
          <a:noFill/>
          <a:ln/>
        </p:spPr>
        <p:txBody>
          <a:bodyPr wrap="square" lIns="50800" tIns="50800" rIns="50800" bIns="50800" rtlCol="0" anchor="ctr"/>
          <a:lstStyle/>
          <a:p>
            <a:pPr marL="0" indent="0" algn="ctr">
              <a:buNone/>
            </a:pPr>
            <a:r>
              <a:rPr lang="en-US" sz="1600" dirty="0">
                <a:solidFill>
                  <a:srgbClr val="34488F"/>
                </a:solidFill>
                <a:latin typeface="Arial" pitchFamily="34" charset="0"/>
                <a:ea typeface="Arial" pitchFamily="34" charset="-122"/>
                <a:cs typeface="Arial" pitchFamily="34" charset="-120"/>
              </a:rPr>
              <a:t>3. Độ trễ và độ ổn định</a:t>
            </a:r>
            <a:endParaRPr lang="en-US" sz="1600" dirty="0"/>
          </a:p>
        </p:txBody>
      </p:sp>
      <p:sp>
        <p:nvSpPr>
          <p:cNvPr id="16" name="Shape 12"/>
          <p:cNvSpPr/>
          <p:nvPr/>
        </p:nvSpPr>
        <p:spPr>
          <a:xfrm>
            <a:off x="4251960" y="4745736"/>
            <a:ext cx="502920" cy="0"/>
          </a:xfrm>
          <a:prstGeom prst="line">
            <a:avLst/>
          </a:prstGeom>
          <a:noFill/>
          <a:ln w="25400">
            <a:solidFill>
              <a:srgbClr val="1F1F1F"/>
            </a:solidFill>
            <a:prstDash val="solid"/>
          </a:ln>
        </p:spPr>
        <p:txBody>
          <a:bodyPr/>
          <a:lstStyle/>
          <a:p>
            <a:endParaRPr lang="en-US"/>
          </a:p>
        </p:txBody>
      </p:sp>
      <p:sp>
        <p:nvSpPr>
          <p:cNvPr id="17" name="Shape 13"/>
          <p:cNvSpPr/>
          <p:nvPr/>
        </p:nvSpPr>
        <p:spPr>
          <a:xfrm>
            <a:off x="411480" y="4389120"/>
            <a:ext cx="3840480" cy="713232"/>
          </a:xfrm>
          <a:prstGeom prst="rect">
            <a:avLst/>
          </a:prstGeom>
          <a:solidFill>
            <a:srgbClr val="D5D8F2"/>
          </a:solidFill>
          <a:ln w="12700">
            <a:solidFill>
              <a:srgbClr val="D5D8F2"/>
            </a:solidFill>
            <a:prstDash val="solid"/>
          </a:ln>
          <a:effectLst>
            <a:outerShdw blurRad="50800" dist="25400" dir="5400000" algn="bl" rotWithShape="0">
              <a:srgbClr val="000000">
                <a:alpha val="18000"/>
              </a:srgbClr>
            </a:outerShdw>
          </a:effectLst>
        </p:spPr>
        <p:txBody>
          <a:bodyPr/>
          <a:lstStyle/>
          <a:p>
            <a:endParaRPr lang="en-US"/>
          </a:p>
        </p:txBody>
      </p:sp>
      <p:sp>
        <p:nvSpPr>
          <p:cNvPr id="18" name="Text 14"/>
          <p:cNvSpPr txBox="1"/>
          <p:nvPr/>
        </p:nvSpPr>
        <p:spPr>
          <a:xfrm>
            <a:off x="411480" y="4389120"/>
            <a:ext cx="3840480" cy="713232"/>
          </a:xfrm>
          <a:prstGeom prst="rect">
            <a:avLst/>
          </a:prstGeom>
          <a:noFill/>
          <a:ln/>
        </p:spPr>
        <p:txBody>
          <a:bodyPr wrap="square" lIns="50800" tIns="50800" rIns="50800" bIns="50800" rtlCol="0" anchor="ctr"/>
          <a:lstStyle/>
          <a:p>
            <a:pPr marL="0" indent="0" algn="ctr">
              <a:buNone/>
            </a:pPr>
            <a:r>
              <a:rPr lang="en-US" sz="1600" dirty="0">
                <a:solidFill>
                  <a:srgbClr val="34488F"/>
                </a:solidFill>
                <a:latin typeface="Arial" pitchFamily="34" charset="0"/>
                <a:ea typeface="Arial" pitchFamily="34" charset="-122"/>
                <a:cs typeface="Arial" pitchFamily="34" charset="-120"/>
              </a:rPr>
              <a:t>4. Đánh giá trên giọng người thật</a:t>
            </a:r>
            <a:endParaRPr lang="en-US" sz="1600" dirty="0"/>
          </a:p>
        </p:txBody>
      </p:sp>
      <p:sp>
        <p:nvSpPr>
          <p:cNvPr id="19" name="Shape 15"/>
          <p:cNvSpPr/>
          <p:nvPr/>
        </p:nvSpPr>
        <p:spPr>
          <a:xfrm>
            <a:off x="4754880" y="5696712"/>
            <a:ext cx="502920" cy="0"/>
          </a:xfrm>
          <a:prstGeom prst="line">
            <a:avLst/>
          </a:prstGeom>
          <a:noFill/>
          <a:ln w="25400">
            <a:solidFill>
              <a:srgbClr val="1F1F1F"/>
            </a:solidFill>
            <a:prstDash val="solid"/>
          </a:ln>
        </p:spPr>
        <p:txBody>
          <a:bodyPr/>
          <a:lstStyle/>
          <a:p>
            <a:endParaRPr lang="en-US"/>
          </a:p>
        </p:txBody>
      </p:sp>
      <p:sp>
        <p:nvSpPr>
          <p:cNvPr id="20" name="Shape 16"/>
          <p:cNvSpPr/>
          <p:nvPr/>
        </p:nvSpPr>
        <p:spPr>
          <a:xfrm>
            <a:off x="5257800" y="5340096"/>
            <a:ext cx="3840480" cy="713232"/>
          </a:xfrm>
          <a:prstGeom prst="rect">
            <a:avLst/>
          </a:prstGeom>
          <a:solidFill>
            <a:srgbClr val="D5D8F2"/>
          </a:solidFill>
          <a:ln w="12700">
            <a:solidFill>
              <a:srgbClr val="D5D8F2"/>
            </a:solidFill>
            <a:prstDash val="solid"/>
          </a:ln>
          <a:effectLst>
            <a:outerShdw blurRad="50800" dist="25400" dir="5400000" algn="bl" rotWithShape="0">
              <a:srgbClr val="000000">
                <a:alpha val="18000"/>
              </a:srgbClr>
            </a:outerShdw>
          </a:effectLst>
        </p:spPr>
        <p:txBody>
          <a:bodyPr/>
          <a:lstStyle/>
          <a:p>
            <a:endParaRPr lang="en-US"/>
          </a:p>
        </p:txBody>
      </p:sp>
      <p:sp>
        <p:nvSpPr>
          <p:cNvPr id="21" name="Text 17"/>
          <p:cNvSpPr txBox="1"/>
          <p:nvPr/>
        </p:nvSpPr>
        <p:spPr>
          <a:xfrm>
            <a:off x="5257800" y="5340096"/>
            <a:ext cx="3840480" cy="713232"/>
          </a:xfrm>
          <a:prstGeom prst="rect">
            <a:avLst/>
          </a:prstGeom>
          <a:noFill/>
          <a:ln/>
        </p:spPr>
        <p:txBody>
          <a:bodyPr wrap="square" lIns="50800" tIns="50800" rIns="50800" bIns="50800" rtlCol="0" anchor="ctr"/>
          <a:lstStyle/>
          <a:p>
            <a:pPr marL="0" indent="0" algn="ctr">
              <a:buNone/>
            </a:pPr>
            <a:r>
              <a:rPr lang="en-US" sz="1600" dirty="0">
                <a:solidFill>
                  <a:srgbClr val="34488F"/>
                </a:solidFill>
                <a:latin typeface="Arial" pitchFamily="34" charset="0"/>
                <a:ea typeface="Arial" pitchFamily="34" charset="-122"/>
                <a:cs typeface="Arial" pitchFamily="34" charset="-120"/>
              </a:rPr>
              <a:t>5. Đối chiếu yêu cầu phi chức năng</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pic>
        <p:nvPicPr>
          <p:cNvPr id="2" name="Image 0" descr="C:\Users\hhung\AppData\Local\Temp\claude\d--Project-local-live-voice-translator\d0343c7e-f558-4e8b-8c62-5b900df8bea6\scratchpad\build\img\deco_right.png"/>
          <p:cNvPicPr>
            <a:picLocks noChangeAspect="1"/>
          </p:cNvPicPr>
          <p:nvPr/>
        </p:nvPicPr>
        <p:blipFill>
          <a:blip r:embed="rId3"/>
          <a:stretch>
            <a:fillRect/>
          </a:stretch>
        </p:blipFill>
        <p:spPr>
          <a:xfrm>
            <a:off x="0" y="0"/>
            <a:ext cx="12191695" cy="6858000"/>
          </a:xfrm>
          <a:prstGeom prst="rect">
            <a:avLst/>
          </a:prstGeom>
        </p:spPr>
      </p:pic>
      <p:pic>
        <p:nvPicPr>
          <p:cNvPr id="3" name="Image 1" descr="C:\Users\hhung\AppData\Local\Temp\claude\d--Project-local-live-voice-translator\d0343c7e-f558-4e8b-8c62-5b900df8bea6\scratchpad\build\img\logo_header.png"/>
          <p:cNvPicPr>
            <a:picLocks noChangeAspect="1"/>
          </p:cNvPicPr>
          <p:nvPr/>
        </p:nvPicPr>
        <p:blipFill>
          <a:blip r:embed="rId4"/>
          <a:stretch>
            <a:fillRect/>
          </a:stretch>
        </p:blipFill>
        <p:spPr>
          <a:xfrm>
            <a:off x="8549640" y="292608"/>
            <a:ext cx="2560320" cy="459250"/>
          </a:xfrm>
          <a:prstGeom prst="rect">
            <a:avLst/>
          </a:prstGeom>
        </p:spPr>
      </p:pic>
      <p:sp>
        <p:nvSpPr>
          <p:cNvPr id="4" name="Text 0"/>
          <p:cNvSpPr txBox="1"/>
          <p:nvPr/>
        </p:nvSpPr>
        <p:spPr>
          <a:xfrm>
            <a:off x="411480" y="256032"/>
            <a:ext cx="7955280" cy="548640"/>
          </a:xfrm>
          <a:prstGeom prst="rect">
            <a:avLst/>
          </a:prstGeom>
          <a:noFill/>
          <a:ln/>
        </p:spPr>
        <p:txBody>
          <a:bodyPr wrap="square" lIns="0" tIns="0" rIns="0" bIns="0" rtlCol="0" anchor="t"/>
          <a:lstStyle/>
          <a:p>
            <a:pPr marL="0" indent="0">
              <a:buNone/>
            </a:pPr>
            <a:r>
              <a:rPr lang="en-US" sz="2800" b="1" dirty="0">
                <a:solidFill>
                  <a:srgbClr val="487BA2"/>
                </a:solidFill>
                <a:latin typeface="Arial" pitchFamily="34" charset="0"/>
                <a:ea typeface="Arial" pitchFamily="34" charset="-122"/>
                <a:cs typeface="Arial" pitchFamily="34" charset="-120"/>
              </a:rPr>
              <a:t>III. Kết quả thực nghiệm</a:t>
            </a:r>
            <a:endParaRPr lang="en-US" sz="2800" dirty="0"/>
          </a:p>
        </p:txBody>
      </p:sp>
      <p:sp>
        <p:nvSpPr>
          <p:cNvPr id="5" name="Text 1"/>
          <p:cNvSpPr txBox="1"/>
          <p:nvPr/>
        </p:nvSpPr>
        <p:spPr>
          <a:xfrm>
            <a:off x="411480" y="841248"/>
            <a:ext cx="8046720" cy="411480"/>
          </a:xfrm>
          <a:prstGeom prst="rect">
            <a:avLst/>
          </a:prstGeom>
          <a:noFill/>
          <a:ln/>
        </p:spPr>
        <p:txBody>
          <a:bodyPr wrap="square" lIns="0" tIns="0" rIns="0" bIns="0" rtlCol="0" anchor="t"/>
          <a:lstStyle/>
          <a:p>
            <a:pPr marL="0" indent="0">
              <a:buNone/>
            </a:pPr>
            <a:r>
              <a:rPr lang="en-US" sz="2000" dirty="0">
                <a:solidFill>
                  <a:srgbClr val="1B517B"/>
                </a:solidFill>
                <a:latin typeface="Arial" pitchFamily="34" charset="0"/>
                <a:ea typeface="Arial" pitchFamily="34" charset="-122"/>
                <a:cs typeface="Arial" pitchFamily="34" charset="-120"/>
              </a:rPr>
              <a:t>1. Môi trường và dữ liệu thử nghiệm</a:t>
            </a:r>
            <a:endParaRPr lang="en-US" sz="2000" dirty="0"/>
          </a:p>
        </p:txBody>
      </p:sp>
      <p:sp>
        <p:nvSpPr>
          <p:cNvPr id="6" name="Text 2"/>
          <p:cNvSpPr txBox="1"/>
          <p:nvPr/>
        </p:nvSpPr>
        <p:spPr>
          <a:xfrm>
            <a:off x="10104120" y="6355080"/>
            <a:ext cx="548640" cy="274320"/>
          </a:xfrm>
          <a:prstGeom prst="rect">
            <a:avLst/>
          </a:prstGeom>
          <a:noFill/>
          <a:ln/>
        </p:spPr>
        <p:txBody>
          <a:bodyPr wrap="square" lIns="0" tIns="0" rIns="0" bIns="0" rtlCol="0" anchor="t"/>
          <a:lstStyle/>
          <a:p>
            <a:pPr marL="0" indent="0" algn="r">
              <a:buNone/>
            </a:pPr>
            <a:r>
              <a:rPr lang="en-US" sz="1100" dirty="0">
                <a:solidFill>
                  <a:srgbClr val="5F6B76"/>
                </a:solidFill>
                <a:latin typeface="Arial" pitchFamily="34" charset="0"/>
                <a:ea typeface="Arial" pitchFamily="34" charset="-122"/>
                <a:cs typeface="Arial" pitchFamily="34" charset="-120"/>
              </a:rPr>
              <a:t>17</a:t>
            </a:r>
            <a:endParaRPr lang="en-US" sz="1100" dirty="0"/>
          </a:p>
        </p:txBody>
      </p:sp>
      <p:sp>
        <p:nvSpPr>
          <p:cNvPr id="7" name="Shape 3"/>
          <p:cNvSpPr/>
          <p:nvPr/>
        </p:nvSpPr>
        <p:spPr>
          <a:xfrm>
            <a:off x="411480" y="1417320"/>
            <a:ext cx="4983480" cy="1234440"/>
          </a:xfrm>
          <a:prstGeom prst="roundRect">
            <a:avLst>
              <a:gd name="adj" fmla="val 5926"/>
            </a:avLst>
          </a:prstGeom>
          <a:solidFill>
            <a:srgbClr val="EEF4F9"/>
          </a:solidFill>
          <a:ln w="12700">
            <a:solidFill>
              <a:srgbClr val="EEF4F9"/>
            </a:solidFill>
            <a:prstDash val="solid"/>
          </a:ln>
        </p:spPr>
        <p:txBody>
          <a:bodyPr/>
          <a:lstStyle/>
          <a:p>
            <a:endParaRPr lang="en-US"/>
          </a:p>
        </p:txBody>
      </p:sp>
      <p:sp>
        <p:nvSpPr>
          <p:cNvPr id="8" name="Shape 4"/>
          <p:cNvSpPr/>
          <p:nvPr/>
        </p:nvSpPr>
        <p:spPr>
          <a:xfrm>
            <a:off x="594360" y="1572768"/>
            <a:ext cx="548640" cy="548640"/>
          </a:xfrm>
          <a:prstGeom prst="ellipse">
            <a:avLst/>
          </a:prstGeom>
          <a:solidFill>
            <a:srgbClr val="1B517B"/>
          </a:solidFill>
          <a:ln w="12700">
            <a:solidFill>
              <a:srgbClr val="1B517B"/>
            </a:solidFill>
            <a:prstDash val="solid"/>
          </a:ln>
        </p:spPr>
        <p:txBody>
          <a:bodyPr/>
          <a:lstStyle/>
          <a:p>
            <a:endParaRPr lang="en-US"/>
          </a:p>
        </p:txBody>
      </p:sp>
      <p:pic>
        <p:nvPicPr>
          <p:cNvPr id="9" name="Image 2" descr="preencoded.png"/>
          <p:cNvPicPr>
            <a:picLocks noChangeAspect="1"/>
          </p:cNvPicPr>
          <p:nvPr/>
        </p:nvPicPr>
        <p:blipFill>
          <a:blip r:embed="rId5"/>
          <a:stretch>
            <a:fillRect/>
          </a:stretch>
        </p:blipFill>
        <p:spPr>
          <a:xfrm>
            <a:off x="726034" y="1704442"/>
            <a:ext cx="285293" cy="285293"/>
          </a:xfrm>
          <a:prstGeom prst="rect">
            <a:avLst/>
          </a:prstGeom>
        </p:spPr>
      </p:pic>
      <p:sp>
        <p:nvSpPr>
          <p:cNvPr id="10" name="Text 5"/>
          <p:cNvSpPr txBox="1"/>
          <p:nvPr/>
        </p:nvSpPr>
        <p:spPr>
          <a:xfrm>
            <a:off x="1325880" y="1463040"/>
            <a:ext cx="3977640" cy="1143000"/>
          </a:xfrm>
          <a:prstGeom prst="rect">
            <a:avLst/>
          </a:prstGeom>
          <a:noFill/>
          <a:ln/>
        </p:spPr>
        <p:txBody>
          <a:bodyPr wrap="square" lIns="0" tIns="0" rIns="0" bIns="0" rtlCol="0" anchor="ctr"/>
          <a:lstStyle/>
          <a:p>
            <a:pPr marL="0" indent="0">
              <a:buNone/>
            </a:pPr>
            <a:r>
              <a:rPr lang="en-US" sz="1700" b="1" dirty="0">
                <a:solidFill>
                  <a:srgbClr val="1B517B"/>
                </a:solidFill>
                <a:latin typeface="Arial" pitchFamily="34" charset="0"/>
                <a:ea typeface="Arial" pitchFamily="34" charset="-122"/>
                <a:cs typeface="Arial" pitchFamily="34" charset="-120"/>
              </a:rPr>
              <a:t>macOS</a:t>
            </a:r>
            <a:endParaRPr lang="en-US" sz="1700" dirty="0"/>
          </a:p>
          <a:p>
            <a:pPr marL="0" indent="0">
              <a:buNone/>
            </a:pPr>
            <a:r>
              <a:rPr lang="en-US" sz="1300" dirty="0">
                <a:solidFill>
                  <a:srgbClr val="222222"/>
                </a:solidFill>
                <a:latin typeface="Arial" pitchFamily="34" charset="0"/>
                <a:ea typeface="Arial" pitchFamily="34" charset="-122"/>
                <a:cs typeface="Arial" pitchFamily="34" charset="-120"/>
              </a:rPr>
              <a:t>Apple M4 · macOS 26.6</a:t>
            </a:r>
            <a:endParaRPr lang="en-US" sz="1700" dirty="0"/>
          </a:p>
          <a:p>
            <a:pPr marL="0" indent="0">
              <a:buNone/>
            </a:pPr>
            <a:r>
              <a:rPr lang="en-US" sz="1200" dirty="0">
                <a:solidFill>
                  <a:srgbClr val="5F6B76"/>
                </a:solidFill>
                <a:latin typeface="Arial" pitchFamily="34" charset="0"/>
                <a:ea typeface="Arial" pitchFamily="34" charset="-122"/>
                <a:cs typeface="Arial" pitchFamily="34" charset="-120"/>
              </a:rPr>
              <a:t>ASR: MLX/Metal · MT: PyTorch/MPS · TTS: CPU</a:t>
            </a:r>
            <a:endParaRPr lang="en-US" sz="1700" dirty="0"/>
          </a:p>
        </p:txBody>
      </p:sp>
      <p:sp>
        <p:nvSpPr>
          <p:cNvPr id="11" name="Shape 6"/>
          <p:cNvSpPr/>
          <p:nvPr/>
        </p:nvSpPr>
        <p:spPr>
          <a:xfrm>
            <a:off x="5623560" y="1417320"/>
            <a:ext cx="4983480" cy="1234440"/>
          </a:xfrm>
          <a:prstGeom prst="roundRect">
            <a:avLst>
              <a:gd name="adj" fmla="val 5926"/>
            </a:avLst>
          </a:prstGeom>
          <a:solidFill>
            <a:srgbClr val="EEF4F9"/>
          </a:solidFill>
          <a:ln w="12700">
            <a:solidFill>
              <a:srgbClr val="EEF4F9"/>
            </a:solidFill>
            <a:prstDash val="solid"/>
          </a:ln>
        </p:spPr>
        <p:txBody>
          <a:bodyPr/>
          <a:lstStyle/>
          <a:p>
            <a:endParaRPr lang="en-US"/>
          </a:p>
        </p:txBody>
      </p:sp>
      <p:sp>
        <p:nvSpPr>
          <p:cNvPr id="12" name="Shape 7"/>
          <p:cNvSpPr/>
          <p:nvPr/>
        </p:nvSpPr>
        <p:spPr>
          <a:xfrm>
            <a:off x="5806440" y="1572768"/>
            <a:ext cx="548640" cy="548640"/>
          </a:xfrm>
          <a:prstGeom prst="ellipse">
            <a:avLst/>
          </a:prstGeom>
          <a:solidFill>
            <a:srgbClr val="1B517B"/>
          </a:solidFill>
          <a:ln w="12700">
            <a:solidFill>
              <a:srgbClr val="1B517B"/>
            </a:solidFill>
            <a:prstDash val="solid"/>
          </a:ln>
        </p:spPr>
        <p:txBody>
          <a:bodyPr/>
          <a:lstStyle/>
          <a:p>
            <a:endParaRPr lang="en-US"/>
          </a:p>
        </p:txBody>
      </p:sp>
      <p:pic>
        <p:nvPicPr>
          <p:cNvPr id="13" name="Image 3" descr="preencoded.png"/>
          <p:cNvPicPr>
            <a:picLocks noChangeAspect="1"/>
          </p:cNvPicPr>
          <p:nvPr/>
        </p:nvPicPr>
        <p:blipFill>
          <a:blip r:embed="rId5"/>
          <a:stretch>
            <a:fillRect/>
          </a:stretch>
        </p:blipFill>
        <p:spPr>
          <a:xfrm>
            <a:off x="5938114" y="1704442"/>
            <a:ext cx="285293" cy="285293"/>
          </a:xfrm>
          <a:prstGeom prst="rect">
            <a:avLst/>
          </a:prstGeom>
        </p:spPr>
      </p:pic>
      <p:sp>
        <p:nvSpPr>
          <p:cNvPr id="14" name="Text 8"/>
          <p:cNvSpPr txBox="1"/>
          <p:nvPr/>
        </p:nvSpPr>
        <p:spPr>
          <a:xfrm>
            <a:off x="6537960" y="1463040"/>
            <a:ext cx="3977640" cy="1143000"/>
          </a:xfrm>
          <a:prstGeom prst="rect">
            <a:avLst/>
          </a:prstGeom>
          <a:noFill/>
          <a:ln/>
        </p:spPr>
        <p:txBody>
          <a:bodyPr wrap="square" lIns="0" tIns="0" rIns="0" bIns="0" rtlCol="0" anchor="ctr"/>
          <a:lstStyle/>
          <a:p>
            <a:pPr marL="0" indent="0">
              <a:buNone/>
            </a:pPr>
            <a:r>
              <a:rPr lang="en-US" sz="1700" b="1" dirty="0">
                <a:solidFill>
                  <a:srgbClr val="1B517B"/>
                </a:solidFill>
                <a:latin typeface="Arial" pitchFamily="34" charset="0"/>
                <a:ea typeface="Arial" pitchFamily="34" charset="-122"/>
                <a:cs typeface="Arial" pitchFamily="34" charset="-120"/>
              </a:rPr>
              <a:t>Windows</a:t>
            </a:r>
            <a:endParaRPr lang="en-US" sz="1700" dirty="0"/>
          </a:p>
          <a:p>
            <a:pPr marL="0" indent="0">
              <a:buNone/>
            </a:pPr>
            <a:r>
              <a:rPr lang="en-US" sz="1300" dirty="0">
                <a:solidFill>
                  <a:srgbClr val="222222"/>
                </a:solidFill>
                <a:latin typeface="Arial" pitchFamily="34" charset="0"/>
                <a:ea typeface="Arial" pitchFamily="34" charset="-122"/>
                <a:cs typeface="Arial" pitchFamily="34" charset="-120"/>
              </a:rPr>
              <a:t>i5-12500H · RTX 4060 Laptop 8 GB + Iris Xe · 64 GB RAM</a:t>
            </a:r>
            <a:endParaRPr lang="en-US" sz="1700" dirty="0"/>
          </a:p>
          <a:p>
            <a:pPr marL="0" indent="0">
              <a:buNone/>
            </a:pPr>
            <a:r>
              <a:rPr lang="en-US" sz="1200" dirty="0">
                <a:solidFill>
                  <a:srgbClr val="5F6B76"/>
                </a:solidFill>
                <a:latin typeface="Arial" pitchFamily="34" charset="0"/>
                <a:ea typeface="Arial" pitchFamily="34" charset="-122"/>
                <a:cs typeface="Arial" pitchFamily="34" charset="-120"/>
              </a:rPr>
              <a:t>ASR: whisper.cpp/Vulkan · MT: PyTorch/CUDA · TTS: CPU</a:t>
            </a:r>
            <a:endParaRPr lang="en-US" sz="17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11480" y="2880360"/>
          <a:ext cx="10241280" cy="2560320"/>
        </p:xfrm>
        <a:graphic>
          <a:graphicData uri="http://schemas.openxmlformats.org/drawingml/2006/table">
            <a:tbl>
              <a:tblPr/>
              <a:tblGrid>
                <a:gridCol w="292608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tblGrid>
              <a:tr h="365760">
                <a:tc>
                  <a:txBody>
                    <a:bodyPr/>
                    <a:lstStyle/>
                    <a:p>
                      <a:pPr marL="0" indent="0" algn="ctr">
                        <a:buNone/>
                      </a:pPr>
                      <a:r>
                        <a:rPr lang="en-US" sz="1300" b="1" dirty="0">
                          <a:solidFill>
                            <a:srgbClr val="FFFFFF"/>
                          </a:solidFill>
                          <a:latin typeface="Arial" pitchFamily="34" charset="0"/>
                          <a:ea typeface="Arial" pitchFamily="34" charset="-122"/>
                          <a:cs typeface="Arial" pitchFamily="34" charset="-120"/>
                        </a:rPr>
                        <a:t>Dữ liệu</a:t>
                      </a:r>
                      <a:endParaRPr lang="en-US" sz="13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1B517B"/>
                    </a:solidFill>
                  </a:tcPr>
                </a:tc>
                <a:tc>
                  <a:txBody>
                    <a:bodyPr/>
                    <a:lstStyle/>
                    <a:p>
                      <a:pPr marL="0" indent="0" algn="ctr">
                        <a:buNone/>
                      </a:pPr>
                      <a:r>
                        <a:rPr lang="en-US" sz="1300" b="1" dirty="0">
                          <a:solidFill>
                            <a:srgbClr val="FFFFFF"/>
                          </a:solidFill>
                          <a:latin typeface="Arial" pitchFamily="34" charset="0"/>
                          <a:ea typeface="Arial" pitchFamily="34" charset="-122"/>
                          <a:cs typeface="Arial" pitchFamily="34" charset="-120"/>
                        </a:rPr>
                        <a:t>Dùng cho</a:t>
                      </a:r>
                      <a:endParaRPr lang="en-US" sz="13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1B517B"/>
                    </a:solidFill>
                  </a:tcPr>
                </a:tc>
                <a:tc>
                  <a:txBody>
                    <a:bodyPr/>
                    <a:lstStyle/>
                    <a:p>
                      <a:pPr marL="0" indent="0" algn="ctr">
                        <a:buNone/>
                      </a:pPr>
                      <a:r>
                        <a:rPr lang="en-US" sz="1300" b="1" dirty="0">
                          <a:solidFill>
                            <a:srgbClr val="FFFFFF"/>
                          </a:solidFill>
                          <a:latin typeface="Arial" pitchFamily="34" charset="0"/>
                          <a:ea typeface="Arial" pitchFamily="34" charset="-122"/>
                          <a:cs typeface="Arial" pitchFamily="34" charset="-120"/>
                        </a:rPr>
                        <a:t>Quy mô</a:t>
                      </a:r>
                      <a:endParaRPr lang="en-US" sz="13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1B517B"/>
                    </a:solidFill>
                  </a:tcPr>
                </a:tc>
                <a:extLst>
                  <a:ext uri="{0D108BD9-81ED-4DB2-BD59-A6C34878D82A}">
                    <a16:rowId xmlns:a16="http://schemas.microsoft.com/office/drawing/2014/main" val="10000"/>
                  </a:ext>
                </a:extLst>
              </a:tr>
              <a:tr h="365760">
                <a:tc>
                  <a:txBody>
                    <a:bodyPr/>
                    <a:lstStyle/>
                    <a:p>
                      <a:pPr marL="0" indent="0">
                        <a:buNone/>
                      </a:pPr>
                      <a:r>
                        <a:rPr lang="en-US" sz="1300" b="1" dirty="0">
                          <a:solidFill>
                            <a:srgbClr val="000000"/>
                          </a:solidFill>
                          <a:latin typeface="Arial" pitchFamily="34" charset="0"/>
                          <a:ea typeface="Arial" pitchFamily="34" charset="-122"/>
                          <a:cs typeface="Arial" pitchFamily="34" charset="-120"/>
                        </a:rPr>
                        <a:t>FLEURS test [3], âm thanh</a:t>
                      </a:r>
                      <a:endParaRPr lang="en-US" sz="13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300" dirty="0">
                          <a:solidFill>
                            <a:srgbClr val="000000"/>
                          </a:solidFill>
                          <a:latin typeface="Arial" pitchFamily="34" charset="0"/>
                          <a:ea typeface="Arial" pitchFamily="34" charset="-122"/>
                          <a:cs typeface="Arial" pitchFamily="34" charset="-120"/>
                        </a:rPr>
                        <a:t>Nhận dạng (ASR)</a:t>
                      </a:r>
                      <a:endParaRPr lang="en-US" sz="13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300" dirty="0">
                          <a:solidFill>
                            <a:srgbClr val="000000"/>
                          </a:solidFill>
                          <a:latin typeface="Arial" pitchFamily="34" charset="0"/>
                          <a:ea typeface="Arial" pitchFamily="34" charset="-122"/>
                          <a:cs typeface="Arial" pitchFamily="34" charset="-120"/>
                        </a:rPr>
                        <a:t>3.099 bản thu, 10,22 giờ: vi 857 · en 647 · zh 945 · ja 650</a:t>
                      </a:r>
                      <a:endParaRPr lang="en-US" sz="13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buNone/>
                      </a:pPr>
                      <a:r>
                        <a:rPr lang="en-US" sz="1300" b="1" dirty="0">
                          <a:solidFill>
                            <a:srgbClr val="000000"/>
                          </a:solidFill>
                          <a:latin typeface="Arial" pitchFamily="34" charset="0"/>
                          <a:ea typeface="Arial" pitchFamily="34" charset="-122"/>
                          <a:cs typeface="Arial" pitchFamily="34" charset="-120"/>
                        </a:rPr>
                        <a:t>FLEURS test, văn bản</a:t>
                      </a:r>
                      <a:endParaRPr lang="en-US" sz="13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300" dirty="0">
                          <a:solidFill>
                            <a:srgbClr val="000000"/>
                          </a:solidFill>
                          <a:latin typeface="Arial" pitchFamily="34" charset="0"/>
                          <a:ea typeface="Arial" pitchFamily="34" charset="-122"/>
                          <a:cs typeface="Arial" pitchFamily="34" charset="-120"/>
                        </a:rPr>
                        <a:t>Dịch máy (MT)</a:t>
                      </a:r>
                      <a:endParaRPr lang="en-US" sz="13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300" dirty="0">
                          <a:solidFill>
                            <a:srgbClr val="000000"/>
                          </a:solidFill>
                          <a:latin typeface="Arial" pitchFamily="34" charset="0"/>
                          <a:ea typeface="Arial" pitchFamily="34" charset="-122"/>
                          <a:cs typeface="Arial" pitchFamily="34" charset="-120"/>
                        </a:rPr>
                        <a:t>2.022 cặp câu, sáu chiều</a:t>
                      </a:r>
                      <a:endParaRPr lang="en-US" sz="13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buNone/>
                      </a:pPr>
                      <a:r>
                        <a:rPr lang="en-US" sz="1300" b="1" dirty="0">
                          <a:solidFill>
                            <a:srgbClr val="000000"/>
                          </a:solidFill>
                          <a:latin typeface="Arial" pitchFamily="34" charset="0"/>
                          <a:ea typeface="Arial" pitchFamily="34" charset="-122"/>
                          <a:cs typeface="Arial" pitchFamily="34" charset="-120"/>
                        </a:rPr>
                        <a:t>FLEURS test, âm thanh</a:t>
                      </a:r>
                      <a:endParaRPr lang="en-US" sz="13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300" dirty="0">
                          <a:solidFill>
                            <a:srgbClr val="000000"/>
                          </a:solidFill>
                          <a:latin typeface="Arial" pitchFamily="34" charset="0"/>
                          <a:ea typeface="Arial" pitchFamily="34" charset="-122"/>
                          <a:cs typeface="Arial" pitchFamily="34" charset="-120"/>
                        </a:rPr>
                        <a:t>Độ trễ cả chuỗi</a:t>
                      </a:r>
                      <a:endParaRPr lang="en-US" sz="13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300" dirty="0">
                          <a:solidFill>
                            <a:srgbClr val="000000"/>
                          </a:solidFill>
                          <a:latin typeface="Arial" pitchFamily="34" charset="0"/>
                          <a:ea typeface="Arial" pitchFamily="34" charset="-122"/>
                          <a:cs typeface="Arial" pitchFamily="34" charset="-120"/>
                        </a:rPr>
                        <a:t>50 mẫu × 6 chiều</a:t>
                      </a:r>
                      <a:endParaRPr lang="en-US" sz="13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buNone/>
                      </a:pPr>
                      <a:r>
                        <a:rPr lang="en-US" sz="1300" b="1" dirty="0">
                          <a:solidFill>
                            <a:srgbClr val="000000"/>
                          </a:solidFill>
                          <a:latin typeface="Arial" pitchFamily="34" charset="0"/>
                          <a:ea typeface="Arial" pitchFamily="34" charset="-122"/>
                          <a:cs typeface="Arial" pitchFamily="34" charset="-120"/>
                        </a:rPr>
                        <a:t>Âm thanh theo nhịp thật</a:t>
                      </a:r>
                      <a:endParaRPr lang="en-US" sz="13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300" dirty="0">
                          <a:solidFill>
                            <a:srgbClr val="000000"/>
                          </a:solidFill>
                          <a:latin typeface="Arial" pitchFamily="34" charset="0"/>
                          <a:ea typeface="Arial" pitchFamily="34" charset="-122"/>
                          <a:cs typeface="Arial" pitchFamily="34" charset="-120"/>
                        </a:rPr>
                        <a:t>Chạy liên tục</a:t>
                      </a:r>
                      <a:endParaRPr lang="en-US" sz="13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300" dirty="0">
                          <a:solidFill>
                            <a:srgbClr val="000000"/>
                          </a:solidFill>
                          <a:latin typeface="Arial" pitchFamily="34" charset="0"/>
                          <a:ea typeface="Arial" pitchFamily="34" charset="-122"/>
                          <a:cs typeface="Arial" pitchFamily="34" charset="-120"/>
                        </a:rPr>
                        <a:t>60 phút, 877 câu</a:t>
                      </a:r>
                      <a:endParaRPr lang="en-US" sz="13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buNone/>
                      </a:pPr>
                      <a:r>
                        <a:rPr lang="en-US" sz="1300" b="1" dirty="0">
                          <a:solidFill>
                            <a:srgbClr val="000000"/>
                          </a:solidFill>
                          <a:latin typeface="Arial" pitchFamily="34" charset="0"/>
                          <a:ea typeface="Arial" pitchFamily="34" charset="-122"/>
                          <a:cs typeface="Arial" pitchFamily="34" charset="-120"/>
                        </a:rPr>
                        <a:t>3 bản ghi YouTube</a:t>
                      </a:r>
                      <a:endParaRPr lang="en-US" sz="13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300" dirty="0">
                          <a:solidFill>
                            <a:srgbClr val="000000"/>
                          </a:solidFill>
                          <a:latin typeface="Arial" pitchFamily="34" charset="0"/>
                          <a:ea typeface="Arial" pitchFamily="34" charset="-122"/>
                          <a:cs typeface="Arial" pitchFamily="34" charset="-120"/>
                        </a:rPr>
                        <a:t>Tách câu</a:t>
                      </a:r>
                      <a:endParaRPr lang="en-US" sz="13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300" dirty="0">
                          <a:solidFill>
                            <a:srgbClr val="000000"/>
                          </a:solidFill>
                          <a:latin typeface="Arial" pitchFamily="34" charset="0"/>
                          <a:ea typeface="Arial" pitchFamily="34" charset="-122"/>
                          <a:cs typeface="Arial" pitchFamily="34" charset="-120"/>
                        </a:rPr>
                        <a:t>Bản tin đọc · phỏng vấn tự phát · TEDx</a:t>
                      </a:r>
                      <a:endParaRPr lang="en-US" sz="13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buNone/>
                      </a:pPr>
                      <a:r>
                        <a:rPr lang="en-US" sz="1300" b="1" dirty="0">
                          <a:solidFill>
                            <a:srgbClr val="000000"/>
                          </a:solidFill>
                          <a:latin typeface="Arial" pitchFamily="34" charset="0"/>
                          <a:ea typeface="Arial" pitchFamily="34" charset="-122"/>
                          <a:cs typeface="Arial" pitchFamily="34" charset="-120"/>
                        </a:rPr>
                        <a:t>25 đoạn phỏng vấn</a:t>
                      </a:r>
                      <a:endParaRPr lang="en-US" sz="13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300" dirty="0">
                          <a:solidFill>
                            <a:srgbClr val="000000"/>
                          </a:solidFill>
                          <a:latin typeface="Arial" pitchFamily="34" charset="0"/>
                          <a:ea typeface="Arial" pitchFamily="34" charset="-122"/>
                          <a:cs typeface="Arial" pitchFamily="34" charset="-120"/>
                        </a:rPr>
                        <a:t>ASR + MT giọng thật</a:t>
                      </a:r>
                      <a:endParaRPr lang="en-US" sz="13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300" dirty="0">
                          <a:solidFill>
                            <a:srgbClr val="000000"/>
                          </a:solidFill>
                          <a:latin typeface="Arial" pitchFamily="34" charset="0"/>
                          <a:ea typeface="Arial" pitchFamily="34" charset="-122"/>
                          <a:cs typeface="Arial" pitchFamily="34" charset="-120"/>
                        </a:rPr>
                        <a:t>149 s tiếng nói, câu tham chiếu nghe và sửa tay</a:t>
                      </a:r>
                      <a:endParaRPr lang="en-US" sz="13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16" name="Text 9"/>
          <p:cNvSpPr txBox="1"/>
          <p:nvPr/>
        </p:nvSpPr>
        <p:spPr>
          <a:xfrm>
            <a:off x="411480" y="5532120"/>
            <a:ext cx="10058400" cy="685800"/>
          </a:xfrm>
          <a:prstGeom prst="rect">
            <a:avLst/>
          </a:prstGeom>
          <a:noFill/>
          <a:ln/>
        </p:spPr>
        <p:txBody>
          <a:bodyPr wrap="square" lIns="0" tIns="0" rIns="0" bIns="0" rtlCol="0" anchor="t"/>
          <a:lstStyle/>
          <a:p>
            <a:pPr marL="0" indent="0">
              <a:buNone/>
            </a:pPr>
            <a:r>
              <a:rPr lang="en-US" sz="1300" b="1" dirty="0">
                <a:solidFill>
                  <a:srgbClr val="1B517B"/>
                </a:solidFill>
                <a:latin typeface="Arial" pitchFamily="34" charset="0"/>
                <a:ea typeface="Arial" pitchFamily="34" charset="-122"/>
                <a:cs typeface="Arial" pitchFamily="34" charset="-120"/>
              </a:rPr>
              <a:t>Nguyên tắc đo: </a:t>
            </a:r>
            <a:r>
              <a:rPr lang="en-US" sz="1300" dirty="0">
                <a:solidFill>
                  <a:srgbClr val="222222"/>
                </a:solidFill>
                <a:latin typeface="Arial" pitchFamily="34" charset="0"/>
                <a:ea typeface="Arial" pitchFamily="34" charset="-122"/>
                <a:cs typeface="Arial" pitchFamily="34" charset="-120"/>
              </a:rPr>
              <a:t>đo nóng (sau khi nạp mô hình); khâu dịch đo trên văn bản tham chiếu để lỗi ASR không cộng vào điểm MT; giải mã tất định nên chạy lại ra đúng WER cũ. Mọi kết quả gốc lưu JSON cùng mã nguồn.</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pic>
        <p:nvPicPr>
          <p:cNvPr id="2" name="Image 0" descr="C:\Users\hhung\AppData\Local\Temp\claude\d--Project-local-live-voice-translator\d0343c7e-f558-4e8b-8c62-5b900df8bea6\scratchpad\build\img\deco_right.png"/>
          <p:cNvPicPr>
            <a:picLocks noChangeAspect="1"/>
          </p:cNvPicPr>
          <p:nvPr/>
        </p:nvPicPr>
        <p:blipFill>
          <a:blip r:embed="rId3"/>
          <a:stretch>
            <a:fillRect/>
          </a:stretch>
        </p:blipFill>
        <p:spPr>
          <a:xfrm>
            <a:off x="0" y="0"/>
            <a:ext cx="12191695" cy="6858000"/>
          </a:xfrm>
          <a:prstGeom prst="rect">
            <a:avLst/>
          </a:prstGeom>
        </p:spPr>
      </p:pic>
      <p:pic>
        <p:nvPicPr>
          <p:cNvPr id="3" name="Image 1" descr="C:\Users\hhung\AppData\Local\Temp\claude\d--Project-local-live-voice-translator\d0343c7e-f558-4e8b-8c62-5b900df8bea6\scratchpad\build\img\logo_header.png"/>
          <p:cNvPicPr>
            <a:picLocks noChangeAspect="1"/>
          </p:cNvPicPr>
          <p:nvPr/>
        </p:nvPicPr>
        <p:blipFill>
          <a:blip r:embed="rId4"/>
          <a:stretch>
            <a:fillRect/>
          </a:stretch>
        </p:blipFill>
        <p:spPr>
          <a:xfrm>
            <a:off x="8549640" y="292608"/>
            <a:ext cx="2560320" cy="459250"/>
          </a:xfrm>
          <a:prstGeom prst="rect">
            <a:avLst/>
          </a:prstGeom>
        </p:spPr>
      </p:pic>
      <p:sp>
        <p:nvSpPr>
          <p:cNvPr id="4" name="Text 0"/>
          <p:cNvSpPr txBox="1"/>
          <p:nvPr/>
        </p:nvSpPr>
        <p:spPr>
          <a:xfrm>
            <a:off x="411480" y="256032"/>
            <a:ext cx="7955280" cy="548640"/>
          </a:xfrm>
          <a:prstGeom prst="rect">
            <a:avLst/>
          </a:prstGeom>
          <a:noFill/>
          <a:ln/>
        </p:spPr>
        <p:txBody>
          <a:bodyPr wrap="square" lIns="0" tIns="0" rIns="0" bIns="0" rtlCol="0" anchor="t"/>
          <a:lstStyle/>
          <a:p>
            <a:pPr marL="0" indent="0">
              <a:buNone/>
            </a:pPr>
            <a:r>
              <a:rPr lang="en-US" sz="2800" b="1" dirty="0">
                <a:solidFill>
                  <a:srgbClr val="487BA2"/>
                </a:solidFill>
                <a:latin typeface="Arial" pitchFamily="34" charset="0"/>
                <a:ea typeface="Arial" pitchFamily="34" charset="-122"/>
                <a:cs typeface="Arial" pitchFamily="34" charset="-120"/>
              </a:rPr>
              <a:t>III. Kết quả thực nghiệm</a:t>
            </a:r>
            <a:endParaRPr lang="en-US" sz="2800" dirty="0"/>
          </a:p>
        </p:txBody>
      </p:sp>
      <p:sp>
        <p:nvSpPr>
          <p:cNvPr id="5" name="Text 1"/>
          <p:cNvSpPr txBox="1"/>
          <p:nvPr/>
        </p:nvSpPr>
        <p:spPr>
          <a:xfrm>
            <a:off x="411480" y="841248"/>
            <a:ext cx="8046720" cy="411480"/>
          </a:xfrm>
          <a:prstGeom prst="rect">
            <a:avLst/>
          </a:prstGeom>
          <a:noFill/>
          <a:ln/>
        </p:spPr>
        <p:txBody>
          <a:bodyPr wrap="square" lIns="0" tIns="0" rIns="0" bIns="0" rtlCol="0" anchor="t"/>
          <a:lstStyle/>
          <a:p>
            <a:pPr marL="0" indent="0">
              <a:buNone/>
            </a:pPr>
            <a:r>
              <a:rPr lang="en-US" sz="2000" dirty="0">
                <a:solidFill>
                  <a:srgbClr val="1B517B"/>
                </a:solidFill>
                <a:latin typeface="Arial" pitchFamily="34" charset="0"/>
                <a:ea typeface="Arial" pitchFamily="34" charset="-122"/>
                <a:cs typeface="Arial" pitchFamily="34" charset="-120"/>
              </a:rPr>
              <a:t>2. Nhận dạng tiếng nói trên FLEURS (3.099 bản thu)</a:t>
            </a:r>
            <a:endParaRPr lang="en-US" sz="2000" dirty="0"/>
          </a:p>
        </p:txBody>
      </p:sp>
      <p:sp>
        <p:nvSpPr>
          <p:cNvPr id="6" name="Text 2"/>
          <p:cNvSpPr txBox="1"/>
          <p:nvPr/>
        </p:nvSpPr>
        <p:spPr>
          <a:xfrm>
            <a:off x="10104120" y="6355080"/>
            <a:ext cx="548640" cy="274320"/>
          </a:xfrm>
          <a:prstGeom prst="rect">
            <a:avLst/>
          </a:prstGeom>
          <a:noFill/>
          <a:ln/>
        </p:spPr>
        <p:txBody>
          <a:bodyPr wrap="square" lIns="0" tIns="0" rIns="0" bIns="0" rtlCol="0" anchor="t"/>
          <a:lstStyle/>
          <a:p>
            <a:pPr marL="0" indent="0" algn="r">
              <a:buNone/>
            </a:pPr>
            <a:r>
              <a:rPr lang="en-US" sz="1100" dirty="0">
                <a:solidFill>
                  <a:srgbClr val="5F6B76"/>
                </a:solidFill>
                <a:latin typeface="Arial" pitchFamily="34" charset="0"/>
                <a:ea typeface="Arial" pitchFamily="34" charset="-122"/>
                <a:cs typeface="Arial" pitchFamily="34" charset="-120"/>
              </a:rPr>
              <a:t>18</a:t>
            </a:r>
            <a:endParaRPr lang="en-US" sz="1100" dirty="0"/>
          </a:p>
        </p:txBody>
      </p:sp>
      <p:graphicFrame>
        <p:nvGraphicFramePr>
          <p:cNvPr id="7" name="Chart 0"/>
          <p:cNvGraphicFramePr/>
          <p:nvPr/>
        </p:nvGraphicFramePr>
        <p:xfrm>
          <a:off x="320040" y="1371600"/>
          <a:ext cx="6309360" cy="4846320"/>
        </p:xfrm>
        <a:graphic>
          <a:graphicData uri="http://schemas.openxmlformats.org/drawingml/2006/chart">
            <c:chart xmlns:c="http://schemas.openxmlformats.org/drawingml/2006/chart" xmlns:r="http://schemas.openxmlformats.org/officeDocument/2006/relationships" r:id="rId5"/>
          </a:graphicData>
        </a:graphic>
      </p:graphicFrame>
      <p:sp>
        <p:nvSpPr>
          <p:cNvPr id="8" name="Text 3"/>
          <p:cNvSpPr txBox="1"/>
          <p:nvPr/>
        </p:nvSpPr>
        <p:spPr>
          <a:xfrm>
            <a:off x="6858000" y="1463040"/>
            <a:ext cx="3840480" cy="4754880"/>
          </a:xfrm>
          <a:prstGeom prst="rect">
            <a:avLst/>
          </a:prstGeom>
          <a:noFill/>
          <a:ln/>
        </p:spPr>
        <p:txBody>
          <a:bodyPr wrap="square" lIns="0" tIns="0" rIns="0" bIns="0" rtlCol="0" anchor="t"/>
          <a:lstStyle/>
          <a:p>
            <a:pPr marL="190500" indent="-190500">
              <a:spcAft>
                <a:spcPts val="1000"/>
              </a:spcAft>
              <a:buSzPct val="100000"/>
              <a:buChar char="•"/>
            </a:pPr>
            <a:r>
              <a:rPr lang="en-US" sz="1400" dirty="0">
                <a:solidFill>
                  <a:srgbClr val="222222"/>
                </a:solidFill>
                <a:latin typeface="Arial" pitchFamily="34" charset="0"/>
                <a:ea typeface="Arial" pitchFamily="34" charset="-122"/>
                <a:cs typeface="Arial" pitchFamily="34" charset="-120"/>
              </a:rPr>
              <a:t>Tiếng Việt khó gần gấp đôi tiếng Anh: WER </a:t>
            </a:r>
            <a:r>
              <a:rPr lang="en-US" sz="1400" b="1" dirty="0">
                <a:solidFill>
                  <a:srgbClr val="1B517B"/>
                </a:solidFill>
                <a:latin typeface="Arial" pitchFamily="34" charset="0"/>
                <a:ea typeface="Arial" pitchFamily="34" charset="-122"/>
                <a:cs typeface="Arial" pitchFamily="34" charset="-120"/>
              </a:rPr>
              <a:t>8,8–10,4%</a:t>
            </a:r>
            <a:r>
              <a:rPr lang="en-US" sz="1400" dirty="0">
                <a:solidFill>
                  <a:srgbClr val="222222"/>
                </a:solidFill>
                <a:latin typeface="Arial" pitchFamily="34" charset="0"/>
                <a:ea typeface="Arial" pitchFamily="34" charset="-122"/>
                <a:cs typeface="Arial" pitchFamily="34" charset="-120"/>
              </a:rPr>
              <a:t> so với 4,8–5,0%. FLEURS là giọng đọc nên đây là mức sàn.</a:t>
            </a:r>
            <a:endParaRPr lang="en-US" sz="1400" dirty="0"/>
          </a:p>
          <a:p>
            <a:pPr marL="190500" indent="-190500">
              <a:spcAft>
                <a:spcPts val="1000"/>
              </a:spcAft>
              <a:buSzPct val="100000"/>
              <a:buChar char="•"/>
            </a:pPr>
            <a:r>
              <a:rPr lang="en-US" sz="1400" dirty="0">
                <a:solidFill>
                  <a:srgbClr val="222222"/>
                </a:solidFill>
                <a:latin typeface="Arial" pitchFamily="34" charset="0"/>
                <a:ea typeface="Arial" pitchFamily="34" charset="-122"/>
                <a:cs typeface="Arial" pitchFamily="34" charset="-120"/>
              </a:rPr>
              <a:t>Cùng large-v3-turbo, bản q5_0 kém bản fp16 1,2 điểm WER tiếng Việt, tiếng Anh không đổi, nhưng nhận dạng nhanh gấp đôi (RTF 0,018 so với 0,034).</a:t>
            </a:r>
            <a:endParaRPr lang="en-US" sz="1400" dirty="0"/>
          </a:p>
          <a:p>
            <a:pPr marL="190500" indent="-190500">
              <a:spcAft>
                <a:spcPts val="1000"/>
              </a:spcAft>
              <a:buSzPct val="100000"/>
              <a:buChar char="•"/>
            </a:pPr>
            <a:r>
              <a:rPr lang="en-US" sz="1400" dirty="0">
                <a:solidFill>
                  <a:srgbClr val="222222"/>
                </a:solidFill>
                <a:latin typeface="Arial" pitchFamily="34" charset="0"/>
                <a:ea typeface="Arial" pitchFamily="34" charset="-122"/>
                <a:cs typeface="Arial" pitchFamily="34" charset="-120"/>
              </a:rPr>
              <a:t>Tiếng Trung và tiếng Nhật dùng CER vì không tách từ bằng khoảng trắng, như bài báo FLEURS.</a:t>
            </a:r>
            <a:endParaRPr lang="en-US" sz="1400" dirty="0"/>
          </a:p>
          <a:p>
            <a:pPr marL="190500" indent="-190500">
              <a:spcAft>
                <a:spcPts val="1000"/>
              </a:spcAft>
              <a:buSzPct val="100000"/>
              <a:buChar char="•"/>
            </a:pPr>
            <a:r>
              <a:rPr lang="en-US" sz="1400" dirty="0">
                <a:solidFill>
                  <a:srgbClr val="B8262B"/>
                </a:solidFill>
                <a:latin typeface="Arial" pitchFamily="34" charset="0"/>
                <a:ea typeface="Arial" pitchFamily="34" charset="-122"/>
                <a:cs typeface="Arial" pitchFamily="34" charset="-120"/>
              </a:rPr>
              <a:t>Ba runtime không dùng chung tệp mô hình, nên ba cột là ba mô hình khác nhau và bảng này so ba cấu hình.</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pic>
        <p:nvPicPr>
          <p:cNvPr id="2" name="Image 0" descr="C:\Users\hhung\AppData\Local\Temp\claude\d--Project-local-live-voice-translator\d0343c7e-f558-4e8b-8c62-5b900df8bea6\scratchpad\build\img\deco_right.png"/>
          <p:cNvPicPr>
            <a:picLocks noChangeAspect="1"/>
          </p:cNvPicPr>
          <p:nvPr/>
        </p:nvPicPr>
        <p:blipFill>
          <a:blip r:embed="rId3"/>
          <a:stretch>
            <a:fillRect/>
          </a:stretch>
        </p:blipFill>
        <p:spPr>
          <a:xfrm>
            <a:off x="0" y="0"/>
            <a:ext cx="12191695" cy="6858000"/>
          </a:xfrm>
          <a:prstGeom prst="rect">
            <a:avLst/>
          </a:prstGeom>
        </p:spPr>
      </p:pic>
      <p:pic>
        <p:nvPicPr>
          <p:cNvPr id="3" name="Image 1" descr="C:\Users\hhung\AppData\Local\Temp\claude\d--Project-local-live-voice-translator\d0343c7e-f558-4e8b-8c62-5b900df8bea6\scratchpad\build\img\logo_header.png"/>
          <p:cNvPicPr>
            <a:picLocks noChangeAspect="1"/>
          </p:cNvPicPr>
          <p:nvPr/>
        </p:nvPicPr>
        <p:blipFill>
          <a:blip r:embed="rId4"/>
          <a:stretch>
            <a:fillRect/>
          </a:stretch>
        </p:blipFill>
        <p:spPr>
          <a:xfrm>
            <a:off x="8549640" y="292608"/>
            <a:ext cx="2560320" cy="459250"/>
          </a:xfrm>
          <a:prstGeom prst="rect">
            <a:avLst/>
          </a:prstGeom>
        </p:spPr>
      </p:pic>
      <p:sp>
        <p:nvSpPr>
          <p:cNvPr id="4" name="Text 0"/>
          <p:cNvSpPr txBox="1"/>
          <p:nvPr/>
        </p:nvSpPr>
        <p:spPr>
          <a:xfrm>
            <a:off x="411480" y="256032"/>
            <a:ext cx="7955280" cy="548640"/>
          </a:xfrm>
          <a:prstGeom prst="rect">
            <a:avLst/>
          </a:prstGeom>
          <a:noFill/>
          <a:ln/>
        </p:spPr>
        <p:txBody>
          <a:bodyPr wrap="square" lIns="0" tIns="0" rIns="0" bIns="0" rtlCol="0" anchor="t"/>
          <a:lstStyle/>
          <a:p>
            <a:pPr marL="0" indent="0">
              <a:buNone/>
            </a:pPr>
            <a:r>
              <a:rPr lang="en-US" sz="2800" b="1" dirty="0">
                <a:solidFill>
                  <a:srgbClr val="487BA2"/>
                </a:solidFill>
                <a:latin typeface="Arial" pitchFamily="34" charset="0"/>
                <a:ea typeface="Arial" pitchFamily="34" charset="-122"/>
                <a:cs typeface="Arial" pitchFamily="34" charset="-120"/>
              </a:rPr>
              <a:t>III. Kết quả thực nghiệm</a:t>
            </a:r>
            <a:endParaRPr lang="en-US" sz="2800" dirty="0"/>
          </a:p>
        </p:txBody>
      </p:sp>
      <p:sp>
        <p:nvSpPr>
          <p:cNvPr id="5" name="Text 1"/>
          <p:cNvSpPr txBox="1"/>
          <p:nvPr/>
        </p:nvSpPr>
        <p:spPr>
          <a:xfrm>
            <a:off x="411480" y="841248"/>
            <a:ext cx="8046720" cy="411480"/>
          </a:xfrm>
          <a:prstGeom prst="rect">
            <a:avLst/>
          </a:prstGeom>
          <a:noFill/>
          <a:ln/>
        </p:spPr>
        <p:txBody>
          <a:bodyPr wrap="square" lIns="0" tIns="0" rIns="0" bIns="0" rtlCol="0" anchor="t"/>
          <a:lstStyle/>
          <a:p>
            <a:pPr marL="0" indent="0">
              <a:buNone/>
            </a:pPr>
            <a:r>
              <a:rPr lang="en-US" sz="2000" dirty="0">
                <a:solidFill>
                  <a:srgbClr val="1B517B"/>
                </a:solidFill>
                <a:latin typeface="Arial" pitchFamily="34" charset="0"/>
                <a:ea typeface="Arial" pitchFamily="34" charset="-122"/>
                <a:cs typeface="Arial" pitchFamily="34" charset="-120"/>
              </a:rPr>
              <a:t>2. Dịch máy trên FLEURS (NLLB-200 distilled 600M)</a:t>
            </a:r>
            <a:endParaRPr lang="en-US" sz="2000" dirty="0"/>
          </a:p>
        </p:txBody>
      </p:sp>
      <p:sp>
        <p:nvSpPr>
          <p:cNvPr id="6" name="Text 2"/>
          <p:cNvSpPr txBox="1"/>
          <p:nvPr/>
        </p:nvSpPr>
        <p:spPr>
          <a:xfrm>
            <a:off x="10104120" y="6355080"/>
            <a:ext cx="548640" cy="274320"/>
          </a:xfrm>
          <a:prstGeom prst="rect">
            <a:avLst/>
          </a:prstGeom>
          <a:noFill/>
          <a:ln/>
        </p:spPr>
        <p:txBody>
          <a:bodyPr wrap="square" lIns="0" tIns="0" rIns="0" bIns="0" rtlCol="0" anchor="t"/>
          <a:lstStyle/>
          <a:p>
            <a:pPr marL="0" indent="0" algn="r">
              <a:buNone/>
            </a:pPr>
            <a:r>
              <a:rPr lang="en-US" sz="1100" dirty="0">
                <a:solidFill>
                  <a:srgbClr val="5F6B76"/>
                </a:solidFill>
                <a:latin typeface="Arial" pitchFamily="34" charset="0"/>
                <a:ea typeface="Arial" pitchFamily="34" charset="-122"/>
                <a:cs typeface="Arial" pitchFamily="34" charset="-120"/>
              </a:rPr>
              <a:t>19</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11480" y="1463040"/>
          <a:ext cx="5852160" cy="3328416"/>
        </p:xfrm>
        <a:graphic>
          <a:graphicData uri="http://schemas.openxmlformats.org/drawingml/2006/table">
            <a:tbl>
              <a:tblPr/>
              <a:tblGrid>
                <a:gridCol w="118872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tblGrid>
              <a:tr h="475488">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Chiều</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1B517B"/>
                    </a:solidFill>
                  </a:tcPr>
                </a:tc>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Số câu</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1B517B"/>
                    </a:solidFill>
                  </a:tcPr>
                </a:tc>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spBLEU</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1B517B"/>
                    </a:solidFill>
                  </a:tcPr>
                </a:tc>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chrF++</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1B517B"/>
                    </a:solidFill>
                  </a:tcPr>
                </a:tc>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COMET</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1B517B"/>
                    </a:solidFill>
                  </a:tcPr>
                </a:tc>
                <a:extLst>
                  <a:ext uri="{0D108BD9-81ED-4DB2-BD59-A6C34878D82A}">
                    <a16:rowId xmlns:a16="http://schemas.microsoft.com/office/drawing/2014/main" val="10000"/>
                  </a:ext>
                </a:extLst>
              </a:tr>
              <a:tr h="475488">
                <a:tc>
                  <a:txBody>
                    <a:bodyPr/>
                    <a:lstStyle/>
                    <a:p>
                      <a:pPr marL="0" indent="0" algn="l">
                        <a:buNone/>
                      </a:pPr>
                      <a:r>
                        <a:rPr lang="en-US" sz="1500" b="1" dirty="0">
                          <a:solidFill>
                            <a:srgbClr val="222222"/>
                          </a:solidFill>
                          <a:latin typeface="Arial" pitchFamily="34" charset="0"/>
                          <a:ea typeface="Arial" pitchFamily="34" charset="-122"/>
                          <a:cs typeface="Arial" pitchFamily="34" charset="-120"/>
                        </a:rPr>
                        <a:t>vi→en</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222222"/>
                          </a:solidFill>
                          <a:latin typeface="Arial" pitchFamily="34" charset="0"/>
                          <a:ea typeface="Arial" pitchFamily="34" charset="-122"/>
                          <a:cs typeface="Arial" pitchFamily="34" charset="-120"/>
                        </a:rPr>
                        <a:t>347</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222222"/>
                          </a:solidFill>
                          <a:latin typeface="Arial" pitchFamily="34" charset="0"/>
                          <a:ea typeface="Arial" pitchFamily="34" charset="-122"/>
                          <a:cs typeface="Arial" pitchFamily="34" charset="-120"/>
                        </a:rPr>
                        <a:t>35,79</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222222"/>
                          </a:solidFill>
                          <a:latin typeface="Arial" pitchFamily="34" charset="0"/>
                          <a:ea typeface="Arial" pitchFamily="34" charset="-122"/>
                          <a:cs typeface="Arial" pitchFamily="34" charset="-120"/>
                        </a:rPr>
                        <a:t>57,10</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222222"/>
                          </a:solidFill>
                          <a:latin typeface="Arial" pitchFamily="34" charset="0"/>
                          <a:ea typeface="Arial" pitchFamily="34" charset="-122"/>
                          <a:cs typeface="Arial" pitchFamily="34" charset="-120"/>
                        </a:rPr>
                        <a:t>0,853</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500" b="1" dirty="0">
                          <a:solidFill>
                            <a:srgbClr val="222222"/>
                          </a:solidFill>
                          <a:latin typeface="Arial" pitchFamily="34" charset="0"/>
                          <a:ea typeface="Arial" pitchFamily="34" charset="-122"/>
                          <a:cs typeface="Arial" pitchFamily="34" charset="-120"/>
                        </a:rPr>
                        <a:t>en→vi</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222222"/>
                          </a:solidFill>
                          <a:latin typeface="Arial" pitchFamily="34" charset="0"/>
                          <a:ea typeface="Arial" pitchFamily="34" charset="-122"/>
                          <a:cs typeface="Arial" pitchFamily="34" charset="-120"/>
                        </a:rPr>
                        <a:t>347</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222222"/>
                          </a:solidFill>
                          <a:latin typeface="Arial" pitchFamily="34" charset="0"/>
                          <a:ea typeface="Arial" pitchFamily="34" charset="-122"/>
                          <a:cs typeface="Arial" pitchFamily="34" charset="-120"/>
                        </a:rPr>
                        <a:t>37,13</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222222"/>
                          </a:solidFill>
                          <a:latin typeface="Arial" pitchFamily="34" charset="0"/>
                          <a:ea typeface="Arial" pitchFamily="34" charset="-122"/>
                          <a:cs typeface="Arial" pitchFamily="34" charset="-120"/>
                        </a:rPr>
                        <a:t>54,69</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222222"/>
                          </a:solidFill>
                          <a:latin typeface="Arial" pitchFamily="34" charset="0"/>
                          <a:ea typeface="Arial" pitchFamily="34" charset="-122"/>
                          <a:cs typeface="Arial" pitchFamily="34" charset="-120"/>
                        </a:rPr>
                        <a:t>0,851</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lgn="l">
                        <a:buNone/>
                      </a:pPr>
                      <a:r>
                        <a:rPr lang="en-US" sz="1500" b="1" dirty="0">
                          <a:solidFill>
                            <a:srgbClr val="222222"/>
                          </a:solidFill>
                          <a:latin typeface="Arial" pitchFamily="34" charset="0"/>
                          <a:ea typeface="Arial" pitchFamily="34" charset="-122"/>
                          <a:cs typeface="Arial" pitchFamily="34" charset="-120"/>
                        </a:rPr>
                        <a:t>vi→zh</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222222"/>
                          </a:solidFill>
                          <a:latin typeface="Arial" pitchFamily="34" charset="0"/>
                          <a:ea typeface="Arial" pitchFamily="34" charset="-122"/>
                          <a:cs typeface="Arial" pitchFamily="34" charset="-120"/>
                        </a:rPr>
                        <a:t>346</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500" b="1" dirty="0">
                          <a:solidFill>
                            <a:srgbClr val="B8262B"/>
                          </a:solidFill>
                          <a:latin typeface="Arial" pitchFamily="34" charset="0"/>
                          <a:ea typeface="Arial" pitchFamily="34" charset="-122"/>
                          <a:cs typeface="Arial" pitchFamily="34" charset="-120"/>
                        </a:rPr>
                        <a:t>17,15</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BEDED"/>
                    </a:solidFill>
                  </a:tcPr>
                </a:tc>
                <a:tc>
                  <a:txBody>
                    <a:bodyPr/>
                    <a:lstStyle/>
                    <a:p>
                      <a:pPr marL="0" indent="0" algn="ctr">
                        <a:buNone/>
                      </a:pPr>
                      <a:r>
                        <a:rPr lang="en-US" sz="1500" dirty="0">
                          <a:solidFill>
                            <a:srgbClr val="5F6B76"/>
                          </a:solidFill>
                          <a:latin typeface="Arial" pitchFamily="34" charset="0"/>
                          <a:ea typeface="Arial" pitchFamily="34" charset="-122"/>
                          <a:cs typeface="Arial" pitchFamily="34" charset="-120"/>
                        </a:rPr>
                        <a:t>16,14*</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500" b="1" dirty="0">
                          <a:solidFill>
                            <a:srgbClr val="B8262B"/>
                          </a:solidFill>
                          <a:latin typeface="Arial" pitchFamily="34" charset="0"/>
                          <a:ea typeface="Arial" pitchFamily="34" charset="-122"/>
                          <a:cs typeface="Arial" pitchFamily="34" charset="-120"/>
                        </a:rPr>
                        <a:t>0,773</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BEDED"/>
                    </a:solidFill>
                  </a:tcPr>
                </a:tc>
                <a:extLst>
                  <a:ext uri="{0D108BD9-81ED-4DB2-BD59-A6C34878D82A}">
                    <a16:rowId xmlns:a16="http://schemas.microsoft.com/office/drawing/2014/main" val="10003"/>
                  </a:ext>
                </a:extLst>
              </a:tr>
              <a:tr h="475488">
                <a:tc>
                  <a:txBody>
                    <a:bodyPr/>
                    <a:lstStyle/>
                    <a:p>
                      <a:pPr marL="0" indent="0" algn="l">
                        <a:buNone/>
                      </a:pPr>
                      <a:r>
                        <a:rPr lang="en-US" sz="1500" b="1" dirty="0">
                          <a:solidFill>
                            <a:srgbClr val="222222"/>
                          </a:solidFill>
                          <a:latin typeface="Arial" pitchFamily="34" charset="0"/>
                          <a:ea typeface="Arial" pitchFamily="34" charset="-122"/>
                          <a:cs typeface="Arial" pitchFamily="34" charset="-120"/>
                        </a:rPr>
                        <a:t>zh→vi</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222222"/>
                          </a:solidFill>
                          <a:latin typeface="Arial" pitchFamily="34" charset="0"/>
                          <a:ea typeface="Arial" pitchFamily="34" charset="-122"/>
                          <a:cs typeface="Arial" pitchFamily="34" charset="-120"/>
                        </a:rPr>
                        <a:t>346</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222222"/>
                          </a:solidFill>
                          <a:latin typeface="Arial" pitchFamily="34" charset="0"/>
                          <a:ea typeface="Arial" pitchFamily="34" charset="-122"/>
                          <a:cs typeface="Arial" pitchFamily="34" charset="-120"/>
                        </a:rPr>
                        <a:t>22,33</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222222"/>
                          </a:solidFill>
                          <a:latin typeface="Arial" pitchFamily="34" charset="0"/>
                          <a:ea typeface="Arial" pitchFamily="34" charset="-122"/>
                          <a:cs typeface="Arial" pitchFamily="34" charset="-120"/>
                        </a:rPr>
                        <a:t>42,77</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222222"/>
                          </a:solidFill>
                          <a:latin typeface="Arial" pitchFamily="34" charset="0"/>
                          <a:ea typeface="Arial" pitchFamily="34" charset="-122"/>
                          <a:cs typeface="Arial" pitchFamily="34" charset="-120"/>
                        </a:rPr>
                        <a:t>0,821</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lgn="l">
                        <a:buNone/>
                      </a:pPr>
                      <a:r>
                        <a:rPr lang="en-US" sz="1500" b="1" dirty="0">
                          <a:solidFill>
                            <a:srgbClr val="222222"/>
                          </a:solidFill>
                          <a:latin typeface="Arial" pitchFamily="34" charset="0"/>
                          <a:ea typeface="Arial" pitchFamily="34" charset="-122"/>
                          <a:cs typeface="Arial" pitchFamily="34" charset="-120"/>
                        </a:rPr>
                        <a:t>vi→ja</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222222"/>
                          </a:solidFill>
                          <a:latin typeface="Arial" pitchFamily="34" charset="0"/>
                          <a:ea typeface="Arial" pitchFamily="34" charset="-122"/>
                          <a:cs typeface="Arial" pitchFamily="34" charset="-120"/>
                        </a:rPr>
                        <a:t>318</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500" b="1" dirty="0">
                          <a:solidFill>
                            <a:srgbClr val="E3A33B"/>
                          </a:solidFill>
                          <a:latin typeface="Arial" pitchFamily="34" charset="0"/>
                          <a:ea typeface="Arial" pitchFamily="34" charset="-122"/>
                          <a:cs typeface="Arial" pitchFamily="34" charset="-120"/>
                        </a:rPr>
                        <a:t>10,96</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5F6B76"/>
                          </a:solidFill>
                          <a:latin typeface="Arial" pitchFamily="34" charset="0"/>
                          <a:ea typeface="Arial" pitchFamily="34" charset="-122"/>
                          <a:cs typeface="Arial" pitchFamily="34" charset="-120"/>
                        </a:rPr>
                        <a:t>19,88*</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222222"/>
                          </a:solidFill>
                          <a:latin typeface="Arial" pitchFamily="34" charset="0"/>
                          <a:ea typeface="Arial" pitchFamily="34" charset="-122"/>
                          <a:cs typeface="Arial" pitchFamily="34" charset="-120"/>
                        </a:rPr>
                        <a:t>0,824</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lgn="l">
                        <a:buNone/>
                      </a:pPr>
                      <a:r>
                        <a:rPr lang="en-US" sz="1500" b="1" dirty="0">
                          <a:solidFill>
                            <a:srgbClr val="222222"/>
                          </a:solidFill>
                          <a:latin typeface="Arial" pitchFamily="34" charset="0"/>
                          <a:ea typeface="Arial" pitchFamily="34" charset="-122"/>
                          <a:cs typeface="Arial" pitchFamily="34" charset="-120"/>
                        </a:rPr>
                        <a:t>ja→vi</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222222"/>
                          </a:solidFill>
                          <a:latin typeface="Arial" pitchFamily="34" charset="0"/>
                          <a:ea typeface="Arial" pitchFamily="34" charset="-122"/>
                          <a:cs typeface="Arial" pitchFamily="34" charset="-120"/>
                        </a:rPr>
                        <a:t>318</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222222"/>
                          </a:solidFill>
                          <a:latin typeface="Arial" pitchFamily="34" charset="0"/>
                          <a:ea typeface="Arial" pitchFamily="34" charset="-122"/>
                          <a:cs typeface="Arial" pitchFamily="34" charset="-120"/>
                        </a:rPr>
                        <a:t>19,91</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222222"/>
                          </a:solidFill>
                          <a:latin typeface="Arial" pitchFamily="34" charset="0"/>
                          <a:ea typeface="Arial" pitchFamily="34" charset="-122"/>
                          <a:cs typeface="Arial" pitchFamily="34" charset="-120"/>
                        </a:rPr>
                        <a:t>40,19</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222222"/>
                          </a:solidFill>
                          <a:latin typeface="Arial" pitchFamily="34" charset="0"/>
                          <a:ea typeface="Arial" pitchFamily="34" charset="-122"/>
                          <a:cs typeface="Arial" pitchFamily="34" charset="-120"/>
                        </a:rPr>
                        <a:t>0,819</a:t>
                      </a:r>
                      <a:endParaRPr lang="en-US" sz="15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8" name="Text 3"/>
          <p:cNvSpPr txBox="1"/>
          <p:nvPr/>
        </p:nvSpPr>
        <p:spPr>
          <a:xfrm>
            <a:off x="411480" y="4892040"/>
            <a:ext cx="5852160" cy="548640"/>
          </a:xfrm>
          <a:prstGeom prst="rect">
            <a:avLst/>
          </a:prstGeom>
          <a:noFill/>
          <a:ln/>
        </p:spPr>
        <p:txBody>
          <a:bodyPr wrap="square" lIns="0" tIns="0" rIns="0" bIns="0" rtlCol="0" anchor="t"/>
          <a:lstStyle/>
          <a:p>
            <a:pPr marL="0" indent="0">
              <a:buNone/>
            </a:pPr>
            <a:r>
              <a:rPr lang="en-US" sz="1100" i="1" dirty="0">
                <a:solidFill>
                  <a:srgbClr val="5F6B76"/>
                </a:solidFill>
                <a:latin typeface="Arial" pitchFamily="34" charset="0"/>
                <a:ea typeface="Arial" pitchFamily="34" charset="-122"/>
                <a:cs typeface="Arial" pitchFamily="34" charset="-120"/>
              </a:rPr>
              <a:t>* chrF++ của đích zh/ja không so ngang được (không có khoảng trắng); COMET dùng Unbabel/wmt22-comet-da [21]</a:t>
            </a:r>
            <a:endParaRPr lang="en-US" sz="1100" dirty="0"/>
          </a:p>
        </p:txBody>
      </p:sp>
      <p:sp>
        <p:nvSpPr>
          <p:cNvPr id="9" name="Shape 4"/>
          <p:cNvSpPr/>
          <p:nvPr/>
        </p:nvSpPr>
        <p:spPr>
          <a:xfrm>
            <a:off x="6583680" y="1463040"/>
            <a:ext cx="4069080" cy="2240280"/>
          </a:xfrm>
          <a:prstGeom prst="roundRect">
            <a:avLst>
              <a:gd name="adj" fmla="val 3265"/>
            </a:avLst>
          </a:prstGeom>
          <a:solidFill>
            <a:srgbClr val="EEF4F9"/>
          </a:solidFill>
          <a:ln w="12700">
            <a:solidFill>
              <a:srgbClr val="EEF4F9"/>
            </a:solidFill>
            <a:prstDash val="solid"/>
          </a:ln>
        </p:spPr>
        <p:txBody>
          <a:bodyPr/>
          <a:lstStyle/>
          <a:p>
            <a:endParaRPr lang="en-US"/>
          </a:p>
        </p:txBody>
      </p:sp>
      <p:sp>
        <p:nvSpPr>
          <p:cNvPr id="10" name="Text 5"/>
          <p:cNvSpPr txBox="1"/>
          <p:nvPr/>
        </p:nvSpPr>
        <p:spPr>
          <a:xfrm>
            <a:off x="6766560" y="1554480"/>
            <a:ext cx="3749040" cy="365760"/>
          </a:xfrm>
          <a:prstGeom prst="rect">
            <a:avLst/>
          </a:prstGeom>
          <a:noFill/>
          <a:ln/>
        </p:spPr>
        <p:txBody>
          <a:bodyPr wrap="square" lIns="0" tIns="0" rIns="0" bIns="0" rtlCol="0" anchor="t"/>
          <a:lstStyle/>
          <a:p>
            <a:pPr marL="0" indent="0">
              <a:buNone/>
            </a:pPr>
            <a:r>
              <a:rPr lang="en-US" sz="1500" b="1" dirty="0">
                <a:solidFill>
                  <a:srgbClr val="1B517B"/>
                </a:solidFill>
                <a:latin typeface="Arial" pitchFamily="34" charset="0"/>
                <a:ea typeface="Arial" pitchFamily="34" charset="-122"/>
                <a:cs typeface="Arial" pitchFamily="34" charset="-120"/>
              </a:rPr>
              <a:t>spBLEU và COMET xếp hạng khác nhau</a:t>
            </a:r>
            <a:endParaRPr lang="en-US" sz="1500" dirty="0"/>
          </a:p>
        </p:txBody>
      </p:sp>
      <p:sp>
        <p:nvSpPr>
          <p:cNvPr id="11" name="Text 6"/>
          <p:cNvSpPr txBox="1"/>
          <p:nvPr/>
        </p:nvSpPr>
        <p:spPr>
          <a:xfrm>
            <a:off x="6766560" y="1938528"/>
            <a:ext cx="3749040" cy="1737360"/>
          </a:xfrm>
          <a:prstGeom prst="rect">
            <a:avLst/>
          </a:prstGeom>
          <a:noFill/>
          <a:ln/>
        </p:spPr>
        <p:txBody>
          <a:bodyPr wrap="square" lIns="0" tIns="0" rIns="0" bIns="0" rtlCol="0" anchor="t"/>
          <a:lstStyle/>
          <a:p>
            <a:pPr marL="0" indent="0">
              <a:buNone/>
            </a:pPr>
            <a:r>
              <a:rPr lang="en-US" sz="1300" dirty="0">
                <a:solidFill>
                  <a:srgbClr val="222222"/>
                </a:solidFill>
                <a:latin typeface="Arial" pitchFamily="34" charset="0"/>
                <a:ea typeface="Arial" pitchFamily="34" charset="-122"/>
                <a:cs typeface="Arial" pitchFamily="34" charset="-120"/>
              </a:rPr>
              <a:t>Theo spBLEU, vi→ja tệ nhất (10,96). Theo COMET, vi→ja (0,824) lại cao hơn vi→zh (0,773). spBLEU khớp chuỗi bề mặt nên phạt nặng ngôn ngữ khác hệ chữ; COMET chấm theo nghĩa.</a:t>
            </a:r>
            <a:endParaRPr lang="en-US" sz="1300" dirty="0"/>
          </a:p>
        </p:txBody>
      </p:sp>
      <p:sp>
        <p:nvSpPr>
          <p:cNvPr id="12" name="Shape 7"/>
          <p:cNvSpPr/>
          <p:nvPr/>
        </p:nvSpPr>
        <p:spPr>
          <a:xfrm>
            <a:off x="6583680" y="3886200"/>
            <a:ext cx="4069080" cy="1554480"/>
          </a:xfrm>
          <a:prstGeom prst="roundRect">
            <a:avLst>
              <a:gd name="adj" fmla="val 4706"/>
            </a:avLst>
          </a:prstGeom>
          <a:solidFill>
            <a:srgbClr val="FBEDED"/>
          </a:solidFill>
          <a:ln w="12700">
            <a:solidFill>
              <a:srgbClr val="FBEDED"/>
            </a:solidFill>
            <a:prstDash val="solid"/>
          </a:ln>
        </p:spPr>
        <p:txBody>
          <a:bodyPr/>
          <a:lstStyle/>
          <a:p>
            <a:endParaRPr lang="en-US"/>
          </a:p>
        </p:txBody>
      </p:sp>
      <p:sp>
        <p:nvSpPr>
          <p:cNvPr id="13" name="Text 8"/>
          <p:cNvSpPr txBox="1"/>
          <p:nvPr/>
        </p:nvSpPr>
        <p:spPr>
          <a:xfrm>
            <a:off x="6766560" y="3977640"/>
            <a:ext cx="3749040" cy="1371600"/>
          </a:xfrm>
          <a:prstGeom prst="rect">
            <a:avLst/>
          </a:prstGeom>
          <a:noFill/>
          <a:ln/>
        </p:spPr>
        <p:txBody>
          <a:bodyPr wrap="square" lIns="0" tIns="0" rIns="0" bIns="0" rtlCol="0" anchor="ctr"/>
          <a:lstStyle/>
          <a:p>
            <a:pPr marL="0" indent="0">
              <a:buNone/>
            </a:pPr>
            <a:r>
              <a:rPr lang="en-US" sz="1400" b="1" dirty="0">
                <a:solidFill>
                  <a:srgbClr val="B8262B"/>
                </a:solidFill>
                <a:latin typeface="Arial" pitchFamily="34" charset="0"/>
                <a:ea typeface="Arial" pitchFamily="34" charset="-122"/>
                <a:cs typeface="Arial" pitchFamily="34" charset="-120"/>
              </a:rPr>
              <a:t>Chiều yếu nhất là vi→zh, nơi cả hai độ đo đồng ý. Vì hai độ đo có thể xếp hạng ngược nhau, đồ án báo cáo cả spBLEU lẫn COMET.</a:t>
            </a:r>
            <a:endParaRPr lang="en-US" sz="1400" dirty="0"/>
          </a:p>
        </p:txBody>
      </p:sp>
      <p:sp>
        <p:nvSpPr>
          <p:cNvPr id="14" name="Text 9"/>
          <p:cNvSpPr txBox="1"/>
          <p:nvPr/>
        </p:nvSpPr>
        <p:spPr>
          <a:xfrm>
            <a:off x="411480" y="5532120"/>
            <a:ext cx="10241280" cy="548640"/>
          </a:xfrm>
          <a:prstGeom prst="rect">
            <a:avLst/>
          </a:prstGeom>
          <a:noFill/>
          <a:ln/>
        </p:spPr>
        <p:txBody>
          <a:bodyPr wrap="square" lIns="0" tIns="0" rIns="0" bIns="0" rtlCol="0" anchor="t"/>
          <a:lstStyle/>
          <a:p>
            <a:pPr marL="0" indent="0">
              <a:buNone/>
            </a:pPr>
            <a:r>
              <a:rPr lang="en-US" sz="1400" dirty="0">
                <a:solidFill>
                  <a:srgbClr val="1B517B"/>
                </a:solidFill>
                <a:latin typeface="Arial" pitchFamily="34" charset="0"/>
                <a:ea typeface="Arial" pitchFamily="34" charset="-122"/>
                <a:cs typeface="Arial" pitchFamily="34" charset="-120"/>
              </a:rPr>
              <a:t>COMET 0,77–0,85 trên cả sáu chiều. Không lấy trung bình sáu chiều vì độ khó rất khác nhau.</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pic>
        <p:nvPicPr>
          <p:cNvPr id="2" name="Image 0" descr="C:\Users\hhung\AppData\Local\Temp\claude\d--Project-local-live-voice-translator\d0343c7e-f558-4e8b-8c62-5b900df8bea6\scratchpad\build\img\deco_right.png"/>
          <p:cNvPicPr>
            <a:picLocks noChangeAspect="1"/>
          </p:cNvPicPr>
          <p:nvPr/>
        </p:nvPicPr>
        <p:blipFill>
          <a:blip r:embed="rId3"/>
          <a:stretch>
            <a:fillRect/>
          </a:stretch>
        </p:blipFill>
        <p:spPr>
          <a:xfrm>
            <a:off x="0" y="0"/>
            <a:ext cx="12191695" cy="6858000"/>
          </a:xfrm>
          <a:prstGeom prst="rect">
            <a:avLst/>
          </a:prstGeom>
        </p:spPr>
      </p:pic>
      <p:pic>
        <p:nvPicPr>
          <p:cNvPr id="3" name="Image 1" descr="C:\Users\hhung\AppData\Local\Temp\claude\d--Project-local-live-voice-translator\d0343c7e-f558-4e8b-8c62-5b900df8bea6\scratchpad\build\img\logo_header.png"/>
          <p:cNvPicPr>
            <a:picLocks noChangeAspect="1"/>
          </p:cNvPicPr>
          <p:nvPr/>
        </p:nvPicPr>
        <p:blipFill>
          <a:blip r:embed="rId4"/>
          <a:stretch>
            <a:fillRect/>
          </a:stretch>
        </p:blipFill>
        <p:spPr>
          <a:xfrm>
            <a:off x="8549640" y="292608"/>
            <a:ext cx="2560320" cy="459250"/>
          </a:xfrm>
          <a:prstGeom prst="rect">
            <a:avLst/>
          </a:prstGeom>
        </p:spPr>
      </p:pic>
      <p:sp>
        <p:nvSpPr>
          <p:cNvPr id="4" name="Text 0"/>
          <p:cNvSpPr txBox="1"/>
          <p:nvPr/>
        </p:nvSpPr>
        <p:spPr>
          <a:xfrm>
            <a:off x="411480" y="256032"/>
            <a:ext cx="7955280" cy="548640"/>
          </a:xfrm>
          <a:prstGeom prst="rect">
            <a:avLst/>
          </a:prstGeom>
          <a:noFill/>
          <a:ln/>
        </p:spPr>
        <p:txBody>
          <a:bodyPr wrap="square" lIns="0" tIns="0" rIns="0" bIns="0" rtlCol="0" anchor="t"/>
          <a:lstStyle/>
          <a:p>
            <a:pPr marL="0" indent="0">
              <a:buNone/>
            </a:pPr>
            <a:r>
              <a:rPr lang="en-US" sz="2800" b="1" dirty="0">
                <a:solidFill>
                  <a:srgbClr val="487BA2"/>
                </a:solidFill>
                <a:latin typeface="Arial" pitchFamily="34" charset="0"/>
                <a:ea typeface="Arial" pitchFamily="34" charset="-122"/>
                <a:cs typeface="Arial" pitchFamily="34" charset="-120"/>
              </a:rPr>
              <a:t>III. Kết quả thực nghiệm</a:t>
            </a:r>
            <a:endParaRPr lang="en-US" sz="2800" dirty="0"/>
          </a:p>
        </p:txBody>
      </p:sp>
      <p:sp>
        <p:nvSpPr>
          <p:cNvPr id="5" name="Text 1"/>
          <p:cNvSpPr txBox="1"/>
          <p:nvPr/>
        </p:nvSpPr>
        <p:spPr>
          <a:xfrm>
            <a:off x="411480" y="841248"/>
            <a:ext cx="8046720" cy="411480"/>
          </a:xfrm>
          <a:prstGeom prst="rect">
            <a:avLst/>
          </a:prstGeom>
          <a:noFill/>
          <a:ln/>
        </p:spPr>
        <p:txBody>
          <a:bodyPr wrap="square" lIns="0" tIns="0" rIns="0" bIns="0" rtlCol="0" anchor="t"/>
          <a:lstStyle/>
          <a:p>
            <a:pPr marL="0" indent="0">
              <a:buNone/>
            </a:pPr>
            <a:r>
              <a:rPr lang="en-US" sz="2000" dirty="0">
                <a:solidFill>
                  <a:srgbClr val="1B517B"/>
                </a:solidFill>
                <a:latin typeface="Arial" pitchFamily="34" charset="0"/>
                <a:ea typeface="Arial" pitchFamily="34" charset="-122"/>
                <a:cs typeface="Arial" pitchFamily="34" charset="-120"/>
              </a:rPr>
              <a:t>3. Độ trễ: hệ số thời gian thực (RTF p90)</a:t>
            </a:r>
            <a:endParaRPr lang="en-US" sz="2000" dirty="0"/>
          </a:p>
        </p:txBody>
      </p:sp>
      <p:sp>
        <p:nvSpPr>
          <p:cNvPr id="6" name="Text 2"/>
          <p:cNvSpPr txBox="1"/>
          <p:nvPr/>
        </p:nvSpPr>
        <p:spPr>
          <a:xfrm>
            <a:off x="10104120" y="6355080"/>
            <a:ext cx="548640" cy="274320"/>
          </a:xfrm>
          <a:prstGeom prst="rect">
            <a:avLst/>
          </a:prstGeom>
          <a:noFill/>
          <a:ln/>
        </p:spPr>
        <p:txBody>
          <a:bodyPr wrap="square" lIns="0" tIns="0" rIns="0" bIns="0" rtlCol="0" anchor="t"/>
          <a:lstStyle/>
          <a:p>
            <a:pPr marL="0" indent="0" algn="r">
              <a:buNone/>
            </a:pPr>
            <a:r>
              <a:rPr lang="en-US" sz="1100" dirty="0">
                <a:solidFill>
                  <a:srgbClr val="5F6B76"/>
                </a:solidFill>
                <a:latin typeface="Arial" pitchFamily="34" charset="0"/>
                <a:ea typeface="Arial" pitchFamily="34" charset="-122"/>
                <a:cs typeface="Arial" pitchFamily="34" charset="-120"/>
              </a:rPr>
              <a:t>20</a:t>
            </a:r>
            <a:endParaRPr lang="en-US" sz="1100" dirty="0"/>
          </a:p>
        </p:txBody>
      </p:sp>
      <p:graphicFrame>
        <p:nvGraphicFramePr>
          <p:cNvPr id="7" name="Chart 0"/>
          <p:cNvGraphicFramePr/>
          <p:nvPr/>
        </p:nvGraphicFramePr>
        <p:xfrm>
          <a:off x="320040" y="1371600"/>
          <a:ext cx="6583680" cy="4846320"/>
        </p:xfrm>
        <a:graphic>
          <a:graphicData uri="http://schemas.openxmlformats.org/drawingml/2006/chart">
            <c:chart xmlns:c="http://schemas.openxmlformats.org/drawingml/2006/chart" xmlns:r="http://schemas.openxmlformats.org/officeDocument/2006/relationships" r:id="rId5"/>
          </a:graphicData>
        </a:graphic>
      </p:graphicFrame>
      <p:sp>
        <p:nvSpPr>
          <p:cNvPr id="8" name="Text 3"/>
          <p:cNvSpPr txBox="1"/>
          <p:nvPr/>
        </p:nvSpPr>
        <p:spPr>
          <a:xfrm>
            <a:off x="7132320" y="1463040"/>
            <a:ext cx="3566160" cy="822960"/>
          </a:xfrm>
          <a:prstGeom prst="rect">
            <a:avLst/>
          </a:prstGeom>
          <a:noFill/>
          <a:ln/>
        </p:spPr>
        <p:txBody>
          <a:bodyPr wrap="square" lIns="0" tIns="0" rIns="0" bIns="0" rtlCol="0" anchor="t"/>
          <a:lstStyle/>
          <a:p>
            <a:pPr marL="0" indent="0">
              <a:buNone/>
            </a:pPr>
            <a:r>
              <a:rPr lang="en-US" sz="1300" b="1" dirty="0">
                <a:solidFill>
                  <a:srgbClr val="222222"/>
                </a:solidFill>
                <a:latin typeface="Arial" pitchFamily="34" charset="0"/>
                <a:ea typeface="Arial" pitchFamily="34" charset="-122"/>
                <a:cs typeface="Arial" pitchFamily="34" charset="-120"/>
              </a:rPr>
              <a:t>RTF = thời gian xử lý / thời lượng âm thanh</a:t>
            </a:r>
            <a:r>
              <a:rPr lang="en-US" sz="1300" dirty="0">
                <a:solidFill>
                  <a:srgbClr val="5F6B76"/>
                </a:solidFill>
                <a:latin typeface="Arial" pitchFamily="34" charset="0"/>
                <a:ea typeface="Arial" pitchFamily="34" charset="-122"/>
                <a:cs typeface="Arial" pitchFamily="34" charset="-120"/>
              </a:rPr>
              <a:t>  (50 mẫu mỗi chiều, đủ chuỗi VAD → ASR → MT → TTS)</a:t>
            </a:r>
            <a:endParaRPr lang="en-US" sz="1300" dirty="0"/>
          </a:p>
        </p:txBody>
      </p:sp>
      <p:sp>
        <p:nvSpPr>
          <p:cNvPr id="9" name="Text 4"/>
          <p:cNvSpPr txBox="1"/>
          <p:nvPr/>
        </p:nvSpPr>
        <p:spPr>
          <a:xfrm>
            <a:off x="7132320" y="2377440"/>
            <a:ext cx="3566160" cy="3840480"/>
          </a:xfrm>
          <a:prstGeom prst="rect">
            <a:avLst/>
          </a:prstGeom>
          <a:noFill/>
          <a:ln/>
        </p:spPr>
        <p:txBody>
          <a:bodyPr wrap="square" lIns="0" tIns="0" rIns="0" bIns="0" rtlCol="0" anchor="t"/>
          <a:lstStyle/>
          <a:p>
            <a:pPr marL="190500" indent="-190500">
              <a:spcAft>
                <a:spcPts val="1000"/>
              </a:spcAft>
              <a:buSzPct val="100000"/>
              <a:buChar char="•"/>
            </a:pPr>
            <a:r>
              <a:rPr lang="en-US" sz="1400" dirty="0">
                <a:solidFill>
                  <a:srgbClr val="222222"/>
                </a:solidFill>
                <a:latin typeface="Arial" pitchFamily="34" charset="0"/>
                <a:ea typeface="Arial" pitchFamily="34" charset="-122"/>
                <a:cs typeface="Arial" pitchFamily="34" charset="-120"/>
              </a:rPr>
              <a:t>RTF p90 dưới 1 ở cả sáu chiều trên cả hai máy, tức hệ thống theo kịp luồng nói liên tục.</a:t>
            </a:r>
            <a:endParaRPr lang="en-US" sz="1400" dirty="0"/>
          </a:p>
          <a:p>
            <a:pPr marL="190500" indent="-190500">
              <a:spcAft>
                <a:spcPts val="1000"/>
              </a:spcAft>
              <a:buSzPct val="100000"/>
              <a:buChar char="•"/>
            </a:pPr>
            <a:r>
              <a:rPr lang="en-US" sz="1400" dirty="0">
                <a:solidFill>
                  <a:srgbClr val="222222"/>
                </a:solidFill>
                <a:latin typeface="Arial" pitchFamily="34" charset="0"/>
                <a:ea typeface="Arial" pitchFamily="34" charset="-122"/>
                <a:cs typeface="Arial" pitchFamily="34" charset="-120"/>
              </a:rPr>
              <a:t>Với ngưỡng 0,5, máy Windows đạt cả sáu chiều (xấu nhất vi→ja 0,383). Máy macOS đạt hai chiều en→vi và ja→vi; zh→vi trượt sát mép ở 0,509.</a:t>
            </a:r>
            <a:endParaRPr lang="en-US" sz="1400" dirty="0"/>
          </a:p>
          <a:p>
            <a:pPr marL="190500" indent="-190500">
              <a:spcAft>
                <a:spcPts val="1000"/>
              </a:spcAft>
              <a:buSzPct val="100000"/>
              <a:buChar char="•"/>
            </a:pPr>
            <a:r>
              <a:rPr lang="en-US" sz="1400" dirty="0">
                <a:solidFill>
                  <a:srgbClr val="222222"/>
                </a:solidFill>
                <a:latin typeface="Arial" pitchFamily="34" charset="0"/>
                <a:ea typeface="Arial" pitchFamily="34" charset="-122"/>
                <a:cs typeface="Arial" pitchFamily="34" charset="-120"/>
              </a:rPr>
              <a:t>Thời gian chờ chốt câu là 200–256 ms, chỉ phụ thuộc ngôn ngữ nguồn và giống nhau trên hai máy.</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pic>
        <p:nvPicPr>
          <p:cNvPr id="2" name="Image 0" descr="C:\Users\hhung\AppData\Local\Temp\claude\d--Project-local-live-voice-translator\d0343c7e-f558-4e8b-8c62-5b900df8bea6\scratchpad\build\img\deco_right.png"/>
          <p:cNvPicPr>
            <a:picLocks noChangeAspect="1"/>
          </p:cNvPicPr>
          <p:nvPr/>
        </p:nvPicPr>
        <p:blipFill>
          <a:blip r:embed="rId3"/>
          <a:stretch>
            <a:fillRect/>
          </a:stretch>
        </p:blipFill>
        <p:spPr>
          <a:xfrm>
            <a:off x="0" y="0"/>
            <a:ext cx="12191695" cy="6858000"/>
          </a:xfrm>
          <a:prstGeom prst="rect">
            <a:avLst/>
          </a:prstGeom>
        </p:spPr>
      </p:pic>
      <p:pic>
        <p:nvPicPr>
          <p:cNvPr id="3" name="Image 1" descr="C:\Users\hhung\AppData\Local\Temp\claude\d--Project-local-live-voice-translator\d0343c7e-f558-4e8b-8c62-5b900df8bea6\scratchpad\build\img\logo_header.png"/>
          <p:cNvPicPr>
            <a:picLocks noChangeAspect="1"/>
          </p:cNvPicPr>
          <p:nvPr/>
        </p:nvPicPr>
        <p:blipFill>
          <a:blip r:embed="rId4"/>
          <a:stretch>
            <a:fillRect/>
          </a:stretch>
        </p:blipFill>
        <p:spPr>
          <a:xfrm>
            <a:off x="8549640" y="292608"/>
            <a:ext cx="2560320" cy="459250"/>
          </a:xfrm>
          <a:prstGeom prst="rect">
            <a:avLst/>
          </a:prstGeom>
        </p:spPr>
      </p:pic>
      <p:sp>
        <p:nvSpPr>
          <p:cNvPr id="4" name="Text 0"/>
          <p:cNvSpPr txBox="1"/>
          <p:nvPr/>
        </p:nvSpPr>
        <p:spPr>
          <a:xfrm>
            <a:off x="411480" y="256032"/>
            <a:ext cx="7955280" cy="548640"/>
          </a:xfrm>
          <a:prstGeom prst="rect">
            <a:avLst/>
          </a:prstGeom>
          <a:noFill/>
          <a:ln/>
        </p:spPr>
        <p:txBody>
          <a:bodyPr wrap="square" lIns="0" tIns="0" rIns="0" bIns="0" rtlCol="0" anchor="t"/>
          <a:lstStyle/>
          <a:p>
            <a:pPr marL="0" indent="0">
              <a:buNone/>
            </a:pPr>
            <a:r>
              <a:rPr lang="en-US" sz="2800" b="1" dirty="0">
                <a:solidFill>
                  <a:srgbClr val="487BA2"/>
                </a:solidFill>
                <a:latin typeface="Arial" pitchFamily="34" charset="0"/>
                <a:ea typeface="Arial" pitchFamily="34" charset="-122"/>
                <a:cs typeface="Arial" pitchFamily="34" charset="-120"/>
              </a:rPr>
              <a:t>III. Kết quả thực nghiệm</a:t>
            </a:r>
            <a:endParaRPr lang="en-US" sz="2800" dirty="0"/>
          </a:p>
        </p:txBody>
      </p:sp>
      <p:sp>
        <p:nvSpPr>
          <p:cNvPr id="5" name="Text 1"/>
          <p:cNvSpPr txBox="1"/>
          <p:nvPr/>
        </p:nvSpPr>
        <p:spPr>
          <a:xfrm>
            <a:off x="411480" y="841248"/>
            <a:ext cx="8046720" cy="411480"/>
          </a:xfrm>
          <a:prstGeom prst="rect">
            <a:avLst/>
          </a:prstGeom>
          <a:noFill/>
          <a:ln/>
        </p:spPr>
        <p:txBody>
          <a:bodyPr wrap="square" lIns="0" tIns="0" rIns="0" bIns="0" rtlCol="0" anchor="t"/>
          <a:lstStyle/>
          <a:p>
            <a:pPr marL="0" indent="0">
              <a:buNone/>
            </a:pPr>
            <a:r>
              <a:rPr lang="en-US" sz="2000" dirty="0">
                <a:solidFill>
                  <a:srgbClr val="1B517B"/>
                </a:solidFill>
                <a:latin typeface="Arial" pitchFamily="34" charset="0"/>
                <a:ea typeface="Arial" pitchFamily="34" charset="-122"/>
                <a:cs typeface="Arial" pitchFamily="34" charset="-120"/>
              </a:rPr>
              <a:t>3. Điểm nghẽn chuyển sang TTS khi có GPU</a:t>
            </a:r>
            <a:endParaRPr lang="en-US" sz="2000" dirty="0"/>
          </a:p>
        </p:txBody>
      </p:sp>
      <p:sp>
        <p:nvSpPr>
          <p:cNvPr id="6" name="Text 2"/>
          <p:cNvSpPr txBox="1"/>
          <p:nvPr/>
        </p:nvSpPr>
        <p:spPr>
          <a:xfrm>
            <a:off x="10104120" y="6355080"/>
            <a:ext cx="548640" cy="274320"/>
          </a:xfrm>
          <a:prstGeom prst="rect">
            <a:avLst/>
          </a:prstGeom>
          <a:noFill/>
          <a:ln/>
        </p:spPr>
        <p:txBody>
          <a:bodyPr wrap="square" lIns="0" tIns="0" rIns="0" bIns="0" rtlCol="0" anchor="t"/>
          <a:lstStyle/>
          <a:p>
            <a:pPr marL="0" indent="0" algn="r">
              <a:buNone/>
            </a:pPr>
            <a:r>
              <a:rPr lang="en-US" sz="1100" dirty="0">
                <a:solidFill>
                  <a:srgbClr val="5F6B76"/>
                </a:solidFill>
                <a:latin typeface="Arial" pitchFamily="34" charset="0"/>
                <a:ea typeface="Arial" pitchFamily="34" charset="-122"/>
                <a:cs typeface="Arial" pitchFamily="34" charset="-120"/>
              </a:rPr>
              <a:t>21</a:t>
            </a:r>
            <a:endParaRPr lang="en-US" sz="1100" dirty="0"/>
          </a:p>
        </p:txBody>
      </p:sp>
      <p:graphicFrame>
        <p:nvGraphicFramePr>
          <p:cNvPr id="7" name="Chart 0"/>
          <p:cNvGraphicFramePr/>
          <p:nvPr/>
        </p:nvGraphicFramePr>
        <p:xfrm>
          <a:off x="320040" y="1371600"/>
          <a:ext cx="6949440" cy="4846320"/>
        </p:xfrm>
        <a:graphic>
          <a:graphicData uri="http://schemas.openxmlformats.org/drawingml/2006/chart">
            <c:chart xmlns:c="http://schemas.openxmlformats.org/drawingml/2006/chart" xmlns:r="http://schemas.openxmlformats.org/officeDocument/2006/relationships" r:id="rId5"/>
          </a:graphicData>
        </a:graphic>
      </p:graphicFrame>
      <p:sp>
        <p:nvSpPr>
          <p:cNvPr id="8" name="Text 3"/>
          <p:cNvSpPr txBox="1"/>
          <p:nvPr/>
        </p:nvSpPr>
        <p:spPr>
          <a:xfrm>
            <a:off x="7498080" y="1463040"/>
            <a:ext cx="3200400" cy="4754880"/>
          </a:xfrm>
          <a:prstGeom prst="rect">
            <a:avLst/>
          </a:prstGeom>
          <a:noFill/>
          <a:ln/>
        </p:spPr>
        <p:txBody>
          <a:bodyPr wrap="square" lIns="0" tIns="0" rIns="0" bIns="0" rtlCol="0" anchor="t"/>
          <a:lstStyle/>
          <a:p>
            <a:pPr marL="190500" indent="-190500">
              <a:spcAft>
                <a:spcPts val="1200"/>
              </a:spcAft>
              <a:buSzPct val="100000"/>
              <a:buChar char="•"/>
            </a:pPr>
            <a:r>
              <a:rPr lang="en-US" sz="1400" dirty="0">
                <a:solidFill>
                  <a:srgbClr val="222222"/>
                </a:solidFill>
                <a:latin typeface="Arial" pitchFamily="34" charset="0"/>
                <a:ea typeface="Arial" pitchFamily="34" charset="-122"/>
                <a:cs typeface="Arial" pitchFamily="34" charset="-120"/>
              </a:rPr>
              <a:t>So với máy macOS, GPU làm ASR nhanh khoảng 8 lần (whisper.cpp/Vulkan) và MT nhanh 2–2,5 lần (NLLB/CUDA).</a:t>
            </a:r>
            <a:endParaRPr lang="en-US" sz="1400" dirty="0"/>
          </a:p>
          <a:p>
            <a:pPr marL="190500" indent="-190500">
              <a:spcAft>
                <a:spcPts val="1200"/>
              </a:spcAft>
              <a:buSzPct val="100000"/>
              <a:buChar char="•"/>
            </a:pPr>
            <a:r>
              <a:rPr lang="en-US" sz="1400" dirty="0">
                <a:solidFill>
                  <a:srgbClr val="222222"/>
                </a:solidFill>
                <a:latin typeface="Arial" pitchFamily="34" charset="0"/>
                <a:ea typeface="Arial" pitchFamily="34" charset="-122"/>
                <a:cs typeface="Arial" pitchFamily="34" charset="-120"/>
              </a:rPr>
              <a:t>TTS vẫn chạy CPU nên gần như giữ nguyên, và thành khâu chậm nhất ở hai đích zh/ja: </a:t>
            </a:r>
            <a:r>
              <a:rPr lang="en-US" sz="1400" b="1" dirty="0">
                <a:solidFill>
                  <a:srgbClr val="B8262B"/>
                </a:solidFill>
                <a:latin typeface="Arial" pitchFamily="34" charset="0"/>
                <a:ea typeface="Arial" pitchFamily="34" charset="-122"/>
                <a:cs typeface="Arial" pitchFamily="34" charset="-120"/>
              </a:rPr>
              <a:t>63% và 65%</a:t>
            </a:r>
            <a:r>
              <a:rPr lang="en-US" sz="1400" dirty="0">
                <a:solidFill>
                  <a:srgbClr val="222222"/>
                </a:solidFill>
                <a:latin typeface="Arial" pitchFamily="34" charset="0"/>
                <a:ea typeface="Arial" pitchFamily="34" charset="-122"/>
                <a:cs typeface="Arial" pitchFamily="34" charset="-120"/>
              </a:rPr>
              <a:t> toàn chuỗi.</a:t>
            </a:r>
            <a:endParaRPr lang="en-US" sz="1400" dirty="0"/>
          </a:p>
          <a:p>
            <a:pPr marL="190500" indent="-190500">
              <a:spcAft>
                <a:spcPts val="1200"/>
              </a:spcAft>
              <a:buSzPct val="100000"/>
              <a:buChar char="•"/>
            </a:pPr>
            <a:r>
              <a:rPr lang="en-US" sz="1400" b="1" dirty="0">
                <a:solidFill>
                  <a:srgbClr val="B8262B"/>
                </a:solidFill>
                <a:latin typeface="Arial" pitchFamily="34" charset="0"/>
                <a:ea typeface="Arial" pitchFamily="34" charset="-122"/>
                <a:cs typeface="Arial" pitchFamily="34" charset="-120"/>
              </a:rPr>
              <a:t>Chỗ cần tối ưu tiếp theo là TTS cho đích tiếng Nhật và tiếng Trung.</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pic>
        <p:nvPicPr>
          <p:cNvPr id="2" name="Image 0" descr="C:\Users\hhung\AppData\Local\Temp\claude\d--Project-local-live-voice-translator\d0343c7e-f558-4e8b-8c62-5b900df8bea6\scratchpad\build\img\deco_right.png"/>
          <p:cNvPicPr>
            <a:picLocks noChangeAspect="1"/>
          </p:cNvPicPr>
          <p:nvPr/>
        </p:nvPicPr>
        <p:blipFill>
          <a:blip r:embed="rId3"/>
          <a:stretch>
            <a:fillRect/>
          </a:stretch>
        </p:blipFill>
        <p:spPr>
          <a:xfrm>
            <a:off x="0" y="0"/>
            <a:ext cx="12191695" cy="6858000"/>
          </a:xfrm>
          <a:prstGeom prst="rect">
            <a:avLst/>
          </a:prstGeom>
        </p:spPr>
      </p:pic>
      <p:pic>
        <p:nvPicPr>
          <p:cNvPr id="3" name="Image 1" descr="C:\Users\hhung\AppData\Local\Temp\claude\d--Project-local-live-voice-translator\d0343c7e-f558-4e8b-8c62-5b900df8bea6\scratchpad\build\img\logo_header.png"/>
          <p:cNvPicPr>
            <a:picLocks noChangeAspect="1"/>
          </p:cNvPicPr>
          <p:nvPr/>
        </p:nvPicPr>
        <p:blipFill>
          <a:blip r:embed="rId4"/>
          <a:stretch>
            <a:fillRect/>
          </a:stretch>
        </p:blipFill>
        <p:spPr>
          <a:xfrm>
            <a:off x="8549640" y="292608"/>
            <a:ext cx="2560320" cy="459250"/>
          </a:xfrm>
          <a:prstGeom prst="rect">
            <a:avLst/>
          </a:prstGeom>
        </p:spPr>
      </p:pic>
      <p:sp>
        <p:nvSpPr>
          <p:cNvPr id="4" name="Text 0"/>
          <p:cNvSpPr txBox="1"/>
          <p:nvPr/>
        </p:nvSpPr>
        <p:spPr>
          <a:xfrm>
            <a:off x="411480" y="256032"/>
            <a:ext cx="7955280" cy="548640"/>
          </a:xfrm>
          <a:prstGeom prst="rect">
            <a:avLst/>
          </a:prstGeom>
          <a:noFill/>
          <a:ln/>
        </p:spPr>
        <p:txBody>
          <a:bodyPr wrap="square" lIns="0" tIns="0" rIns="0" bIns="0" rtlCol="0" anchor="t"/>
          <a:lstStyle/>
          <a:p>
            <a:pPr marL="0" indent="0">
              <a:buNone/>
            </a:pPr>
            <a:r>
              <a:rPr lang="en-US" sz="2800" b="1" dirty="0">
                <a:solidFill>
                  <a:srgbClr val="487BA2"/>
                </a:solidFill>
                <a:latin typeface="Arial" pitchFamily="34" charset="0"/>
                <a:ea typeface="Arial" pitchFamily="34" charset="-122"/>
                <a:cs typeface="Arial" pitchFamily="34" charset="-120"/>
              </a:rPr>
              <a:t>III. Kết quả thực nghiệm</a:t>
            </a:r>
            <a:endParaRPr lang="en-US" sz="2800" dirty="0"/>
          </a:p>
        </p:txBody>
      </p:sp>
      <p:sp>
        <p:nvSpPr>
          <p:cNvPr id="5" name="Text 1"/>
          <p:cNvSpPr txBox="1"/>
          <p:nvPr/>
        </p:nvSpPr>
        <p:spPr>
          <a:xfrm>
            <a:off x="411480" y="841248"/>
            <a:ext cx="8046720" cy="411480"/>
          </a:xfrm>
          <a:prstGeom prst="rect">
            <a:avLst/>
          </a:prstGeom>
          <a:noFill/>
          <a:ln/>
        </p:spPr>
        <p:txBody>
          <a:bodyPr wrap="square" lIns="0" tIns="0" rIns="0" bIns="0" rtlCol="0" anchor="t"/>
          <a:lstStyle/>
          <a:p>
            <a:pPr marL="0" indent="0">
              <a:buNone/>
            </a:pPr>
            <a:r>
              <a:rPr lang="en-US" sz="2000" dirty="0">
                <a:solidFill>
                  <a:srgbClr val="1B517B"/>
                </a:solidFill>
                <a:latin typeface="Arial" pitchFamily="34" charset="0"/>
                <a:ea typeface="Arial" pitchFamily="34" charset="-122"/>
                <a:cs typeface="Arial" pitchFamily="34" charset="-120"/>
              </a:rPr>
              <a:t>3. Câu ngắn so với mục tiêu và chạy liên tục 60 phút</a:t>
            </a:r>
            <a:endParaRPr lang="en-US" sz="2000" dirty="0"/>
          </a:p>
        </p:txBody>
      </p:sp>
      <p:sp>
        <p:nvSpPr>
          <p:cNvPr id="6" name="Text 2"/>
          <p:cNvSpPr txBox="1"/>
          <p:nvPr/>
        </p:nvSpPr>
        <p:spPr>
          <a:xfrm>
            <a:off x="10104120" y="6355080"/>
            <a:ext cx="548640" cy="274320"/>
          </a:xfrm>
          <a:prstGeom prst="rect">
            <a:avLst/>
          </a:prstGeom>
          <a:noFill/>
          <a:ln/>
        </p:spPr>
        <p:txBody>
          <a:bodyPr wrap="square" lIns="0" tIns="0" rIns="0" bIns="0" rtlCol="0" anchor="t"/>
          <a:lstStyle/>
          <a:p>
            <a:pPr marL="0" indent="0" algn="r">
              <a:buNone/>
            </a:pPr>
            <a:r>
              <a:rPr lang="en-US" sz="1100" dirty="0">
                <a:solidFill>
                  <a:srgbClr val="5F6B76"/>
                </a:solidFill>
                <a:latin typeface="Arial" pitchFamily="34" charset="0"/>
                <a:ea typeface="Arial" pitchFamily="34" charset="-122"/>
                <a:cs typeface="Arial" pitchFamily="34" charset="-120"/>
              </a:rPr>
              <a:t>22</a:t>
            </a:r>
            <a:endParaRPr lang="en-US" sz="1100" dirty="0"/>
          </a:p>
        </p:txBody>
      </p:sp>
      <p:sp>
        <p:nvSpPr>
          <p:cNvPr id="7" name="Text 3"/>
          <p:cNvSpPr txBox="1"/>
          <p:nvPr/>
        </p:nvSpPr>
        <p:spPr>
          <a:xfrm>
            <a:off x="411480" y="1371600"/>
            <a:ext cx="6217920" cy="365760"/>
          </a:xfrm>
          <a:prstGeom prst="rect">
            <a:avLst/>
          </a:prstGeom>
          <a:noFill/>
          <a:ln/>
        </p:spPr>
        <p:txBody>
          <a:bodyPr wrap="square" lIns="0" tIns="0" rIns="0" bIns="0" rtlCol="0" anchor="t"/>
          <a:lstStyle/>
          <a:p>
            <a:pPr marL="0" indent="0">
              <a:buNone/>
            </a:pPr>
            <a:r>
              <a:rPr lang="en-US" sz="1500" b="1" dirty="0">
                <a:solidFill>
                  <a:srgbClr val="1B517B"/>
                </a:solidFill>
                <a:latin typeface="Arial" pitchFamily="34" charset="0"/>
                <a:ea typeface="Arial" pitchFamily="34" charset="-122"/>
                <a:cs typeface="Arial" pitchFamily="34" charset="-120"/>
              </a:rPr>
              <a:t>Một câu 3 giây, máy macOS, preset Cân bằng</a:t>
            </a:r>
            <a:endParaRPr lang="en-US" sz="15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1783080"/>
          <a:ext cx="6217920" cy="2633472"/>
        </p:xfrm>
        <a:graphic>
          <a:graphicData uri="http://schemas.openxmlformats.org/drawingml/2006/table">
            <a:tbl>
              <a:tblPr/>
              <a:tblGrid>
                <a:gridCol w="11887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051560">
                  <a:extLst>
                    <a:ext uri="{9D8B030D-6E8A-4147-A177-3AD203B41FA5}">
                      <a16:colId xmlns:a16="http://schemas.microsoft.com/office/drawing/2014/main" val="20004"/>
                    </a:ext>
                  </a:extLst>
                </a:gridCol>
                <a:gridCol w="1051560">
                  <a:extLst>
                    <a:ext uri="{9D8B030D-6E8A-4147-A177-3AD203B41FA5}">
                      <a16:colId xmlns:a16="http://schemas.microsoft.com/office/drawing/2014/main" val="20005"/>
                    </a:ext>
                  </a:extLst>
                </a:gridCol>
              </a:tblGrid>
              <a:tr h="438912">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Chiều</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1B517B"/>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VAD</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1B517B"/>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ASR</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1B517B"/>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MT</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1B517B"/>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TTS</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1B517B"/>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Tổng</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1B517B"/>
                    </a:solidFill>
                  </a:tcPr>
                </a:tc>
                <a:extLst>
                  <a:ext uri="{0D108BD9-81ED-4DB2-BD59-A6C34878D82A}">
                    <a16:rowId xmlns:a16="http://schemas.microsoft.com/office/drawing/2014/main" val="10000"/>
                  </a:ext>
                </a:extLst>
              </a:tr>
              <a:tr h="438912">
                <a:tc>
                  <a:txBody>
                    <a:bodyPr/>
                    <a:lstStyle/>
                    <a:p>
                      <a:pPr marL="0" indent="0" algn="l">
                        <a:buNone/>
                      </a:pPr>
                      <a:r>
                        <a:rPr lang="en-US" sz="1400" b="1" dirty="0">
                          <a:solidFill>
                            <a:srgbClr val="000000"/>
                          </a:solidFill>
                          <a:latin typeface="Arial" pitchFamily="34" charset="0"/>
                          <a:ea typeface="Arial" pitchFamily="34" charset="-122"/>
                          <a:cs typeface="Arial" pitchFamily="34" charset="-120"/>
                        </a:rPr>
                        <a:t>vi→en</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400" dirty="0">
                          <a:solidFill>
                            <a:srgbClr val="000000"/>
                          </a:solidFill>
                          <a:latin typeface="Arial" pitchFamily="34" charset="0"/>
                          <a:ea typeface="Arial" pitchFamily="34" charset="-122"/>
                          <a:cs typeface="Arial" pitchFamily="34" charset="-120"/>
                        </a:rPr>
                        <a:t>46</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400" dirty="0">
                          <a:solidFill>
                            <a:srgbClr val="000000"/>
                          </a:solidFill>
                          <a:latin typeface="Arial" pitchFamily="34" charset="0"/>
                          <a:ea typeface="Arial" pitchFamily="34" charset="-122"/>
                          <a:cs typeface="Arial" pitchFamily="34" charset="-120"/>
                        </a:rPr>
                        <a:t>1.060</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400" dirty="0">
                          <a:solidFill>
                            <a:srgbClr val="000000"/>
                          </a:solidFill>
                          <a:latin typeface="Arial" pitchFamily="34" charset="0"/>
                          <a:ea typeface="Arial" pitchFamily="34" charset="-122"/>
                          <a:cs typeface="Arial" pitchFamily="34" charset="-120"/>
                        </a:rPr>
                        <a:t>569</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400" dirty="0">
                          <a:solidFill>
                            <a:srgbClr val="000000"/>
                          </a:solidFill>
                          <a:latin typeface="Arial" pitchFamily="34" charset="0"/>
                          <a:ea typeface="Arial" pitchFamily="34" charset="-122"/>
                          <a:cs typeface="Arial" pitchFamily="34" charset="-120"/>
                        </a:rPr>
                        <a:t>141</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400" b="1" dirty="0">
                          <a:solidFill>
                            <a:srgbClr val="000000"/>
                          </a:solidFill>
                          <a:latin typeface="Arial" pitchFamily="34" charset="0"/>
                          <a:ea typeface="Arial" pitchFamily="34" charset="-122"/>
                          <a:cs typeface="Arial" pitchFamily="34" charset="-120"/>
                        </a:rPr>
                        <a:t>1.819</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extLst>
                  <a:ext uri="{0D108BD9-81ED-4DB2-BD59-A6C34878D82A}">
                    <a16:rowId xmlns:a16="http://schemas.microsoft.com/office/drawing/2014/main" val="10001"/>
                  </a:ext>
                </a:extLst>
              </a:tr>
              <a:tr h="438912">
                <a:tc>
                  <a:txBody>
                    <a:bodyPr/>
                    <a:lstStyle/>
                    <a:p>
                      <a:pPr marL="0" indent="0" algn="l">
                        <a:buNone/>
                      </a:pPr>
                      <a:r>
                        <a:rPr lang="en-US" sz="1400" b="1" dirty="0">
                          <a:solidFill>
                            <a:srgbClr val="000000"/>
                          </a:solidFill>
                          <a:latin typeface="Arial" pitchFamily="34" charset="0"/>
                          <a:ea typeface="Arial" pitchFamily="34" charset="-122"/>
                          <a:cs typeface="Arial" pitchFamily="34" charset="-120"/>
                        </a:rPr>
                        <a:t>en→vi</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400" dirty="0">
                          <a:solidFill>
                            <a:srgbClr val="000000"/>
                          </a:solidFill>
                          <a:latin typeface="Arial" pitchFamily="34" charset="0"/>
                          <a:ea typeface="Arial" pitchFamily="34" charset="-122"/>
                          <a:cs typeface="Arial" pitchFamily="34" charset="-120"/>
                        </a:rPr>
                        <a:t>46</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400" dirty="0">
                          <a:solidFill>
                            <a:srgbClr val="000000"/>
                          </a:solidFill>
                          <a:latin typeface="Arial" pitchFamily="34" charset="0"/>
                          <a:ea typeface="Arial" pitchFamily="34" charset="-122"/>
                          <a:cs typeface="Arial" pitchFamily="34" charset="-120"/>
                        </a:rPr>
                        <a:t>991</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400" dirty="0">
                          <a:solidFill>
                            <a:srgbClr val="000000"/>
                          </a:solidFill>
                          <a:latin typeface="Arial" pitchFamily="34" charset="0"/>
                          <a:ea typeface="Arial" pitchFamily="34" charset="-122"/>
                          <a:cs typeface="Arial" pitchFamily="34" charset="-120"/>
                        </a:rPr>
                        <a:t>579</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400" dirty="0">
                          <a:solidFill>
                            <a:srgbClr val="000000"/>
                          </a:solidFill>
                          <a:latin typeface="Arial" pitchFamily="34" charset="0"/>
                          <a:ea typeface="Arial" pitchFamily="34" charset="-122"/>
                          <a:cs typeface="Arial" pitchFamily="34" charset="-120"/>
                        </a:rPr>
                        <a:t>148</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400" b="1" dirty="0">
                          <a:solidFill>
                            <a:srgbClr val="000000"/>
                          </a:solidFill>
                          <a:latin typeface="Arial" pitchFamily="34" charset="0"/>
                          <a:ea typeface="Arial" pitchFamily="34" charset="-122"/>
                          <a:cs typeface="Arial" pitchFamily="34" charset="-120"/>
                        </a:rPr>
                        <a:t>1.766</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extLst>
                  <a:ext uri="{0D108BD9-81ED-4DB2-BD59-A6C34878D82A}">
                    <a16:rowId xmlns:a16="http://schemas.microsoft.com/office/drawing/2014/main" val="10002"/>
                  </a:ext>
                </a:extLst>
              </a:tr>
              <a:tr h="438912">
                <a:tc>
                  <a:txBody>
                    <a:bodyPr/>
                    <a:lstStyle/>
                    <a:p>
                      <a:pPr marL="0" indent="0" algn="l">
                        <a:buNone/>
                      </a:pPr>
                      <a:r>
                        <a:rPr lang="en-US" sz="1400" b="1" dirty="0">
                          <a:solidFill>
                            <a:srgbClr val="000000"/>
                          </a:solidFill>
                          <a:latin typeface="Arial" pitchFamily="34" charset="0"/>
                          <a:ea typeface="Arial" pitchFamily="34" charset="-122"/>
                          <a:cs typeface="Arial" pitchFamily="34" charset="-120"/>
                        </a:rPr>
                        <a:t>vi→ja</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400" dirty="0">
                          <a:solidFill>
                            <a:srgbClr val="000000"/>
                          </a:solidFill>
                          <a:latin typeface="Arial" pitchFamily="34" charset="0"/>
                          <a:ea typeface="Arial" pitchFamily="34" charset="-122"/>
                          <a:cs typeface="Arial" pitchFamily="34" charset="-120"/>
                        </a:rPr>
                        <a:t>48</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400" dirty="0">
                          <a:solidFill>
                            <a:srgbClr val="000000"/>
                          </a:solidFill>
                          <a:latin typeface="Arial" pitchFamily="34" charset="0"/>
                          <a:ea typeface="Arial" pitchFamily="34" charset="-122"/>
                          <a:cs typeface="Arial" pitchFamily="34" charset="-120"/>
                        </a:rPr>
                        <a:t>1.056</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400" dirty="0">
                          <a:solidFill>
                            <a:srgbClr val="000000"/>
                          </a:solidFill>
                          <a:latin typeface="Arial" pitchFamily="34" charset="0"/>
                          <a:ea typeface="Arial" pitchFamily="34" charset="-122"/>
                          <a:cs typeface="Arial" pitchFamily="34" charset="-120"/>
                        </a:rPr>
                        <a:t>460</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400" dirty="0">
                          <a:solidFill>
                            <a:srgbClr val="000000"/>
                          </a:solidFill>
                          <a:latin typeface="Arial" pitchFamily="34" charset="0"/>
                          <a:ea typeface="Arial" pitchFamily="34" charset="-122"/>
                          <a:cs typeface="Arial" pitchFamily="34" charset="-120"/>
                        </a:rPr>
                        <a:t>772</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400" b="1" dirty="0">
                          <a:solidFill>
                            <a:srgbClr val="000000"/>
                          </a:solidFill>
                          <a:latin typeface="Arial" pitchFamily="34" charset="0"/>
                          <a:ea typeface="Arial" pitchFamily="34" charset="-122"/>
                          <a:cs typeface="Arial" pitchFamily="34" charset="-120"/>
                        </a:rPr>
                        <a:t>2.338</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extLst>
                  <a:ext uri="{0D108BD9-81ED-4DB2-BD59-A6C34878D82A}">
                    <a16:rowId xmlns:a16="http://schemas.microsoft.com/office/drawing/2014/main" val="10003"/>
                  </a:ext>
                </a:extLst>
              </a:tr>
              <a:tr h="438912">
                <a:tc>
                  <a:txBody>
                    <a:bodyPr/>
                    <a:lstStyle/>
                    <a:p>
                      <a:pPr marL="0" indent="0" algn="l">
                        <a:buNone/>
                      </a:pPr>
                      <a:r>
                        <a:rPr lang="en-US" sz="1400" b="1" dirty="0">
                          <a:solidFill>
                            <a:srgbClr val="000000"/>
                          </a:solidFill>
                          <a:latin typeface="Arial" pitchFamily="34" charset="0"/>
                          <a:ea typeface="Arial" pitchFamily="34" charset="-122"/>
                          <a:cs typeface="Arial" pitchFamily="34" charset="-120"/>
                        </a:rPr>
                        <a:t>vi→zh</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400" dirty="0">
                          <a:solidFill>
                            <a:srgbClr val="000000"/>
                          </a:solidFill>
                          <a:latin typeface="Arial" pitchFamily="34" charset="0"/>
                          <a:ea typeface="Arial" pitchFamily="34" charset="-122"/>
                          <a:cs typeface="Arial" pitchFamily="34" charset="-120"/>
                        </a:rPr>
                        <a:t>46</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400" dirty="0">
                          <a:solidFill>
                            <a:srgbClr val="000000"/>
                          </a:solidFill>
                          <a:latin typeface="Arial" pitchFamily="34" charset="0"/>
                          <a:ea typeface="Arial" pitchFamily="34" charset="-122"/>
                          <a:cs typeface="Arial" pitchFamily="34" charset="-120"/>
                        </a:rPr>
                        <a:t>1.038</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400" dirty="0">
                          <a:solidFill>
                            <a:srgbClr val="000000"/>
                          </a:solidFill>
                          <a:latin typeface="Arial" pitchFamily="34" charset="0"/>
                          <a:ea typeface="Arial" pitchFamily="34" charset="-122"/>
                          <a:cs typeface="Arial" pitchFamily="34" charset="-120"/>
                        </a:rPr>
                        <a:t>558</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400" dirty="0">
                          <a:solidFill>
                            <a:srgbClr val="000000"/>
                          </a:solidFill>
                          <a:latin typeface="Arial" pitchFamily="34" charset="0"/>
                          <a:ea typeface="Arial" pitchFamily="34" charset="-122"/>
                          <a:cs typeface="Arial" pitchFamily="34" charset="-120"/>
                        </a:rPr>
                        <a:t>969</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400" b="1" dirty="0">
                          <a:solidFill>
                            <a:srgbClr val="000000"/>
                          </a:solidFill>
                          <a:latin typeface="Arial" pitchFamily="34" charset="0"/>
                          <a:ea typeface="Arial" pitchFamily="34" charset="-122"/>
                          <a:cs typeface="Arial" pitchFamily="34" charset="-120"/>
                        </a:rPr>
                        <a:t>2.613</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extLst>
                  <a:ext uri="{0D108BD9-81ED-4DB2-BD59-A6C34878D82A}">
                    <a16:rowId xmlns:a16="http://schemas.microsoft.com/office/drawing/2014/main" val="10004"/>
                  </a:ext>
                </a:extLst>
              </a:tr>
              <a:tr h="438912">
                <a:tc>
                  <a:txBody>
                    <a:bodyPr/>
                    <a:lstStyle/>
                    <a:p>
                      <a:pPr marL="0" indent="0" algn="l">
                        <a:buNone/>
                      </a:pPr>
                      <a:r>
                        <a:rPr lang="en-US" sz="1400" b="1" dirty="0">
                          <a:solidFill>
                            <a:srgbClr val="2E8B57"/>
                          </a:solidFill>
                          <a:latin typeface="Arial" pitchFamily="34" charset="0"/>
                          <a:ea typeface="Arial" pitchFamily="34" charset="-122"/>
                          <a:cs typeface="Arial" pitchFamily="34" charset="-120"/>
                        </a:rPr>
                        <a:t>Mục tiêu</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E8F4EC"/>
                    </a:solidFill>
                  </a:tcPr>
                </a:tc>
                <a:tc>
                  <a:txBody>
                    <a:bodyPr/>
                    <a:lstStyle/>
                    <a:p>
                      <a:pPr marL="0" indent="0" algn="ctr">
                        <a:buNone/>
                      </a:pP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E8F4EC"/>
                    </a:solidFill>
                  </a:tcPr>
                </a:tc>
                <a:tc>
                  <a:txBody>
                    <a:bodyPr/>
                    <a:lstStyle/>
                    <a:p>
                      <a:pPr marL="0" indent="0" algn="ctr">
                        <a:buNone/>
                      </a:pPr>
                      <a:r>
                        <a:rPr lang="en-US" sz="1400" b="1" dirty="0">
                          <a:solidFill>
                            <a:srgbClr val="2E8B57"/>
                          </a:solidFill>
                          <a:latin typeface="Arial" pitchFamily="34" charset="0"/>
                          <a:ea typeface="Arial" pitchFamily="34" charset="-122"/>
                          <a:cs typeface="Arial" pitchFamily="34" charset="-120"/>
                        </a:rPr>
                        <a:t>&lt; 1.500</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E8F4EC"/>
                    </a:solidFill>
                  </a:tcPr>
                </a:tc>
                <a:tc>
                  <a:txBody>
                    <a:bodyPr/>
                    <a:lstStyle/>
                    <a:p>
                      <a:pPr marL="0" indent="0" algn="ctr">
                        <a:buNone/>
                      </a:pPr>
                      <a:r>
                        <a:rPr lang="en-US" sz="1400" b="1" dirty="0">
                          <a:solidFill>
                            <a:srgbClr val="2E8B57"/>
                          </a:solidFill>
                          <a:latin typeface="Arial" pitchFamily="34" charset="0"/>
                          <a:ea typeface="Arial" pitchFamily="34" charset="-122"/>
                          <a:cs typeface="Arial" pitchFamily="34" charset="-120"/>
                        </a:rPr>
                        <a:t>&lt; 1.000</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E8F4EC"/>
                    </a:solidFill>
                  </a:tcPr>
                </a:tc>
                <a:tc>
                  <a:txBody>
                    <a:bodyPr/>
                    <a:lstStyle/>
                    <a:p>
                      <a:pPr marL="0" indent="0" algn="ctr">
                        <a:buNone/>
                      </a:pPr>
                      <a:r>
                        <a:rPr lang="en-US" sz="1400" b="1" dirty="0">
                          <a:solidFill>
                            <a:srgbClr val="2E8B57"/>
                          </a:solidFill>
                          <a:latin typeface="Arial" pitchFamily="34" charset="0"/>
                          <a:ea typeface="Arial" pitchFamily="34" charset="-122"/>
                          <a:cs typeface="Arial" pitchFamily="34" charset="-120"/>
                        </a:rPr>
                        <a:t>&lt; 1.500</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E8F4EC"/>
                    </a:solidFill>
                  </a:tcPr>
                </a:tc>
                <a:tc>
                  <a:txBody>
                    <a:bodyPr/>
                    <a:lstStyle/>
                    <a:p>
                      <a:pPr marL="0" indent="0" algn="ctr">
                        <a:buNone/>
                      </a:pPr>
                      <a:r>
                        <a:rPr lang="en-US" sz="1400" b="1" dirty="0">
                          <a:solidFill>
                            <a:srgbClr val="2E8B57"/>
                          </a:solidFill>
                          <a:latin typeface="Arial" pitchFamily="34" charset="0"/>
                          <a:ea typeface="Arial" pitchFamily="34" charset="-122"/>
                          <a:cs typeface="Arial" pitchFamily="34" charset="-120"/>
                        </a:rPr>
                        <a:t>&lt; 4.000</a:t>
                      </a:r>
                      <a:endParaRPr lang="en-US" sz="140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E8F4EC"/>
                    </a:solidFill>
                  </a:tcPr>
                </a:tc>
                <a:extLst>
                  <a:ext uri="{0D108BD9-81ED-4DB2-BD59-A6C34878D82A}">
                    <a16:rowId xmlns:a16="http://schemas.microsoft.com/office/drawing/2014/main" val="10005"/>
                  </a:ext>
                </a:extLst>
              </a:tr>
            </a:tbl>
          </a:graphicData>
        </a:graphic>
      </p:graphicFrame>
      <p:sp>
        <p:nvSpPr>
          <p:cNvPr id="9" name="Text 4"/>
          <p:cNvSpPr txBox="1"/>
          <p:nvPr/>
        </p:nvSpPr>
        <p:spPr>
          <a:xfrm>
            <a:off x="411480" y="4937760"/>
            <a:ext cx="6217920" cy="548640"/>
          </a:xfrm>
          <a:prstGeom prst="rect">
            <a:avLst/>
          </a:prstGeom>
          <a:noFill/>
          <a:ln/>
        </p:spPr>
        <p:txBody>
          <a:bodyPr wrap="square" lIns="0" tIns="0" rIns="0" bIns="0" rtlCol="0" anchor="t"/>
          <a:lstStyle/>
          <a:p>
            <a:pPr marL="0" indent="0">
              <a:buNone/>
            </a:pPr>
            <a:r>
              <a:rPr lang="en-US" sz="1200" i="1" dirty="0">
                <a:solidFill>
                  <a:srgbClr val="5F6B76"/>
                </a:solidFill>
                <a:latin typeface="Arial" pitchFamily="34" charset="0"/>
                <a:ea typeface="Arial" pitchFamily="34" charset="-122"/>
                <a:cs typeface="Arial" pitchFamily="34" charset="-120"/>
              </a:rPr>
              <a:t>Đơn vị: ms. Cả bốn mốc đều đạt ở cả bốn chiều. Trên bản cài Windows, cùng phép đo cho ASR 362–480 ms.</a:t>
            </a:r>
            <a:endParaRPr lang="en-US" sz="1200" dirty="0"/>
          </a:p>
        </p:txBody>
      </p:sp>
      <p:sp>
        <p:nvSpPr>
          <p:cNvPr id="10" name="Text 5"/>
          <p:cNvSpPr txBox="1"/>
          <p:nvPr/>
        </p:nvSpPr>
        <p:spPr>
          <a:xfrm>
            <a:off x="6949440" y="1371600"/>
            <a:ext cx="3840480" cy="365760"/>
          </a:xfrm>
          <a:prstGeom prst="rect">
            <a:avLst/>
          </a:prstGeom>
          <a:noFill/>
          <a:ln/>
        </p:spPr>
        <p:txBody>
          <a:bodyPr wrap="square" lIns="0" tIns="0" rIns="0" bIns="0" rtlCol="0" anchor="t"/>
          <a:lstStyle/>
          <a:p>
            <a:pPr marL="0" indent="0">
              <a:buNone/>
            </a:pPr>
            <a:r>
              <a:rPr lang="en-US" sz="1500" b="1" dirty="0">
                <a:solidFill>
                  <a:srgbClr val="1B517B"/>
                </a:solidFill>
                <a:latin typeface="Arial" pitchFamily="34" charset="0"/>
                <a:ea typeface="Arial" pitchFamily="34" charset="-122"/>
                <a:cs typeface="Arial" pitchFamily="34" charset="-120"/>
              </a:rPr>
              <a:t>Chạy liên tục 60 phút (Windows)</a:t>
            </a:r>
            <a:endParaRPr lang="en-US" sz="1500" dirty="0"/>
          </a:p>
        </p:txBody>
      </p:sp>
      <p:sp>
        <p:nvSpPr>
          <p:cNvPr id="11" name="Shape 6"/>
          <p:cNvSpPr/>
          <p:nvPr/>
        </p:nvSpPr>
        <p:spPr>
          <a:xfrm>
            <a:off x="6949440" y="1783080"/>
            <a:ext cx="3703320" cy="868680"/>
          </a:xfrm>
          <a:prstGeom prst="roundRect">
            <a:avLst>
              <a:gd name="adj" fmla="val 8421"/>
            </a:avLst>
          </a:prstGeom>
          <a:solidFill>
            <a:srgbClr val="EEF4F9"/>
          </a:solidFill>
          <a:ln w="12700">
            <a:solidFill>
              <a:srgbClr val="EEF4F9"/>
            </a:solidFill>
            <a:prstDash val="solid"/>
          </a:ln>
        </p:spPr>
        <p:txBody>
          <a:bodyPr/>
          <a:lstStyle/>
          <a:p>
            <a:endParaRPr lang="en-US"/>
          </a:p>
        </p:txBody>
      </p:sp>
      <p:sp>
        <p:nvSpPr>
          <p:cNvPr id="12" name="Text 7"/>
          <p:cNvSpPr txBox="1"/>
          <p:nvPr/>
        </p:nvSpPr>
        <p:spPr>
          <a:xfrm>
            <a:off x="7086600" y="1783080"/>
            <a:ext cx="1600200" cy="868680"/>
          </a:xfrm>
          <a:prstGeom prst="rect">
            <a:avLst/>
          </a:prstGeom>
          <a:noFill/>
          <a:ln/>
        </p:spPr>
        <p:txBody>
          <a:bodyPr wrap="square" lIns="0" tIns="0" rIns="0" bIns="0" rtlCol="0" anchor="ctr"/>
          <a:lstStyle/>
          <a:p>
            <a:pPr marL="0" indent="0">
              <a:buNone/>
            </a:pPr>
            <a:r>
              <a:rPr lang="en-US" sz="2400" b="1" dirty="0">
                <a:solidFill>
                  <a:srgbClr val="1B517B"/>
                </a:solidFill>
                <a:latin typeface="Arial" pitchFamily="34" charset="0"/>
                <a:ea typeface="Arial" pitchFamily="34" charset="-122"/>
                <a:cs typeface="Arial" pitchFamily="34" charset="-120"/>
              </a:rPr>
              <a:t>877 / 0</a:t>
            </a:r>
            <a:endParaRPr lang="en-US" sz="2400" dirty="0"/>
          </a:p>
        </p:txBody>
      </p:sp>
      <p:sp>
        <p:nvSpPr>
          <p:cNvPr id="13" name="Text 8"/>
          <p:cNvSpPr txBox="1"/>
          <p:nvPr/>
        </p:nvSpPr>
        <p:spPr>
          <a:xfrm>
            <a:off x="8732520" y="1783080"/>
            <a:ext cx="1828800" cy="868680"/>
          </a:xfrm>
          <a:prstGeom prst="rect">
            <a:avLst/>
          </a:prstGeom>
          <a:noFill/>
          <a:ln/>
        </p:spPr>
        <p:txBody>
          <a:bodyPr wrap="square" lIns="0" tIns="0" rIns="0" bIns="0" rtlCol="0" anchor="ctr"/>
          <a:lstStyle/>
          <a:p>
            <a:pPr marL="0" indent="0">
              <a:buNone/>
            </a:pPr>
            <a:r>
              <a:rPr lang="en-US" sz="1200" dirty="0">
                <a:solidFill>
                  <a:srgbClr val="222222"/>
                </a:solidFill>
                <a:latin typeface="Arial" pitchFamily="34" charset="0"/>
                <a:ea typeface="Arial" pitchFamily="34" charset="-122"/>
                <a:cs typeface="Arial" pitchFamily="34" charset="-120"/>
              </a:rPr>
              <a:t>câu thành công / lỗi</a:t>
            </a:r>
            <a:endParaRPr lang="en-US" sz="1200" dirty="0"/>
          </a:p>
        </p:txBody>
      </p:sp>
      <p:sp>
        <p:nvSpPr>
          <p:cNvPr id="14" name="Shape 9"/>
          <p:cNvSpPr/>
          <p:nvPr/>
        </p:nvSpPr>
        <p:spPr>
          <a:xfrm>
            <a:off x="6949440" y="2788920"/>
            <a:ext cx="3703320" cy="868680"/>
          </a:xfrm>
          <a:prstGeom prst="roundRect">
            <a:avLst>
              <a:gd name="adj" fmla="val 8421"/>
            </a:avLst>
          </a:prstGeom>
          <a:solidFill>
            <a:srgbClr val="EEF4F9"/>
          </a:solidFill>
          <a:ln w="12700">
            <a:solidFill>
              <a:srgbClr val="EEF4F9"/>
            </a:solidFill>
            <a:prstDash val="solid"/>
          </a:ln>
        </p:spPr>
        <p:txBody>
          <a:bodyPr/>
          <a:lstStyle/>
          <a:p>
            <a:endParaRPr lang="en-US"/>
          </a:p>
        </p:txBody>
      </p:sp>
      <p:sp>
        <p:nvSpPr>
          <p:cNvPr id="15" name="Text 10"/>
          <p:cNvSpPr txBox="1"/>
          <p:nvPr/>
        </p:nvSpPr>
        <p:spPr>
          <a:xfrm>
            <a:off x="7086600" y="2788920"/>
            <a:ext cx="1600200" cy="868680"/>
          </a:xfrm>
          <a:prstGeom prst="rect">
            <a:avLst/>
          </a:prstGeom>
          <a:noFill/>
          <a:ln/>
        </p:spPr>
        <p:txBody>
          <a:bodyPr wrap="square" lIns="0" tIns="0" rIns="0" bIns="0" rtlCol="0" anchor="ctr"/>
          <a:lstStyle/>
          <a:p>
            <a:pPr marL="0" indent="0">
              <a:buNone/>
            </a:pPr>
            <a:r>
              <a:rPr lang="en-US" sz="2400" b="1" dirty="0">
                <a:solidFill>
                  <a:srgbClr val="1B517B"/>
                </a:solidFill>
                <a:latin typeface="Arial" pitchFamily="34" charset="0"/>
                <a:ea typeface="Arial" pitchFamily="34" charset="-122"/>
                <a:cs typeface="Arial" pitchFamily="34" charset="-120"/>
              </a:rPr>
              <a:t>+12 MB</a:t>
            </a:r>
            <a:endParaRPr lang="en-US" sz="2400" dirty="0"/>
          </a:p>
        </p:txBody>
      </p:sp>
      <p:sp>
        <p:nvSpPr>
          <p:cNvPr id="16" name="Text 11"/>
          <p:cNvSpPr txBox="1"/>
          <p:nvPr/>
        </p:nvSpPr>
        <p:spPr>
          <a:xfrm>
            <a:off x="8732520" y="2788920"/>
            <a:ext cx="1828800" cy="868680"/>
          </a:xfrm>
          <a:prstGeom prst="rect">
            <a:avLst/>
          </a:prstGeom>
          <a:noFill/>
          <a:ln/>
        </p:spPr>
        <p:txBody>
          <a:bodyPr wrap="square" lIns="0" tIns="0" rIns="0" bIns="0" rtlCol="0" anchor="ctr"/>
          <a:lstStyle/>
          <a:p>
            <a:pPr marL="0" indent="0">
              <a:buNone/>
            </a:pPr>
            <a:r>
              <a:rPr lang="en-US" sz="1200" dirty="0">
                <a:solidFill>
                  <a:srgbClr val="222222"/>
                </a:solidFill>
                <a:latin typeface="Arial" pitchFamily="34" charset="0"/>
                <a:ea typeface="Arial" pitchFamily="34" charset="-122"/>
                <a:cs typeface="Arial" pitchFamily="34" charset="-120"/>
              </a:rPr>
              <a:t>bộ nhớ RSS (1.110 → 1.122 MB)</a:t>
            </a:r>
            <a:endParaRPr lang="en-US" sz="1200" dirty="0"/>
          </a:p>
        </p:txBody>
      </p:sp>
      <p:sp>
        <p:nvSpPr>
          <p:cNvPr id="17" name="Shape 12"/>
          <p:cNvSpPr/>
          <p:nvPr/>
        </p:nvSpPr>
        <p:spPr>
          <a:xfrm>
            <a:off x="6949440" y="3794760"/>
            <a:ext cx="3703320" cy="868680"/>
          </a:xfrm>
          <a:prstGeom prst="roundRect">
            <a:avLst>
              <a:gd name="adj" fmla="val 8421"/>
            </a:avLst>
          </a:prstGeom>
          <a:solidFill>
            <a:srgbClr val="EEF4F9"/>
          </a:solidFill>
          <a:ln w="12700">
            <a:solidFill>
              <a:srgbClr val="EEF4F9"/>
            </a:solidFill>
            <a:prstDash val="solid"/>
          </a:ln>
        </p:spPr>
        <p:txBody>
          <a:bodyPr/>
          <a:lstStyle/>
          <a:p>
            <a:endParaRPr lang="en-US"/>
          </a:p>
        </p:txBody>
      </p:sp>
      <p:sp>
        <p:nvSpPr>
          <p:cNvPr id="18" name="Text 13"/>
          <p:cNvSpPr txBox="1"/>
          <p:nvPr/>
        </p:nvSpPr>
        <p:spPr>
          <a:xfrm>
            <a:off x="7086600" y="3794760"/>
            <a:ext cx="1600200" cy="868680"/>
          </a:xfrm>
          <a:prstGeom prst="rect">
            <a:avLst/>
          </a:prstGeom>
          <a:noFill/>
          <a:ln/>
        </p:spPr>
        <p:txBody>
          <a:bodyPr wrap="square" lIns="0" tIns="0" rIns="0" bIns="0" rtlCol="0" anchor="ctr"/>
          <a:lstStyle/>
          <a:p>
            <a:pPr marL="0" indent="0">
              <a:buNone/>
            </a:pPr>
            <a:r>
              <a:rPr lang="en-US" sz="2400" b="1" dirty="0">
                <a:solidFill>
                  <a:srgbClr val="1B517B"/>
                </a:solidFill>
                <a:latin typeface="Arial" pitchFamily="34" charset="0"/>
                <a:ea typeface="Arial" pitchFamily="34" charset="-122"/>
                <a:cs typeface="Arial" pitchFamily="34" charset="-120"/>
              </a:rPr>
              <a:t>+1,8 ms</a:t>
            </a:r>
            <a:endParaRPr lang="en-US" sz="2400" dirty="0"/>
          </a:p>
        </p:txBody>
      </p:sp>
      <p:sp>
        <p:nvSpPr>
          <p:cNvPr id="19" name="Text 14"/>
          <p:cNvSpPr txBox="1"/>
          <p:nvPr/>
        </p:nvSpPr>
        <p:spPr>
          <a:xfrm>
            <a:off x="8732520" y="3794760"/>
            <a:ext cx="1828800" cy="868680"/>
          </a:xfrm>
          <a:prstGeom prst="rect">
            <a:avLst/>
          </a:prstGeom>
          <a:noFill/>
          <a:ln/>
        </p:spPr>
        <p:txBody>
          <a:bodyPr wrap="square" lIns="0" tIns="0" rIns="0" bIns="0" rtlCol="0" anchor="ctr"/>
          <a:lstStyle/>
          <a:p>
            <a:pPr marL="0" indent="0">
              <a:buNone/>
            </a:pPr>
            <a:r>
              <a:rPr lang="en-US" sz="1200" dirty="0">
                <a:solidFill>
                  <a:srgbClr val="222222"/>
                </a:solidFill>
                <a:latin typeface="Arial" pitchFamily="34" charset="0"/>
                <a:ea typeface="Arial" pitchFamily="34" charset="-122"/>
                <a:cs typeface="Arial" pitchFamily="34" charset="-120"/>
              </a:rPr>
              <a:t>độ trễ 10% câu cuối so với 10% câu đầu</a:t>
            </a:r>
            <a:endParaRPr lang="en-US" sz="1200" dirty="0"/>
          </a:p>
        </p:txBody>
      </p:sp>
      <p:sp>
        <p:nvSpPr>
          <p:cNvPr id="20" name="Shape 15"/>
          <p:cNvSpPr/>
          <p:nvPr/>
        </p:nvSpPr>
        <p:spPr>
          <a:xfrm>
            <a:off x="6949440" y="4800600"/>
            <a:ext cx="3703320" cy="868680"/>
          </a:xfrm>
          <a:prstGeom prst="roundRect">
            <a:avLst>
              <a:gd name="adj" fmla="val 8421"/>
            </a:avLst>
          </a:prstGeom>
          <a:solidFill>
            <a:srgbClr val="EEF4F9"/>
          </a:solidFill>
          <a:ln w="12700">
            <a:solidFill>
              <a:srgbClr val="EEF4F9"/>
            </a:solidFill>
            <a:prstDash val="solid"/>
          </a:ln>
        </p:spPr>
        <p:txBody>
          <a:bodyPr/>
          <a:lstStyle/>
          <a:p>
            <a:endParaRPr lang="en-US"/>
          </a:p>
        </p:txBody>
      </p:sp>
      <p:sp>
        <p:nvSpPr>
          <p:cNvPr id="21" name="Text 16"/>
          <p:cNvSpPr txBox="1"/>
          <p:nvPr/>
        </p:nvSpPr>
        <p:spPr>
          <a:xfrm>
            <a:off x="7086600" y="4800600"/>
            <a:ext cx="1600200" cy="868680"/>
          </a:xfrm>
          <a:prstGeom prst="rect">
            <a:avLst/>
          </a:prstGeom>
          <a:noFill/>
          <a:ln/>
        </p:spPr>
        <p:txBody>
          <a:bodyPr wrap="square" lIns="0" tIns="0" rIns="0" bIns="0" rtlCol="0" anchor="ctr"/>
          <a:lstStyle/>
          <a:p>
            <a:pPr marL="0" indent="0">
              <a:buNone/>
            </a:pPr>
            <a:r>
              <a:rPr lang="en-US" sz="2400" b="1" dirty="0">
                <a:solidFill>
                  <a:srgbClr val="1B517B"/>
                </a:solidFill>
                <a:latin typeface="Arial" pitchFamily="34" charset="0"/>
                <a:ea typeface="Arial" pitchFamily="34" charset="-122"/>
                <a:cs typeface="Arial" pitchFamily="34" charset="-120"/>
              </a:rPr>
              <a:t>443 ms</a:t>
            </a:r>
            <a:endParaRPr lang="en-US" sz="2400" dirty="0"/>
          </a:p>
        </p:txBody>
      </p:sp>
      <p:sp>
        <p:nvSpPr>
          <p:cNvPr id="22" name="Text 17"/>
          <p:cNvSpPr txBox="1"/>
          <p:nvPr/>
        </p:nvSpPr>
        <p:spPr>
          <a:xfrm>
            <a:off x="8732520" y="4800600"/>
            <a:ext cx="1828800" cy="868680"/>
          </a:xfrm>
          <a:prstGeom prst="rect">
            <a:avLst/>
          </a:prstGeom>
          <a:noFill/>
          <a:ln/>
        </p:spPr>
        <p:txBody>
          <a:bodyPr wrap="square" lIns="0" tIns="0" rIns="0" bIns="0" rtlCol="0" anchor="ctr"/>
          <a:lstStyle/>
          <a:p>
            <a:pPr marL="0" indent="0">
              <a:buNone/>
            </a:pPr>
            <a:r>
              <a:rPr lang="en-US" sz="1200" dirty="0">
                <a:solidFill>
                  <a:srgbClr val="222222"/>
                </a:solidFill>
                <a:latin typeface="Arial" pitchFamily="34" charset="0"/>
                <a:ea typeface="Arial" pitchFamily="34" charset="-122"/>
                <a:cs typeface="Arial" pitchFamily="34" charset="-120"/>
              </a:rPr>
              <a:t>độ trễ p50 (p95 541 ms), không mất kết nối</a:t>
            </a:r>
            <a:endParaRPr lang="en-US" sz="1200" dirty="0"/>
          </a:p>
        </p:txBody>
      </p:sp>
      <p:sp>
        <p:nvSpPr>
          <p:cNvPr id="8" name="Text 18"/>
          <p:cNvSpPr txBox="1"/>
          <p:nvPr/>
        </p:nvSpPr>
        <p:spPr>
          <a:xfrm>
            <a:off x="411480" y="5669280"/>
            <a:ext cx="10241280" cy="457200"/>
          </a:xfrm>
          <a:prstGeom prst="rect">
            <a:avLst/>
          </a:prstGeom>
          <a:noFill/>
          <a:ln/>
        </p:spPr>
        <p:txBody>
          <a:bodyPr wrap="square" lIns="0" tIns="0" rIns="0" bIns="0" rtlCol="0" anchor="t"/>
          <a:lstStyle/>
          <a:p>
            <a:pPr marL="0" indent="0">
              <a:buNone/>
            </a:pPr>
            <a:r>
              <a:rPr lang="en-US" sz="1500" b="1" dirty="0">
                <a:solidFill>
                  <a:srgbClr val="B8262B"/>
                </a:solidFill>
                <a:latin typeface="Arial" pitchFamily="34" charset="0"/>
                <a:ea typeface="Arial" pitchFamily="34" charset="-122"/>
                <a:cs typeface="Arial" pitchFamily="34" charset="-120"/>
              </a:rPr>
              <a:t>Sau một giờ, bộ nhớ và độ trễ gần như đứng yên: không có dấu hiệu rò rỉ đáng kể.</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pic>
        <p:nvPicPr>
          <p:cNvPr id="2" name="Image 0" descr="C:\Users\hhung\AppData\Local\Temp\claude\d--Project-local-live-voice-translator\d0343c7e-f558-4e8b-8c62-5b900df8bea6\scratchpad\build\img\deco_right.png"/>
          <p:cNvPicPr>
            <a:picLocks noChangeAspect="1"/>
          </p:cNvPicPr>
          <p:nvPr/>
        </p:nvPicPr>
        <p:blipFill>
          <a:blip r:embed="rId3"/>
          <a:stretch>
            <a:fillRect/>
          </a:stretch>
        </p:blipFill>
        <p:spPr>
          <a:xfrm>
            <a:off x="0" y="0"/>
            <a:ext cx="12191695" cy="6858000"/>
          </a:xfrm>
          <a:prstGeom prst="rect">
            <a:avLst/>
          </a:prstGeom>
        </p:spPr>
      </p:pic>
      <p:pic>
        <p:nvPicPr>
          <p:cNvPr id="3" name="Image 1" descr="C:\Users\hhung\AppData\Local\Temp\claude\d--Project-local-live-voice-translator\d0343c7e-f558-4e8b-8c62-5b900df8bea6\scratchpad\build\img\logo_header.png"/>
          <p:cNvPicPr>
            <a:picLocks noChangeAspect="1"/>
          </p:cNvPicPr>
          <p:nvPr/>
        </p:nvPicPr>
        <p:blipFill>
          <a:blip r:embed="rId4"/>
          <a:stretch>
            <a:fillRect/>
          </a:stretch>
        </p:blipFill>
        <p:spPr>
          <a:xfrm>
            <a:off x="8549640" y="292608"/>
            <a:ext cx="2560320" cy="459250"/>
          </a:xfrm>
          <a:prstGeom prst="rect">
            <a:avLst/>
          </a:prstGeom>
        </p:spPr>
      </p:pic>
      <p:sp>
        <p:nvSpPr>
          <p:cNvPr id="4" name="Text 0"/>
          <p:cNvSpPr txBox="1"/>
          <p:nvPr/>
        </p:nvSpPr>
        <p:spPr>
          <a:xfrm>
            <a:off x="411480" y="256032"/>
            <a:ext cx="7955280" cy="548640"/>
          </a:xfrm>
          <a:prstGeom prst="rect">
            <a:avLst/>
          </a:prstGeom>
          <a:noFill/>
          <a:ln/>
        </p:spPr>
        <p:txBody>
          <a:bodyPr wrap="square" lIns="0" tIns="0" rIns="0" bIns="0" rtlCol="0" anchor="t"/>
          <a:lstStyle/>
          <a:p>
            <a:pPr marL="0" indent="0">
              <a:buNone/>
            </a:pPr>
            <a:r>
              <a:rPr lang="en-US" sz="2800" b="1" dirty="0">
                <a:solidFill>
                  <a:srgbClr val="487BA2"/>
                </a:solidFill>
                <a:latin typeface="Arial" pitchFamily="34" charset="0"/>
                <a:ea typeface="Arial" pitchFamily="34" charset="-122"/>
                <a:cs typeface="Arial" pitchFamily="34" charset="-120"/>
              </a:rPr>
              <a:t>III. Kết quả thực nghiệm</a:t>
            </a:r>
            <a:endParaRPr lang="en-US" sz="2800" dirty="0"/>
          </a:p>
        </p:txBody>
      </p:sp>
      <p:sp>
        <p:nvSpPr>
          <p:cNvPr id="5" name="Text 1"/>
          <p:cNvSpPr txBox="1"/>
          <p:nvPr/>
        </p:nvSpPr>
        <p:spPr>
          <a:xfrm>
            <a:off x="411480" y="841248"/>
            <a:ext cx="8046720" cy="411480"/>
          </a:xfrm>
          <a:prstGeom prst="rect">
            <a:avLst/>
          </a:prstGeom>
          <a:noFill/>
          <a:ln/>
        </p:spPr>
        <p:txBody>
          <a:bodyPr wrap="square" lIns="0" tIns="0" rIns="0" bIns="0" rtlCol="0" anchor="t"/>
          <a:lstStyle/>
          <a:p>
            <a:pPr marL="0" indent="0">
              <a:buNone/>
            </a:pPr>
            <a:r>
              <a:rPr lang="en-US" sz="2000" dirty="0">
                <a:solidFill>
                  <a:srgbClr val="1B517B"/>
                </a:solidFill>
                <a:latin typeface="Arial" pitchFamily="34" charset="0"/>
                <a:ea typeface="Arial" pitchFamily="34" charset="-122"/>
                <a:cs typeface="Arial" pitchFamily="34" charset="-120"/>
              </a:rPr>
              <a:t>4. Tách câu trên ba loại giọng người thật</a:t>
            </a:r>
            <a:endParaRPr lang="en-US" sz="2000" dirty="0"/>
          </a:p>
        </p:txBody>
      </p:sp>
      <p:sp>
        <p:nvSpPr>
          <p:cNvPr id="6" name="Text 2"/>
          <p:cNvSpPr txBox="1"/>
          <p:nvPr/>
        </p:nvSpPr>
        <p:spPr>
          <a:xfrm>
            <a:off x="10104120" y="6355080"/>
            <a:ext cx="548640" cy="274320"/>
          </a:xfrm>
          <a:prstGeom prst="rect">
            <a:avLst/>
          </a:prstGeom>
          <a:noFill/>
          <a:ln/>
        </p:spPr>
        <p:txBody>
          <a:bodyPr wrap="square" lIns="0" tIns="0" rIns="0" bIns="0" rtlCol="0" anchor="t"/>
          <a:lstStyle/>
          <a:p>
            <a:pPr marL="0" indent="0" algn="r">
              <a:buNone/>
            </a:pPr>
            <a:r>
              <a:rPr lang="en-US" sz="1100" dirty="0">
                <a:solidFill>
                  <a:srgbClr val="5F6B76"/>
                </a:solidFill>
                <a:latin typeface="Arial" pitchFamily="34" charset="0"/>
                <a:ea typeface="Arial" pitchFamily="34" charset="-122"/>
                <a:cs typeface="Arial" pitchFamily="34" charset="-120"/>
              </a:rPr>
              <a:t>23</a:t>
            </a:r>
            <a:endParaRPr lang="en-US" sz="1100" dirty="0"/>
          </a:p>
        </p:txBody>
      </p:sp>
      <p:graphicFrame>
        <p:nvGraphicFramePr>
          <p:cNvPr id="7" name="Chart 0"/>
          <p:cNvGraphicFramePr/>
          <p:nvPr/>
        </p:nvGraphicFramePr>
        <p:xfrm>
          <a:off x="320040" y="1371600"/>
          <a:ext cx="6583680" cy="4846320"/>
        </p:xfrm>
        <a:graphic>
          <a:graphicData uri="http://schemas.openxmlformats.org/drawingml/2006/chart">
            <c:chart xmlns:c="http://schemas.openxmlformats.org/drawingml/2006/chart" xmlns:r="http://schemas.openxmlformats.org/officeDocument/2006/relationships" r:id="rId5"/>
          </a:graphicData>
        </a:graphic>
      </p:graphicFrame>
      <p:sp>
        <p:nvSpPr>
          <p:cNvPr id="8" name="Text 3"/>
          <p:cNvSpPr txBox="1"/>
          <p:nvPr/>
        </p:nvSpPr>
        <p:spPr>
          <a:xfrm>
            <a:off x="7132320" y="1463040"/>
            <a:ext cx="3566160" cy="4754880"/>
          </a:xfrm>
          <a:prstGeom prst="rect">
            <a:avLst/>
          </a:prstGeom>
          <a:noFill/>
          <a:ln/>
        </p:spPr>
        <p:txBody>
          <a:bodyPr wrap="square" lIns="0" tIns="0" rIns="0" bIns="0" rtlCol="0" anchor="t"/>
          <a:lstStyle/>
          <a:p>
            <a:pPr marL="190500" indent="-190500">
              <a:spcAft>
                <a:spcPts val="1200"/>
              </a:spcAft>
              <a:buSzPct val="100000"/>
              <a:buChar char="•"/>
            </a:pPr>
            <a:r>
              <a:rPr lang="en-US" sz="1400" dirty="0">
                <a:solidFill>
                  <a:srgbClr val="222222"/>
                </a:solidFill>
                <a:latin typeface="Arial" pitchFamily="34" charset="0"/>
                <a:ea typeface="Arial" pitchFamily="34" charset="-122"/>
                <a:cs typeface="Arial" pitchFamily="34" charset="-120"/>
              </a:rPr>
              <a:t>Với tham số cũ, 10% số câu của bản tin dài hơn 12,5 s, đúng vấn đề GVHD chỉ ra. Preset Cân bằng kéo xuống 5,9 s.</a:t>
            </a:r>
            <a:endParaRPr lang="en-US" sz="1400" dirty="0"/>
          </a:p>
          <a:p>
            <a:pPr marL="190500" indent="-190500">
              <a:spcAft>
                <a:spcPts val="1200"/>
              </a:spcAft>
              <a:buSzPct val="100000"/>
              <a:buChar char="•"/>
            </a:pPr>
            <a:r>
              <a:rPr lang="en-US" sz="1400" dirty="0">
                <a:solidFill>
                  <a:srgbClr val="222222"/>
                </a:solidFill>
                <a:latin typeface="Arial" pitchFamily="34" charset="0"/>
                <a:ea typeface="Arial" pitchFamily="34" charset="-122"/>
                <a:cs typeface="Arial" pitchFamily="34" charset="-120"/>
              </a:rPr>
              <a:t>Thời gian chờ chốt gần như không đổi (0,20–0,36 s), nên phần cải thiện đến từ trần độ dài.</a:t>
            </a:r>
            <a:endParaRPr lang="en-US" sz="1400" dirty="0"/>
          </a:p>
          <a:p>
            <a:pPr marL="190500" indent="-190500">
              <a:spcAft>
                <a:spcPts val="1200"/>
              </a:spcAft>
              <a:buSzPct val="100000"/>
              <a:buChar char="•"/>
            </a:pPr>
            <a:r>
              <a:rPr lang="en-US" sz="1400" dirty="0">
                <a:solidFill>
                  <a:srgbClr val="222222"/>
                </a:solidFill>
                <a:latin typeface="Arial" pitchFamily="34" charset="0"/>
                <a:ea typeface="Arial" pitchFamily="34" charset="-122"/>
                <a:cs typeface="Arial" pitchFamily="34" charset="-120"/>
              </a:rPr>
              <a:t>Cái giá là cắt giữa câu: preset Cân bằng cắt cứng 30% số đoạn bản tin, 10% ở phỏng vấn và 0% ở TEDx, nên hội thoại tự nhiên gần như không bị ảnh hưởng.</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pic>
        <p:nvPicPr>
          <p:cNvPr id="2" name="Image 0" descr="C:\Users\hhung\AppData\Local\Temp\claude\d--Project-local-live-voice-translator\d0343c7e-f558-4e8b-8c62-5b900df8bea6\scratchpad\build\img\deco_right.png"/>
          <p:cNvPicPr>
            <a:picLocks noChangeAspect="1"/>
          </p:cNvPicPr>
          <p:nvPr/>
        </p:nvPicPr>
        <p:blipFill>
          <a:blip r:embed="rId3"/>
          <a:stretch>
            <a:fillRect/>
          </a:stretch>
        </p:blipFill>
        <p:spPr>
          <a:xfrm>
            <a:off x="0" y="0"/>
            <a:ext cx="12191695" cy="6858000"/>
          </a:xfrm>
          <a:prstGeom prst="rect">
            <a:avLst/>
          </a:prstGeom>
        </p:spPr>
      </p:pic>
      <p:pic>
        <p:nvPicPr>
          <p:cNvPr id="3" name="Image 1" descr="C:\Users\hhung\AppData\Local\Temp\claude\d--Project-local-live-voice-translator\d0343c7e-f558-4e8b-8c62-5b900df8bea6\scratchpad\build\img\logo_header.png"/>
          <p:cNvPicPr>
            <a:picLocks noChangeAspect="1"/>
          </p:cNvPicPr>
          <p:nvPr/>
        </p:nvPicPr>
        <p:blipFill>
          <a:blip r:embed="rId4"/>
          <a:stretch>
            <a:fillRect/>
          </a:stretch>
        </p:blipFill>
        <p:spPr>
          <a:xfrm>
            <a:off x="8549640" y="292608"/>
            <a:ext cx="2560320" cy="459250"/>
          </a:xfrm>
          <a:prstGeom prst="rect">
            <a:avLst/>
          </a:prstGeom>
        </p:spPr>
      </p:pic>
      <p:sp>
        <p:nvSpPr>
          <p:cNvPr id="4" name="Text 0"/>
          <p:cNvSpPr txBox="1"/>
          <p:nvPr/>
        </p:nvSpPr>
        <p:spPr>
          <a:xfrm>
            <a:off x="411480" y="256032"/>
            <a:ext cx="7955280" cy="548640"/>
          </a:xfrm>
          <a:prstGeom prst="rect">
            <a:avLst/>
          </a:prstGeom>
          <a:noFill/>
          <a:ln/>
        </p:spPr>
        <p:txBody>
          <a:bodyPr wrap="square" lIns="0" tIns="0" rIns="0" bIns="0" rtlCol="0" anchor="t"/>
          <a:lstStyle/>
          <a:p>
            <a:pPr marL="0" indent="0">
              <a:buNone/>
            </a:pPr>
            <a:r>
              <a:rPr lang="en-US" sz="2800" b="1" dirty="0">
                <a:solidFill>
                  <a:srgbClr val="487BA2"/>
                </a:solidFill>
                <a:latin typeface="Arial" pitchFamily="34" charset="0"/>
                <a:ea typeface="Arial" pitchFamily="34" charset="-122"/>
                <a:cs typeface="Arial" pitchFamily="34" charset="-120"/>
              </a:rPr>
              <a:t>III. Kết quả thực nghiệm</a:t>
            </a:r>
            <a:endParaRPr lang="en-US" sz="2800" dirty="0"/>
          </a:p>
        </p:txBody>
      </p:sp>
      <p:sp>
        <p:nvSpPr>
          <p:cNvPr id="5" name="Text 1"/>
          <p:cNvSpPr txBox="1"/>
          <p:nvPr/>
        </p:nvSpPr>
        <p:spPr>
          <a:xfrm>
            <a:off x="411480" y="841248"/>
            <a:ext cx="8046720" cy="411480"/>
          </a:xfrm>
          <a:prstGeom prst="rect">
            <a:avLst/>
          </a:prstGeom>
          <a:noFill/>
          <a:ln/>
        </p:spPr>
        <p:txBody>
          <a:bodyPr wrap="square" lIns="0" tIns="0" rIns="0" bIns="0" rtlCol="0" anchor="t"/>
          <a:lstStyle/>
          <a:p>
            <a:pPr marL="0" indent="0">
              <a:buNone/>
            </a:pPr>
            <a:r>
              <a:rPr lang="en-US" sz="2000" dirty="0">
                <a:solidFill>
                  <a:srgbClr val="1B517B"/>
                </a:solidFill>
                <a:latin typeface="Arial" pitchFamily="34" charset="0"/>
                <a:ea typeface="Arial" pitchFamily="34" charset="-122"/>
                <a:cs typeface="Arial" pitchFamily="34" charset="-120"/>
              </a:rPr>
              <a:t>4. Nhận dạng và dịch trên hội thoại tự phát</a:t>
            </a:r>
            <a:endParaRPr lang="en-US" sz="2000" dirty="0"/>
          </a:p>
        </p:txBody>
      </p:sp>
      <p:sp>
        <p:nvSpPr>
          <p:cNvPr id="6" name="Text 2"/>
          <p:cNvSpPr txBox="1"/>
          <p:nvPr/>
        </p:nvSpPr>
        <p:spPr>
          <a:xfrm>
            <a:off x="10104120" y="6355080"/>
            <a:ext cx="548640" cy="274320"/>
          </a:xfrm>
          <a:prstGeom prst="rect">
            <a:avLst/>
          </a:prstGeom>
          <a:noFill/>
          <a:ln/>
        </p:spPr>
        <p:txBody>
          <a:bodyPr wrap="square" lIns="0" tIns="0" rIns="0" bIns="0" rtlCol="0" anchor="t"/>
          <a:lstStyle/>
          <a:p>
            <a:pPr marL="0" indent="0" algn="r">
              <a:buNone/>
            </a:pPr>
            <a:r>
              <a:rPr lang="en-US" sz="1100" dirty="0">
                <a:solidFill>
                  <a:srgbClr val="5F6B76"/>
                </a:solidFill>
                <a:latin typeface="Arial" pitchFamily="34" charset="0"/>
                <a:ea typeface="Arial" pitchFamily="34" charset="-122"/>
                <a:cs typeface="Arial" pitchFamily="34" charset="-120"/>
              </a:rPr>
              <a:t>24</a:t>
            </a:r>
            <a:endParaRPr lang="en-US" sz="1100" dirty="0"/>
          </a:p>
        </p:txBody>
      </p:sp>
      <p:sp>
        <p:nvSpPr>
          <p:cNvPr id="7" name="Shape 3"/>
          <p:cNvSpPr/>
          <p:nvPr/>
        </p:nvSpPr>
        <p:spPr>
          <a:xfrm>
            <a:off x="411480" y="1417320"/>
            <a:ext cx="5029200" cy="2148840"/>
          </a:xfrm>
          <a:prstGeom prst="roundRect">
            <a:avLst>
              <a:gd name="adj" fmla="val 3404"/>
            </a:avLst>
          </a:prstGeom>
          <a:solidFill>
            <a:srgbClr val="EEF4F9"/>
          </a:solidFill>
          <a:ln w="12700">
            <a:solidFill>
              <a:srgbClr val="EEF4F9"/>
            </a:solidFill>
            <a:prstDash val="solid"/>
          </a:ln>
        </p:spPr>
        <p:txBody>
          <a:bodyPr/>
          <a:lstStyle/>
          <a:p>
            <a:endParaRPr lang="en-US"/>
          </a:p>
        </p:txBody>
      </p:sp>
      <p:sp>
        <p:nvSpPr>
          <p:cNvPr id="8" name="Text 4"/>
          <p:cNvSpPr txBox="1"/>
          <p:nvPr/>
        </p:nvSpPr>
        <p:spPr>
          <a:xfrm>
            <a:off x="594360" y="1481328"/>
            <a:ext cx="4663440" cy="320040"/>
          </a:xfrm>
          <a:prstGeom prst="rect">
            <a:avLst/>
          </a:prstGeom>
          <a:noFill/>
          <a:ln/>
        </p:spPr>
        <p:txBody>
          <a:bodyPr wrap="square" lIns="0" tIns="0" rIns="0" bIns="0" rtlCol="0" anchor="t"/>
          <a:lstStyle/>
          <a:p>
            <a:pPr marL="0" indent="0">
              <a:buNone/>
            </a:pPr>
            <a:r>
              <a:rPr lang="en-US" sz="1400" b="1" dirty="0">
                <a:solidFill>
                  <a:srgbClr val="1B517B"/>
                </a:solidFill>
                <a:latin typeface="Arial" pitchFamily="34" charset="0"/>
                <a:ea typeface="Arial" pitchFamily="34" charset="-122"/>
                <a:cs typeface="Arial" pitchFamily="34" charset="-120"/>
              </a:rPr>
              <a:t>WER tiếng Việt, cùng mô hình, cùng máy</a:t>
            </a:r>
            <a:endParaRPr lang="en-US" sz="1400" dirty="0"/>
          </a:p>
        </p:txBody>
      </p:sp>
      <p:sp>
        <p:nvSpPr>
          <p:cNvPr id="9" name="Text 5"/>
          <p:cNvSpPr txBox="1"/>
          <p:nvPr/>
        </p:nvSpPr>
        <p:spPr>
          <a:xfrm>
            <a:off x="594360" y="1874520"/>
            <a:ext cx="2011680" cy="1188720"/>
          </a:xfrm>
          <a:prstGeom prst="rect">
            <a:avLst/>
          </a:prstGeom>
          <a:noFill/>
          <a:ln/>
        </p:spPr>
        <p:txBody>
          <a:bodyPr wrap="square" lIns="0" tIns="0" rIns="0" bIns="0" rtlCol="0" anchor="ctr"/>
          <a:lstStyle/>
          <a:p>
            <a:pPr marL="0" indent="0" algn="ctr">
              <a:buNone/>
            </a:pPr>
            <a:r>
              <a:rPr lang="en-US" sz="3600" b="1" dirty="0">
                <a:solidFill>
                  <a:srgbClr val="487BA2"/>
                </a:solidFill>
                <a:latin typeface="Arial" pitchFamily="34" charset="0"/>
                <a:ea typeface="Arial" pitchFamily="34" charset="-122"/>
                <a:cs typeface="Arial" pitchFamily="34" charset="-120"/>
              </a:rPr>
              <a:t>10,4%</a:t>
            </a:r>
            <a:endParaRPr lang="en-US" sz="3600" dirty="0"/>
          </a:p>
          <a:p>
            <a:pPr marL="0" indent="0" algn="ctr">
              <a:buNone/>
            </a:pPr>
            <a:r>
              <a:rPr lang="en-US" sz="1200" b="1" dirty="0">
                <a:solidFill>
                  <a:srgbClr val="5F6B76"/>
                </a:solidFill>
                <a:latin typeface="Arial" pitchFamily="34" charset="0"/>
                <a:ea typeface="Arial" pitchFamily="34" charset="-122"/>
                <a:cs typeface="Arial" pitchFamily="34" charset="-120"/>
              </a:rPr>
              <a:t>FLEURS, 857 câu</a:t>
            </a:r>
            <a:endParaRPr lang="en-US" sz="3600" dirty="0"/>
          </a:p>
        </p:txBody>
      </p:sp>
      <p:pic>
        <p:nvPicPr>
          <p:cNvPr id="10" name="Image 2" descr="preencoded.png"/>
          <p:cNvPicPr>
            <a:picLocks noChangeAspect="1"/>
          </p:cNvPicPr>
          <p:nvPr/>
        </p:nvPicPr>
        <p:blipFill>
          <a:blip r:embed="rId5"/>
          <a:stretch>
            <a:fillRect/>
          </a:stretch>
        </p:blipFill>
        <p:spPr>
          <a:xfrm>
            <a:off x="2697480" y="2240280"/>
            <a:ext cx="457200" cy="457200"/>
          </a:xfrm>
          <a:prstGeom prst="rect">
            <a:avLst/>
          </a:prstGeom>
        </p:spPr>
      </p:pic>
      <p:sp>
        <p:nvSpPr>
          <p:cNvPr id="11" name="Text 6"/>
          <p:cNvSpPr txBox="1"/>
          <p:nvPr/>
        </p:nvSpPr>
        <p:spPr>
          <a:xfrm>
            <a:off x="3246120" y="1874520"/>
            <a:ext cx="2011680" cy="1188720"/>
          </a:xfrm>
          <a:prstGeom prst="rect">
            <a:avLst/>
          </a:prstGeom>
          <a:noFill/>
          <a:ln/>
        </p:spPr>
        <p:txBody>
          <a:bodyPr wrap="square" lIns="0" tIns="0" rIns="0" bIns="0" rtlCol="0" anchor="ctr"/>
          <a:lstStyle/>
          <a:p>
            <a:pPr marL="0" indent="0" algn="ctr">
              <a:buNone/>
            </a:pPr>
            <a:r>
              <a:rPr lang="en-US" sz="3600" b="1" dirty="0">
                <a:solidFill>
                  <a:srgbClr val="B8262B"/>
                </a:solidFill>
                <a:latin typeface="Arial" pitchFamily="34" charset="0"/>
                <a:ea typeface="Arial" pitchFamily="34" charset="-122"/>
                <a:cs typeface="Arial" pitchFamily="34" charset="-120"/>
              </a:rPr>
              <a:t>24,6%</a:t>
            </a:r>
            <a:endParaRPr lang="en-US" sz="3600" dirty="0"/>
          </a:p>
          <a:p>
            <a:pPr marL="0" indent="0" algn="ctr">
              <a:buNone/>
            </a:pPr>
            <a:r>
              <a:rPr lang="en-US" sz="1200" b="1" dirty="0">
                <a:solidFill>
                  <a:srgbClr val="5F6B76"/>
                </a:solidFill>
                <a:latin typeface="Arial" pitchFamily="34" charset="0"/>
                <a:ea typeface="Arial" pitchFamily="34" charset="-122"/>
                <a:cs typeface="Arial" pitchFamily="34" charset="-120"/>
              </a:rPr>
              <a:t>phỏng vấn thật, 25 đoạn</a:t>
            </a:r>
            <a:endParaRPr lang="en-US" sz="3600" dirty="0"/>
          </a:p>
        </p:txBody>
      </p:sp>
      <p:sp>
        <p:nvSpPr>
          <p:cNvPr id="12" name="Text 7"/>
          <p:cNvSpPr txBox="1"/>
          <p:nvPr/>
        </p:nvSpPr>
        <p:spPr>
          <a:xfrm>
            <a:off x="594360" y="3108960"/>
            <a:ext cx="4663440" cy="365760"/>
          </a:xfrm>
          <a:prstGeom prst="rect">
            <a:avLst/>
          </a:prstGeom>
          <a:noFill/>
          <a:ln/>
        </p:spPr>
        <p:txBody>
          <a:bodyPr wrap="square" lIns="0" tIns="0" rIns="0" bIns="0" rtlCol="0" anchor="t"/>
          <a:lstStyle/>
          <a:p>
            <a:pPr marL="0" indent="0" algn="ctr">
              <a:buNone/>
            </a:pPr>
            <a:r>
              <a:rPr lang="en-US" sz="1400" b="1" dirty="0">
                <a:solidFill>
                  <a:srgbClr val="B8262B"/>
                </a:solidFill>
                <a:latin typeface="Arial" pitchFamily="34" charset="0"/>
                <a:ea typeface="Arial" pitchFamily="34" charset="-122"/>
                <a:cs typeface="Arial" pitchFamily="34" charset="-120"/>
              </a:rPr>
              <a:t>Giọng nói tự phát cho WER gấp 2,4 lần giọng đọc</a:t>
            </a:r>
            <a:endParaRPr lang="en-US" sz="1400" dirty="0"/>
          </a:p>
        </p:txBody>
      </p:sp>
      <p:sp>
        <p:nvSpPr>
          <p:cNvPr id="13" name="Text 8"/>
          <p:cNvSpPr txBox="1"/>
          <p:nvPr/>
        </p:nvSpPr>
        <p:spPr>
          <a:xfrm>
            <a:off x="411480" y="3794760"/>
            <a:ext cx="5029200" cy="365760"/>
          </a:xfrm>
          <a:prstGeom prst="rect">
            <a:avLst/>
          </a:prstGeom>
          <a:noFill/>
          <a:ln/>
        </p:spPr>
        <p:txBody>
          <a:bodyPr wrap="square" lIns="0" tIns="0" rIns="0" bIns="0" rtlCol="0" anchor="t"/>
          <a:lstStyle/>
          <a:p>
            <a:pPr marL="0" indent="0">
              <a:buNone/>
            </a:pPr>
            <a:r>
              <a:rPr lang="en-US" sz="1500" b="1" dirty="0">
                <a:solidFill>
                  <a:srgbClr val="1B517B"/>
                </a:solidFill>
                <a:latin typeface="Arial" pitchFamily="34" charset="0"/>
                <a:ea typeface="Arial" pitchFamily="34" charset="-122"/>
                <a:cs typeface="Arial" pitchFamily="34" charset="-120"/>
              </a:rPr>
              <a:t>Lỗi chủ yếu: thuật ngữ tiếng Anh đọc theo giọng Việt</a:t>
            </a:r>
            <a:endParaRPr lang="en-US" sz="1500" dirty="0"/>
          </a:p>
        </p:txBody>
      </p:sp>
      <p:sp>
        <p:nvSpPr>
          <p:cNvPr id="14" name="Text 9"/>
          <p:cNvSpPr txBox="1"/>
          <p:nvPr/>
        </p:nvSpPr>
        <p:spPr>
          <a:xfrm>
            <a:off x="411480" y="4206240"/>
            <a:ext cx="5029200" cy="2011680"/>
          </a:xfrm>
          <a:prstGeom prst="rect">
            <a:avLst/>
          </a:prstGeom>
          <a:noFill/>
          <a:ln/>
        </p:spPr>
        <p:txBody>
          <a:bodyPr wrap="square" lIns="0" tIns="0" rIns="0" bIns="0" rtlCol="0" anchor="t"/>
          <a:lstStyle/>
          <a:p>
            <a:pPr marL="190500" indent="-190500">
              <a:spcAft>
                <a:spcPts val="800"/>
              </a:spcAft>
              <a:buSzPct val="100000"/>
              <a:buChar char="•"/>
            </a:pPr>
            <a:r>
              <a:rPr lang="en-US" sz="1300" dirty="0">
                <a:solidFill>
                  <a:srgbClr val="222222"/>
                </a:solidFill>
                <a:latin typeface="Arial" pitchFamily="34" charset="0"/>
                <a:ea typeface="Arial" pitchFamily="34" charset="-122"/>
                <a:cs typeface="Arial" pitchFamily="34" charset="-120"/>
              </a:rPr>
              <a:t>"string" xuất hiện 18 lần, Whisper nghe đúng </a:t>
            </a:r>
            <a:r>
              <a:rPr lang="en-US" sz="1300" b="1" dirty="0">
                <a:solidFill>
                  <a:srgbClr val="B8262B"/>
                </a:solidFill>
                <a:latin typeface="Arial" pitchFamily="34" charset="0"/>
                <a:ea typeface="Arial" pitchFamily="34" charset="-122"/>
                <a:cs typeface="Arial" pitchFamily="34" charset="-120"/>
              </a:rPr>
              <a:t>1 lần</a:t>
            </a:r>
            <a:r>
              <a:rPr lang="en-US" sz="1300" dirty="0">
                <a:solidFill>
                  <a:srgbClr val="222222"/>
                </a:solidFill>
                <a:latin typeface="Arial" pitchFamily="34" charset="0"/>
                <a:ea typeface="Arial" pitchFamily="34" charset="-122"/>
                <a:cs typeface="Arial" pitchFamily="34" charset="-120"/>
              </a:rPr>
              <a:t>; nghe thành "stream" 6 lần, "trên" 5, "chuyên" 3.</a:t>
            </a:r>
            <a:endParaRPr lang="en-US" sz="1300" dirty="0"/>
          </a:p>
          <a:p>
            <a:pPr marL="190500" indent="-190500">
              <a:spcAft>
                <a:spcPts val="800"/>
              </a:spcAft>
              <a:buSzPct val="100000"/>
              <a:buChar char="•"/>
            </a:pPr>
            <a:r>
              <a:rPr lang="en-US" sz="1300" dirty="0">
                <a:solidFill>
                  <a:srgbClr val="222222"/>
                </a:solidFill>
                <a:latin typeface="Arial" pitchFamily="34" charset="0"/>
                <a:ea typeface="Arial" pitchFamily="34" charset="-122"/>
                <a:cs typeface="Arial" pitchFamily="34" charset="-120"/>
              </a:rPr>
              <a:t>Phụ đề tự sinh của YouTube sai đúng kiểu đó: giới hạn chung của nhận dạng đa ngôn ngữ khi chen từ tiếng Anh vào câu tiếng Việt.</a:t>
            </a:r>
            <a:endParaRPr lang="en-US" sz="1300" dirty="0"/>
          </a:p>
        </p:txBody>
      </p:sp>
      <p:sp>
        <p:nvSpPr>
          <p:cNvPr id="15" name="Text 10"/>
          <p:cNvSpPr txBox="1"/>
          <p:nvPr/>
        </p:nvSpPr>
        <p:spPr>
          <a:xfrm>
            <a:off x="5806440" y="1417320"/>
            <a:ext cx="4937760" cy="365760"/>
          </a:xfrm>
          <a:prstGeom prst="rect">
            <a:avLst/>
          </a:prstGeom>
          <a:noFill/>
          <a:ln/>
        </p:spPr>
        <p:txBody>
          <a:bodyPr wrap="square" lIns="0" tIns="0" rIns="0" bIns="0" rtlCol="0" anchor="t"/>
          <a:lstStyle/>
          <a:p>
            <a:pPr marL="0" indent="0">
              <a:buNone/>
            </a:pPr>
            <a:r>
              <a:rPr lang="en-US" sz="1500" b="1" dirty="0">
                <a:solidFill>
                  <a:srgbClr val="1B517B"/>
                </a:solidFill>
                <a:latin typeface="Arial" pitchFamily="34" charset="0"/>
                <a:ea typeface="Arial" pitchFamily="34" charset="-122"/>
                <a:cs typeface="Arial" pitchFamily="34" charset="-120"/>
              </a:rPr>
              <a:t>Hai lỗi của khâu dịch mà giọng đọc không bắt được</a:t>
            </a:r>
            <a:endParaRPr lang="en-US" sz="1500" dirty="0"/>
          </a:p>
        </p:txBody>
      </p:sp>
      <p:sp>
        <p:nvSpPr>
          <p:cNvPr id="16" name="Shape 11"/>
          <p:cNvSpPr/>
          <p:nvPr/>
        </p:nvSpPr>
        <p:spPr>
          <a:xfrm>
            <a:off x="5806440" y="1874520"/>
            <a:ext cx="4846320" cy="1691640"/>
          </a:xfrm>
          <a:prstGeom prst="roundRect">
            <a:avLst>
              <a:gd name="adj" fmla="val 4324"/>
            </a:avLst>
          </a:prstGeom>
          <a:solidFill>
            <a:srgbClr val="FBEDED"/>
          </a:solidFill>
          <a:ln w="12700">
            <a:solidFill>
              <a:srgbClr val="FBEDED"/>
            </a:solidFill>
            <a:prstDash val="solid"/>
          </a:ln>
        </p:spPr>
        <p:txBody>
          <a:bodyPr/>
          <a:lstStyle/>
          <a:p>
            <a:endParaRPr lang="en-US"/>
          </a:p>
        </p:txBody>
      </p:sp>
      <p:sp>
        <p:nvSpPr>
          <p:cNvPr id="17" name="Text 12"/>
          <p:cNvSpPr txBox="1"/>
          <p:nvPr/>
        </p:nvSpPr>
        <p:spPr>
          <a:xfrm>
            <a:off x="5989320" y="1965960"/>
            <a:ext cx="4480560" cy="347472"/>
          </a:xfrm>
          <a:prstGeom prst="rect">
            <a:avLst/>
          </a:prstGeom>
          <a:noFill/>
          <a:ln/>
        </p:spPr>
        <p:txBody>
          <a:bodyPr wrap="square" lIns="0" tIns="0" rIns="0" bIns="0" rtlCol="0" anchor="t"/>
          <a:lstStyle/>
          <a:p>
            <a:pPr marL="0" indent="0">
              <a:buNone/>
            </a:pPr>
            <a:r>
              <a:rPr lang="en-US" sz="1500" b="1" dirty="0">
                <a:solidFill>
                  <a:srgbClr val="B8262B"/>
                </a:solidFill>
                <a:latin typeface="Arial" pitchFamily="34" charset="0"/>
                <a:ea typeface="Arial" pitchFamily="34" charset="-122"/>
                <a:cs typeface="Arial" pitchFamily="34" charset="-120"/>
              </a:rPr>
              <a:t>Vòng lặp mất kiểm soát</a:t>
            </a:r>
            <a:endParaRPr lang="en-US" sz="1500" dirty="0"/>
          </a:p>
        </p:txBody>
      </p:sp>
      <p:sp>
        <p:nvSpPr>
          <p:cNvPr id="18" name="Text 13"/>
          <p:cNvSpPr txBox="1"/>
          <p:nvPr/>
        </p:nvSpPr>
        <p:spPr>
          <a:xfrm>
            <a:off x="5989320" y="2331720"/>
            <a:ext cx="4480560" cy="1188720"/>
          </a:xfrm>
          <a:prstGeom prst="rect">
            <a:avLst/>
          </a:prstGeom>
          <a:noFill/>
          <a:ln/>
        </p:spPr>
        <p:txBody>
          <a:bodyPr wrap="square" lIns="0" tIns="0" rIns="0" bIns="0" rtlCol="0" anchor="t"/>
          <a:lstStyle/>
          <a:p>
            <a:pPr marL="0" indent="0">
              <a:buNone/>
            </a:pPr>
            <a:r>
              <a:rPr lang="en-US" sz="1300" dirty="0">
                <a:solidFill>
                  <a:srgbClr val="222222"/>
                </a:solidFill>
                <a:latin typeface="Arial" pitchFamily="34" charset="0"/>
                <a:ea typeface="Arial" pitchFamily="34" charset="-122"/>
                <a:cs typeface="Arial" pitchFamily="34" charset="-120"/>
              </a:rPr>
              <a:t>2 / 75 lượt, đều sang tiếng Nhật. Câu mở đầu bằng từ đệm ("dạ đúng ạ…") thành "そうだ。" lặp hơn 50 lần. NLLB chỉ có trần 256 token, và TTS sẽ đọc to toàn bộ.</a:t>
            </a:r>
            <a:endParaRPr lang="en-US" sz="1300" dirty="0"/>
          </a:p>
        </p:txBody>
      </p:sp>
      <p:sp>
        <p:nvSpPr>
          <p:cNvPr id="19" name="Shape 14"/>
          <p:cNvSpPr/>
          <p:nvPr/>
        </p:nvSpPr>
        <p:spPr>
          <a:xfrm>
            <a:off x="5806440" y="3749040"/>
            <a:ext cx="4846320" cy="1691640"/>
          </a:xfrm>
          <a:prstGeom prst="roundRect">
            <a:avLst>
              <a:gd name="adj" fmla="val 4324"/>
            </a:avLst>
          </a:prstGeom>
          <a:solidFill>
            <a:srgbClr val="EEF4F9"/>
          </a:solidFill>
          <a:ln w="12700">
            <a:solidFill>
              <a:srgbClr val="EEF4F9"/>
            </a:solidFill>
            <a:prstDash val="solid"/>
          </a:ln>
        </p:spPr>
        <p:txBody>
          <a:bodyPr/>
          <a:lstStyle/>
          <a:p>
            <a:endParaRPr lang="en-US"/>
          </a:p>
        </p:txBody>
      </p:sp>
      <p:sp>
        <p:nvSpPr>
          <p:cNvPr id="20" name="Text 15"/>
          <p:cNvSpPr txBox="1"/>
          <p:nvPr/>
        </p:nvSpPr>
        <p:spPr>
          <a:xfrm>
            <a:off x="5989320" y="3840480"/>
            <a:ext cx="4480560" cy="347472"/>
          </a:xfrm>
          <a:prstGeom prst="rect">
            <a:avLst/>
          </a:prstGeom>
          <a:noFill/>
          <a:ln/>
        </p:spPr>
        <p:txBody>
          <a:bodyPr wrap="square" lIns="0" tIns="0" rIns="0" bIns="0" rtlCol="0" anchor="t"/>
          <a:lstStyle/>
          <a:p>
            <a:pPr marL="0" indent="0">
              <a:buNone/>
            </a:pPr>
            <a:r>
              <a:rPr lang="en-US" sz="1500" b="1" dirty="0">
                <a:solidFill>
                  <a:srgbClr val="1B517B"/>
                </a:solidFill>
                <a:latin typeface="Arial" pitchFamily="34" charset="0"/>
                <a:ea typeface="Arial" pitchFamily="34" charset="-122"/>
                <a:cs typeface="Arial" pitchFamily="34" charset="-120"/>
              </a:rPr>
              <a:t>Dịch nghĩa đen thuật ngữ</a:t>
            </a:r>
            <a:endParaRPr lang="en-US" sz="1500" dirty="0"/>
          </a:p>
        </p:txBody>
      </p:sp>
      <p:sp>
        <p:nvSpPr>
          <p:cNvPr id="21" name="Text 16"/>
          <p:cNvSpPr txBox="1"/>
          <p:nvPr/>
        </p:nvSpPr>
        <p:spPr>
          <a:xfrm>
            <a:off x="5989320" y="4206240"/>
            <a:ext cx="4480560" cy="1188720"/>
          </a:xfrm>
          <a:prstGeom prst="rect">
            <a:avLst/>
          </a:prstGeom>
          <a:noFill/>
          <a:ln/>
        </p:spPr>
        <p:txBody>
          <a:bodyPr wrap="square" lIns="0" tIns="0" rIns="0" bIns="0" rtlCol="0" anchor="t"/>
          <a:lstStyle/>
          <a:p>
            <a:pPr marL="0" indent="0">
              <a:buNone/>
            </a:pPr>
            <a:r>
              <a:rPr lang="en-US" sz="1300" dirty="0">
                <a:solidFill>
                  <a:srgbClr val="222222"/>
                </a:solidFill>
                <a:latin typeface="Arial" pitchFamily="34" charset="0"/>
                <a:ea typeface="Arial" pitchFamily="34" charset="-122"/>
                <a:cs typeface="Arial" pitchFamily="34" charset="-120"/>
              </a:rPr>
              <a:t>"spring" thành 春天 (mùa xuân) ở đích tiếng Trung, "春のバッファー" ở đích tiếng Nhật. NLLB không có khái niệm thuật ngữ cần giữ nguyên.</a:t>
            </a:r>
            <a:endParaRPr lang="en-US" sz="1300" dirty="0"/>
          </a:p>
        </p:txBody>
      </p:sp>
      <p:sp>
        <p:nvSpPr>
          <p:cNvPr id="22" name="Text 17"/>
          <p:cNvSpPr txBox="1"/>
          <p:nvPr/>
        </p:nvSpPr>
        <p:spPr>
          <a:xfrm>
            <a:off x="5806440" y="5669280"/>
            <a:ext cx="4846320" cy="548640"/>
          </a:xfrm>
          <a:prstGeom prst="rect">
            <a:avLst/>
          </a:prstGeom>
          <a:noFill/>
          <a:ln/>
        </p:spPr>
        <p:txBody>
          <a:bodyPr wrap="square" lIns="0" tIns="0" rIns="0" bIns="0" rtlCol="0" anchor="t"/>
          <a:lstStyle/>
          <a:p>
            <a:pPr marL="0" indent="0">
              <a:buNone/>
            </a:pPr>
            <a:r>
              <a:rPr lang="en-US" sz="1200" i="1" dirty="0">
                <a:solidFill>
                  <a:srgbClr val="5F6B76"/>
                </a:solidFill>
                <a:latin typeface="Arial" pitchFamily="34" charset="0"/>
                <a:ea typeface="Arial" pitchFamily="34" charset="-122"/>
                <a:cs typeface="Arial" pitchFamily="34" charset="-120"/>
              </a:rPr>
              <a:t>Quy mô nhỏ (1 bản ghi, 25 đoạn), nên chỉ cho biết độ lớn của khoảng cách; số chính vẫn là các bảng FLEURS.</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pic>
        <p:nvPicPr>
          <p:cNvPr id="2" name="Image 0" descr="C:\Users\hhung\AppData\Local\Temp\claude\d--Project-local-live-voice-translator\d0343c7e-f558-4e8b-8c62-5b900df8bea6\scratchpad\build\img\deco_right.png"/>
          <p:cNvPicPr>
            <a:picLocks noChangeAspect="1"/>
          </p:cNvPicPr>
          <p:nvPr/>
        </p:nvPicPr>
        <p:blipFill>
          <a:blip r:embed="rId3"/>
          <a:stretch>
            <a:fillRect/>
          </a:stretch>
        </p:blipFill>
        <p:spPr>
          <a:xfrm>
            <a:off x="0" y="0"/>
            <a:ext cx="12191695" cy="6858000"/>
          </a:xfrm>
          <a:prstGeom prst="rect">
            <a:avLst/>
          </a:prstGeom>
        </p:spPr>
      </p:pic>
      <p:pic>
        <p:nvPicPr>
          <p:cNvPr id="3" name="Image 1" descr="C:\Users\hhung\AppData\Local\Temp\claude\d--Project-local-live-voice-translator\d0343c7e-f558-4e8b-8c62-5b900df8bea6\scratchpad\build\img\logo_header.png"/>
          <p:cNvPicPr>
            <a:picLocks noChangeAspect="1"/>
          </p:cNvPicPr>
          <p:nvPr/>
        </p:nvPicPr>
        <p:blipFill>
          <a:blip r:embed="rId4"/>
          <a:stretch>
            <a:fillRect/>
          </a:stretch>
        </p:blipFill>
        <p:spPr>
          <a:xfrm>
            <a:off x="8549640" y="292608"/>
            <a:ext cx="2560320" cy="459250"/>
          </a:xfrm>
          <a:prstGeom prst="rect">
            <a:avLst/>
          </a:prstGeom>
        </p:spPr>
      </p:pic>
      <p:sp>
        <p:nvSpPr>
          <p:cNvPr id="4" name="Text 0"/>
          <p:cNvSpPr txBox="1"/>
          <p:nvPr/>
        </p:nvSpPr>
        <p:spPr>
          <a:xfrm>
            <a:off x="411480" y="256032"/>
            <a:ext cx="7955280" cy="548640"/>
          </a:xfrm>
          <a:prstGeom prst="rect">
            <a:avLst/>
          </a:prstGeom>
          <a:noFill/>
          <a:ln/>
        </p:spPr>
        <p:txBody>
          <a:bodyPr wrap="square" lIns="0" tIns="0" rIns="0" bIns="0" rtlCol="0" anchor="t"/>
          <a:lstStyle/>
          <a:p>
            <a:pPr marL="0" indent="0">
              <a:buNone/>
            </a:pPr>
            <a:r>
              <a:rPr lang="en-US" sz="2800" b="1" dirty="0">
                <a:solidFill>
                  <a:srgbClr val="487BA2"/>
                </a:solidFill>
                <a:latin typeface="Arial" pitchFamily="34" charset="0"/>
                <a:ea typeface="Arial" pitchFamily="34" charset="-122"/>
                <a:cs typeface="Arial" pitchFamily="34" charset="-120"/>
              </a:rPr>
              <a:t>III. Kết quả thực nghiệm</a:t>
            </a:r>
            <a:endParaRPr lang="en-US" sz="2800" dirty="0"/>
          </a:p>
        </p:txBody>
      </p:sp>
      <p:sp>
        <p:nvSpPr>
          <p:cNvPr id="5" name="Text 1"/>
          <p:cNvSpPr txBox="1"/>
          <p:nvPr/>
        </p:nvSpPr>
        <p:spPr>
          <a:xfrm>
            <a:off x="411480" y="841248"/>
            <a:ext cx="8046720" cy="411480"/>
          </a:xfrm>
          <a:prstGeom prst="rect">
            <a:avLst/>
          </a:prstGeom>
          <a:noFill/>
          <a:ln/>
        </p:spPr>
        <p:txBody>
          <a:bodyPr wrap="square" lIns="0" tIns="0" rIns="0" bIns="0" rtlCol="0" anchor="t"/>
          <a:lstStyle/>
          <a:p>
            <a:pPr marL="0" indent="0">
              <a:buNone/>
            </a:pPr>
            <a:r>
              <a:rPr lang="en-US" sz="2000" dirty="0">
                <a:solidFill>
                  <a:srgbClr val="1B517B"/>
                </a:solidFill>
                <a:latin typeface="Arial" pitchFamily="34" charset="0"/>
                <a:ea typeface="Arial" pitchFamily="34" charset="-122"/>
                <a:cs typeface="Arial" pitchFamily="34" charset="-120"/>
              </a:rPr>
              <a:t>5. Đối chiếu với yêu cầu phi chức năng</a:t>
            </a:r>
            <a:endParaRPr lang="en-US" sz="2000" dirty="0"/>
          </a:p>
        </p:txBody>
      </p:sp>
      <p:sp>
        <p:nvSpPr>
          <p:cNvPr id="6" name="Text 2"/>
          <p:cNvSpPr txBox="1"/>
          <p:nvPr/>
        </p:nvSpPr>
        <p:spPr>
          <a:xfrm>
            <a:off x="10104120" y="6355080"/>
            <a:ext cx="548640" cy="274320"/>
          </a:xfrm>
          <a:prstGeom prst="rect">
            <a:avLst/>
          </a:prstGeom>
          <a:noFill/>
          <a:ln/>
        </p:spPr>
        <p:txBody>
          <a:bodyPr wrap="square" lIns="0" tIns="0" rIns="0" bIns="0" rtlCol="0" anchor="t"/>
          <a:lstStyle/>
          <a:p>
            <a:pPr marL="0" indent="0" algn="r">
              <a:buNone/>
            </a:pPr>
            <a:r>
              <a:rPr lang="en-US" sz="1100" dirty="0">
                <a:solidFill>
                  <a:srgbClr val="5F6B76"/>
                </a:solidFill>
                <a:latin typeface="Arial" pitchFamily="34" charset="0"/>
                <a:ea typeface="Arial" pitchFamily="34" charset="-122"/>
                <a:cs typeface="Arial" pitchFamily="34" charset="-120"/>
              </a:rPr>
              <a:t>25</a:t>
            </a:r>
            <a:endParaRPr lang="en-US" sz="11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10241280" cy="4325112"/>
        </p:xfrm>
        <a:graphic>
          <a:graphicData uri="http://schemas.openxmlformats.org/drawingml/2006/table">
            <a:tbl>
              <a:tblPr/>
              <a:tblGrid>
                <a:gridCol w="3931920">
                  <a:extLst>
                    <a:ext uri="{9D8B030D-6E8A-4147-A177-3AD203B41FA5}">
                      <a16:colId xmlns:a16="http://schemas.microsoft.com/office/drawing/2014/main" val="20000"/>
                    </a:ext>
                  </a:extLst>
                </a:gridCol>
                <a:gridCol w="52120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393192">
                <a:tc>
                  <a:txBody>
                    <a:bodyPr/>
                    <a:lstStyle/>
                    <a:p>
                      <a:pPr marL="0" indent="0" algn="ctr">
                        <a:buNone/>
                      </a:pPr>
                      <a:r>
                        <a:rPr lang="en-US" sz="1250" b="1" dirty="0">
                          <a:solidFill>
                            <a:srgbClr val="FFFFFF"/>
                          </a:solidFill>
                          <a:latin typeface="Arial" pitchFamily="34" charset="0"/>
                          <a:ea typeface="Arial" pitchFamily="34" charset="-122"/>
                          <a:cs typeface="Arial" pitchFamily="34" charset="-120"/>
                        </a:rPr>
                        <a:t>Yêu cầu</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1B517B"/>
                    </a:solidFill>
                  </a:tcPr>
                </a:tc>
                <a:tc>
                  <a:txBody>
                    <a:bodyPr/>
                    <a:lstStyle/>
                    <a:p>
                      <a:pPr marL="0" indent="0" algn="ctr">
                        <a:buNone/>
                      </a:pPr>
                      <a:r>
                        <a:rPr lang="en-US" sz="1250" b="1" dirty="0">
                          <a:solidFill>
                            <a:srgbClr val="FFFFFF"/>
                          </a:solidFill>
                          <a:latin typeface="Arial" pitchFamily="34" charset="0"/>
                          <a:ea typeface="Arial" pitchFamily="34" charset="-122"/>
                          <a:cs typeface="Arial" pitchFamily="34" charset="-120"/>
                        </a:rPr>
                        <a:t>Kết quả</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1B517B"/>
                    </a:solidFill>
                  </a:tcPr>
                </a:tc>
                <a:tc>
                  <a:txBody>
                    <a:bodyPr/>
                    <a:lstStyle/>
                    <a:p>
                      <a:pPr marL="0" indent="0" algn="ctr">
                        <a:buNone/>
                      </a:pPr>
                      <a:r>
                        <a:rPr lang="en-US" sz="1250" b="1" dirty="0">
                          <a:solidFill>
                            <a:srgbClr val="FFFFFF"/>
                          </a:solidFill>
                          <a:latin typeface="Arial" pitchFamily="34" charset="0"/>
                          <a:ea typeface="Arial" pitchFamily="34" charset="-122"/>
                          <a:cs typeface="Arial" pitchFamily="34" charset="-120"/>
                        </a:rPr>
                        <a:t>Đánh giá</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solidFill>
                      <a:srgbClr val="1B517B"/>
                    </a:solidFill>
                  </a:tcPr>
                </a:tc>
                <a:extLst>
                  <a:ext uri="{0D108BD9-81ED-4DB2-BD59-A6C34878D82A}">
                    <a16:rowId xmlns:a16="http://schemas.microsoft.com/office/drawing/2014/main" val="10000"/>
                  </a:ext>
                </a:extLst>
              </a:tr>
              <a:tr h="393192">
                <a:tc>
                  <a:txBody>
                    <a:bodyPr/>
                    <a:lstStyle/>
                    <a:p>
                      <a:pPr marL="0" indent="0">
                        <a:buNone/>
                      </a:pPr>
                      <a:r>
                        <a:rPr lang="en-US" sz="1250" b="1" dirty="0">
                          <a:solidFill>
                            <a:srgbClr val="000000"/>
                          </a:solidFill>
                          <a:latin typeface="Arial" pitchFamily="34" charset="0"/>
                          <a:ea typeface="Arial" pitchFamily="34" charset="-122"/>
                          <a:cs typeface="Arial" pitchFamily="34" charset="-120"/>
                        </a:rPr>
                        <a:t>Phát hiện kết thúc câu &lt; 700 ms</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250" dirty="0">
                          <a:solidFill>
                            <a:srgbClr val="000000"/>
                          </a:solidFill>
                          <a:latin typeface="Arial" pitchFamily="34" charset="0"/>
                          <a:ea typeface="Arial" pitchFamily="34" charset="-122"/>
                          <a:cs typeface="Arial" pitchFamily="34" charset="-120"/>
                        </a:rPr>
                        <a:t>Chờ chốt 200–256 ms (FLEURS), 0,20–0,36 s (giọng thật)</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250" b="1" dirty="0">
                          <a:solidFill>
                            <a:srgbClr val="2E8B57"/>
                          </a:solidFill>
                          <a:latin typeface="Arial" pitchFamily="34" charset="0"/>
                          <a:ea typeface="Arial" pitchFamily="34" charset="-122"/>
                          <a:cs typeface="Arial" pitchFamily="34" charset="-120"/>
                        </a:rPr>
                        <a:t>Đạt</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extLst>
                  <a:ext uri="{0D108BD9-81ED-4DB2-BD59-A6C34878D82A}">
                    <a16:rowId xmlns:a16="http://schemas.microsoft.com/office/drawing/2014/main" val="10001"/>
                  </a:ext>
                </a:extLst>
              </a:tr>
              <a:tr h="393192">
                <a:tc>
                  <a:txBody>
                    <a:bodyPr/>
                    <a:lstStyle/>
                    <a:p>
                      <a:pPr marL="0" indent="0">
                        <a:buNone/>
                      </a:pPr>
                      <a:r>
                        <a:rPr lang="en-US" sz="1250" b="1" dirty="0">
                          <a:solidFill>
                            <a:srgbClr val="000000"/>
                          </a:solidFill>
                          <a:latin typeface="Arial" pitchFamily="34" charset="0"/>
                          <a:ea typeface="Arial" pitchFamily="34" charset="-122"/>
                          <a:cs typeface="Arial" pitchFamily="34" charset="-120"/>
                        </a:rPr>
                        <a:t>ASR một câu ngắn &lt; 1.500 ms</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250" dirty="0">
                          <a:solidFill>
                            <a:srgbClr val="000000"/>
                          </a:solidFill>
                          <a:latin typeface="Arial" pitchFamily="34" charset="0"/>
                          <a:ea typeface="Arial" pitchFamily="34" charset="-122"/>
                          <a:cs typeface="Arial" pitchFamily="34" charset="-120"/>
                        </a:rPr>
                        <a:t>991–1.060 ms (macOS), 362–480 ms (Windows), câu 3 s</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250" b="1" dirty="0">
                          <a:solidFill>
                            <a:srgbClr val="2E8B57"/>
                          </a:solidFill>
                          <a:latin typeface="Arial" pitchFamily="34" charset="0"/>
                          <a:ea typeface="Arial" pitchFamily="34" charset="-122"/>
                          <a:cs typeface="Arial" pitchFamily="34" charset="-120"/>
                        </a:rPr>
                        <a:t>Đạt</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extLst>
                  <a:ext uri="{0D108BD9-81ED-4DB2-BD59-A6C34878D82A}">
                    <a16:rowId xmlns:a16="http://schemas.microsoft.com/office/drawing/2014/main" val="10002"/>
                  </a:ext>
                </a:extLst>
              </a:tr>
              <a:tr h="393192">
                <a:tc>
                  <a:txBody>
                    <a:bodyPr/>
                    <a:lstStyle/>
                    <a:p>
                      <a:pPr marL="0" indent="0">
                        <a:buNone/>
                      </a:pPr>
                      <a:r>
                        <a:rPr lang="en-US" sz="1250" b="1" dirty="0">
                          <a:solidFill>
                            <a:srgbClr val="000000"/>
                          </a:solidFill>
                          <a:latin typeface="Arial" pitchFamily="34" charset="0"/>
                          <a:ea typeface="Arial" pitchFamily="34" charset="-122"/>
                          <a:cs typeface="Arial" pitchFamily="34" charset="-120"/>
                        </a:rPr>
                        <a:t>Dịch &lt; 1.000 ms; TTS &lt; 1.500 ms</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250" dirty="0">
                          <a:solidFill>
                            <a:srgbClr val="000000"/>
                          </a:solidFill>
                          <a:latin typeface="Arial" pitchFamily="34" charset="0"/>
                          <a:ea typeface="Arial" pitchFamily="34" charset="-122"/>
                          <a:cs typeface="Arial" pitchFamily="34" charset="-120"/>
                        </a:rPr>
                        <a:t>MT 460–579 ms; TTS 141–969 ms</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250" b="1" dirty="0">
                          <a:solidFill>
                            <a:srgbClr val="2E8B57"/>
                          </a:solidFill>
                          <a:latin typeface="Arial" pitchFamily="34" charset="0"/>
                          <a:ea typeface="Arial" pitchFamily="34" charset="-122"/>
                          <a:cs typeface="Arial" pitchFamily="34" charset="-120"/>
                        </a:rPr>
                        <a:t>Đạt</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extLst>
                  <a:ext uri="{0D108BD9-81ED-4DB2-BD59-A6C34878D82A}">
                    <a16:rowId xmlns:a16="http://schemas.microsoft.com/office/drawing/2014/main" val="10003"/>
                  </a:ext>
                </a:extLst>
              </a:tr>
              <a:tr h="393192">
                <a:tc>
                  <a:txBody>
                    <a:bodyPr/>
                    <a:lstStyle/>
                    <a:p>
                      <a:pPr marL="0" indent="0">
                        <a:buNone/>
                      </a:pPr>
                      <a:r>
                        <a:rPr lang="en-US" sz="1250" b="1" dirty="0">
                          <a:solidFill>
                            <a:srgbClr val="000000"/>
                          </a:solidFill>
                          <a:latin typeface="Arial" pitchFamily="34" charset="0"/>
                          <a:ea typeface="Arial" pitchFamily="34" charset="-122"/>
                          <a:cs typeface="Arial" pitchFamily="34" charset="-120"/>
                        </a:rPr>
                        <a:t>Tổng chiều đi &lt; 4 s; phụ đề chiều về &lt; 3 s</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250" dirty="0">
                          <a:solidFill>
                            <a:srgbClr val="000000"/>
                          </a:solidFill>
                          <a:latin typeface="Arial" pitchFamily="34" charset="0"/>
                          <a:ea typeface="Arial" pitchFamily="34" charset="-122"/>
                          <a:cs typeface="Arial" pitchFamily="34" charset="-120"/>
                        </a:rPr>
                        <a:t>1,8–2,6 s; ASR + MT &lt; 1,2 s trên Windows</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250" b="1" dirty="0">
                          <a:solidFill>
                            <a:srgbClr val="2E8B57"/>
                          </a:solidFill>
                          <a:latin typeface="Arial" pitchFamily="34" charset="0"/>
                          <a:ea typeface="Arial" pitchFamily="34" charset="-122"/>
                          <a:cs typeface="Arial" pitchFamily="34" charset="-120"/>
                        </a:rPr>
                        <a:t>Đạt</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extLst>
                  <a:ext uri="{0D108BD9-81ED-4DB2-BD59-A6C34878D82A}">
                    <a16:rowId xmlns:a16="http://schemas.microsoft.com/office/drawing/2014/main" val="10004"/>
                  </a:ext>
                </a:extLst>
              </a:tr>
              <a:tr h="393192">
                <a:tc>
                  <a:txBody>
                    <a:bodyPr/>
                    <a:lstStyle/>
                    <a:p>
                      <a:pPr marL="0" indent="0">
                        <a:buNone/>
                      </a:pPr>
                      <a:r>
                        <a:rPr lang="en-US" sz="1250" b="1" dirty="0">
                          <a:solidFill>
                            <a:srgbClr val="000000"/>
                          </a:solidFill>
                          <a:latin typeface="Arial" pitchFamily="34" charset="0"/>
                          <a:ea typeface="Arial" pitchFamily="34" charset="-122"/>
                          <a:cs typeface="Arial" pitchFamily="34" charset="-120"/>
                        </a:rPr>
                        <a:t>Chạy 60 phút, bộ nhớ không tăng đều</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250" dirty="0">
                          <a:solidFill>
                            <a:srgbClr val="000000"/>
                          </a:solidFill>
                          <a:latin typeface="Arial" pitchFamily="34" charset="0"/>
                          <a:ea typeface="Arial" pitchFamily="34" charset="-122"/>
                          <a:cs typeface="Arial" pitchFamily="34" charset="-120"/>
                        </a:rPr>
                        <a:t>877 câu, 0 lỗi, +12 MB</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250" b="1" dirty="0">
                          <a:solidFill>
                            <a:srgbClr val="2E8B57"/>
                          </a:solidFill>
                          <a:latin typeface="Arial" pitchFamily="34" charset="0"/>
                          <a:ea typeface="Arial" pitchFamily="34" charset="-122"/>
                          <a:cs typeface="Arial" pitchFamily="34" charset="-120"/>
                        </a:rPr>
                        <a:t>Đạt</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extLst>
                  <a:ext uri="{0D108BD9-81ED-4DB2-BD59-A6C34878D82A}">
                    <a16:rowId xmlns:a16="http://schemas.microsoft.com/office/drawing/2014/main" val="10005"/>
                  </a:ext>
                </a:extLst>
              </a:tr>
              <a:tr h="393192">
                <a:tc>
                  <a:txBody>
                    <a:bodyPr/>
                    <a:lstStyle/>
                    <a:p>
                      <a:pPr marL="0" indent="0">
                        <a:buNone/>
                      </a:pPr>
                      <a:r>
                        <a:rPr lang="en-US" sz="1250" b="1" dirty="0">
                          <a:solidFill>
                            <a:srgbClr val="000000"/>
                          </a:solidFill>
                          <a:latin typeface="Arial" pitchFamily="34" charset="0"/>
                          <a:ea typeface="Arial" pitchFamily="34" charset="-122"/>
                          <a:cs typeface="Arial" pitchFamily="34" charset="-120"/>
                        </a:rPr>
                        <a:t>Một mô hình lỗi không làm mất cả phiên</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250" dirty="0">
                          <a:solidFill>
                            <a:srgbClr val="000000"/>
                          </a:solidFill>
                          <a:latin typeface="Arial" pitchFamily="34" charset="0"/>
                          <a:ea typeface="Arial" pitchFamily="34" charset="-122"/>
                          <a:cs typeface="Arial" pitchFamily="34" charset="-120"/>
                        </a:rPr>
                        <a:t>Câu lỗi chuyển Error, phiên chạy tiếp (kiểm thử đơn vị)</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250" b="1" dirty="0">
                          <a:solidFill>
                            <a:srgbClr val="2E8B57"/>
                          </a:solidFill>
                          <a:latin typeface="Arial" pitchFamily="34" charset="0"/>
                          <a:ea typeface="Arial" pitchFamily="34" charset="-122"/>
                          <a:cs typeface="Arial" pitchFamily="34" charset="-120"/>
                        </a:rPr>
                        <a:t>Đạt</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extLst>
                  <a:ext uri="{0D108BD9-81ED-4DB2-BD59-A6C34878D82A}">
                    <a16:rowId xmlns:a16="http://schemas.microsoft.com/office/drawing/2014/main" val="10006"/>
                  </a:ext>
                </a:extLst>
              </a:tr>
              <a:tr h="393192">
                <a:tc>
                  <a:txBody>
                    <a:bodyPr/>
                    <a:lstStyle/>
                    <a:p>
                      <a:pPr marL="0" indent="0">
                        <a:buNone/>
                      </a:pPr>
                      <a:r>
                        <a:rPr lang="en-US" sz="1250" b="1" dirty="0">
                          <a:solidFill>
                            <a:srgbClr val="000000"/>
                          </a:solidFill>
                          <a:latin typeface="Arial" pitchFamily="34" charset="0"/>
                          <a:ea typeface="Arial" pitchFamily="34" charset="-122"/>
                          <a:cs typeface="Arial" pitchFamily="34" charset="-120"/>
                        </a:rPr>
                        <a:t>Offline sau khi cài mô hình</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250" dirty="0">
                          <a:solidFill>
                            <a:srgbClr val="000000"/>
                          </a:solidFill>
                          <a:latin typeface="Arial" pitchFamily="34" charset="0"/>
                          <a:ea typeface="Arial" pitchFamily="34" charset="-122"/>
                          <a:cs typeface="Arial" pitchFamily="34" charset="-120"/>
                        </a:rPr>
                        <a:t>Không có lời gọi mạng trên đường dịch; tài liệu API đóng gói sẵn</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250" b="1" dirty="0">
                          <a:solidFill>
                            <a:srgbClr val="2E8B57"/>
                          </a:solidFill>
                          <a:latin typeface="Arial" pitchFamily="34" charset="0"/>
                          <a:ea typeface="Arial" pitchFamily="34" charset="-122"/>
                          <a:cs typeface="Arial" pitchFamily="34" charset="-120"/>
                        </a:rPr>
                        <a:t>Đạt</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extLst>
                  <a:ext uri="{0D108BD9-81ED-4DB2-BD59-A6C34878D82A}">
                    <a16:rowId xmlns:a16="http://schemas.microsoft.com/office/drawing/2014/main" val="10007"/>
                  </a:ext>
                </a:extLst>
              </a:tr>
              <a:tr h="393192">
                <a:tc>
                  <a:txBody>
                    <a:bodyPr/>
                    <a:lstStyle/>
                    <a:p>
                      <a:pPr marL="0" indent="0">
                        <a:buNone/>
                      </a:pPr>
                      <a:r>
                        <a:rPr lang="en-US" sz="1250" b="1" dirty="0">
                          <a:solidFill>
                            <a:srgbClr val="000000"/>
                          </a:solidFill>
                          <a:latin typeface="Arial" pitchFamily="34" charset="0"/>
                          <a:ea typeface="Arial" pitchFamily="34" charset="-122"/>
                          <a:cs typeface="Arial" pitchFamily="34" charset="-120"/>
                        </a:rPr>
                        <a:t>Không gửi, không lưu âm thanh; tắt được lịch sử</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250" dirty="0">
                          <a:solidFill>
                            <a:srgbClr val="000000"/>
                          </a:solidFill>
                          <a:latin typeface="Arial" pitchFamily="34" charset="0"/>
                          <a:ea typeface="Arial" pitchFamily="34" charset="-122"/>
                          <a:cs typeface="Arial" pitchFamily="34" charset="-120"/>
                        </a:rPr>
                        <a:t>Âm thanh chỉ qua 127.0.0.1; lịch sử chỉ lưu văn bản</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250" b="1" dirty="0">
                          <a:solidFill>
                            <a:srgbClr val="2E8B57"/>
                          </a:solidFill>
                          <a:latin typeface="Arial" pitchFamily="34" charset="0"/>
                          <a:ea typeface="Arial" pitchFamily="34" charset="-122"/>
                          <a:cs typeface="Arial" pitchFamily="34" charset="-120"/>
                        </a:rPr>
                        <a:t>Đạt</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extLst>
                  <a:ext uri="{0D108BD9-81ED-4DB2-BD59-A6C34878D82A}">
                    <a16:rowId xmlns:a16="http://schemas.microsoft.com/office/drawing/2014/main" val="10008"/>
                  </a:ext>
                </a:extLst>
              </a:tr>
              <a:tr h="393192">
                <a:tc>
                  <a:txBody>
                    <a:bodyPr/>
                    <a:lstStyle/>
                    <a:p>
                      <a:pPr marL="0" indent="0">
                        <a:buNone/>
                      </a:pPr>
                      <a:r>
                        <a:rPr lang="en-US" sz="1250" b="1" dirty="0">
                          <a:solidFill>
                            <a:srgbClr val="000000"/>
                          </a:solidFill>
                          <a:latin typeface="Arial" pitchFamily="34" charset="0"/>
                          <a:ea typeface="Arial" pitchFamily="34" charset="-122"/>
                          <a:cs typeface="Arial" pitchFamily="34" charset="-120"/>
                        </a:rPr>
                        <a:t>Windows 11 và macOS Apple Silicon</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250" dirty="0">
                          <a:solidFill>
                            <a:srgbClr val="000000"/>
                          </a:solidFill>
                          <a:latin typeface="Arial" pitchFamily="34" charset="0"/>
                          <a:ea typeface="Arial" pitchFamily="34" charset="-122"/>
                          <a:cs typeface="Arial" pitchFamily="34" charset="-120"/>
                        </a:rPr>
                        <a:t>Có bộ cài và số đo trên cả hai</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250" b="1" dirty="0">
                          <a:solidFill>
                            <a:srgbClr val="2E8B57"/>
                          </a:solidFill>
                          <a:latin typeface="Arial" pitchFamily="34" charset="0"/>
                          <a:ea typeface="Arial" pitchFamily="34" charset="-122"/>
                          <a:cs typeface="Arial" pitchFamily="34" charset="-120"/>
                        </a:rPr>
                        <a:t>Đạt</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extLst>
                  <a:ext uri="{0D108BD9-81ED-4DB2-BD59-A6C34878D82A}">
                    <a16:rowId xmlns:a16="http://schemas.microsoft.com/office/drawing/2014/main" val="10009"/>
                  </a:ext>
                </a:extLst>
              </a:tr>
              <a:tr h="393192">
                <a:tc>
                  <a:txBody>
                    <a:bodyPr/>
                    <a:lstStyle/>
                    <a:p>
                      <a:pPr marL="0" indent="0">
                        <a:buNone/>
                      </a:pPr>
                      <a:r>
                        <a:rPr lang="en-US" sz="1250" b="1" dirty="0">
                          <a:solidFill>
                            <a:srgbClr val="000000"/>
                          </a:solidFill>
                          <a:latin typeface="Arial" pitchFamily="34" charset="0"/>
                          <a:ea typeface="Arial" pitchFamily="34" charset="-122"/>
                          <a:cs typeface="Arial" pitchFamily="34" charset="-120"/>
                        </a:rPr>
                        <a:t>Đổi runtime không sửa chuỗi xử lý</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buNone/>
                      </a:pPr>
                      <a:r>
                        <a:rPr lang="en-US" sz="1250" dirty="0">
                          <a:solidFill>
                            <a:srgbClr val="000000"/>
                          </a:solidFill>
                          <a:latin typeface="Arial" pitchFamily="34" charset="0"/>
                          <a:ea typeface="Arial" pitchFamily="34" charset="-122"/>
                          <a:cs typeface="Arial" pitchFamily="34" charset="-120"/>
                        </a:rPr>
                        <a:t>Thêm MLX, faster-whisper không sửa dòng nào</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tc>
                  <a:txBody>
                    <a:bodyPr/>
                    <a:lstStyle/>
                    <a:p>
                      <a:pPr marL="0" indent="0" algn="ctr">
                        <a:buNone/>
                      </a:pPr>
                      <a:r>
                        <a:rPr lang="en-US" sz="1250" b="1" dirty="0">
                          <a:solidFill>
                            <a:srgbClr val="2E8B57"/>
                          </a:solidFill>
                          <a:latin typeface="Arial" pitchFamily="34" charset="0"/>
                          <a:ea typeface="Arial" pitchFamily="34" charset="-122"/>
                          <a:cs typeface="Arial" pitchFamily="34" charset="-120"/>
                        </a:rPr>
                        <a:t>Đạt</a:t>
                      </a:r>
                      <a:endParaRPr lang="en-US" sz="1250" dirty="0">
                        <a:latin typeface="Arial" charset="0"/>
                        <a:ea typeface="Arial" charset="0"/>
                        <a:cs typeface="Arial" charset="0"/>
                      </a:endParaRPr>
                    </a:p>
                  </a:txBody>
                  <a:tcPr anchor="ctr">
                    <a:lnL w="9525" cap="flat" cmpd="sng" algn="ctr">
                      <a:solidFill>
                        <a:srgbClr val="C9D6E2"/>
                      </a:solidFill>
                      <a:prstDash val="solid"/>
                      <a:round/>
                      <a:headEnd type="none" w="med" len="med"/>
                      <a:tailEnd type="none" w="med" len="med"/>
                    </a:lnL>
                    <a:lnR w="9525" cap="flat" cmpd="sng" algn="ctr">
                      <a:solidFill>
                        <a:srgbClr val="C9D6E2"/>
                      </a:solidFill>
                      <a:prstDash val="solid"/>
                      <a:round/>
                      <a:headEnd type="none" w="med" len="med"/>
                      <a:tailEnd type="none" w="med" len="med"/>
                    </a:lnR>
                    <a:lnT w="9525" cap="flat" cmpd="sng" algn="ctr">
                      <a:solidFill>
                        <a:srgbClr val="C9D6E2"/>
                      </a:solidFill>
                      <a:prstDash val="solid"/>
                      <a:round/>
                      <a:headEnd type="none" w="med" len="med"/>
                      <a:tailEnd type="none" w="med" len="med"/>
                    </a:lnT>
                    <a:lnB w="9525" cap="flat" cmpd="sng" algn="ctr">
                      <a:solidFill>
                        <a:srgbClr val="C9D6E2"/>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
        <p:nvSpPr>
          <p:cNvPr id="8" name="Text 3"/>
          <p:cNvSpPr txBox="1"/>
          <p:nvPr/>
        </p:nvSpPr>
        <p:spPr>
          <a:xfrm>
            <a:off x="411480" y="5806440"/>
            <a:ext cx="10058400" cy="457200"/>
          </a:xfrm>
          <a:prstGeom prst="rect">
            <a:avLst/>
          </a:prstGeom>
          <a:noFill/>
          <a:ln/>
        </p:spPr>
        <p:txBody>
          <a:bodyPr wrap="square" lIns="0" tIns="0" rIns="0" bIns="0" rtlCol="0" anchor="t"/>
          <a:lstStyle/>
          <a:p>
            <a:pPr marL="0" indent="0">
              <a:buNone/>
            </a:pPr>
            <a:r>
              <a:rPr lang="en-US" sz="1200" i="1" dirty="0">
                <a:solidFill>
                  <a:srgbClr val="5F6B76"/>
                </a:solidFill>
                <a:latin typeface="Arial" pitchFamily="34" charset="0"/>
                <a:ea typeface="Arial" pitchFamily="34" charset="-122"/>
                <a:cs typeface="Arial" pitchFamily="34" charset="-120"/>
              </a:rPr>
              <a:t>Chưa đo: "người dùng mới hoàn thành cấu hình trong 5 phút" (cần nhóm người dùng thử). Offline: đạt theo thiết kế, chưa có bài thử ngắt mạng tự động.</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pic>
        <p:nvPicPr>
          <p:cNvPr id="2" name="Image 0" descr="C:\Users\hhung\AppData\Local\Temp\claude\d--Project-local-live-voice-translator\d0343c7e-f558-4e8b-8c62-5b900df8bea6\scratchpad\build\img\deco_right.png"/>
          <p:cNvPicPr>
            <a:picLocks noChangeAspect="1"/>
          </p:cNvPicPr>
          <p:nvPr/>
        </p:nvPicPr>
        <p:blipFill>
          <a:blip r:embed="rId3"/>
          <a:stretch>
            <a:fillRect/>
          </a:stretch>
        </p:blipFill>
        <p:spPr>
          <a:xfrm>
            <a:off x="0" y="0"/>
            <a:ext cx="12191695" cy="6858000"/>
          </a:xfrm>
          <a:prstGeom prst="rect">
            <a:avLst/>
          </a:prstGeom>
        </p:spPr>
      </p:pic>
      <p:pic>
        <p:nvPicPr>
          <p:cNvPr id="3" name="Image 1" descr="C:\Users\hhung\AppData\Local\Temp\claude\d--Project-local-live-voice-translator\d0343c7e-f558-4e8b-8c62-5b900df8bea6\scratchpad\build\img\logo_header.png"/>
          <p:cNvPicPr>
            <a:picLocks noChangeAspect="1"/>
          </p:cNvPicPr>
          <p:nvPr/>
        </p:nvPicPr>
        <p:blipFill>
          <a:blip r:embed="rId4"/>
          <a:stretch>
            <a:fillRect/>
          </a:stretch>
        </p:blipFill>
        <p:spPr>
          <a:xfrm>
            <a:off x="8549640" y="292608"/>
            <a:ext cx="2560320" cy="459250"/>
          </a:xfrm>
          <a:prstGeom prst="rect">
            <a:avLst/>
          </a:prstGeom>
        </p:spPr>
      </p:pic>
      <p:sp>
        <p:nvSpPr>
          <p:cNvPr id="4" name="Text 0"/>
          <p:cNvSpPr txBox="1"/>
          <p:nvPr/>
        </p:nvSpPr>
        <p:spPr>
          <a:xfrm>
            <a:off x="411480" y="256032"/>
            <a:ext cx="7955280" cy="548640"/>
          </a:xfrm>
          <a:prstGeom prst="rect">
            <a:avLst/>
          </a:prstGeom>
          <a:noFill/>
          <a:ln/>
        </p:spPr>
        <p:txBody>
          <a:bodyPr wrap="square" lIns="0" tIns="0" rIns="0" bIns="0" rtlCol="0" anchor="t"/>
          <a:lstStyle/>
          <a:p>
            <a:pPr marL="0" indent="0">
              <a:buNone/>
            </a:pPr>
            <a:r>
              <a:rPr lang="en-US" sz="2800" b="1" dirty="0">
                <a:solidFill>
                  <a:srgbClr val="487BA2"/>
                </a:solidFill>
                <a:latin typeface="Arial" pitchFamily="34" charset="0"/>
                <a:ea typeface="Arial" pitchFamily="34" charset="-122"/>
                <a:cs typeface="Arial" pitchFamily="34" charset="-120"/>
              </a:rPr>
              <a:t>IV. Kết luận</a:t>
            </a:r>
            <a:endParaRPr lang="en-US" sz="2800" dirty="0"/>
          </a:p>
        </p:txBody>
      </p:sp>
      <p:sp>
        <p:nvSpPr>
          <p:cNvPr id="5" name="Text 1"/>
          <p:cNvSpPr txBox="1"/>
          <p:nvPr/>
        </p:nvSpPr>
        <p:spPr>
          <a:xfrm>
            <a:off x="411480" y="841248"/>
            <a:ext cx="8046720" cy="411480"/>
          </a:xfrm>
          <a:prstGeom prst="rect">
            <a:avLst/>
          </a:prstGeom>
          <a:noFill/>
          <a:ln/>
        </p:spPr>
        <p:txBody>
          <a:bodyPr wrap="square" lIns="0" tIns="0" rIns="0" bIns="0" rtlCol="0" anchor="t"/>
          <a:lstStyle/>
          <a:p>
            <a:pPr marL="0" indent="0">
              <a:buNone/>
            </a:pPr>
            <a:r>
              <a:rPr lang="en-US" sz="2000" dirty="0">
                <a:solidFill>
                  <a:srgbClr val="1B517B"/>
                </a:solidFill>
                <a:latin typeface="Arial" pitchFamily="34" charset="0"/>
                <a:ea typeface="Arial" pitchFamily="34" charset="-122"/>
                <a:cs typeface="Arial" pitchFamily="34" charset="-120"/>
              </a:rPr>
              <a:t>1. Kết quả đạt được</a:t>
            </a:r>
            <a:endParaRPr lang="en-US" sz="2000" dirty="0"/>
          </a:p>
        </p:txBody>
      </p:sp>
      <p:sp>
        <p:nvSpPr>
          <p:cNvPr id="6" name="Text 2"/>
          <p:cNvSpPr txBox="1"/>
          <p:nvPr/>
        </p:nvSpPr>
        <p:spPr>
          <a:xfrm>
            <a:off x="10104120" y="6355080"/>
            <a:ext cx="548640" cy="274320"/>
          </a:xfrm>
          <a:prstGeom prst="rect">
            <a:avLst/>
          </a:prstGeom>
          <a:noFill/>
          <a:ln/>
        </p:spPr>
        <p:txBody>
          <a:bodyPr wrap="square" lIns="0" tIns="0" rIns="0" bIns="0" rtlCol="0" anchor="t"/>
          <a:lstStyle/>
          <a:p>
            <a:pPr marL="0" indent="0" algn="r">
              <a:buNone/>
            </a:pPr>
            <a:r>
              <a:rPr lang="en-US" sz="1100" dirty="0">
                <a:solidFill>
                  <a:srgbClr val="5F6B76"/>
                </a:solidFill>
                <a:latin typeface="Arial" pitchFamily="34" charset="0"/>
                <a:ea typeface="Arial" pitchFamily="34" charset="-122"/>
                <a:cs typeface="Arial" pitchFamily="34" charset="-120"/>
              </a:rPr>
              <a:t>26</a:t>
            </a:r>
            <a:endParaRPr lang="en-US" sz="1100" dirty="0"/>
          </a:p>
        </p:txBody>
      </p:sp>
      <p:sp>
        <p:nvSpPr>
          <p:cNvPr id="7" name="Shape 3"/>
          <p:cNvSpPr/>
          <p:nvPr/>
        </p:nvSpPr>
        <p:spPr>
          <a:xfrm>
            <a:off x="457200" y="1444752"/>
            <a:ext cx="530352" cy="530352"/>
          </a:xfrm>
          <a:prstGeom prst="ellipse">
            <a:avLst/>
          </a:prstGeom>
          <a:solidFill>
            <a:srgbClr val="1B517B"/>
          </a:solidFill>
          <a:ln w="12700">
            <a:solidFill>
              <a:srgbClr val="1B517B"/>
            </a:solidFill>
            <a:prstDash val="solid"/>
          </a:ln>
        </p:spPr>
        <p:txBody>
          <a:bodyPr/>
          <a:lstStyle/>
          <a:p>
            <a:endParaRPr lang="en-US"/>
          </a:p>
        </p:txBody>
      </p:sp>
      <p:pic>
        <p:nvPicPr>
          <p:cNvPr id="8" name="Image 2" descr="preencoded.png"/>
          <p:cNvPicPr>
            <a:picLocks noChangeAspect="1"/>
          </p:cNvPicPr>
          <p:nvPr/>
        </p:nvPicPr>
        <p:blipFill>
          <a:blip r:embed="rId5"/>
          <a:stretch>
            <a:fillRect/>
          </a:stretch>
        </p:blipFill>
        <p:spPr>
          <a:xfrm>
            <a:off x="584484" y="1572036"/>
            <a:ext cx="275783" cy="275783"/>
          </a:xfrm>
          <a:prstGeom prst="rect">
            <a:avLst/>
          </a:prstGeom>
        </p:spPr>
      </p:pic>
      <p:sp>
        <p:nvSpPr>
          <p:cNvPr id="9" name="Text 4"/>
          <p:cNvSpPr txBox="1"/>
          <p:nvPr/>
        </p:nvSpPr>
        <p:spPr>
          <a:xfrm>
            <a:off x="1188720" y="1371600"/>
            <a:ext cx="9418320" cy="329184"/>
          </a:xfrm>
          <a:prstGeom prst="rect">
            <a:avLst/>
          </a:prstGeom>
          <a:noFill/>
          <a:ln/>
        </p:spPr>
        <p:txBody>
          <a:bodyPr wrap="square" lIns="0" tIns="0" rIns="0" bIns="0" rtlCol="0" anchor="t"/>
          <a:lstStyle/>
          <a:p>
            <a:pPr marL="0" indent="0">
              <a:buNone/>
            </a:pPr>
            <a:r>
              <a:rPr lang="en-US" sz="1600" b="1" dirty="0">
                <a:solidFill>
                  <a:srgbClr val="1B517B"/>
                </a:solidFill>
                <a:latin typeface="Arial" pitchFamily="34" charset="0"/>
                <a:ea typeface="Arial" pitchFamily="34" charset="-122"/>
                <a:cs typeface="Arial" pitchFamily="34" charset="-120"/>
              </a:rPr>
              <a:t>Chuỗi xử lý bốn khâu, thay được từng khâu</a:t>
            </a:r>
            <a:endParaRPr lang="en-US" sz="1600" dirty="0"/>
          </a:p>
        </p:txBody>
      </p:sp>
      <p:sp>
        <p:nvSpPr>
          <p:cNvPr id="10" name="Text 5"/>
          <p:cNvSpPr txBox="1"/>
          <p:nvPr/>
        </p:nvSpPr>
        <p:spPr>
          <a:xfrm>
            <a:off x="1188720" y="1709928"/>
            <a:ext cx="9326880" cy="457200"/>
          </a:xfrm>
          <a:prstGeom prst="rect">
            <a:avLst/>
          </a:prstGeom>
          <a:noFill/>
          <a:ln/>
        </p:spPr>
        <p:txBody>
          <a:bodyPr wrap="square" lIns="0" tIns="0" rIns="0" bIns="0" rtlCol="0" anchor="t"/>
          <a:lstStyle/>
          <a:p>
            <a:pPr marL="0" indent="0">
              <a:buNone/>
            </a:pPr>
            <a:r>
              <a:rPr lang="en-US" sz="1300" dirty="0">
                <a:solidFill>
                  <a:srgbClr val="222222"/>
                </a:solidFill>
                <a:latin typeface="Arial" pitchFamily="34" charset="0"/>
                <a:ea typeface="Arial" pitchFamily="34" charset="-122"/>
                <a:cs typeface="Arial" pitchFamily="34" charset="-120"/>
              </a:rPr>
              <a:t>6 chiều dịch Việt ↔ Anh / Nhật / Trung; 3 runtime ASR thay thế nhau, thêm vào không sửa chuỗi xử lý.</a:t>
            </a:r>
            <a:endParaRPr lang="en-US" sz="1300" dirty="0"/>
          </a:p>
        </p:txBody>
      </p:sp>
      <p:sp>
        <p:nvSpPr>
          <p:cNvPr id="11" name="Shape 6"/>
          <p:cNvSpPr/>
          <p:nvPr/>
        </p:nvSpPr>
        <p:spPr>
          <a:xfrm>
            <a:off x="457200" y="2295144"/>
            <a:ext cx="530352" cy="530352"/>
          </a:xfrm>
          <a:prstGeom prst="ellipse">
            <a:avLst/>
          </a:prstGeom>
          <a:solidFill>
            <a:srgbClr val="1B517B"/>
          </a:solidFill>
          <a:ln w="12700">
            <a:solidFill>
              <a:srgbClr val="1B517B"/>
            </a:solidFill>
            <a:prstDash val="solid"/>
          </a:ln>
        </p:spPr>
        <p:txBody>
          <a:bodyPr/>
          <a:lstStyle/>
          <a:p>
            <a:endParaRPr lang="en-US"/>
          </a:p>
        </p:txBody>
      </p:sp>
      <p:pic>
        <p:nvPicPr>
          <p:cNvPr id="12" name="Image 3" descr="preencoded.png"/>
          <p:cNvPicPr>
            <a:picLocks noChangeAspect="1"/>
          </p:cNvPicPr>
          <p:nvPr/>
        </p:nvPicPr>
        <p:blipFill>
          <a:blip r:embed="rId6"/>
          <a:stretch>
            <a:fillRect/>
          </a:stretch>
        </p:blipFill>
        <p:spPr>
          <a:xfrm>
            <a:off x="584484" y="2422428"/>
            <a:ext cx="275783" cy="275783"/>
          </a:xfrm>
          <a:prstGeom prst="rect">
            <a:avLst/>
          </a:prstGeom>
        </p:spPr>
      </p:pic>
      <p:sp>
        <p:nvSpPr>
          <p:cNvPr id="13" name="Text 7"/>
          <p:cNvSpPr txBox="1"/>
          <p:nvPr/>
        </p:nvSpPr>
        <p:spPr>
          <a:xfrm>
            <a:off x="1188720" y="2221992"/>
            <a:ext cx="9418320" cy="329184"/>
          </a:xfrm>
          <a:prstGeom prst="rect">
            <a:avLst/>
          </a:prstGeom>
          <a:noFill/>
          <a:ln/>
        </p:spPr>
        <p:txBody>
          <a:bodyPr wrap="square" lIns="0" tIns="0" rIns="0" bIns="0" rtlCol="0" anchor="t"/>
          <a:lstStyle/>
          <a:p>
            <a:pPr marL="0" indent="0">
              <a:buNone/>
            </a:pPr>
            <a:r>
              <a:rPr lang="en-US" sz="1600" b="1" dirty="0">
                <a:solidFill>
                  <a:srgbClr val="1B517B"/>
                </a:solidFill>
                <a:latin typeface="Arial" pitchFamily="34" charset="0"/>
                <a:ea typeface="Arial" pitchFamily="34" charset="-122"/>
                <a:cs typeface="Arial" pitchFamily="34" charset="-120"/>
              </a:rPr>
              <a:t>Hai nguồn âm thanh, không vòng lặp</a:t>
            </a:r>
            <a:endParaRPr lang="en-US" sz="1600" dirty="0"/>
          </a:p>
        </p:txBody>
      </p:sp>
      <p:sp>
        <p:nvSpPr>
          <p:cNvPr id="14" name="Text 8"/>
          <p:cNvSpPr txBox="1"/>
          <p:nvPr/>
        </p:nvSpPr>
        <p:spPr>
          <a:xfrm>
            <a:off x="1188720" y="2560320"/>
            <a:ext cx="9326880" cy="457200"/>
          </a:xfrm>
          <a:prstGeom prst="rect">
            <a:avLst/>
          </a:prstGeom>
          <a:noFill/>
          <a:ln/>
        </p:spPr>
        <p:txBody>
          <a:bodyPr wrap="square" lIns="0" tIns="0" rIns="0" bIns="0" rtlCol="0" anchor="t"/>
          <a:lstStyle/>
          <a:p>
            <a:pPr marL="0" indent="0">
              <a:buNone/>
            </a:pPr>
            <a:r>
              <a:rPr lang="en-US" sz="1300" dirty="0">
                <a:solidFill>
                  <a:srgbClr val="222222"/>
                </a:solidFill>
                <a:latin typeface="Arial" pitchFamily="34" charset="0"/>
                <a:ea typeface="Arial" pitchFamily="34" charset="-122"/>
                <a:cs typeface="Arial" pitchFamily="34" charset="-120"/>
              </a:rPr>
              <a:t>Micro và âm thanh hệ thống thu đồng thời, tách bạch; bản dịch đang phát không bị thu ngược.</a:t>
            </a:r>
            <a:endParaRPr lang="en-US" sz="1300" dirty="0"/>
          </a:p>
        </p:txBody>
      </p:sp>
      <p:sp>
        <p:nvSpPr>
          <p:cNvPr id="15" name="Shape 9"/>
          <p:cNvSpPr/>
          <p:nvPr/>
        </p:nvSpPr>
        <p:spPr>
          <a:xfrm>
            <a:off x="457200" y="3145536"/>
            <a:ext cx="530352" cy="530352"/>
          </a:xfrm>
          <a:prstGeom prst="ellipse">
            <a:avLst/>
          </a:prstGeom>
          <a:solidFill>
            <a:srgbClr val="1B517B"/>
          </a:solidFill>
          <a:ln w="12700">
            <a:solidFill>
              <a:srgbClr val="1B517B"/>
            </a:solidFill>
            <a:prstDash val="solid"/>
          </a:ln>
        </p:spPr>
        <p:txBody>
          <a:bodyPr/>
          <a:lstStyle/>
          <a:p>
            <a:endParaRPr lang="en-US"/>
          </a:p>
        </p:txBody>
      </p:sp>
      <p:pic>
        <p:nvPicPr>
          <p:cNvPr id="16" name="Image 4" descr="preencoded.png"/>
          <p:cNvPicPr>
            <a:picLocks noChangeAspect="1"/>
          </p:cNvPicPr>
          <p:nvPr/>
        </p:nvPicPr>
        <p:blipFill>
          <a:blip r:embed="rId7"/>
          <a:stretch>
            <a:fillRect/>
          </a:stretch>
        </p:blipFill>
        <p:spPr>
          <a:xfrm>
            <a:off x="584484" y="3272820"/>
            <a:ext cx="275783" cy="275783"/>
          </a:xfrm>
          <a:prstGeom prst="rect">
            <a:avLst/>
          </a:prstGeom>
        </p:spPr>
      </p:pic>
      <p:sp>
        <p:nvSpPr>
          <p:cNvPr id="17" name="Text 10"/>
          <p:cNvSpPr txBox="1"/>
          <p:nvPr/>
        </p:nvSpPr>
        <p:spPr>
          <a:xfrm>
            <a:off x="1188720" y="3072384"/>
            <a:ext cx="9418320" cy="329184"/>
          </a:xfrm>
          <a:prstGeom prst="rect">
            <a:avLst/>
          </a:prstGeom>
          <a:noFill/>
          <a:ln/>
        </p:spPr>
        <p:txBody>
          <a:bodyPr wrap="square" lIns="0" tIns="0" rIns="0" bIns="0" rtlCol="0" anchor="t"/>
          <a:lstStyle/>
          <a:p>
            <a:pPr marL="0" indent="0">
              <a:buNone/>
            </a:pPr>
            <a:r>
              <a:rPr lang="en-US" sz="1600" b="1" dirty="0">
                <a:solidFill>
                  <a:srgbClr val="1B517B"/>
                </a:solidFill>
                <a:latin typeface="Arial" pitchFamily="34" charset="0"/>
                <a:ea typeface="Arial" pitchFamily="34" charset="-122"/>
                <a:cs typeface="Arial" pitchFamily="34" charset="-120"/>
              </a:rPr>
              <a:t>Chạy trên hai nền tảng</a:t>
            </a:r>
            <a:endParaRPr lang="en-US" sz="1600" dirty="0"/>
          </a:p>
        </p:txBody>
      </p:sp>
      <p:sp>
        <p:nvSpPr>
          <p:cNvPr id="18" name="Text 11"/>
          <p:cNvSpPr txBox="1"/>
          <p:nvPr/>
        </p:nvSpPr>
        <p:spPr>
          <a:xfrm>
            <a:off x="1188720" y="3410712"/>
            <a:ext cx="9326880" cy="457200"/>
          </a:xfrm>
          <a:prstGeom prst="rect">
            <a:avLst/>
          </a:prstGeom>
          <a:noFill/>
          <a:ln/>
        </p:spPr>
        <p:txBody>
          <a:bodyPr wrap="square" lIns="0" tIns="0" rIns="0" bIns="0" rtlCol="0" anchor="t"/>
          <a:lstStyle/>
          <a:p>
            <a:pPr marL="0" indent="0">
              <a:buNone/>
            </a:pPr>
            <a:r>
              <a:rPr lang="en-US" sz="1300" dirty="0">
                <a:solidFill>
                  <a:srgbClr val="222222"/>
                </a:solidFill>
                <a:latin typeface="Arial" pitchFamily="34" charset="0"/>
                <a:ea typeface="Arial" pitchFamily="34" charset="-122"/>
                <a:cs typeface="Arial" pitchFamily="34" charset="-120"/>
              </a:rPr>
              <a:t>Bộ cài tự chứa cho Windows 11 và macOS Apple Silicon; whisper.cpp chạy GPU qua Vulkan với +18 MB.</a:t>
            </a:r>
            <a:endParaRPr lang="en-US" sz="1300" dirty="0"/>
          </a:p>
        </p:txBody>
      </p:sp>
      <p:sp>
        <p:nvSpPr>
          <p:cNvPr id="19" name="Shape 12"/>
          <p:cNvSpPr/>
          <p:nvPr/>
        </p:nvSpPr>
        <p:spPr>
          <a:xfrm>
            <a:off x="457200" y="3995928"/>
            <a:ext cx="530352" cy="530352"/>
          </a:xfrm>
          <a:prstGeom prst="ellipse">
            <a:avLst/>
          </a:prstGeom>
          <a:solidFill>
            <a:srgbClr val="1B517B"/>
          </a:solidFill>
          <a:ln w="12700">
            <a:solidFill>
              <a:srgbClr val="1B517B"/>
            </a:solidFill>
            <a:prstDash val="solid"/>
          </a:ln>
        </p:spPr>
        <p:txBody>
          <a:bodyPr/>
          <a:lstStyle/>
          <a:p>
            <a:endParaRPr lang="en-US"/>
          </a:p>
        </p:txBody>
      </p:sp>
      <p:pic>
        <p:nvPicPr>
          <p:cNvPr id="20" name="Image 5" descr="preencoded.png"/>
          <p:cNvPicPr>
            <a:picLocks noChangeAspect="1"/>
          </p:cNvPicPr>
          <p:nvPr/>
        </p:nvPicPr>
        <p:blipFill>
          <a:blip r:embed="rId8"/>
          <a:stretch>
            <a:fillRect/>
          </a:stretch>
        </p:blipFill>
        <p:spPr>
          <a:xfrm>
            <a:off x="584484" y="4123212"/>
            <a:ext cx="275783" cy="275783"/>
          </a:xfrm>
          <a:prstGeom prst="rect">
            <a:avLst/>
          </a:prstGeom>
        </p:spPr>
      </p:pic>
      <p:sp>
        <p:nvSpPr>
          <p:cNvPr id="21" name="Text 13"/>
          <p:cNvSpPr txBox="1"/>
          <p:nvPr/>
        </p:nvSpPr>
        <p:spPr>
          <a:xfrm>
            <a:off x="1188720" y="3922776"/>
            <a:ext cx="9418320" cy="329184"/>
          </a:xfrm>
          <a:prstGeom prst="rect">
            <a:avLst/>
          </a:prstGeom>
          <a:noFill/>
          <a:ln/>
        </p:spPr>
        <p:txBody>
          <a:bodyPr wrap="square" lIns="0" tIns="0" rIns="0" bIns="0" rtlCol="0" anchor="t"/>
          <a:lstStyle/>
          <a:p>
            <a:pPr marL="0" indent="0">
              <a:buNone/>
            </a:pPr>
            <a:r>
              <a:rPr lang="en-US" sz="1600" b="1" dirty="0">
                <a:solidFill>
                  <a:srgbClr val="1B517B"/>
                </a:solidFill>
                <a:latin typeface="Arial" pitchFamily="34" charset="0"/>
                <a:ea typeface="Arial" pitchFamily="34" charset="-122"/>
                <a:cs typeface="Arial" pitchFamily="34" charset="-120"/>
              </a:rPr>
              <a:t>Đánh giá bằng độ đo chuẩn trên FLEURS</a:t>
            </a:r>
            <a:endParaRPr lang="en-US" sz="1600" dirty="0"/>
          </a:p>
        </p:txBody>
      </p:sp>
      <p:sp>
        <p:nvSpPr>
          <p:cNvPr id="22" name="Text 14"/>
          <p:cNvSpPr txBox="1"/>
          <p:nvPr/>
        </p:nvSpPr>
        <p:spPr>
          <a:xfrm>
            <a:off x="1188720" y="4261104"/>
            <a:ext cx="9326880" cy="457200"/>
          </a:xfrm>
          <a:prstGeom prst="rect">
            <a:avLst/>
          </a:prstGeom>
          <a:noFill/>
          <a:ln/>
        </p:spPr>
        <p:txBody>
          <a:bodyPr wrap="square" lIns="0" tIns="0" rIns="0" bIns="0" rtlCol="0" anchor="t"/>
          <a:lstStyle/>
          <a:p>
            <a:pPr marL="0" indent="0">
              <a:buNone/>
            </a:pPr>
            <a:r>
              <a:rPr lang="en-US" sz="1300" dirty="0">
                <a:solidFill>
                  <a:srgbClr val="222222"/>
                </a:solidFill>
                <a:latin typeface="Arial" pitchFamily="34" charset="0"/>
                <a:ea typeface="Arial" pitchFamily="34" charset="-122"/>
                <a:cs typeface="Arial" pitchFamily="34" charset="-120"/>
              </a:rPr>
              <a:t>WER vi 8,8–10,4%, en 4,8–5,0%; CER zh/ja &lt; 9%; COMET 0,77–0,85; Windows: cả 6 chiều RTF p90 ≤ 0,5; 60 phút không lỗi.</a:t>
            </a:r>
            <a:endParaRPr lang="en-US" sz="1300" dirty="0"/>
          </a:p>
        </p:txBody>
      </p:sp>
      <p:sp>
        <p:nvSpPr>
          <p:cNvPr id="23" name="Shape 15"/>
          <p:cNvSpPr/>
          <p:nvPr/>
        </p:nvSpPr>
        <p:spPr>
          <a:xfrm>
            <a:off x="457200" y="4846320"/>
            <a:ext cx="530352" cy="530352"/>
          </a:xfrm>
          <a:prstGeom prst="ellipse">
            <a:avLst/>
          </a:prstGeom>
          <a:solidFill>
            <a:srgbClr val="1B517B"/>
          </a:solidFill>
          <a:ln w="12700">
            <a:solidFill>
              <a:srgbClr val="1B517B"/>
            </a:solidFill>
            <a:prstDash val="solid"/>
          </a:ln>
        </p:spPr>
        <p:txBody>
          <a:bodyPr/>
          <a:lstStyle/>
          <a:p>
            <a:endParaRPr lang="en-US"/>
          </a:p>
        </p:txBody>
      </p:sp>
      <p:pic>
        <p:nvPicPr>
          <p:cNvPr id="24" name="Image 6" descr="preencoded.png"/>
          <p:cNvPicPr>
            <a:picLocks noChangeAspect="1"/>
          </p:cNvPicPr>
          <p:nvPr/>
        </p:nvPicPr>
        <p:blipFill>
          <a:blip r:embed="rId9"/>
          <a:stretch>
            <a:fillRect/>
          </a:stretch>
        </p:blipFill>
        <p:spPr>
          <a:xfrm>
            <a:off x="584484" y="4973604"/>
            <a:ext cx="275783" cy="275783"/>
          </a:xfrm>
          <a:prstGeom prst="rect">
            <a:avLst/>
          </a:prstGeom>
        </p:spPr>
      </p:pic>
      <p:sp>
        <p:nvSpPr>
          <p:cNvPr id="25" name="Text 16"/>
          <p:cNvSpPr txBox="1"/>
          <p:nvPr/>
        </p:nvSpPr>
        <p:spPr>
          <a:xfrm>
            <a:off x="1188720" y="4773168"/>
            <a:ext cx="9418320" cy="329184"/>
          </a:xfrm>
          <a:prstGeom prst="rect">
            <a:avLst/>
          </a:prstGeom>
          <a:noFill/>
          <a:ln/>
        </p:spPr>
        <p:txBody>
          <a:bodyPr wrap="square" lIns="0" tIns="0" rIns="0" bIns="0" rtlCol="0" anchor="t"/>
          <a:lstStyle/>
          <a:p>
            <a:pPr marL="0" indent="0">
              <a:buNone/>
            </a:pPr>
            <a:r>
              <a:rPr lang="en-US" sz="1600" b="1" dirty="0">
                <a:solidFill>
                  <a:srgbClr val="1B517B"/>
                </a:solidFill>
                <a:latin typeface="Arial" pitchFamily="34" charset="0"/>
                <a:ea typeface="Arial" pitchFamily="34" charset="-122"/>
                <a:cs typeface="Arial" pitchFamily="34" charset="-120"/>
              </a:rPr>
              <a:t>Biết con số lạc quan tới đâu</a:t>
            </a:r>
            <a:endParaRPr lang="en-US" sz="1600" dirty="0"/>
          </a:p>
        </p:txBody>
      </p:sp>
      <p:sp>
        <p:nvSpPr>
          <p:cNvPr id="26" name="Text 17"/>
          <p:cNvSpPr txBox="1"/>
          <p:nvPr/>
        </p:nvSpPr>
        <p:spPr>
          <a:xfrm>
            <a:off x="1188720" y="5111496"/>
            <a:ext cx="9326880" cy="457200"/>
          </a:xfrm>
          <a:prstGeom prst="rect">
            <a:avLst/>
          </a:prstGeom>
          <a:noFill/>
          <a:ln/>
        </p:spPr>
        <p:txBody>
          <a:bodyPr wrap="square" lIns="0" tIns="0" rIns="0" bIns="0" rtlCol="0" anchor="t"/>
          <a:lstStyle/>
          <a:p>
            <a:pPr marL="0" indent="0">
              <a:buNone/>
            </a:pPr>
            <a:r>
              <a:rPr lang="en-US" sz="1300" dirty="0">
                <a:solidFill>
                  <a:srgbClr val="222222"/>
                </a:solidFill>
                <a:latin typeface="Arial" pitchFamily="34" charset="0"/>
                <a:ea typeface="Arial" pitchFamily="34" charset="-122"/>
                <a:cs typeface="Arial" pitchFamily="34" charset="-120"/>
              </a:rPr>
              <a:t>Giọng thật: WER vi 24,6% so với 10,4%; bộ tách câu kéo câu p90 từ 12,5 s xuống 5,9 s.</a:t>
            </a:r>
            <a:endParaRPr lang="en-US" sz="1300" dirty="0"/>
          </a:p>
        </p:txBody>
      </p:sp>
      <p:sp>
        <p:nvSpPr>
          <p:cNvPr id="27" name="Shape 18"/>
          <p:cNvSpPr/>
          <p:nvPr/>
        </p:nvSpPr>
        <p:spPr>
          <a:xfrm>
            <a:off x="411480" y="5669280"/>
            <a:ext cx="10241280" cy="566928"/>
          </a:xfrm>
          <a:prstGeom prst="roundRect">
            <a:avLst>
              <a:gd name="adj" fmla="val 12903"/>
            </a:avLst>
          </a:prstGeom>
          <a:solidFill>
            <a:srgbClr val="DCE8F2"/>
          </a:solidFill>
          <a:ln w="12700">
            <a:solidFill>
              <a:srgbClr val="DCE8F2"/>
            </a:solidFill>
            <a:prstDash val="solid"/>
          </a:ln>
        </p:spPr>
        <p:txBody>
          <a:bodyPr/>
          <a:lstStyle/>
          <a:p>
            <a:endParaRPr lang="en-US"/>
          </a:p>
        </p:txBody>
      </p:sp>
      <p:sp>
        <p:nvSpPr>
          <p:cNvPr id="28" name="Text 19"/>
          <p:cNvSpPr txBox="1"/>
          <p:nvPr/>
        </p:nvSpPr>
        <p:spPr>
          <a:xfrm>
            <a:off x="594360" y="5669280"/>
            <a:ext cx="9966960" cy="566928"/>
          </a:xfrm>
          <a:prstGeom prst="rect">
            <a:avLst/>
          </a:prstGeom>
          <a:noFill/>
          <a:ln/>
        </p:spPr>
        <p:txBody>
          <a:bodyPr wrap="square" lIns="0" tIns="0" rIns="0" bIns="0" rtlCol="0" anchor="ctr"/>
          <a:lstStyle/>
          <a:p>
            <a:pPr marL="0" indent="0">
              <a:buNone/>
            </a:pPr>
            <a:r>
              <a:rPr lang="en-US" sz="1300" b="1" dirty="0">
                <a:solidFill>
                  <a:srgbClr val="1B517B"/>
                </a:solidFill>
                <a:latin typeface="Arial" pitchFamily="34" charset="0"/>
                <a:ea typeface="Arial" pitchFamily="34" charset="-122"/>
                <a:cs typeface="Arial" pitchFamily="34" charset="-120"/>
              </a:rPr>
              <a:t>Đóng góp: </a:t>
            </a:r>
            <a:r>
              <a:rPr lang="en-US" sz="1300" dirty="0">
                <a:solidFill>
                  <a:srgbClr val="222222"/>
                </a:solidFill>
                <a:latin typeface="Arial" pitchFamily="34" charset="0"/>
                <a:ea typeface="Arial" pitchFamily="34" charset="-122"/>
                <a:cs typeface="Arial" pitchFamily="34" charset="-120"/>
              </a:rPr>
              <a:t>kiến trúc thay và đo được từng khâu; bộ đánh giá tái lập được, mọi số liệu có tệp kết quả gốc; các phát hiện chỉ có khi chạy máy thật.</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pic>
        <p:nvPicPr>
          <p:cNvPr id="2" name="Image 0" descr="C:\Users\hhung\AppData\Local\Temp\claude\d--Project-local-live-voice-translator\d0343c7e-f558-4e8b-8c62-5b900df8bea6\scratchpad\build\img\deco_right.png"/>
          <p:cNvPicPr>
            <a:picLocks noChangeAspect="1"/>
          </p:cNvPicPr>
          <p:nvPr/>
        </p:nvPicPr>
        <p:blipFill>
          <a:blip r:embed="rId3"/>
          <a:stretch>
            <a:fillRect/>
          </a:stretch>
        </p:blipFill>
        <p:spPr>
          <a:xfrm>
            <a:off x="0" y="0"/>
            <a:ext cx="12191695" cy="6858000"/>
          </a:xfrm>
          <a:prstGeom prst="rect">
            <a:avLst/>
          </a:prstGeom>
        </p:spPr>
      </p:pic>
      <p:pic>
        <p:nvPicPr>
          <p:cNvPr id="3" name="Image 1" descr="C:\Users\hhung\AppData\Local\Temp\claude\d--Project-local-live-voice-translator\d0343c7e-f558-4e8b-8c62-5b900df8bea6\scratchpad\build\img\logo_header.png"/>
          <p:cNvPicPr>
            <a:picLocks noChangeAspect="1"/>
          </p:cNvPicPr>
          <p:nvPr/>
        </p:nvPicPr>
        <p:blipFill>
          <a:blip r:embed="rId4"/>
          <a:stretch>
            <a:fillRect/>
          </a:stretch>
        </p:blipFill>
        <p:spPr>
          <a:xfrm>
            <a:off x="8549640" y="292608"/>
            <a:ext cx="2560320" cy="459250"/>
          </a:xfrm>
          <a:prstGeom prst="rect">
            <a:avLst/>
          </a:prstGeom>
        </p:spPr>
      </p:pic>
      <p:sp>
        <p:nvSpPr>
          <p:cNvPr id="4" name="Text 0"/>
          <p:cNvSpPr txBox="1"/>
          <p:nvPr/>
        </p:nvSpPr>
        <p:spPr>
          <a:xfrm>
            <a:off x="411480" y="256032"/>
            <a:ext cx="7955280" cy="548640"/>
          </a:xfrm>
          <a:prstGeom prst="rect">
            <a:avLst/>
          </a:prstGeom>
          <a:noFill/>
          <a:ln/>
        </p:spPr>
        <p:txBody>
          <a:bodyPr wrap="square" lIns="0" tIns="0" rIns="0" bIns="0" rtlCol="0" anchor="t"/>
          <a:lstStyle/>
          <a:p>
            <a:pPr marL="0" indent="0">
              <a:buNone/>
            </a:pPr>
            <a:r>
              <a:rPr lang="en-US" sz="2800" b="1" dirty="0">
                <a:solidFill>
                  <a:srgbClr val="487BA2"/>
                </a:solidFill>
                <a:latin typeface="Arial" pitchFamily="34" charset="0"/>
                <a:ea typeface="Arial" pitchFamily="34" charset="-122"/>
                <a:cs typeface="Arial" pitchFamily="34" charset="-120"/>
              </a:rPr>
              <a:t>IV. Kết luận</a:t>
            </a:r>
            <a:endParaRPr lang="en-US" sz="2800" dirty="0"/>
          </a:p>
        </p:txBody>
      </p:sp>
      <p:sp>
        <p:nvSpPr>
          <p:cNvPr id="5" name="Text 1"/>
          <p:cNvSpPr txBox="1"/>
          <p:nvPr/>
        </p:nvSpPr>
        <p:spPr>
          <a:xfrm>
            <a:off x="411480" y="841248"/>
            <a:ext cx="8046720" cy="411480"/>
          </a:xfrm>
          <a:prstGeom prst="rect">
            <a:avLst/>
          </a:prstGeom>
          <a:noFill/>
          <a:ln/>
        </p:spPr>
        <p:txBody>
          <a:bodyPr wrap="square" lIns="0" tIns="0" rIns="0" bIns="0" rtlCol="0" anchor="t"/>
          <a:lstStyle/>
          <a:p>
            <a:pPr marL="0" indent="0">
              <a:buNone/>
            </a:pPr>
            <a:r>
              <a:rPr lang="en-US" sz="2000" dirty="0">
                <a:solidFill>
                  <a:srgbClr val="1B517B"/>
                </a:solidFill>
                <a:latin typeface="Arial" pitchFamily="34" charset="0"/>
                <a:ea typeface="Arial" pitchFamily="34" charset="-122"/>
                <a:cs typeface="Arial" pitchFamily="34" charset="-120"/>
              </a:rPr>
              <a:t>2. Hạn chế và hướng phát triển</a:t>
            </a:r>
            <a:endParaRPr lang="en-US" sz="2000" dirty="0"/>
          </a:p>
        </p:txBody>
      </p:sp>
      <p:sp>
        <p:nvSpPr>
          <p:cNvPr id="6" name="Text 2"/>
          <p:cNvSpPr txBox="1"/>
          <p:nvPr/>
        </p:nvSpPr>
        <p:spPr>
          <a:xfrm>
            <a:off x="10104120" y="6355080"/>
            <a:ext cx="548640" cy="274320"/>
          </a:xfrm>
          <a:prstGeom prst="rect">
            <a:avLst/>
          </a:prstGeom>
          <a:noFill/>
          <a:ln/>
        </p:spPr>
        <p:txBody>
          <a:bodyPr wrap="square" lIns="0" tIns="0" rIns="0" bIns="0" rtlCol="0" anchor="t"/>
          <a:lstStyle/>
          <a:p>
            <a:pPr marL="0" indent="0" algn="r">
              <a:buNone/>
            </a:pPr>
            <a:r>
              <a:rPr lang="en-US" sz="1100" dirty="0">
                <a:solidFill>
                  <a:srgbClr val="5F6B76"/>
                </a:solidFill>
                <a:latin typeface="Arial" pitchFamily="34" charset="0"/>
                <a:ea typeface="Arial" pitchFamily="34" charset="-122"/>
                <a:cs typeface="Arial" pitchFamily="34" charset="-120"/>
              </a:rPr>
              <a:t>27</a:t>
            </a:r>
            <a:endParaRPr lang="en-US" sz="1100" dirty="0"/>
          </a:p>
        </p:txBody>
      </p:sp>
      <p:sp>
        <p:nvSpPr>
          <p:cNvPr id="7" name="Text 3"/>
          <p:cNvSpPr txBox="1"/>
          <p:nvPr/>
        </p:nvSpPr>
        <p:spPr>
          <a:xfrm>
            <a:off x="411480" y="1371600"/>
            <a:ext cx="4754880" cy="365760"/>
          </a:xfrm>
          <a:prstGeom prst="rect">
            <a:avLst/>
          </a:prstGeom>
          <a:noFill/>
          <a:ln/>
        </p:spPr>
        <p:txBody>
          <a:bodyPr wrap="square" lIns="0" tIns="0" rIns="0" bIns="0" rtlCol="0" anchor="t"/>
          <a:lstStyle/>
          <a:p>
            <a:pPr marL="0" indent="0">
              <a:buNone/>
            </a:pPr>
            <a:r>
              <a:rPr lang="en-US" sz="1700" b="1" dirty="0">
                <a:solidFill>
                  <a:srgbClr val="B8262B"/>
                </a:solidFill>
                <a:latin typeface="Arial" pitchFamily="34" charset="0"/>
                <a:ea typeface="Arial" pitchFamily="34" charset="-122"/>
                <a:cs typeface="Arial" pitchFamily="34" charset="-120"/>
              </a:rPr>
              <a:t>Hạn chế</a:t>
            </a:r>
            <a:endParaRPr lang="en-US" sz="1700" dirty="0"/>
          </a:p>
        </p:txBody>
      </p:sp>
      <p:sp>
        <p:nvSpPr>
          <p:cNvPr id="8" name="Text 4"/>
          <p:cNvSpPr txBox="1"/>
          <p:nvPr/>
        </p:nvSpPr>
        <p:spPr>
          <a:xfrm>
            <a:off x="5989320" y="1371600"/>
            <a:ext cx="4663440" cy="365760"/>
          </a:xfrm>
          <a:prstGeom prst="rect">
            <a:avLst/>
          </a:prstGeom>
          <a:noFill/>
          <a:ln/>
        </p:spPr>
        <p:txBody>
          <a:bodyPr wrap="square" lIns="0" tIns="0" rIns="0" bIns="0" rtlCol="0" anchor="t"/>
          <a:lstStyle/>
          <a:p>
            <a:pPr marL="0" indent="0">
              <a:buNone/>
            </a:pPr>
            <a:r>
              <a:rPr lang="en-US" sz="1700" b="1" dirty="0">
                <a:solidFill>
                  <a:srgbClr val="2E8B57"/>
                </a:solidFill>
                <a:latin typeface="Arial" pitchFamily="34" charset="0"/>
                <a:ea typeface="Arial" pitchFamily="34" charset="-122"/>
                <a:cs typeface="Arial" pitchFamily="34" charset="-120"/>
              </a:rPr>
              <a:t>Hướng phát triển</a:t>
            </a:r>
            <a:endParaRPr lang="en-US" sz="1700" dirty="0"/>
          </a:p>
        </p:txBody>
      </p:sp>
      <p:sp>
        <p:nvSpPr>
          <p:cNvPr id="9" name="Shape 5"/>
          <p:cNvSpPr/>
          <p:nvPr/>
        </p:nvSpPr>
        <p:spPr>
          <a:xfrm>
            <a:off x="411480" y="1828800"/>
            <a:ext cx="4937760" cy="731520"/>
          </a:xfrm>
          <a:prstGeom prst="roundRect">
            <a:avLst>
              <a:gd name="adj" fmla="val 10000"/>
            </a:avLst>
          </a:prstGeom>
          <a:solidFill>
            <a:srgbClr val="FBEDED"/>
          </a:solidFill>
          <a:ln w="12700">
            <a:solidFill>
              <a:srgbClr val="FBEDED"/>
            </a:solidFill>
            <a:prstDash val="solid"/>
          </a:ln>
        </p:spPr>
        <p:txBody>
          <a:bodyPr/>
          <a:lstStyle/>
          <a:p>
            <a:endParaRPr lang="en-US"/>
          </a:p>
        </p:txBody>
      </p:sp>
      <p:sp>
        <p:nvSpPr>
          <p:cNvPr id="10" name="Text 6"/>
          <p:cNvSpPr txBox="1"/>
          <p:nvPr/>
        </p:nvSpPr>
        <p:spPr>
          <a:xfrm>
            <a:off x="548640" y="1828800"/>
            <a:ext cx="4709160" cy="731520"/>
          </a:xfrm>
          <a:prstGeom prst="rect">
            <a:avLst/>
          </a:prstGeom>
          <a:noFill/>
          <a:ln/>
        </p:spPr>
        <p:txBody>
          <a:bodyPr wrap="square" lIns="0" tIns="0" rIns="0" bIns="0" rtlCol="0" anchor="ctr"/>
          <a:lstStyle/>
          <a:p>
            <a:pPr marL="0" indent="0">
              <a:buNone/>
            </a:pPr>
            <a:r>
              <a:rPr lang="en-US" sz="1300" dirty="0">
                <a:solidFill>
                  <a:srgbClr val="222222"/>
                </a:solidFill>
                <a:latin typeface="Arial" pitchFamily="34" charset="0"/>
                <a:ea typeface="Arial" pitchFamily="34" charset="-122"/>
                <a:cs typeface="Arial" pitchFamily="34" charset="-120"/>
              </a:rPr>
              <a:t>Thuật ngữ tiếng Anh trong câu tiếng Việt: "string" đúng 1/18 lần</a:t>
            </a:r>
            <a:endParaRPr lang="en-US" sz="1300" dirty="0"/>
          </a:p>
        </p:txBody>
      </p:sp>
      <p:pic>
        <p:nvPicPr>
          <p:cNvPr id="11" name="Image 2" descr="preencoded.png"/>
          <p:cNvPicPr>
            <a:picLocks noChangeAspect="1"/>
          </p:cNvPicPr>
          <p:nvPr/>
        </p:nvPicPr>
        <p:blipFill>
          <a:blip r:embed="rId5"/>
          <a:stretch>
            <a:fillRect/>
          </a:stretch>
        </p:blipFill>
        <p:spPr>
          <a:xfrm>
            <a:off x="5486400" y="2029968"/>
            <a:ext cx="347472" cy="329184"/>
          </a:xfrm>
          <a:prstGeom prst="rect">
            <a:avLst/>
          </a:prstGeom>
        </p:spPr>
      </p:pic>
      <p:sp>
        <p:nvSpPr>
          <p:cNvPr id="12" name="Shape 7"/>
          <p:cNvSpPr/>
          <p:nvPr/>
        </p:nvSpPr>
        <p:spPr>
          <a:xfrm>
            <a:off x="5989320" y="1828800"/>
            <a:ext cx="4663440" cy="731520"/>
          </a:xfrm>
          <a:prstGeom prst="roundRect">
            <a:avLst>
              <a:gd name="adj" fmla="val 10000"/>
            </a:avLst>
          </a:prstGeom>
          <a:solidFill>
            <a:srgbClr val="E8F4EC"/>
          </a:solidFill>
          <a:ln w="12700">
            <a:solidFill>
              <a:srgbClr val="E8F4EC"/>
            </a:solidFill>
            <a:prstDash val="solid"/>
          </a:ln>
        </p:spPr>
        <p:txBody>
          <a:bodyPr/>
          <a:lstStyle/>
          <a:p>
            <a:endParaRPr lang="en-US"/>
          </a:p>
        </p:txBody>
      </p:sp>
      <p:sp>
        <p:nvSpPr>
          <p:cNvPr id="13" name="Text 8"/>
          <p:cNvSpPr txBox="1"/>
          <p:nvPr/>
        </p:nvSpPr>
        <p:spPr>
          <a:xfrm>
            <a:off x="6126480" y="1828800"/>
            <a:ext cx="4434840" cy="731520"/>
          </a:xfrm>
          <a:prstGeom prst="rect">
            <a:avLst/>
          </a:prstGeom>
          <a:noFill/>
          <a:ln/>
        </p:spPr>
        <p:txBody>
          <a:bodyPr wrap="square" lIns="0" tIns="0" rIns="0" bIns="0" rtlCol="0" anchor="ctr"/>
          <a:lstStyle/>
          <a:p>
            <a:pPr marL="0" indent="0">
              <a:buNone/>
            </a:pPr>
            <a:r>
              <a:rPr lang="en-US" sz="1300" dirty="0">
                <a:solidFill>
                  <a:srgbClr val="222222"/>
                </a:solidFill>
                <a:latin typeface="Arial" pitchFamily="34" charset="0"/>
                <a:ea typeface="Arial" pitchFamily="34" charset="-122"/>
                <a:cs typeface="Arial" pitchFamily="34" charset="-120"/>
              </a:rPr>
              <a:t>Danh sách thuật ngữ: gợi ý cho Whisper (initial_prompt) và giữ nguyên khi dịch</a:t>
            </a:r>
            <a:endParaRPr lang="en-US" sz="1300" dirty="0"/>
          </a:p>
        </p:txBody>
      </p:sp>
      <p:sp>
        <p:nvSpPr>
          <p:cNvPr id="14" name="Shape 9"/>
          <p:cNvSpPr/>
          <p:nvPr/>
        </p:nvSpPr>
        <p:spPr>
          <a:xfrm>
            <a:off x="411480" y="2697480"/>
            <a:ext cx="4937760" cy="731520"/>
          </a:xfrm>
          <a:prstGeom prst="roundRect">
            <a:avLst>
              <a:gd name="adj" fmla="val 10000"/>
            </a:avLst>
          </a:prstGeom>
          <a:solidFill>
            <a:srgbClr val="FBEDED"/>
          </a:solidFill>
          <a:ln w="12700">
            <a:solidFill>
              <a:srgbClr val="FBEDED"/>
            </a:solidFill>
            <a:prstDash val="solid"/>
          </a:ln>
        </p:spPr>
        <p:txBody>
          <a:bodyPr/>
          <a:lstStyle/>
          <a:p>
            <a:endParaRPr lang="en-US"/>
          </a:p>
        </p:txBody>
      </p:sp>
      <p:sp>
        <p:nvSpPr>
          <p:cNvPr id="15" name="Text 10"/>
          <p:cNvSpPr txBox="1"/>
          <p:nvPr/>
        </p:nvSpPr>
        <p:spPr>
          <a:xfrm>
            <a:off x="548640" y="2697480"/>
            <a:ext cx="4709160" cy="731520"/>
          </a:xfrm>
          <a:prstGeom prst="rect">
            <a:avLst/>
          </a:prstGeom>
          <a:noFill/>
          <a:ln/>
        </p:spPr>
        <p:txBody>
          <a:bodyPr wrap="square" lIns="0" tIns="0" rIns="0" bIns="0" rtlCol="0" anchor="ctr"/>
          <a:lstStyle/>
          <a:p>
            <a:pPr marL="0" indent="0">
              <a:buNone/>
            </a:pPr>
            <a:r>
              <a:rPr lang="en-US" sz="1300" dirty="0">
                <a:solidFill>
                  <a:srgbClr val="222222"/>
                </a:solidFill>
                <a:latin typeface="Arial" pitchFamily="34" charset="0"/>
                <a:ea typeface="Arial" pitchFamily="34" charset="-122"/>
                <a:cs typeface="Arial" pitchFamily="34" charset="-120"/>
              </a:rPr>
              <a:t>NLLB rơi vào vòng lặp (2/75 lượt), dịch nghĩa đen thuật ngữ</a:t>
            </a:r>
            <a:endParaRPr lang="en-US" sz="1300" dirty="0"/>
          </a:p>
        </p:txBody>
      </p:sp>
      <p:pic>
        <p:nvPicPr>
          <p:cNvPr id="16" name="Image 3" descr="preencoded.png"/>
          <p:cNvPicPr>
            <a:picLocks noChangeAspect="1"/>
          </p:cNvPicPr>
          <p:nvPr/>
        </p:nvPicPr>
        <p:blipFill>
          <a:blip r:embed="rId5"/>
          <a:stretch>
            <a:fillRect/>
          </a:stretch>
        </p:blipFill>
        <p:spPr>
          <a:xfrm>
            <a:off x="5486400" y="2898648"/>
            <a:ext cx="347472" cy="329184"/>
          </a:xfrm>
          <a:prstGeom prst="rect">
            <a:avLst/>
          </a:prstGeom>
        </p:spPr>
      </p:pic>
      <p:sp>
        <p:nvSpPr>
          <p:cNvPr id="17" name="Shape 11"/>
          <p:cNvSpPr/>
          <p:nvPr/>
        </p:nvSpPr>
        <p:spPr>
          <a:xfrm>
            <a:off x="5989320" y="2697480"/>
            <a:ext cx="4663440" cy="731520"/>
          </a:xfrm>
          <a:prstGeom prst="roundRect">
            <a:avLst>
              <a:gd name="adj" fmla="val 10000"/>
            </a:avLst>
          </a:prstGeom>
          <a:solidFill>
            <a:srgbClr val="E8F4EC"/>
          </a:solidFill>
          <a:ln w="12700">
            <a:solidFill>
              <a:srgbClr val="E8F4EC"/>
            </a:solidFill>
            <a:prstDash val="solid"/>
          </a:ln>
        </p:spPr>
        <p:txBody>
          <a:bodyPr/>
          <a:lstStyle/>
          <a:p>
            <a:endParaRPr lang="en-US"/>
          </a:p>
        </p:txBody>
      </p:sp>
      <p:sp>
        <p:nvSpPr>
          <p:cNvPr id="18" name="Text 12"/>
          <p:cNvSpPr txBox="1"/>
          <p:nvPr/>
        </p:nvSpPr>
        <p:spPr>
          <a:xfrm>
            <a:off x="6126480" y="2697480"/>
            <a:ext cx="4434840" cy="731520"/>
          </a:xfrm>
          <a:prstGeom prst="rect">
            <a:avLst/>
          </a:prstGeom>
          <a:noFill/>
          <a:ln/>
        </p:spPr>
        <p:txBody>
          <a:bodyPr wrap="square" lIns="0" tIns="0" rIns="0" bIns="0" rtlCol="0" anchor="ctr"/>
          <a:lstStyle/>
          <a:p>
            <a:pPr marL="0" indent="0">
              <a:buNone/>
            </a:pPr>
            <a:r>
              <a:rPr lang="en-US" sz="1300" dirty="0">
                <a:solidFill>
                  <a:srgbClr val="222222"/>
                </a:solidFill>
                <a:latin typeface="Arial" pitchFamily="34" charset="0"/>
                <a:ea typeface="Arial" pitchFamily="34" charset="-122"/>
                <a:cs typeface="Arial" pitchFamily="34" charset="-120"/>
              </a:rPr>
              <a:t>Chặn lặp bằng tham số sinh hoặc bộ lọc sau dịch, rồi chạy lại bộ đánh giá MT</a:t>
            </a:r>
            <a:endParaRPr lang="en-US" sz="1300" dirty="0"/>
          </a:p>
        </p:txBody>
      </p:sp>
      <p:sp>
        <p:nvSpPr>
          <p:cNvPr id="19" name="Shape 13"/>
          <p:cNvSpPr/>
          <p:nvPr/>
        </p:nvSpPr>
        <p:spPr>
          <a:xfrm>
            <a:off x="411480" y="3566160"/>
            <a:ext cx="4937760" cy="731520"/>
          </a:xfrm>
          <a:prstGeom prst="roundRect">
            <a:avLst>
              <a:gd name="adj" fmla="val 10000"/>
            </a:avLst>
          </a:prstGeom>
          <a:solidFill>
            <a:srgbClr val="FBEDED"/>
          </a:solidFill>
          <a:ln w="12700">
            <a:solidFill>
              <a:srgbClr val="FBEDED"/>
            </a:solidFill>
            <a:prstDash val="solid"/>
          </a:ln>
        </p:spPr>
        <p:txBody>
          <a:bodyPr/>
          <a:lstStyle/>
          <a:p>
            <a:endParaRPr lang="en-US"/>
          </a:p>
        </p:txBody>
      </p:sp>
      <p:sp>
        <p:nvSpPr>
          <p:cNvPr id="20" name="Text 14"/>
          <p:cNvSpPr txBox="1"/>
          <p:nvPr/>
        </p:nvSpPr>
        <p:spPr>
          <a:xfrm>
            <a:off x="548640" y="3566160"/>
            <a:ext cx="4709160" cy="731520"/>
          </a:xfrm>
          <a:prstGeom prst="rect">
            <a:avLst/>
          </a:prstGeom>
          <a:noFill/>
          <a:ln/>
        </p:spPr>
        <p:txBody>
          <a:bodyPr wrap="square" lIns="0" tIns="0" rIns="0" bIns="0" rtlCol="0" anchor="ctr"/>
          <a:lstStyle/>
          <a:p>
            <a:pPr marL="0" indent="0">
              <a:buNone/>
            </a:pPr>
            <a:r>
              <a:rPr lang="en-US" sz="1300" dirty="0">
                <a:solidFill>
                  <a:srgbClr val="222222"/>
                </a:solidFill>
                <a:latin typeface="Arial" pitchFamily="34" charset="0"/>
                <a:ea typeface="Arial" pitchFamily="34" charset="-122"/>
                <a:cs typeface="Arial" pitchFamily="34" charset="-120"/>
              </a:rPr>
              <a:t>TTS đích ja/zh chậm, chạy CPU, ~2/3 thời gian chuỗi</a:t>
            </a:r>
            <a:endParaRPr lang="en-US" sz="1300" dirty="0"/>
          </a:p>
        </p:txBody>
      </p:sp>
      <p:pic>
        <p:nvPicPr>
          <p:cNvPr id="21" name="Image 4" descr="preencoded.png"/>
          <p:cNvPicPr>
            <a:picLocks noChangeAspect="1"/>
          </p:cNvPicPr>
          <p:nvPr/>
        </p:nvPicPr>
        <p:blipFill>
          <a:blip r:embed="rId5"/>
          <a:stretch>
            <a:fillRect/>
          </a:stretch>
        </p:blipFill>
        <p:spPr>
          <a:xfrm>
            <a:off x="5486400" y="3767328"/>
            <a:ext cx="347472" cy="329184"/>
          </a:xfrm>
          <a:prstGeom prst="rect">
            <a:avLst/>
          </a:prstGeom>
        </p:spPr>
      </p:pic>
      <p:sp>
        <p:nvSpPr>
          <p:cNvPr id="22" name="Shape 15"/>
          <p:cNvSpPr/>
          <p:nvPr/>
        </p:nvSpPr>
        <p:spPr>
          <a:xfrm>
            <a:off x="5989320" y="3566160"/>
            <a:ext cx="4663440" cy="731520"/>
          </a:xfrm>
          <a:prstGeom prst="roundRect">
            <a:avLst>
              <a:gd name="adj" fmla="val 10000"/>
            </a:avLst>
          </a:prstGeom>
          <a:solidFill>
            <a:srgbClr val="E8F4EC"/>
          </a:solidFill>
          <a:ln w="12700">
            <a:solidFill>
              <a:srgbClr val="E8F4EC"/>
            </a:solidFill>
            <a:prstDash val="solid"/>
          </a:ln>
        </p:spPr>
        <p:txBody>
          <a:bodyPr/>
          <a:lstStyle/>
          <a:p>
            <a:endParaRPr lang="en-US"/>
          </a:p>
        </p:txBody>
      </p:sp>
      <p:sp>
        <p:nvSpPr>
          <p:cNvPr id="23" name="Text 16"/>
          <p:cNvSpPr txBox="1"/>
          <p:nvPr/>
        </p:nvSpPr>
        <p:spPr>
          <a:xfrm>
            <a:off x="6126480" y="3566160"/>
            <a:ext cx="4434840" cy="731520"/>
          </a:xfrm>
          <a:prstGeom prst="rect">
            <a:avLst/>
          </a:prstGeom>
          <a:noFill/>
          <a:ln/>
        </p:spPr>
        <p:txBody>
          <a:bodyPr wrap="square" lIns="0" tIns="0" rIns="0" bIns="0" rtlCol="0" anchor="ctr"/>
          <a:lstStyle/>
          <a:p>
            <a:pPr marL="0" indent="0">
              <a:buNone/>
            </a:pPr>
            <a:r>
              <a:rPr lang="en-US" sz="1300" dirty="0">
                <a:solidFill>
                  <a:srgbClr val="222222"/>
                </a:solidFill>
                <a:latin typeface="Arial" pitchFamily="34" charset="0"/>
                <a:ea typeface="Arial" pitchFamily="34" charset="-122"/>
                <a:cs typeface="Arial" pitchFamily="34" charset="-120"/>
              </a:rPr>
              <a:t>Đưa TTS lên GPU cho hai đích tiếng Nhật và tiếng Trung</a:t>
            </a:r>
            <a:endParaRPr lang="en-US" sz="1300" dirty="0"/>
          </a:p>
        </p:txBody>
      </p:sp>
      <p:sp>
        <p:nvSpPr>
          <p:cNvPr id="24" name="Shape 17"/>
          <p:cNvSpPr/>
          <p:nvPr/>
        </p:nvSpPr>
        <p:spPr>
          <a:xfrm>
            <a:off x="411480" y="4434840"/>
            <a:ext cx="4937760" cy="731520"/>
          </a:xfrm>
          <a:prstGeom prst="roundRect">
            <a:avLst>
              <a:gd name="adj" fmla="val 10000"/>
            </a:avLst>
          </a:prstGeom>
          <a:solidFill>
            <a:srgbClr val="FBEDED"/>
          </a:solidFill>
          <a:ln w="12700">
            <a:solidFill>
              <a:srgbClr val="FBEDED"/>
            </a:solidFill>
            <a:prstDash val="solid"/>
          </a:ln>
        </p:spPr>
        <p:txBody>
          <a:bodyPr/>
          <a:lstStyle/>
          <a:p>
            <a:endParaRPr lang="en-US"/>
          </a:p>
        </p:txBody>
      </p:sp>
      <p:sp>
        <p:nvSpPr>
          <p:cNvPr id="25" name="Text 18"/>
          <p:cNvSpPr txBox="1"/>
          <p:nvPr/>
        </p:nvSpPr>
        <p:spPr>
          <a:xfrm>
            <a:off x="548640" y="4434840"/>
            <a:ext cx="4709160" cy="731520"/>
          </a:xfrm>
          <a:prstGeom prst="rect">
            <a:avLst/>
          </a:prstGeom>
          <a:noFill/>
          <a:ln/>
        </p:spPr>
        <p:txBody>
          <a:bodyPr wrap="square" lIns="0" tIns="0" rIns="0" bIns="0" rtlCol="0" anchor="ctr"/>
          <a:lstStyle/>
          <a:p>
            <a:pPr marL="0" indent="0">
              <a:buNone/>
            </a:pPr>
            <a:r>
              <a:rPr lang="en-US" sz="1300" dirty="0">
                <a:solidFill>
                  <a:srgbClr val="222222"/>
                </a:solidFill>
                <a:latin typeface="Arial" pitchFamily="34" charset="0"/>
                <a:ea typeface="Arial" pitchFamily="34" charset="-122"/>
                <a:cs typeface="Arial" pitchFamily="34" charset="-120"/>
              </a:rPr>
              <a:t>Đo giọng thật quy mô nhỏ; chưa đo trên máy chỉ có CPU</a:t>
            </a:r>
            <a:endParaRPr lang="en-US" sz="1300" dirty="0"/>
          </a:p>
        </p:txBody>
      </p:sp>
      <p:pic>
        <p:nvPicPr>
          <p:cNvPr id="26" name="Image 5" descr="preencoded.png"/>
          <p:cNvPicPr>
            <a:picLocks noChangeAspect="1"/>
          </p:cNvPicPr>
          <p:nvPr/>
        </p:nvPicPr>
        <p:blipFill>
          <a:blip r:embed="rId5"/>
          <a:stretch>
            <a:fillRect/>
          </a:stretch>
        </p:blipFill>
        <p:spPr>
          <a:xfrm>
            <a:off x="5486400" y="4636008"/>
            <a:ext cx="347472" cy="329184"/>
          </a:xfrm>
          <a:prstGeom prst="rect">
            <a:avLst/>
          </a:prstGeom>
        </p:spPr>
      </p:pic>
      <p:sp>
        <p:nvSpPr>
          <p:cNvPr id="27" name="Shape 19"/>
          <p:cNvSpPr/>
          <p:nvPr/>
        </p:nvSpPr>
        <p:spPr>
          <a:xfrm>
            <a:off x="5989320" y="4434840"/>
            <a:ext cx="4663440" cy="731520"/>
          </a:xfrm>
          <a:prstGeom prst="roundRect">
            <a:avLst>
              <a:gd name="adj" fmla="val 10000"/>
            </a:avLst>
          </a:prstGeom>
          <a:solidFill>
            <a:srgbClr val="E8F4EC"/>
          </a:solidFill>
          <a:ln w="12700">
            <a:solidFill>
              <a:srgbClr val="E8F4EC"/>
            </a:solidFill>
            <a:prstDash val="solid"/>
          </a:ln>
        </p:spPr>
        <p:txBody>
          <a:bodyPr/>
          <a:lstStyle/>
          <a:p>
            <a:endParaRPr lang="en-US"/>
          </a:p>
        </p:txBody>
      </p:sp>
      <p:sp>
        <p:nvSpPr>
          <p:cNvPr id="28" name="Text 20"/>
          <p:cNvSpPr txBox="1"/>
          <p:nvPr/>
        </p:nvSpPr>
        <p:spPr>
          <a:xfrm>
            <a:off x="6126480" y="4434840"/>
            <a:ext cx="4434840" cy="731520"/>
          </a:xfrm>
          <a:prstGeom prst="rect">
            <a:avLst/>
          </a:prstGeom>
          <a:noFill/>
          <a:ln/>
        </p:spPr>
        <p:txBody>
          <a:bodyPr wrap="square" lIns="0" tIns="0" rIns="0" bIns="0" rtlCol="0" anchor="ctr"/>
          <a:lstStyle/>
          <a:p>
            <a:pPr marL="0" indent="0">
              <a:buNone/>
            </a:pPr>
            <a:r>
              <a:rPr lang="en-US" sz="1300" dirty="0">
                <a:solidFill>
                  <a:srgbClr val="222222"/>
                </a:solidFill>
                <a:latin typeface="Arial" pitchFamily="34" charset="0"/>
                <a:ea typeface="Arial" pitchFamily="34" charset="-122"/>
                <a:cs typeface="Arial" pitchFamily="34" charset="-120"/>
              </a:rPr>
              <a:t>Nhiều bản ghi, nhiều chủ đề, hai người nghe độc lập; thêm cấu hình máy yếu</a:t>
            </a:r>
            <a:endParaRPr lang="en-US" sz="1300" dirty="0"/>
          </a:p>
        </p:txBody>
      </p:sp>
      <p:sp>
        <p:nvSpPr>
          <p:cNvPr id="29" name="Shape 21"/>
          <p:cNvSpPr/>
          <p:nvPr/>
        </p:nvSpPr>
        <p:spPr>
          <a:xfrm>
            <a:off x="411480" y="5303520"/>
            <a:ext cx="4937760" cy="731520"/>
          </a:xfrm>
          <a:prstGeom prst="roundRect">
            <a:avLst>
              <a:gd name="adj" fmla="val 10000"/>
            </a:avLst>
          </a:prstGeom>
          <a:solidFill>
            <a:srgbClr val="FBEDED"/>
          </a:solidFill>
          <a:ln w="12700">
            <a:solidFill>
              <a:srgbClr val="FBEDED"/>
            </a:solidFill>
            <a:prstDash val="solid"/>
          </a:ln>
        </p:spPr>
        <p:txBody>
          <a:bodyPr/>
          <a:lstStyle/>
          <a:p>
            <a:endParaRPr lang="en-US"/>
          </a:p>
        </p:txBody>
      </p:sp>
      <p:sp>
        <p:nvSpPr>
          <p:cNvPr id="30" name="Text 22"/>
          <p:cNvSpPr txBox="1"/>
          <p:nvPr/>
        </p:nvSpPr>
        <p:spPr>
          <a:xfrm>
            <a:off x="548640" y="5303520"/>
            <a:ext cx="4709160" cy="731520"/>
          </a:xfrm>
          <a:prstGeom prst="rect">
            <a:avLst/>
          </a:prstGeom>
          <a:noFill/>
          <a:ln/>
        </p:spPr>
        <p:txBody>
          <a:bodyPr wrap="square" lIns="0" tIns="0" rIns="0" bIns="0" rtlCol="0" anchor="ctr"/>
          <a:lstStyle/>
          <a:p>
            <a:pPr marL="0" indent="0">
              <a:buNone/>
            </a:pPr>
            <a:r>
              <a:rPr lang="en-US" sz="1300" dirty="0">
                <a:solidFill>
                  <a:srgbClr val="222222"/>
                </a:solidFill>
                <a:latin typeface="Arial" pitchFamily="34" charset="0"/>
                <a:ea typeface="Arial" pitchFamily="34" charset="-122"/>
                <a:cs typeface="Arial" pitchFamily="34" charset="-120"/>
              </a:rPr>
              <a:t>NLLB-200 giấy phép phi thương mại (CC-BY-NC-4.0)</a:t>
            </a:r>
            <a:endParaRPr lang="en-US" sz="1300" dirty="0"/>
          </a:p>
        </p:txBody>
      </p:sp>
      <p:pic>
        <p:nvPicPr>
          <p:cNvPr id="31" name="Image 6" descr="preencoded.png"/>
          <p:cNvPicPr>
            <a:picLocks noChangeAspect="1"/>
          </p:cNvPicPr>
          <p:nvPr/>
        </p:nvPicPr>
        <p:blipFill>
          <a:blip r:embed="rId5"/>
          <a:stretch>
            <a:fillRect/>
          </a:stretch>
        </p:blipFill>
        <p:spPr>
          <a:xfrm>
            <a:off x="5486400" y="5504688"/>
            <a:ext cx="347472" cy="329184"/>
          </a:xfrm>
          <a:prstGeom prst="rect">
            <a:avLst/>
          </a:prstGeom>
        </p:spPr>
      </p:pic>
      <p:sp>
        <p:nvSpPr>
          <p:cNvPr id="32" name="Shape 23"/>
          <p:cNvSpPr/>
          <p:nvPr/>
        </p:nvSpPr>
        <p:spPr>
          <a:xfrm>
            <a:off x="5989320" y="5303520"/>
            <a:ext cx="4663440" cy="731520"/>
          </a:xfrm>
          <a:prstGeom prst="roundRect">
            <a:avLst>
              <a:gd name="adj" fmla="val 10000"/>
            </a:avLst>
          </a:prstGeom>
          <a:solidFill>
            <a:srgbClr val="E8F4EC"/>
          </a:solidFill>
          <a:ln w="12700">
            <a:solidFill>
              <a:srgbClr val="E8F4EC"/>
            </a:solidFill>
            <a:prstDash val="solid"/>
          </a:ln>
        </p:spPr>
        <p:txBody>
          <a:bodyPr/>
          <a:lstStyle/>
          <a:p>
            <a:endParaRPr lang="en-US"/>
          </a:p>
        </p:txBody>
      </p:sp>
      <p:sp>
        <p:nvSpPr>
          <p:cNvPr id="33" name="Text 24"/>
          <p:cNvSpPr txBox="1"/>
          <p:nvPr/>
        </p:nvSpPr>
        <p:spPr>
          <a:xfrm>
            <a:off x="6126480" y="5303520"/>
            <a:ext cx="4434840" cy="731520"/>
          </a:xfrm>
          <a:prstGeom prst="rect">
            <a:avLst/>
          </a:prstGeom>
          <a:noFill/>
          <a:ln/>
        </p:spPr>
        <p:txBody>
          <a:bodyPr wrap="square" lIns="0" tIns="0" rIns="0" bIns="0" rtlCol="0" anchor="ctr"/>
          <a:lstStyle/>
          <a:p>
            <a:pPr marL="0" indent="0">
              <a:buNone/>
            </a:pPr>
            <a:r>
              <a:rPr lang="en-US" sz="1300" dirty="0">
                <a:solidFill>
                  <a:srgbClr val="222222"/>
                </a:solidFill>
                <a:latin typeface="Arial" pitchFamily="34" charset="0"/>
                <a:ea typeface="Arial" pitchFamily="34" charset="-122"/>
                <a:cs typeface="Arial" pitchFamily="34" charset="-120"/>
              </a:rPr>
              <a:t>Thử mô hình dịch khác trên cùng bộ đánh giá, như đã làm với ASR</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pic>
        <p:nvPicPr>
          <p:cNvPr id="2" name="Image 0" descr="C:\Users\hhung\AppData\Local\Temp\claude\d--Project-local-live-voice-translator\d0343c7e-f558-4e8b-8c62-5b900df8bea6\scratchpad\build\img\deco_right.png"/>
          <p:cNvPicPr>
            <a:picLocks noChangeAspect="1"/>
          </p:cNvPicPr>
          <p:nvPr/>
        </p:nvPicPr>
        <p:blipFill>
          <a:blip r:embed="rId3"/>
          <a:stretch>
            <a:fillRect/>
          </a:stretch>
        </p:blipFill>
        <p:spPr>
          <a:xfrm>
            <a:off x="0" y="0"/>
            <a:ext cx="12191695" cy="6858000"/>
          </a:xfrm>
          <a:prstGeom prst="rect">
            <a:avLst/>
          </a:prstGeom>
        </p:spPr>
      </p:pic>
      <p:pic>
        <p:nvPicPr>
          <p:cNvPr id="3" name="Image 1" descr="C:\Users\hhung\AppData\Local\Temp\claude\d--Project-local-live-voice-translator\d0343c7e-f558-4e8b-8c62-5b900df8bea6\scratchpad\build\img\logo_header.png"/>
          <p:cNvPicPr>
            <a:picLocks noChangeAspect="1"/>
          </p:cNvPicPr>
          <p:nvPr/>
        </p:nvPicPr>
        <p:blipFill>
          <a:blip r:embed="rId4"/>
          <a:stretch>
            <a:fillRect/>
          </a:stretch>
        </p:blipFill>
        <p:spPr>
          <a:xfrm>
            <a:off x="8549640" y="292608"/>
            <a:ext cx="2560320" cy="459250"/>
          </a:xfrm>
          <a:prstGeom prst="rect">
            <a:avLst/>
          </a:prstGeom>
        </p:spPr>
      </p:pic>
      <p:sp>
        <p:nvSpPr>
          <p:cNvPr id="4" name="Text 0"/>
          <p:cNvSpPr txBox="1"/>
          <p:nvPr/>
        </p:nvSpPr>
        <p:spPr>
          <a:xfrm>
            <a:off x="411480" y="256032"/>
            <a:ext cx="7955280" cy="548640"/>
          </a:xfrm>
          <a:prstGeom prst="rect">
            <a:avLst/>
          </a:prstGeom>
          <a:noFill/>
          <a:ln/>
        </p:spPr>
        <p:txBody>
          <a:bodyPr wrap="square" lIns="0" tIns="0" rIns="0" bIns="0" rtlCol="0" anchor="t"/>
          <a:lstStyle/>
          <a:p>
            <a:pPr marL="0" indent="0">
              <a:buNone/>
            </a:pPr>
            <a:r>
              <a:rPr lang="en-US" sz="2800" b="1" dirty="0">
                <a:solidFill>
                  <a:srgbClr val="487BA2"/>
                </a:solidFill>
                <a:latin typeface="Arial" pitchFamily="34" charset="0"/>
                <a:ea typeface="Arial" pitchFamily="34" charset="-122"/>
                <a:cs typeface="Arial" pitchFamily="34" charset="-120"/>
              </a:rPr>
              <a:t>Tài liệu tham khảo</a:t>
            </a:r>
            <a:endParaRPr lang="en-US" sz="2800" dirty="0"/>
          </a:p>
        </p:txBody>
      </p:sp>
      <p:sp>
        <p:nvSpPr>
          <p:cNvPr id="5" name="Text 1"/>
          <p:cNvSpPr txBox="1"/>
          <p:nvPr/>
        </p:nvSpPr>
        <p:spPr>
          <a:xfrm>
            <a:off x="10104120" y="6355080"/>
            <a:ext cx="548640" cy="274320"/>
          </a:xfrm>
          <a:prstGeom prst="rect">
            <a:avLst/>
          </a:prstGeom>
          <a:noFill/>
          <a:ln/>
        </p:spPr>
        <p:txBody>
          <a:bodyPr wrap="square" lIns="0" tIns="0" rIns="0" bIns="0" rtlCol="0" anchor="t"/>
          <a:lstStyle/>
          <a:p>
            <a:pPr marL="0" indent="0" algn="r">
              <a:buNone/>
            </a:pPr>
            <a:r>
              <a:rPr lang="en-US" sz="1100" dirty="0">
                <a:solidFill>
                  <a:srgbClr val="5F6B76"/>
                </a:solidFill>
                <a:latin typeface="Arial" pitchFamily="34" charset="0"/>
                <a:ea typeface="Arial" pitchFamily="34" charset="-122"/>
                <a:cs typeface="Arial" pitchFamily="34" charset="-120"/>
              </a:rPr>
              <a:t>28</a:t>
            </a:r>
            <a:endParaRPr lang="en-US" sz="1100" dirty="0"/>
          </a:p>
        </p:txBody>
      </p:sp>
      <p:sp>
        <p:nvSpPr>
          <p:cNvPr id="6" name="Text 2"/>
          <p:cNvSpPr txBox="1"/>
          <p:nvPr/>
        </p:nvSpPr>
        <p:spPr>
          <a:xfrm>
            <a:off x="411480" y="1005840"/>
            <a:ext cx="10058400" cy="4983480"/>
          </a:xfrm>
          <a:prstGeom prst="rect">
            <a:avLst/>
          </a:prstGeom>
          <a:noFill/>
          <a:ln/>
        </p:spPr>
        <p:txBody>
          <a:bodyPr wrap="square" lIns="0" tIns="0" rIns="0" bIns="0" rtlCol="0" anchor="t"/>
          <a:lstStyle/>
          <a:p>
            <a:pPr marL="0" indent="0">
              <a:spcAft>
                <a:spcPts val="500"/>
              </a:spcAft>
              <a:buNone/>
            </a:pPr>
            <a:r>
              <a:rPr lang="en-US" sz="1300" b="1" dirty="0">
                <a:solidFill>
                  <a:srgbClr val="1B517B"/>
                </a:solidFill>
                <a:latin typeface="Arial" pitchFamily="34" charset="0"/>
                <a:ea typeface="Arial" pitchFamily="34" charset="-122"/>
                <a:cs typeface="Arial" pitchFamily="34" charset="-120"/>
              </a:rPr>
              <a:t>[2] </a:t>
            </a:r>
            <a:r>
              <a:rPr lang="en-US" sz="1300" dirty="0">
                <a:solidFill>
                  <a:srgbClr val="222222"/>
                </a:solidFill>
                <a:latin typeface="Arial" pitchFamily="34" charset="0"/>
                <a:ea typeface="Arial" pitchFamily="34" charset="-122"/>
                <a:cs typeface="Arial" pitchFamily="34" charset="-120"/>
              </a:rPr>
              <a:t>A. Cockburn, </a:t>
            </a:r>
            <a:r>
              <a:rPr lang="en-US" sz="1300" b="1" dirty="0">
                <a:solidFill>
                  <a:srgbClr val="222222"/>
                </a:solidFill>
                <a:latin typeface="Arial" pitchFamily="34" charset="0"/>
                <a:ea typeface="Arial" pitchFamily="34" charset="-122"/>
                <a:cs typeface="Arial" pitchFamily="34" charset="-120"/>
              </a:rPr>
              <a:t>"Hexagonal architecture,"</a:t>
            </a:r>
            <a:r>
              <a:rPr lang="en-US" sz="1300" dirty="0">
                <a:solidFill>
                  <a:srgbClr val="222222"/>
                </a:solidFill>
                <a:latin typeface="Arial" pitchFamily="34" charset="0"/>
                <a:ea typeface="Arial" pitchFamily="34" charset="-122"/>
                <a:cs typeface="Arial" pitchFamily="34" charset="-120"/>
              </a:rPr>
              <a:t> 2005. https://alistair.cockburn.us/hexagonal-architecture/</a:t>
            </a:r>
            <a:endParaRPr lang="en-US" sz="1300" dirty="0"/>
          </a:p>
          <a:p>
            <a:pPr marL="0" indent="0">
              <a:spcAft>
                <a:spcPts val="500"/>
              </a:spcAft>
              <a:buNone/>
            </a:pPr>
            <a:r>
              <a:rPr lang="en-US" sz="1300" b="1" dirty="0">
                <a:solidFill>
                  <a:srgbClr val="1B517B"/>
                </a:solidFill>
                <a:latin typeface="Arial" pitchFamily="34" charset="0"/>
                <a:ea typeface="Arial" pitchFamily="34" charset="-122"/>
                <a:cs typeface="Arial" pitchFamily="34" charset="-120"/>
              </a:rPr>
              <a:t>[3] </a:t>
            </a:r>
            <a:r>
              <a:rPr lang="en-US" sz="1300" dirty="0">
                <a:solidFill>
                  <a:srgbClr val="222222"/>
                </a:solidFill>
                <a:latin typeface="Arial" pitchFamily="34" charset="0"/>
                <a:ea typeface="Arial" pitchFamily="34" charset="-122"/>
                <a:cs typeface="Arial" pitchFamily="34" charset="-120"/>
              </a:rPr>
              <a:t>A. Conneau et al., </a:t>
            </a:r>
            <a:r>
              <a:rPr lang="en-US" sz="1300" b="1" dirty="0">
                <a:solidFill>
                  <a:srgbClr val="222222"/>
                </a:solidFill>
                <a:latin typeface="Arial" pitchFamily="34" charset="0"/>
                <a:ea typeface="Arial" pitchFamily="34" charset="-122"/>
                <a:cs typeface="Arial" pitchFamily="34" charset="-120"/>
              </a:rPr>
              <a:t>"FLEURS: Few-shot learning evaluation of universal representations of speech,"</a:t>
            </a:r>
            <a:r>
              <a:rPr lang="en-US" sz="1300" dirty="0">
                <a:solidFill>
                  <a:srgbClr val="222222"/>
                </a:solidFill>
                <a:latin typeface="Arial" pitchFamily="34" charset="0"/>
                <a:ea typeface="Arial" pitchFamily="34" charset="-122"/>
                <a:cs typeface="Arial" pitchFamily="34" charset="-120"/>
              </a:rPr>
              <a:t> in Proc. IEEE SLT, 2022.</a:t>
            </a:r>
            <a:endParaRPr lang="en-US" sz="1300" dirty="0"/>
          </a:p>
          <a:p>
            <a:pPr marL="0" indent="0">
              <a:spcAft>
                <a:spcPts val="500"/>
              </a:spcAft>
              <a:buNone/>
            </a:pPr>
            <a:r>
              <a:rPr lang="en-US" sz="1300" b="1" dirty="0">
                <a:solidFill>
                  <a:srgbClr val="1B517B"/>
                </a:solidFill>
                <a:latin typeface="Arial" pitchFamily="34" charset="0"/>
                <a:ea typeface="Arial" pitchFamily="34" charset="-122"/>
                <a:cs typeface="Arial" pitchFamily="34" charset="-120"/>
              </a:rPr>
              <a:t>[4] </a:t>
            </a:r>
            <a:r>
              <a:rPr lang="en-US" sz="1300" dirty="0">
                <a:solidFill>
                  <a:srgbClr val="222222"/>
                </a:solidFill>
                <a:latin typeface="Arial" pitchFamily="34" charset="0"/>
                <a:ea typeface="Arial" pitchFamily="34" charset="-122"/>
                <a:cs typeface="Arial" pitchFamily="34" charset="-120"/>
              </a:rPr>
              <a:t>M. R. Costa-jussà et al. (NLLB Team), </a:t>
            </a:r>
            <a:r>
              <a:rPr lang="en-US" sz="1300" b="1" dirty="0">
                <a:solidFill>
                  <a:srgbClr val="222222"/>
                </a:solidFill>
                <a:latin typeface="Arial" pitchFamily="34" charset="0"/>
                <a:ea typeface="Arial" pitchFamily="34" charset="-122"/>
                <a:cs typeface="Arial" pitchFamily="34" charset="-120"/>
              </a:rPr>
              <a:t>"No language left behind: Scaling human-centered machine translation,"</a:t>
            </a:r>
            <a:r>
              <a:rPr lang="en-US" sz="1300" dirty="0">
                <a:solidFill>
                  <a:srgbClr val="222222"/>
                </a:solidFill>
                <a:latin typeface="Arial" pitchFamily="34" charset="0"/>
                <a:ea typeface="Arial" pitchFamily="34" charset="-122"/>
                <a:cs typeface="Arial" pitchFamily="34" charset="-120"/>
              </a:rPr>
              <a:t> arXiv:2207.04672, 2022.</a:t>
            </a:r>
            <a:endParaRPr lang="en-US" sz="1300" dirty="0"/>
          </a:p>
          <a:p>
            <a:pPr marL="0" indent="0">
              <a:spcAft>
                <a:spcPts val="500"/>
              </a:spcAft>
              <a:buNone/>
            </a:pPr>
            <a:r>
              <a:rPr lang="en-US" sz="1300" b="1" dirty="0">
                <a:solidFill>
                  <a:srgbClr val="1B517B"/>
                </a:solidFill>
                <a:latin typeface="Arial" pitchFamily="34" charset="0"/>
                <a:ea typeface="Arial" pitchFamily="34" charset="-122"/>
                <a:cs typeface="Arial" pitchFamily="34" charset="-120"/>
              </a:rPr>
              <a:t>[7] </a:t>
            </a:r>
            <a:r>
              <a:rPr lang="en-US" sz="1300" dirty="0">
                <a:solidFill>
                  <a:srgbClr val="222222"/>
                </a:solidFill>
                <a:latin typeface="Arial" pitchFamily="34" charset="0"/>
                <a:ea typeface="Arial" pitchFamily="34" charset="-122"/>
                <a:cs typeface="Arial" pitchFamily="34" charset="-120"/>
              </a:rPr>
              <a:t>Google, </a:t>
            </a:r>
            <a:r>
              <a:rPr lang="en-US" sz="1300" b="1" dirty="0">
                <a:solidFill>
                  <a:srgbClr val="222222"/>
                </a:solidFill>
                <a:latin typeface="Arial" pitchFamily="34" charset="0"/>
                <a:ea typeface="Arial" pitchFamily="34" charset="-122"/>
                <a:cs typeface="Arial" pitchFamily="34" charset="-120"/>
              </a:rPr>
              <a:t>"Speech translation in Google Meet,"</a:t>
            </a:r>
            <a:r>
              <a:rPr lang="en-US" sz="1300" dirty="0">
                <a:solidFill>
                  <a:srgbClr val="222222"/>
                </a:solidFill>
                <a:latin typeface="Arial" pitchFamily="34" charset="0"/>
                <a:ea typeface="Arial" pitchFamily="34" charset="-122"/>
                <a:cs typeface="Arial" pitchFamily="34" charset="-120"/>
              </a:rPr>
              <a:t> Google I/O, May 2025.</a:t>
            </a:r>
            <a:endParaRPr lang="en-US" sz="1300" dirty="0"/>
          </a:p>
          <a:p>
            <a:pPr marL="0" indent="0">
              <a:spcAft>
                <a:spcPts val="500"/>
              </a:spcAft>
              <a:buNone/>
            </a:pPr>
            <a:r>
              <a:rPr lang="en-US" sz="1300" b="1" dirty="0">
                <a:solidFill>
                  <a:srgbClr val="1B517B"/>
                </a:solidFill>
                <a:latin typeface="Arial" pitchFamily="34" charset="0"/>
                <a:ea typeface="Arial" pitchFamily="34" charset="-122"/>
                <a:cs typeface="Arial" pitchFamily="34" charset="-120"/>
              </a:rPr>
              <a:t>[9] </a:t>
            </a:r>
            <a:r>
              <a:rPr lang="en-US" sz="1300" dirty="0">
                <a:solidFill>
                  <a:srgbClr val="222222"/>
                </a:solidFill>
                <a:latin typeface="Arial" pitchFamily="34" charset="0"/>
                <a:ea typeface="Arial" pitchFamily="34" charset="-122"/>
                <a:cs typeface="Arial" pitchFamily="34" charset="-120"/>
              </a:rPr>
              <a:t>hexgrad, </a:t>
            </a:r>
            <a:r>
              <a:rPr lang="en-US" sz="1300" b="1" dirty="0">
                <a:solidFill>
                  <a:srgbClr val="222222"/>
                </a:solidFill>
                <a:latin typeface="Arial" pitchFamily="34" charset="0"/>
                <a:ea typeface="Arial" pitchFamily="34" charset="-122"/>
                <a:cs typeface="Arial" pitchFamily="34" charset="-120"/>
              </a:rPr>
              <a:t>"Kokoro-82M,"</a:t>
            </a:r>
            <a:r>
              <a:rPr lang="en-US" sz="1300" dirty="0">
                <a:solidFill>
                  <a:srgbClr val="222222"/>
                </a:solidFill>
                <a:latin typeface="Arial" pitchFamily="34" charset="0"/>
                <a:ea typeface="Arial" pitchFamily="34" charset="-122"/>
                <a:cs typeface="Arial" pitchFamily="34" charset="-120"/>
              </a:rPr>
              <a:t> Hugging Face, 2025.</a:t>
            </a:r>
            <a:endParaRPr lang="en-US" sz="1300" dirty="0"/>
          </a:p>
          <a:p>
            <a:pPr marL="0" indent="0">
              <a:spcAft>
                <a:spcPts val="500"/>
              </a:spcAft>
              <a:buNone/>
            </a:pPr>
            <a:r>
              <a:rPr lang="en-US" sz="1300" b="1" dirty="0">
                <a:solidFill>
                  <a:srgbClr val="1B517B"/>
                </a:solidFill>
                <a:latin typeface="Arial" pitchFamily="34" charset="0"/>
                <a:ea typeface="Arial" pitchFamily="34" charset="-122"/>
                <a:cs typeface="Arial" pitchFamily="34" charset="-120"/>
              </a:rPr>
              <a:t>[10] </a:t>
            </a:r>
            <a:r>
              <a:rPr lang="en-US" sz="1300" dirty="0">
                <a:solidFill>
                  <a:srgbClr val="222222"/>
                </a:solidFill>
                <a:latin typeface="Arial" pitchFamily="34" charset="0"/>
                <a:ea typeface="Arial" pitchFamily="34" charset="-122"/>
                <a:cs typeface="Arial" pitchFamily="34" charset="-120"/>
              </a:rPr>
              <a:t>homelab-00, </a:t>
            </a:r>
            <a:r>
              <a:rPr lang="en-US" sz="1300" b="1" dirty="0">
                <a:solidFill>
                  <a:srgbClr val="222222"/>
                </a:solidFill>
                <a:latin typeface="Arial" pitchFamily="34" charset="0"/>
                <a:ea typeface="Arial" pitchFamily="34" charset="-122"/>
                <a:cs typeface="Arial" pitchFamily="34" charset="-120"/>
              </a:rPr>
              <a:t>"TranscriptionSuite: A fully local and private speech-to-text application,"</a:t>
            </a:r>
            <a:r>
              <a:rPr lang="en-US" sz="1300" dirty="0">
                <a:solidFill>
                  <a:srgbClr val="222222"/>
                </a:solidFill>
                <a:latin typeface="Arial" pitchFamily="34" charset="0"/>
                <a:ea typeface="Arial" pitchFamily="34" charset="-122"/>
                <a:cs typeface="Arial" pitchFamily="34" charset="-120"/>
              </a:rPr>
              <a:t> GitHub, 2026.</a:t>
            </a:r>
            <a:endParaRPr lang="en-US" sz="1300" dirty="0"/>
          </a:p>
          <a:p>
            <a:pPr marL="0" indent="0">
              <a:spcAft>
                <a:spcPts val="500"/>
              </a:spcAft>
              <a:buNone/>
            </a:pPr>
            <a:r>
              <a:rPr lang="en-US" sz="1300" b="1" dirty="0">
                <a:solidFill>
                  <a:srgbClr val="1B517B"/>
                </a:solidFill>
                <a:latin typeface="Arial" pitchFamily="34" charset="0"/>
                <a:ea typeface="Arial" pitchFamily="34" charset="-122"/>
                <a:cs typeface="Arial" pitchFamily="34" charset="-120"/>
              </a:rPr>
              <a:t>[12] </a:t>
            </a:r>
            <a:r>
              <a:rPr lang="en-US" sz="1300" dirty="0">
                <a:solidFill>
                  <a:srgbClr val="222222"/>
                </a:solidFill>
                <a:latin typeface="Arial" pitchFamily="34" charset="0"/>
                <a:ea typeface="Arial" pitchFamily="34" charset="-122"/>
                <a:cs typeface="Arial" pitchFamily="34" charset="-120"/>
              </a:rPr>
              <a:t>k2-fsa, </a:t>
            </a:r>
            <a:r>
              <a:rPr lang="en-US" sz="1300" b="1" dirty="0">
                <a:solidFill>
                  <a:srgbClr val="222222"/>
                </a:solidFill>
                <a:latin typeface="Arial" pitchFamily="34" charset="0"/>
                <a:ea typeface="Arial" pitchFamily="34" charset="-122"/>
                <a:cs typeface="Arial" pitchFamily="34" charset="-120"/>
              </a:rPr>
              <a:t>"sherpa-onnx: Speech-to-text, text-to-speech and audio processing with ONNX Runtime,"</a:t>
            </a:r>
            <a:r>
              <a:rPr lang="en-US" sz="1300" dirty="0">
                <a:solidFill>
                  <a:srgbClr val="222222"/>
                </a:solidFill>
                <a:latin typeface="Arial" pitchFamily="34" charset="0"/>
                <a:ea typeface="Arial" pitchFamily="34" charset="-122"/>
                <a:cs typeface="Arial" pitchFamily="34" charset="-120"/>
              </a:rPr>
              <a:t> 2026.</a:t>
            </a:r>
            <a:endParaRPr lang="en-US" sz="1300" dirty="0"/>
          </a:p>
          <a:p>
            <a:pPr marL="0" indent="0">
              <a:spcAft>
                <a:spcPts val="500"/>
              </a:spcAft>
              <a:buNone/>
            </a:pPr>
            <a:r>
              <a:rPr lang="en-US" sz="1300" b="1" dirty="0">
                <a:solidFill>
                  <a:srgbClr val="1B517B"/>
                </a:solidFill>
                <a:latin typeface="Arial" pitchFamily="34" charset="0"/>
                <a:ea typeface="Arial" pitchFamily="34" charset="-122"/>
                <a:cs typeface="Arial" pitchFamily="34" charset="-120"/>
              </a:rPr>
              <a:t>[19] </a:t>
            </a:r>
            <a:r>
              <a:rPr lang="en-US" sz="1300" dirty="0">
                <a:solidFill>
                  <a:srgbClr val="222222"/>
                </a:solidFill>
                <a:latin typeface="Arial" pitchFamily="34" charset="0"/>
                <a:ea typeface="Arial" pitchFamily="34" charset="-122"/>
                <a:cs typeface="Arial" pitchFamily="34" charset="-120"/>
              </a:rPr>
              <a:t>A. Radford et al., </a:t>
            </a:r>
            <a:r>
              <a:rPr lang="en-US" sz="1300" b="1" dirty="0">
                <a:solidFill>
                  <a:srgbClr val="222222"/>
                </a:solidFill>
                <a:latin typeface="Arial" pitchFamily="34" charset="0"/>
                <a:ea typeface="Arial" pitchFamily="34" charset="-122"/>
                <a:cs typeface="Arial" pitchFamily="34" charset="-120"/>
              </a:rPr>
              <a:t>"Robust speech recognition via large-scale weak supervision,"</a:t>
            </a:r>
            <a:r>
              <a:rPr lang="en-US" sz="1300" dirty="0">
                <a:solidFill>
                  <a:srgbClr val="222222"/>
                </a:solidFill>
                <a:latin typeface="Arial" pitchFamily="34" charset="0"/>
                <a:ea typeface="Arial" pitchFamily="34" charset="-122"/>
                <a:cs typeface="Arial" pitchFamily="34" charset="-120"/>
              </a:rPr>
              <a:t> in Proc. ICML, 2023, pp. 28492–28518.</a:t>
            </a:r>
            <a:endParaRPr lang="en-US" sz="1300" dirty="0"/>
          </a:p>
          <a:p>
            <a:pPr marL="0" indent="0">
              <a:spcAft>
                <a:spcPts val="500"/>
              </a:spcAft>
              <a:buNone/>
            </a:pPr>
            <a:r>
              <a:rPr lang="en-US" sz="1300" b="1" dirty="0">
                <a:solidFill>
                  <a:srgbClr val="1B517B"/>
                </a:solidFill>
                <a:latin typeface="Arial" pitchFamily="34" charset="0"/>
                <a:ea typeface="Arial" pitchFamily="34" charset="-122"/>
                <a:cs typeface="Arial" pitchFamily="34" charset="-120"/>
              </a:rPr>
              <a:t>[21] </a:t>
            </a:r>
            <a:r>
              <a:rPr lang="en-US" sz="1300" dirty="0">
                <a:solidFill>
                  <a:srgbClr val="222222"/>
                </a:solidFill>
                <a:latin typeface="Arial" pitchFamily="34" charset="0"/>
                <a:ea typeface="Arial" pitchFamily="34" charset="-122"/>
                <a:cs typeface="Arial" pitchFamily="34" charset="-120"/>
              </a:rPr>
              <a:t>R. Rei et al., </a:t>
            </a:r>
            <a:r>
              <a:rPr lang="en-US" sz="1300" b="1" dirty="0">
                <a:solidFill>
                  <a:srgbClr val="222222"/>
                </a:solidFill>
                <a:latin typeface="Arial" pitchFamily="34" charset="0"/>
                <a:ea typeface="Arial" pitchFamily="34" charset="-122"/>
                <a:cs typeface="Arial" pitchFamily="34" charset="-120"/>
              </a:rPr>
              <a:t>"COMET-22: Unbabel-IST 2022 submission for the metrics shared task,"</a:t>
            </a:r>
            <a:r>
              <a:rPr lang="en-US" sz="1300" dirty="0">
                <a:solidFill>
                  <a:srgbClr val="222222"/>
                </a:solidFill>
                <a:latin typeface="Arial" pitchFamily="34" charset="0"/>
                <a:ea typeface="Arial" pitchFamily="34" charset="-122"/>
                <a:cs typeface="Arial" pitchFamily="34" charset="-120"/>
              </a:rPr>
              <a:t> in Proc. WMT, 2022, pp. 578–585.</a:t>
            </a:r>
            <a:endParaRPr lang="en-US" sz="1300" dirty="0"/>
          </a:p>
          <a:p>
            <a:pPr marL="0" indent="0">
              <a:spcAft>
                <a:spcPts val="500"/>
              </a:spcAft>
              <a:buNone/>
            </a:pPr>
            <a:r>
              <a:rPr lang="en-US" sz="1300" b="1" dirty="0">
                <a:solidFill>
                  <a:srgbClr val="1B517B"/>
                </a:solidFill>
                <a:latin typeface="Arial" pitchFamily="34" charset="0"/>
                <a:ea typeface="Arial" pitchFamily="34" charset="-122"/>
                <a:cs typeface="Arial" pitchFamily="34" charset="-120"/>
              </a:rPr>
              <a:t>[22] </a:t>
            </a:r>
            <a:r>
              <a:rPr lang="en-US" sz="1300" dirty="0">
                <a:solidFill>
                  <a:srgbClr val="222222"/>
                </a:solidFill>
                <a:latin typeface="Arial" pitchFamily="34" charset="0"/>
                <a:ea typeface="Arial" pitchFamily="34" charset="-122"/>
                <a:cs typeface="Arial" pitchFamily="34" charset="-120"/>
              </a:rPr>
              <a:t>royshil, </a:t>
            </a:r>
            <a:r>
              <a:rPr lang="en-US" sz="1300" b="1" dirty="0">
                <a:solidFill>
                  <a:srgbClr val="222222"/>
                </a:solidFill>
                <a:latin typeface="Arial" pitchFamily="34" charset="0"/>
                <a:ea typeface="Arial" pitchFamily="34" charset="-122"/>
                <a:cs typeface="Arial" pitchFamily="34" charset="-120"/>
              </a:rPr>
              <a:t>"LocalVocal: Local live captions &amp; translation on-the-go (OBS plugin),"</a:t>
            </a:r>
            <a:r>
              <a:rPr lang="en-US" sz="1300" dirty="0">
                <a:solidFill>
                  <a:srgbClr val="222222"/>
                </a:solidFill>
                <a:latin typeface="Arial" pitchFamily="34" charset="0"/>
                <a:ea typeface="Arial" pitchFamily="34" charset="-122"/>
                <a:cs typeface="Arial" pitchFamily="34" charset="-120"/>
              </a:rPr>
              <a:t> GitHub.</a:t>
            </a:r>
            <a:endParaRPr lang="en-US" sz="1300" dirty="0"/>
          </a:p>
          <a:p>
            <a:pPr marL="0" indent="0">
              <a:spcAft>
                <a:spcPts val="500"/>
              </a:spcAft>
              <a:buNone/>
            </a:pPr>
            <a:r>
              <a:rPr lang="en-US" sz="1300" b="1" dirty="0">
                <a:solidFill>
                  <a:srgbClr val="1B517B"/>
                </a:solidFill>
                <a:latin typeface="Arial" pitchFamily="34" charset="0"/>
                <a:ea typeface="Arial" pitchFamily="34" charset="-122"/>
                <a:cs typeface="Arial" pitchFamily="34" charset="-120"/>
              </a:rPr>
              <a:t>[23] </a:t>
            </a:r>
            <a:r>
              <a:rPr lang="en-US" sz="1300" dirty="0">
                <a:solidFill>
                  <a:srgbClr val="222222"/>
                </a:solidFill>
                <a:latin typeface="Arial" pitchFamily="34" charset="0"/>
                <a:ea typeface="Arial" pitchFamily="34" charset="-122"/>
                <a:cs typeface="Arial" pitchFamily="34" charset="-120"/>
              </a:rPr>
              <a:t>Seamless Communication et al., </a:t>
            </a:r>
            <a:r>
              <a:rPr lang="en-US" sz="1300" b="1" dirty="0">
                <a:solidFill>
                  <a:srgbClr val="222222"/>
                </a:solidFill>
                <a:latin typeface="Arial" pitchFamily="34" charset="0"/>
                <a:ea typeface="Arial" pitchFamily="34" charset="-122"/>
                <a:cs typeface="Arial" pitchFamily="34" charset="-120"/>
              </a:rPr>
              <a:t>"SeamlessM4T: Massively multilingual &amp; multimodal machine translation,"</a:t>
            </a:r>
            <a:r>
              <a:rPr lang="en-US" sz="1300" dirty="0">
                <a:solidFill>
                  <a:srgbClr val="222222"/>
                </a:solidFill>
                <a:latin typeface="Arial" pitchFamily="34" charset="0"/>
                <a:ea typeface="Arial" pitchFamily="34" charset="-122"/>
                <a:cs typeface="Arial" pitchFamily="34" charset="-120"/>
              </a:rPr>
              <a:t> arXiv:2308.11596, 2023.</a:t>
            </a:r>
            <a:endParaRPr lang="en-US" sz="1300" dirty="0"/>
          </a:p>
          <a:p>
            <a:pPr marL="0" indent="0">
              <a:spcAft>
                <a:spcPts val="500"/>
              </a:spcAft>
              <a:buNone/>
            </a:pPr>
            <a:r>
              <a:rPr lang="en-US" sz="1300" b="1" dirty="0">
                <a:solidFill>
                  <a:srgbClr val="1B517B"/>
                </a:solidFill>
                <a:latin typeface="Arial" pitchFamily="34" charset="0"/>
                <a:ea typeface="Arial" pitchFamily="34" charset="-122"/>
                <a:cs typeface="Arial" pitchFamily="34" charset="-120"/>
              </a:rPr>
              <a:t>[24] </a:t>
            </a:r>
            <a:r>
              <a:rPr lang="en-US" sz="1300" dirty="0">
                <a:solidFill>
                  <a:srgbClr val="222222"/>
                </a:solidFill>
                <a:latin typeface="Arial" pitchFamily="34" charset="0"/>
                <a:ea typeface="Arial" pitchFamily="34" charset="-122"/>
                <a:cs typeface="Arial" pitchFamily="34" charset="-120"/>
              </a:rPr>
              <a:t>Silero Team, </a:t>
            </a:r>
            <a:r>
              <a:rPr lang="en-US" sz="1300" b="1" dirty="0">
                <a:solidFill>
                  <a:srgbClr val="222222"/>
                </a:solidFill>
                <a:latin typeface="Arial" pitchFamily="34" charset="0"/>
                <a:ea typeface="Arial" pitchFamily="34" charset="-122"/>
                <a:cs typeface="Arial" pitchFamily="34" charset="-120"/>
              </a:rPr>
              <a:t>"Silero VAD: Pre-trained enterprise-grade voice activity detector,"</a:t>
            </a:r>
            <a:r>
              <a:rPr lang="en-US" sz="1300" dirty="0">
                <a:solidFill>
                  <a:srgbClr val="222222"/>
                </a:solidFill>
                <a:latin typeface="Arial" pitchFamily="34" charset="0"/>
                <a:ea typeface="Arial" pitchFamily="34" charset="-122"/>
                <a:cs typeface="Arial" pitchFamily="34" charset="-120"/>
              </a:rPr>
              <a:t> GitHub, 2026.</a:t>
            </a:r>
            <a:endParaRPr lang="en-US" sz="1300" dirty="0"/>
          </a:p>
        </p:txBody>
      </p:sp>
      <p:sp>
        <p:nvSpPr>
          <p:cNvPr id="7" name="Text 3"/>
          <p:cNvSpPr txBox="1"/>
          <p:nvPr/>
        </p:nvSpPr>
        <p:spPr>
          <a:xfrm>
            <a:off x="411480" y="5943600"/>
            <a:ext cx="9144000" cy="320040"/>
          </a:xfrm>
          <a:prstGeom prst="rect">
            <a:avLst/>
          </a:prstGeom>
          <a:noFill/>
          <a:ln/>
        </p:spPr>
        <p:txBody>
          <a:bodyPr wrap="square" lIns="0" tIns="0" rIns="0" bIns="0" rtlCol="0" anchor="t"/>
          <a:lstStyle/>
          <a:p>
            <a:pPr marL="0" indent="0">
              <a:buNone/>
            </a:pPr>
            <a:r>
              <a:rPr lang="en-US" sz="1200" i="1" dirty="0">
                <a:solidFill>
                  <a:srgbClr val="5F6B76"/>
                </a:solidFill>
                <a:latin typeface="Arial" pitchFamily="34" charset="0"/>
                <a:ea typeface="Arial" pitchFamily="34" charset="-122"/>
                <a:cs typeface="Arial" pitchFamily="34" charset="-120"/>
              </a:rPr>
              <a:t>Số thứ tự theo danh mục tài liệu tham khảo của quyển đồ án (25 tài liệu).</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2926080" y="2331720"/>
            <a:ext cx="6309360" cy="1188720"/>
          </a:xfrm>
          <a:prstGeom prst="rect">
            <a:avLst/>
          </a:prstGeom>
          <a:noFill/>
          <a:ln/>
        </p:spPr>
        <p:txBody>
          <a:bodyPr wrap="square" lIns="0" tIns="0" rIns="0" bIns="0" rtlCol="0" anchor="ctr"/>
          <a:lstStyle/>
          <a:p>
            <a:pPr marL="0" indent="0" algn="ctr">
              <a:buNone/>
            </a:pPr>
            <a:r>
              <a:rPr lang="en-US" sz="6600" b="1" dirty="0">
                <a:solidFill>
                  <a:srgbClr val="487BA2"/>
                </a:solidFill>
                <a:latin typeface="Arial" pitchFamily="34" charset="0"/>
                <a:ea typeface="Arial" pitchFamily="34" charset="-122"/>
                <a:cs typeface="Arial" pitchFamily="34" charset="-120"/>
              </a:rPr>
              <a:t>DEMO</a:t>
            </a:r>
            <a:endParaRPr lang="en-US" sz="6600" dirty="0"/>
          </a:p>
        </p:txBody>
      </p:sp>
      <p:sp>
        <p:nvSpPr>
          <p:cNvPr id="3" name="Text 1"/>
          <p:cNvSpPr txBox="1"/>
          <p:nvPr/>
        </p:nvSpPr>
        <p:spPr>
          <a:xfrm>
            <a:off x="3108960" y="3566160"/>
            <a:ext cx="5943600" cy="1005840"/>
          </a:xfrm>
          <a:prstGeom prst="rect">
            <a:avLst/>
          </a:prstGeom>
          <a:noFill/>
          <a:ln/>
        </p:spPr>
        <p:txBody>
          <a:bodyPr wrap="square" lIns="0" tIns="0" rIns="0" bIns="0" rtlCol="0" anchor="t"/>
          <a:lstStyle/>
          <a:p>
            <a:pPr marL="0" indent="0" algn="ctr">
              <a:buNone/>
            </a:pPr>
            <a:r>
              <a:rPr lang="en-US" sz="1600" dirty="0">
                <a:solidFill>
                  <a:srgbClr val="1B517B"/>
                </a:solidFill>
                <a:latin typeface="Arial" pitchFamily="34" charset="0"/>
                <a:ea typeface="Arial" pitchFamily="34" charset="-122"/>
                <a:cs typeface="Arial" pitchFamily="34" charset="-120"/>
              </a:rPr>
              <a:t>Phiên dịch hai chiều Anh ↔ Việt · chống vòng lặp · duyệt trước khi đọc · lịch sử · chạy không cần mạng</a:t>
            </a:r>
            <a:endParaRPr lang="en-US" sz="1600" dirty="0"/>
          </a:p>
        </p:txBody>
      </p:sp>
      <p:sp>
        <p:nvSpPr>
          <p:cNvPr id="4" name="Text 2"/>
          <p:cNvSpPr txBox="1"/>
          <p:nvPr/>
        </p:nvSpPr>
        <p:spPr>
          <a:xfrm>
            <a:off x="11292840" y="6355080"/>
            <a:ext cx="548640" cy="274320"/>
          </a:xfrm>
          <a:prstGeom prst="rect">
            <a:avLst/>
          </a:prstGeom>
          <a:noFill/>
          <a:ln/>
        </p:spPr>
        <p:txBody>
          <a:bodyPr wrap="square" lIns="0" tIns="0" rIns="0" bIns="0" rtlCol="0" anchor="t"/>
          <a:lstStyle/>
          <a:p>
            <a:pPr marL="0" indent="0" algn="r">
              <a:buNone/>
            </a:pPr>
            <a:r>
              <a:rPr lang="en-US" sz="1100" dirty="0">
                <a:solidFill>
                  <a:srgbClr val="FFFFFF"/>
                </a:solidFill>
                <a:latin typeface="Arial" pitchFamily="34" charset="0"/>
                <a:ea typeface="Arial" pitchFamily="34" charset="-122"/>
                <a:cs typeface="Arial"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2926080" y="2377440"/>
            <a:ext cx="6309360" cy="1920240"/>
          </a:xfrm>
          <a:prstGeom prst="rect">
            <a:avLst/>
          </a:prstGeom>
          <a:noFill/>
          <a:ln/>
        </p:spPr>
        <p:txBody>
          <a:bodyPr wrap="square" lIns="0" tIns="0" rIns="0" bIns="0" rtlCol="0" anchor="ctr"/>
          <a:lstStyle/>
          <a:p>
            <a:pPr marL="0" indent="0" algn="ctr">
              <a:buNone/>
            </a:pPr>
            <a:r>
              <a:rPr lang="en-US" sz="4400" b="1" dirty="0">
                <a:solidFill>
                  <a:srgbClr val="487BA2"/>
                </a:solidFill>
                <a:latin typeface="Arial" pitchFamily="34" charset="0"/>
                <a:ea typeface="Arial" pitchFamily="34" charset="-122"/>
                <a:cs typeface="Arial" pitchFamily="34" charset="-120"/>
              </a:rPr>
              <a:t>Cảm ơn quý Thầy Cô</a:t>
            </a:r>
            <a:endParaRPr lang="en-US" sz="4400" dirty="0"/>
          </a:p>
          <a:p>
            <a:pPr marL="0" indent="0" algn="ctr">
              <a:buNone/>
            </a:pPr>
            <a:r>
              <a:rPr lang="en-US" sz="4400" b="1" dirty="0">
                <a:solidFill>
                  <a:srgbClr val="487BA2"/>
                </a:solidFill>
                <a:latin typeface="Arial" pitchFamily="34" charset="0"/>
                <a:ea typeface="Arial" pitchFamily="34" charset="-122"/>
                <a:cs typeface="Arial" pitchFamily="34" charset="-120"/>
              </a:rPr>
              <a:t>đã lắng nghe</a:t>
            </a:r>
            <a:endParaRPr lang="en-US" sz="4400" dirty="0"/>
          </a:p>
        </p:txBody>
      </p:sp>
      <p:sp>
        <p:nvSpPr>
          <p:cNvPr id="3" name="Text 1"/>
          <p:cNvSpPr txBox="1"/>
          <p:nvPr/>
        </p:nvSpPr>
        <p:spPr>
          <a:xfrm>
            <a:off x="11292840" y="6355080"/>
            <a:ext cx="548640" cy="274320"/>
          </a:xfrm>
          <a:prstGeom prst="rect">
            <a:avLst/>
          </a:prstGeom>
          <a:noFill/>
          <a:ln/>
        </p:spPr>
        <p:txBody>
          <a:bodyPr wrap="square" lIns="0" tIns="0" rIns="0" bIns="0" rtlCol="0" anchor="t"/>
          <a:lstStyle/>
          <a:p>
            <a:pPr marL="0" indent="0" algn="r">
              <a:buNone/>
            </a:pPr>
            <a:r>
              <a:rPr lang="en-US" sz="1100" dirty="0">
                <a:solidFill>
                  <a:srgbClr val="FFFFFF"/>
                </a:solidFill>
                <a:latin typeface="Arial" pitchFamily="34" charset="0"/>
                <a:ea typeface="Arial" pitchFamily="34" charset="-122"/>
                <a:cs typeface="Arial"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2926080" y="2377440"/>
            <a:ext cx="6309360" cy="1920240"/>
          </a:xfrm>
          <a:prstGeom prst="rect">
            <a:avLst/>
          </a:prstGeom>
          <a:noFill/>
          <a:ln/>
        </p:spPr>
        <p:txBody>
          <a:bodyPr wrap="square" lIns="0" tIns="0" rIns="0" bIns="0" rtlCol="0" anchor="ctr"/>
          <a:lstStyle/>
          <a:p>
            <a:pPr marL="0" indent="0" algn="ctr">
              <a:buNone/>
            </a:pPr>
            <a:r>
              <a:rPr lang="en-US" sz="5400" b="1" dirty="0">
                <a:solidFill>
                  <a:srgbClr val="487BA2"/>
                </a:solidFill>
                <a:latin typeface="Arial" pitchFamily="34" charset="0"/>
                <a:ea typeface="Arial" pitchFamily="34" charset="-122"/>
                <a:cs typeface="Arial" pitchFamily="34" charset="-120"/>
              </a:rPr>
              <a:t>Q&amp;A</a:t>
            </a:r>
            <a:endParaRPr lang="en-US" sz="5400" dirty="0"/>
          </a:p>
        </p:txBody>
      </p:sp>
      <p:sp>
        <p:nvSpPr>
          <p:cNvPr id="3" name="Text 1"/>
          <p:cNvSpPr txBox="1"/>
          <p:nvPr/>
        </p:nvSpPr>
        <p:spPr>
          <a:xfrm>
            <a:off x="11292840" y="6355080"/>
            <a:ext cx="548640" cy="274320"/>
          </a:xfrm>
          <a:prstGeom prst="rect">
            <a:avLst/>
          </a:prstGeom>
          <a:noFill/>
          <a:ln/>
        </p:spPr>
        <p:txBody>
          <a:bodyPr wrap="square" lIns="0" tIns="0" rIns="0" bIns="0" rtlCol="0" anchor="t"/>
          <a:lstStyle/>
          <a:p>
            <a:pPr marL="0" indent="0" algn="r">
              <a:buNone/>
            </a:pPr>
            <a:r>
              <a:rPr lang="en-US" sz="1100" dirty="0">
                <a:solidFill>
                  <a:srgbClr val="FFFFFF"/>
                </a:solidFill>
                <a:latin typeface="Arial" pitchFamily="34" charset="0"/>
                <a:ea typeface="Arial" pitchFamily="34" charset="-122"/>
                <a:cs typeface="Arial" pitchFamily="34" charset="-120"/>
              </a:rPr>
              <a:t>31</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TotalTime>
  <Words>7004</Words>
  <Application>Microsoft Office PowerPoint</Application>
  <PresentationFormat>Widescreen</PresentationFormat>
  <Paragraphs>631</Paragraphs>
  <Slides>31</Slides>
  <Notes>31</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31</vt:i4>
      </vt:variant>
    </vt:vector>
  </HeadingPairs>
  <TitlesOfParts>
    <vt:vector size="33"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Bảo vệ ĐATN: dịch giọng nói gần thời gian thực chạy cục bộ</dc:title>
  <dc:subject>PptxGenJS Presentation</dc:subject>
  <dc:creator>Ngô Mạnh Hùng</dc:creator>
  <cp:lastModifiedBy>Hung Manh</cp:lastModifiedBy>
  <cp:revision>4</cp:revision>
  <dcterms:created xsi:type="dcterms:W3CDTF">2026-09-28T18:18:14Z</dcterms:created>
  <dcterms:modified xsi:type="dcterms:W3CDTF">2026-09-29T14:24:59Z</dcterms:modified>
</cp:coreProperties>
</file>